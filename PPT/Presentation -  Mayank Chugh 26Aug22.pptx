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66" r:id="rId2"/>
    <p:sldId id="267" r:id="rId3"/>
    <p:sldId id="258" r:id="rId4"/>
    <p:sldId id="257" r:id="rId5"/>
    <p:sldId id="26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49"/>
    <p:restoredTop sz="94704"/>
  </p:normalViewPr>
  <p:slideViewPr>
    <p:cSldViewPr snapToGrid="0">
      <p:cViewPr varScale="1">
        <p:scale>
          <a:sx n="120" d="100"/>
          <a:sy n="120" d="100"/>
        </p:scale>
        <p:origin x="7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FCAE47-238A-254B-B927-B96FE3A35105}" type="datetimeFigureOut">
              <a:rPr lang="en-US" smtClean="0"/>
              <a:t>8/27/22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9ACF82-C402-324B-9199-B102A1DC4D4B}" type="slidenum">
              <a:rPr lang="en-US" smtClean="0"/>
              <a:t>‹#›</a:t>
            </a:fld>
            <a:endParaRPr lang="en-US"/>
          </a:p>
        </p:txBody>
      </p:sp>
    </p:spTree>
    <p:extLst>
      <p:ext uri="{BB962C8B-B14F-4D97-AF65-F5344CB8AC3E}">
        <p14:creationId xmlns:p14="http://schemas.microsoft.com/office/powerpoint/2010/main" val="3072202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9ACF82-C402-324B-9199-B102A1DC4D4B}" type="slidenum">
              <a:rPr lang="en-US" smtClean="0"/>
              <a:t>1</a:t>
            </a:fld>
            <a:endParaRPr lang="en-US"/>
          </a:p>
        </p:txBody>
      </p:sp>
    </p:spTree>
    <p:extLst>
      <p:ext uri="{BB962C8B-B14F-4D97-AF65-F5344CB8AC3E}">
        <p14:creationId xmlns:p14="http://schemas.microsoft.com/office/powerpoint/2010/main" val="4181370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9ACF82-C402-324B-9199-B102A1DC4D4B}" type="slidenum">
              <a:rPr lang="en-US" smtClean="0"/>
              <a:t>2</a:t>
            </a:fld>
            <a:endParaRPr lang="en-US"/>
          </a:p>
        </p:txBody>
      </p:sp>
    </p:spTree>
    <p:extLst>
      <p:ext uri="{BB962C8B-B14F-4D97-AF65-F5344CB8AC3E}">
        <p14:creationId xmlns:p14="http://schemas.microsoft.com/office/powerpoint/2010/main" val="2321850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9ACF82-C402-324B-9199-B102A1DC4D4B}" type="slidenum">
              <a:rPr lang="en-US" smtClean="0"/>
              <a:t>4</a:t>
            </a:fld>
            <a:endParaRPr lang="en-US"/>
          </a:p>
        </p:txBody>
      </p:sp>
    </p:spTree>
    <p:extLst>
      <p:ext uri="{BB962C8B-B14F-4D97-AF65-F5344CB8AC3E}">
        <p14:creationId xmlns:p14="http://schemas.microsoft.com/office/powerpoint/2010/main" val="1589304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91AFE-19F0-7E1E-7A36-C449EF301BF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F1ECEBD-C898-D254-AD4F-FBB224B8D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5497501-2F42-BC33-1BF1-7E07936A328D}"/>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ED18ED7A-70EF-DB7F-9342-8E73ACD2D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47F3C0-340A-5301-1082-7CB9932F4A8E}"/>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4274088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C835D-B612-5700-AAEA-FBA36671159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94BC2B2-08CC-3A12-877F-A1B979926A5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F909162-BB27-39F6-3DD5-092DE4137483}"/>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678DC6AC-2B23-AD11-59AB-8151960192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6BFBF0-332D-07CB-1D2E-C89971AD8BB0}"/>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3522199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8020-00BF-A480-12CE-3D0E350805D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7038B75-4E06-2988-12EC-2AC7FDBCB3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685160B-96D2-1702-15F2-D6775B1D3163}"/>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DCE23907-A590-7BC6-90A5-6DFFAF0A13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172415-9260-DBED-02B3-6B6B5F9080CA}"/>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918514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8D202-13C0-2414-0624-1C0C9D8E008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C43161F-E9A0-21B0-D30E-C1DFC597E53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432637B-9F15-AF32-B70D-683AC473F80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CA9B6B9-5E22-A459-E4E2-9036F76FE354}"/>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6" name="Footer Placeholder 5">
            <a:extLst>
              <a:ext uri="{FF2B5EF4-FFF2-40B4-BE49-F238E27FC236}">
                <a16:creationId xmlns:a16="http://schemas.microsoft.com/office/drawing/2014/main" id="{68789145-8E91-FE07-A653-31E3D45C3D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A13463-DC8B-8E99-A14B-E99FAB409202}"/>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146585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377AC-A5A9-D762-23A5-52A821431EA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97D38B-C24D-429B-927B-64D7405590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EDB42C3-79B4-F960-748D-B823D2FE7D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B556D0D-5EBF-B127-5B2E-978E0B75E1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D067ECF-719B-11B4-F619-99770FE5375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06F760C-C0E5-2D43-130E-5AD1DBF55D65}"/>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8" name="Footer Placeholder 7">
            <a:extLst>
              <a:ext uri="{FF2B5EF4-FFF2-40B4-BE49-F238E27FC236}">
                <a16:creationId xmlns:a16="http://schemas.microsoft.com/office/drawing/2014/main" id="{731BA997-0446-9D14-B5F5-0A63E0DA29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17B694-14F5-8832-CF2D-B9C13A623800}"/>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289661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7D581-EAE8-3783-54AC-54D47FF78D8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FEE1D02-D08D-0F7A-15BA-BAFADC829546}"/>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4" name="Footer Placeholder 3">
            <a:extLst>
              <a:ext uri="{FF2B5EF4-FFF2-40B4-BE49-F238E27FC236}">
                <a16:creationId xmlns:a16="http://schemas.microsoft.com/office/drawing/2014/main" id="{9D4FFA78-BE55-0DDA-5D7B-54868EBE54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0A66A9-329D-A793-3C1B-F8DE123AB68A}"/>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3287287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53DA30-6C74-1E4A-5D20-8CD72C84709F}"/>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3" name="Footer Placeholder 2">
            <a:extLst>
              <a:ext uri="{FF2B5EF4-FFF2-40B4-BE49-F238E27FC236}">
                <a16:creationId xmlns:a16="http://schemas.microsoft.com/office/drawing/2014/main" id="{F080B2DB-E10D-9239-394D-8A49767312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5CFE57-57FC-1103-D497-FC752A671966}"/>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3436823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D5B7C-CCCB-AC37-C7EE-2F288C27CAA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F67590B-FC8B-822A-1E12-017B8884CD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7A989D8-4053-5E36-39F8-F136639A83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6366426-BC04-0073-C552-92A8D64B38FD}"/>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6" name="Footer Placeholder 5">
            <a:extLst>
              <a:ext uri="{FF2B5EF4-FFF2-40B4-BE49-F238E27FC236}">
                <a16:creationId xmlns:a16="http://schemas.microsoft.com/office/drawing/2014/main" id="{2EC811DC-D68F-2959-793D-81B6826FFF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70B746-817C-79DD-42A0-5520CC91BCA6}"/>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1555367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C8815-E94D-FDAF-27DF-30827A6684C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16D5D77-F795-B735-101F-B3C5AD631F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1FCF73-A1BD-018D-E9ED-1F384F8E58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FF9E4D6-65B3-835F-32A1-BDB5FFD9276B}"/>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6" name="Footer Placeholder 5">
            <a:extLst>
              <a:ext uri="{FF2B5EF4-FFF2-40B4-BE49-F238E27FC236}">
                <a16:creationId xmlns:a16="http://schemas.microsoft.com/office/drawing/2014/main" id="{B405D2F2-02CA-AE56-706B-8A49A361BD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F76AB-21F1-6740-9744-E49D5B10EEB5}"/>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2369006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DCF7-22A6-1BF9-0BCB-16FD5308EB5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3D354A3-8F6E-D0CE-A164-D30DB877A93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4AB8C43-F93B-DDA1-1A4D-C3779A0B0A21}"/>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F78A2D7D-5D0E-9F90-CF50-B0B85EDFB1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EB0566-0D4E-440E-159F-66772C9311BC}"/>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91953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3E3769-040D-EACD-FF4D-80CF85D6B3B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C76C8CE-1DA6-C3EB-65CF-A3FC8A40DE8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0CBED72-DCF9-1053-66B5-53455632F268}"/>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899EC182-3354-11B4-50BF-F27C0BB012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92608-5B91-E941-2863-BE51FF81E77D}"/>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275165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873128-B7B8-4A22-9B3C-0115D94174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EA87941-0CE6-764E-C7DE-7A15D8B77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F6B628-E9BE-3C23-3239-1695E2E8D5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0560D32B-072E-EB61-235A-F936FB7DFB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6F808A-051F-B607-75A3-DF37F3D640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8DC73A-305D-2C4F-A2FD-B726892D2844}" type="slidenum">
              <a:rPr lang="en-US" smtClean="0"/>
              <a:t>‹#›</a:t>
            </a:fld>
            <a:endParaRPr lang="en-US"/>
          </a:p>
        </p:txBody>
      </p:sp>
    </p:spTree>
    <p:extLst>
      <p:ext uri="{BB962C8B-B14F-4D97-AF65-F5344CB8AC3E}">
        <p14:creationId xmlns:p14="http://schemas.microsoft.com/office/powerpoint/2010/main" val="2083722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gif"/><Relationship Id="rId3" Type="http://schemas.openxmlformats.org/officeDocument/2006/relationships/notesSlide" Target="../notesSlides/notesSlide1.xml"/><Relationship Id="rId7" Type="http://schemas.openxmlformats.org/officeDocument/2006/relationships/hyperlink" Target="https://github.com/mayankchugh1977" TargetMode="External"/><Relationship Id="rId12" Type="http://schemas.openxmlformats.org/officeDocument/2006/relationships/image" Target="../media/image6.png"/><Relationship Id="rId2" Type="http://schemas.openxmlformats.org/officeDocument/2006/relationships/slideLayout" Target="../slideLayouts/slideLayout4.xml"/><Relationship Id="rId1" Type="http://schemas.openxmlformats.org/officeDocument/2006/relationships/themeOverride" Target="../theme/themeOverride1.xml"/><Relationship Id="rId6" Type="http://schemas.openxmlformats.org/officeDocument/2006/relationships/hyperlink" Target="http://www.linkedin.com/in/mchugh44" TargetMode="External"/><Relationship Id="rId11" Type="http://schemas.openxmlformats.org/officeDocument/2006/relationships/image" Target="../media/image5.png"/><Relationship Id="rId5" Type="http://schemas.openxmlformats.org/officeDocument/2006/relationships/hyperlink" Target="mailto:mayankchugh.jobathk@gmail.com" TargetMode="External"/><Relationship Id="rId10" Type="http://schemas.openxmlformats.org/officeDocument/2006/relationships/image" Target="../media/image4.png"/><Relationship Id="rId4" Type="http://schemas.openxmlformats.org/officeDocument/2006/relationships/image" Target="../media/image1.jpeg"/><Relationship Id="rId9" Type="http://schemas.openxmlformats.org/officeDocument/2006/relationships/image" Target="../media/image3.png"/><Relationship Id="rId14" Type="http://schemas.openxmlformats.org/officeDocument/2006/relationships/image" Target="../media/image8.gi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themeOverride" Target="../theme/themeOverride4.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099D79B5-B3AD-DED8-CB4A-E99D947E24E5}"/>
              </a:ext>
            </a:extLst>
          </p:cNvPr>
          <p:cNvSpPr>
            <a:spLocks noGrp="1"/>
          </p:cNvSpPr>
          <p:nvPr>
            <p:ph sz="half" idx="1"/>
          </p:nvPr>
        </p:nvSpPr>
        <p:spPr>
          <a:xfrm>
            <a:off x="-14965" y="1627795"/>
            <a:ext cx="12198846" cy="934655"/>
          </a:xfrm>
        </p:spPr>
        <p:txBody>
          <a:bodyPr>
            <a:noAutofit/>
          </a:bodyPr>
          <a:lstStyle/>
          <a:p>
            <a:pPr marL="0" indent="0" algn="just">
              <a:buNone/>
            </a:pPr>
            <a:r>
              <a:rPr lang="en-HK" sz="1600" i="1" dirty="0"/>
              <a:t>Hands-on solution-driven IT professional with 18+ years of extensive experience as a consultant, solution architect, security Designs, project manager, team lead, and senior engineer for multiple software development projects. Focus on Pre-sales, Architecture Vision, Business Architecture, </a:t>
            </a:r>
            <a:r>
              <a:rPr lang="en-HK" sz="1600" dirty="0"/>
              <a:t>Technology Architecture,</a:t>
            </a:r>
            <a:r>
              <a:rPr lang="en-HK" sz="1600" i="1" dirty="0"/>
              <a:t> helping clients for preparing Strategy and Roadmap for Cloud Migration Solution, project management and adhere to SLAs. Energetic and recognized for having excellent communication and problem-solving skills spanning multiple technical towers and global enterprises.</a:t>
            </a:r>
            <a:endParaRPr lang="en-US" sz="1600" dirty="0"/>
          </a:p>
        </p:txBody>
      </p:sp>
      <p:pic>
        <p:nvPicPr>
          <p:cNvPr id="16" name="Picture 15" descr="A person wearing glasses&#10;&#10;Description automatically generated with medium confidence">
            <a:extLst>
              <a:ext uri="{FF2B5EF4-FFF2-40B4-BE49-F238E27FC236}">
                <a16:creationId xmlns:a16="http://schemas.microsoft.com/office/drawing/2014/main" id="{B303859D-9B12-1727-D3C4-DA3F521EADCF}"/>
              </a:ext>
            </a:extLst>
          </p:cNvPr>
          <p:cNvPicPr>
            <a:picLocks noChangeAspect="1"/>
          </p:cNvPicPr>
          <p:nvPr/>
        </p:nvPicPr>
        <p:blipFill rotWithShape="1">
          <a:blip r:embed="rId4"/>
          <a:srcRect t="750" b="24250"/>
          <a:stretch/>
        </p:blipFill>
        <p:spPr>
          <a:xfrm>
            <a:off x="84017" y="59707"/>
            <a:ext cx="1179252" cy="1028963"/>
          </a:xfrm>
          <a:custGeom>
            <a:avLst/>
            <a:gdLst/>
            <a:ahLst/>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effectLst>
            <a:outerShdw blurRad="50800" dist="38100" dir="2700000" algn="tl" rotWithShape="0">
              <a:prstClr val="black">
                <a:alpha val="28651"/>
              </a:prstClr>
            </a:outerShdw>
          </a:effectLst>
          <a:scene3d>
            <a:camera prst="orthographicFront"/>
            <a:lightRig rig="contrasting" dir="t">
              <a:rot lat="0" lon="0" rev="3000000"/>
            </a:lightRig>
          </a:scene3d>
          <a:sp3d contourW="7620">
            <a:bevelT w="95250" h="31750"/>
            <a:contourClr>
              <a:srgbClr val="333333"/>
            </a:contourClr>
          </a:sp3d>
        </p:spPr>
      </p:pic>
      <p:sp>
        <p:nvSpPr>
          <p:cNvPr id="17" name="Title 1">
            <a:extLst>
              <a:ext uri="{FF2B5EF4-FFF2-40B4-BE49-F238E27FC236}">
                <a16:creationId xmlns:a16="http://schemas.microsoft.com/office/drawing/2014/main" id="{0EDDE0B2-0A35-CBB8-4649-194CD444C23B}"/>
              </a:ext>
            </a:extLst>
          </p:cNvPr>
          <p:cNvSpPr txBox="1">
            <a:spLocks/>
          </p:cNvSpPr>
          <p:nvPr/>
        </p:nvSpPr>
        <p:spPr>
          <a:xfrm>
            <a:off x="1424808" y="36573"/>
            <a:ext cx="2596088" cy="394653"/>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t>Mayank </a:t>
            </a:r>
            <a:r>
              <a:rPr lang="en-US" sz="2400" b="1" dirty="0" err="1"/>
              <a:t>Chugh</a:t>
            </a:r>
            <a:endParaRPr lang="en-US" sz="2400" b="1" dirty="0"/>
          </a:p>
        </p:txBody>
      </p:sp>
      <p:sp>
        <p:nvSpPr>
          <p:cNvPr id="19" name="Subtitle 2">
            <a:extLst>
              <a:ext uri="{FF2B5EF4-FFF2-40B4-BE49-F238E27FC236}">
                <a16:creationId xmlns:a16="http://schemas.microsoft.com/office/drawing/2014/main" id="{DDBFB714-22D3-A7A0-B51C-BBCBFA60F424}"/>
              </a:ext>
            </a:extLst>
          </p:cNvPr>
          <p:cNvSpPr txBox="1">
            <a:spLocks/>
          </p:cNvSpPr>
          <p:nvPr/>
        </p:nvSpPr>
        <p:spPr>
          <a:xfrm>
            <a:off x="1429115" y="412899"/>
            <a:ext cx="2833275" cy="271822"/>
          </a:xfrm>
          <a:prstGeom prst="rect">
            <a:avLst/>
          </a:prstGeom>
        </p:spPr>
        <p:txBody>
          <a:bodyPr vert="horz" lIns="91440" tIns="45720" rIns="91440" bIns="45720" rtlCol="0" anchor="t">
            <a:noAutofit/>
          </a:bodyPr>
          <a:lstStyle>
            <a:lvl1pPr marL="0" indent="0" algn="ctr" defTabSz="914400" rtl="0" eaLnBrk="1" latinLnBrk="0" hangingPunct="1">
              <a:lnSpc>
                <a:spcPct val="110000"/>
              </a:lnSpc>
              <a:spcBef>
                <a:spcPts val="1000"/>
              </a:spcBef>
              <a:buClr>
                <a:schemeClr val="accent5"/>
              </a:buClr>
              <a:buFont typeface="Avenir Next LT Pro" panose="020B05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110000"/>
              </a:lnSpc>
              <a:spcBef>
                <a:spcPts val="500"/>
              </a:spcBef>
              <a:buClr>
                <a:schemeClr val="accent5"/>
              </a:buClr>
              <a:buFont typeface="Avenir Next LT Pro" panose="020B05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050" dirty="0"/>
              <a:t>Senior Technical Manager (Cloud + Application)</a:t>
            </a:r>
          </a:p>
        </p:txBody>
      </p:sp>
      <p:sp>
        <p:nvSpPr>
          <p:cNvPr id="22" name="Subtitle 2">
            <a:extLst>
              <a:ext uri="{FF2B5EF4-FFF2-40B4-BE49-F238E27FC236}">
                <a16:creationId xmlns:a16="http://schemas.microsoft.com/office/drawing/2014/main" id="{ACEFC4A6-B8D1-7FBE-7CE8-F8AE96C5E51E}"/>
              </a:ext>
            </a:extLst>
          </p:cNvPr>
          <p:cNvSpPr txBox="1">
            <a:spLocks/>
          </p:cNvSpPr>
          <p:nvPr/>
        </p:nvSpPr>
        <p:spPr>
          <a:xfrm>
            <a:off x="1424809" y="684721"/>
            <a:ext cx="2618692" cy="46327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dirty="0"/>
              <a:t>Email: </a:t>
            </a:r>
            <a:r>
              <a:rPr lang="en-US" sz="1050" dirty="0">
                <a:hlinkClick r:id="rId5"/>
              </a:rPr>
              <a:t>mayankchugh.jobathk@gmail.com</a:t>
            </a:r>
            <a:endParaRPr lang="en-US" sz="1050" dirty="0"/>
          </a:p>
          <a:p>
            <a:pPr marL="0" indent="0">
              <a:buNone/>
            </a:pPr>
            <a:r>
              <a:rPr lang="en-US" sz="1050" dirty="0"/>
              <a:t>Mobile: +852 84812040</a:t>
            </a:r>
          </a:p>
        </p:txBody>
      </p:sp>
      <p:sp>
        <p:nvSpPr>
          <p:cNvPr id="23" name="TextBox 22">
            <a:extLst>
              <a:ext uri="{FF2B5EF4-FFF2-40B4-BE49-F238E27FC236}">
                <a16:creationId xmlns:a16="http://schemas.microsoft.com/office/drawing/2014/main" id="{741594F9-1614-9883-CC27-2203AC0744E7}"/>
              </a:ext>
            </a:extLst>
          </p:cNvPr>
          <p:cNvSpPr txBox="1"/>
          <p:nvPr/>
        </p:nvSpPr>
        <p:spPr>
          <a:xfrm>
            <a:off x="9572077" y="0"/>
            <a:ext cx="2618691" cy="415498"/>
          </a:xfrm>
          <a:prstGeom prst="rect">
            <a:avLst/>
          </a:prstGeom>
          <a:noFill/>
        </p:spPr>
        <p:txBody>
          <a:bodyPr wrap="square">
            <a:spAutoFit/>
          </a:bodyPr>
          <a:lstStyle/>
          <a:p>
            <a:r>
              <a:rPr lang="en-HK" sz="1050" dirty="0"/>
              <a:t>LinkedIn:</a:t>
            </a:r>
            <a:r>
              <a:rPr lang="en-HK" sz="1050" u="sng" dirty="0"/>
              <a:t> </a:t>
            </a:r>
            <a:r>
              <a:rPr lang="en-HK" sz="1050" dirty="0">
                <a:hlinkClick r:id="rId6"/>
              </a:rPr>
              <a:t>www.linkedin.com/in/mchugh44</a:t>
            </a:r>
            <a:r>
              <a:rPr lang="en-HK" sz="1050" dirty="0"/>
              <a:t> </a:t>
            </a:r>
          </a:p>
          <a:p>
            <a:r>
              <a:rPr lang="en-HK" sz="1050" dirty="0"/>
              <a:t>Git: </a:t>
            </a:r>
            <a:r>
              <a:rPr lang="en-HK" sz="1050" u="sng" dirty="0">
                <a:hlinkClick r:id="rId7"/>
              </a:rPr>
              <a:t>https://github.com/mayankchugh1977</a:t>
            </a:r>
            <a:endParaRPr lang="en-HK" sz="1050" u="sng" dirty="0"/>
          </a:p>
        </p:txBody>
      </p:sp>
      <p:sp>
        <p:nvSpPr>
          <p:cNvPr id="24" name="Content Placeholder 13">
            <a:extLst>
              <a:ext uri="{FF2B5EF4-FFF2-40B4-BE49-F238E27FC236}">
                <a16:creationId xmlns:a16="http://schemas.microsoft.com/office/drawing/2014/main" id="{794030AC-E56D-783A-DA24-C00CEE8EAFED}"/>
              </a:ext>
            </a:extLst>
          </p:cNvPr>
          <p:cNvSpPr txBox="1">
            <a:spLocks/>
          </p:cNvSpPr>
          <p:nvPr/>
        </p:nvSpPr>
        <p:spPr>
          <a:xfrm>
            <a:off x="11301" y="1234949"/>
            <a:ext cx="12160088" cy="254142"/>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Summary</a:t>
            </a:r>
          </a:p>
        </p:txBody>
      </p:sp>
      <p:sp>
        <p:nvSpPr>
          <p:cNvPr id="25" name="Content Placeholder 13">
            <a:extLst>
              <a:ext uri="{FF2B5EF4-FFF2-40B4-BE49-F238E27FC236}">
                <a16:creationId xmlns:a16="http://schemas.microsoft.com/office/drawing/2014/main" id="{5E86A172-CC2C-521C-6BE6-A566CE1EB0B6}"/>
              </a:ext>
            </a:extLst>
          </p:cNvPr>
          <p:cNvSpPr txBox="1">
            <a:spLocks/>
          </p:cNvSpPr>
          <p:nvPr/>
        </p:nvSpPr>
        <p:spPr>
          <a:xfrm>
            <a:off x="-26508" y="4856083"/>
            <a:ext cx="12221930" cy="15890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spcBef>
                <a:spcPts val="0"/>
              </a:spcBef>
              <a:buNone/>
            </a:pPr>
            <a:r>
              <a:rPr lang="en-HK" sz="1600" b="1" dirty="0"/>
              <a:t>Cloud Services: </a:t>
            </a:r>
            <a:r>
              <a:rPr lang="en-HK" sz="1600" dirty="0"/>
              <a:t>AWS</a:t>
            </a:r>
            <a:r>
              <a:rPr lang="en-US" sz="1600" dirty="0"/>
              <a:t>; </a:t>
            </a:r>
            <a:r>
              <a:rPr lang="en-HK" sz="1600" b="1" dirty="0"/>
              <a:t>DevOps:</a:t>
            </a:r>
            <a:r>
              <a:rPr lang="en-HK" sz="1600" dirty="0"/>
              <a:t> GIT, Jenkins pipeline, AWS CI/CD pipeline, Ansible, Containers, K8S, Terraform; </a:t>
            </a:r>
          </a:p>
          <a:p>
            <a:pPr marL="0" lvl="0" indent="0" algn="just">
              <a:spcBef>
                <a:spcPts val="0"/>
              </a:spcBef>
              <a:buNone/>
            </a:pPr>
            <a:r>
              <a:rPr lang="en-HK" sz="1600" b="1" dirty="0"/>
              <a:t>Languages</a:t>
            </a:r>
            <a:r>
              <a:rPr lang="en-HK" sz="1600" dirty="0"/>
              <a:t>: Java / J2EE, EJB, Spring Boot, JavaScript, Struts 1.x MVC, Python;</a:t>
            </a:r>
            <a:r>
              <a:rPr lang="en-US" sz="1600" dirty="0"/>
              <a:t> </a:t>
            </a:r>
          </a:p>
          <a:p>
            <a:pPr marL="0" lvl="0" indent="0" algn="just">
              <a:spcBef>
                <a:spcPts val="0"/>
              </a:spcBef>
              <a:buNone/>
            </a:pPr>
            <a:r>
              <a:rPr lang="en-HK" sz="1600" b="1" dirty="0"/>
              <a:t>Databases</a:t>
            </a:r>
            <a:r>
              <a:rPr lang="en-HK" sz="1600" dirty="0"/>
              <a:t>: Oracle, </a:t>
            </a:r>
            <a:r>
              <a:rPr lang="en-HK" sz="1600" dirty="0" err="1"/>
              <a:t>MySql</a:t>
            </a:r>
            <a:r>
              <a:rPr lang="en-HK" sz="1600" dirty="0"/>
              <a:t>; </a:t>
            </a:r>
            <a:r>
              <a:rPr lang="en-HK" sz="1600" b="1" dirty="0"/>
              <a:t>Reporting tools</a:t>
            </a:r>
            <a:r>
              <a:rPr lang="en-HK" sz="1600" dirty="0"/>
              <a:t>: iReport, Jasper Report; </a:t>
            </a:r>
            <a:r>
              <a:rPr lang="en-HK" sz="1600" b="1" dirty="0"/>
              <a:t>Version Control: </a:t>
            </a:r>
            <a:r>
              <a:rPr lang="en-HK" sz="1600" dirty="0"/>
              <a:t>GIT, SVN, VSS; </a:t>
            </a:r>
          </a:p>
          <a:p>
            <a:pPr marL="0" lvl="0" indent="0" algn="just">
              <a:spcBef>
                <a:spcPts val="0"/>
              </a:spcBef>
              <a:buNone/>
            </a:pPr>
            <a:r>
              <a:rPr lang="en-HK" sz="1600" b="1" dirty="0"/>
              <a:t>Web Services</a:t>
            </a:r>
            <a:r>
              <a:rPr lang="en-HK" sz="1600" dirty="0"/>
              <a:t>: SOAP, Rest API Development; </a:t>
            </a:r>
          </a:p>
          <a:p>
            <a:pPr marL="0" lvl="0" indent="0" algn="just">
              <a:spcBef>
                <a:spcPts val="0"/>
              </a:spcBef>
              <a:buNone/>
            </a:pPr>
            <a:r>
              <a:rPr lang="en-HK" sz="1600" b="1" dirty="0"/>
              <a:t>Management Tool</a:t>
            </a:r>
            <a:r>
              <a:rPr lang="en-HK" sz="1600" dirty="0"/>
              <a:t>: JIRA, Confluence; Maximo, Bugzilla;</a:t>
            </a:r>
            <a:r>
              <a:rPr lang="en-US" sz="1600" dirty="0"/>
              <a:t> </a:t>
            </a:r>
          </a:p>
          <a:p>
            <a:pPr marL="0" lvl="0" indent="0" algn="just">
              <a:spcBef>
                <a:spcPts val="0"/>
              </a:spcBef>
              <a:buNone/>
            </a:pPr>
            <a:r>
              <a:rPr lang="en-HK" sz="1600" b="1" dirty="0"/>
              <a:t>Machine Learning: </a:t>
            </a:r>
            <a:r>
              <a:rPr lang="en-HK" sz="1600" dirty="0"/>
              <a:t>Supervised Learning – Linear/Logistic Regression, Decision Tree, Random Forrest Tree; </a:t>
            </a:r>
          </a:p>
          <a:p>
            <a:pPr marL="0" lvl="0" indent="0" algn="just">
              <a:spcBef>
                <a:spcPts val="0"/>
              </a:spcBef>
              <a:buNone/>
            </a:pPr>
            <a:r>
              <a:rPr lang="en-HK" sz="1600" b="1" dirty="0"/>
              <a:t>Operating Systems:</a:t>
            </a:r>
            <a:r>
              <a:rPr lang="en-HK" sz="1600" dirty="0"/>
              <a:t> Windows (XP, 10), </a:t>
            </a:r>
            <a:r>
              <a:rPr lang="en-HK" sz="1600" dirty="0" err="1"/>
              <a:t>Lunix</a:t>
            </a:r>
            <a:r>
              <a:rPr lang="en-HK" sz="1600" dirty="0"/>
              <a:t> and Ubuntu; </a:t>
            </a:r>
            <a:r>
              <a:rPr lang="en-HK" sz="1600" b="1" dirty="0"/>
              <a:t>Methodologies</a:t>
            </a:r>
            <a:r>
              <a:rPr lang="en-HK" sz="1600" dirty="0"/>
              <a:t>: Agile, Waterfall Model </a:t>
            </a:r>
            <a:endParaRPr lang="en-US" sz="1600" dirty="0"/>
          </a:p>
        </p:txBody>
      </p:sp>
      <p:sp>
        <p:nvSpPr>
          <p:cNvPr id="26" name="Content Placeholder 13">
            <a:extLst>
              <a:ext uri="{FF2B5EF4-FFF2-40B4-BE49-F238E27FC236}">
                <a16:creationId xmlns:a16="http://schemas.microsoft.com/office/drawing/2014/main" id="{FFE59981-997F-EB06-DEB0-3FEC97FFFB29}"/>
              </a:ext>
            </a:extLst>
          </p:cNvPr>
          <p:cNvSpPr txBox="1">
            <a:spLocks/>
          </p:cNvSpPr>
          <p:nvPr/>
        </p:nvSpPr>
        <p:spPr>
          <a:xfrm>
            <a:off x="11301" y="3026703"/>
            <a:ext cx="12148304" cy="299900"/>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6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Skills</a:t>
            </a:r>
          </a:p>
        </p:txBody>
      </p:sp>
      <p:sp>
        <p:nvSpPr>
          <p:cNvPr id="28" name="Content Placeholder 13">
            <a:extLst>
              <a:ext uri="{FF2B5EF4-FFF2-40B4-BE49-F238E27FC236}">
                <a16:creationId xmlns:a16="http://schemas.microsoft.com/office/drawing/2014/main" id="{57432FE2-6A71-6039-AF51-D1E1C0545104}"/>
              </a:ext>
            </a:extLst>
          </p:cNvPr>
          <p:cNvSpPr txBox="1">
            <a:spLocks/>
          </p:cNvSpPr>
          <p:nvPr/>
        </p:nvSpPr>
        <p:spPr>
          <a:xfrm>
            <a:off x="11301" y="4975886"/>
            <a:ext cx="6019800" cy="9346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endParaRPr lang="en-US" sz="1000" dirty="0"/>
          </a:p>
        </p:txBody>
      </p:sp>
      <p:sp>
        <p:nvSpPr>
          <p:cNvPr id="36" name="Content Placeholder 13">
            <a:extLst>
              <a:ext uri="{FF2B5EF4-FFF2-40B4-BE49-F238E27FC236}">
                <a16:creationId xmlns:a16="http://schemas.microsoft.com/office/drawing/2014/main" id="{732EF027-BC1C-37CF-2DBC-9A2079473128}"/>
              </a:ext>
            </a:extLst>
          </p:cNvPr>
          <p:cNvSpPr txBox="1">
            <a:spLocks/>
          </p:cNvSpPr>
          <p:nvPr/>
        </p:nvSpPr>
        <p:spPr>
          <a:xfrm>
            <a:off x="-14965" y="3448955"/>
            <a:ext cx="12180699" cy="6838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HK" sz="1600" dirty="0"/>
              <a:t>Project lifecycle management; Project manager supervision; Architecture Change Management; Migration Planning; Release management; Technical project planning; Project requirements analysis; Build technical teams; Technical documentation understanding; Solution Technical architecture (Application + Cloud); Security Designs/Patterns; Project scheduling and budgeting; Custom software development and database design; System migration/integration; Quality assurance</a:t>
            </a:r>
            <a:r>
              <a:rPr lang="en-HK" sz="1600" dirty="0">
                <a:effectLst/>
              </a:rPr>
              <a:t> </a:t>
            </a:r>
            <a:endParaRPr lang="en-US" sz="1600" dirty="0"/>
          </a:p>
        </p:txBody>
      </p:sp>
      <p:sp>
        <p:nvSpPr>
          <p:cNvPr id="37" name="Content Placeholder 13">
            <a:extLst>
              <a:ext uri="{FF2B5EF4-FFF2-40B4-BE49-F238E27FC236}">
                <a16:creationId xmlns:a16="http://schemas.microsoft.com/office/drawing/2014/main" id="{FD57F944-A566-422E-0E86-14518E6CBE09}"/>
              </a:ext>
            </a:extLst>
          </p:cNvPr>
          <p:cNvSpPr txBox="1">
            <a:spLocks/>
          </p:cNvSpPr>
          <p:nvPr/>
        </p:nvSpPr>
        <p:spPr>
          <a:xfrm>
            <a:off x="-1237" y="4572517"/>
            <a:ext cx="12171389" cy="45719"/>
          </a:xfrm>
          <a:prstGeom prst="rect">
            <a:avLst/>
          </a:prstGeom>
          <a:solidFill>
            <a:schemeClr val="tx1"/>
          </a:solidFill>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p:txBody>
      </p:sp>
      <p:grpSp>
        <p:nvGrpSpPr>
          <p:cNvPr id="21" name="Group 20">
            <a:extLst>
              <a:ext uri="{FF2B5EF4-FFF2-40B4-BE49-F238E27FC236}">
                <a16:creationId xmlns:a16="http://schemas.microsoft.com/office/drawing/2014/main" id="{42274B55-42CB-1E54-D568-C87FADE0D6E9}"/>
              </a:ext>
            </a:extLst>
          </p:cNvPr>
          <p:cNvGrpSpPr/>
          <p:nvPr/>
        </p:nvGrpSpPr>
        <p:grpSpPr>
          <a:xfrm>
            <a:off x="7601981" y="467430"/>
            <a:ext cx="4506002" cy="655518"/>
            <a:chOff x="6572956" y="391890"/>
            <a:chExt cx="4506002" cy="655518"/>
          </a:xfrm>
        </p:grpSpPr>
        <p:pic>
          <p:nvPicPr>
            <p:cNvPr id="8" name="Picture 7">
              <a:extLst>
                <a:ext uri="{FF2B5EF4-FFF2-40B4-BE49-F238E27FC236}">
                  <a16:creationId xmlns:a16="http://schemas.microsoft.com/office/drawing/2014/main" id="{F8736DD0-B3B1-06C3-47B5-B64B9D476E32}"/>
                </a:ext>
              </a:extLst>
            </p:cNvPr>
            <p:cNvPicPr>
              <a:picLocks noChangeAspect="1"/>
            </p:cNvPicPr>
            <p:nvPr/>
          </p:nvPicPr>
          <p:blipFill>
            <a:blip r:embed="rId8"/>
            <a:stretch>
              <a:fillRect/>
            </a:stretch>
          </p:blipFill>
          <p:spPr>
            <a:xfrm>
              <a:off x="7250431" y="399516"/>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9" name="Picture 8">
              <a:extLst>
                <a:ext uri="{FF2B5EF4-FFF2-40B4-BE49-F238E27FC236}">
                  <a16:creationId xmlns:a16="http://schemas.microsoft.com/office/drawing/2014/main" id="{92363677-0DC1-D296-28D2-580B847E11F4}"/>
                </a:ext>
              </a:extLst>
            </p:cNvPr>
            <p:cNvPicPr>
              <a:picLocks noChangeAspect="1"/>
            </p:cNvPicPr>
            <p:nvPr/>
          </p:nvPicPr>
          <p:blipFill>
            <a:blip r:embed="rId9"/>
            <a:stretch>
              <a:fillRect/>
            </a:stretch>
          </p:blipFill>
          <p:spPr>
            <a:xfrm>
              <a:off x="6572956" y="391890"/>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0" name="Picture 9">
              <a:extLst>
                <a:ext uri="{FF2B5EF4-FFF2-40B4-BE49-F238E27FC236}">
                  <a16:creationId xmlns:a16="http://schemas.microsoft.com/office/drawing/2014/main" id="{0871DBAA-B532-D677-6A1B-2124048C84D9}"/>
                </a:ext>
              </a:extLst>
            </p:cNvPr>
            <p:cNvPicPr>
              <a:picLocks noChangeAspect="1"/>
            </p:cNvPicPr>
            <p:nvPr/>
          </p:nvPicPr>
          <p:blipFill>
            <a:blip r:embed="rId10"/>
            <a:stretch>
              <a:fillRect/>
            </a:stretch>
          </p:blipFill>
          <p:spPr>
            <a:xfrm>
              <a:off x="7889586" y="399516"/>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1" name="Picture 10">
              <a:extLst>
                <a:ext uri="{FF2B5EF4-FFF2-40B4-BE49-F238E27FC236}">
                  <a16:creationId xmlns:a16="http://schemas.microsoft.com/office/drawing/2014/main" id="{C598CCD5-ADF7-1615-C335-BC014F7EF4FE}"/>
                </a:ext>
              </a:extLst>
            </p:cNvPr>
            <p:cNvPicPr>
              <a:picLocks noChangeAspect="1"/>
            </p:cNvPicPr>
            <p:nvPr/>
          </p:nvPicPr>
          <p:blipFill>
            <a:blip r:embed="rId11"/>
            <a:stretch>
              <a:fillRect/>
            </a:stretch>
          </p:blipFill>
          <p:spPr>
            <a:xfrm>
              <a:off x="8473284" y="457942"/>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2" name="Picture 11">
              <a:extLst>
                <a:ext uri="{FF2B5EF4-FFF2-40B4-BE49-F238E27FC236}">
                  <a16:creationId xmlns:a16="http://schemas.microsoft.com/office/drawing/2014/main" id="{25E486A0-6A03-A8EB-9042-3A010DF4448B}"/>
                </a:ext>
              </a:extLst>
            </p:cNvPr>
            <p:cNvPicPr>
              <a:picLocks noChangeAspect="1"/>
            </p:cNvPicPr>
            <p:nvPr/>
          </p:nvPicPr>
          <p:blipFill>
            <a:blip r:embed="rId12"/>
            <a:stretch>
              <a:fillRect/>
            </a:stretch>
          </p:blipFill>
          <p:spPr>
            <a:xfrm>
              <a:off x="9097574" y="451455"/>
              <a:ext cx="429923"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5" name="Picture 14">
              <a:extLst>
                <a:ext uri="{FF2B5EF4-FFF2-40B4-BE49-F238E27FC236}">
                  <a16:creationId xmlns:a16="http://schemas.microsoft.com/office/drawing/2014/main" id="{6DAB8B86-20D9-95AD-76AE-9FDF0A492B39}"/>
                </a:ext>
              </a:extLst>
            </p:cNvPr>
            <p:cNvPicPr>
              <a:picLocks noChangeAspect="1"/>
            </p:cNvPicPr>
            <p:nvPr/>
          </p:nvPicPr>
          <p:blipFill>
            <a:blip r:embed="rId13"/>
            <a:stretch>
              <a:fillRect/>
            </a:stretch>
          </p:blipFill>
          <p:spPr>
            <a:xfrm>
              <a:off x="9674177" y="457942"/>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8" name="Picture 17">
              <a:extLst>
                <a:ext uri="{FF2B5EF4-FFF2-40B4-BE49-F238E27FC236}">
                  <a16:creationId xmlns:a16="http://schemas.microsoft.com/office/drawing/2014/main" id="{A22F8A41-38CE-04AE-407E-E1FF64B5FC19}"/>
                </a:ext>
              </a:extLst>
            </p:cNvPr>
            <p:cNvPicPr>
              <a:picLocks noChangeAspect="1"/>
            </p:cNvPicPr>
            <p:nvPr/>
          </p:nvPicPr>
          <p:blipFill>
            <a:blip r:embed="rId14"/>
            <a:stretch>
              <a:fillRect/>
            </a:stretch>
          </p:blipFill>
          <p:spPr>
            <a:xfrm>
              <a:off x="10362846" y="457942"/>
              <a:ext cx="716112"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grpSp>
    </p:spTree>
    <p:extLst>
      <p:ext uri="{BB962C8B-B14F-4D97-AF65-F5344CB8AC3E}">
        <p14:creationId xmlns:p14="http://schemas.microsoft.com/office/powerpoint/2010/main" val="281827094"/>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E8F3864-636B-7298-1D86-47673991646F}"/>
              </a:ext>
            </a:extLst>
          </p:cNvPr>
          <p:cNvSpPr>
            <a:spLocks noGrp="1"/>
          </p:cNvSpPr>
          <p:nvPr>
            <p:ph type="title"/>
          </p:nvPr>
        </p:nvSpPr>
        <p:spPr>
          <a:xfrm>
            <a:off x="-77522" y="8847"/>
            <a:ext cx="12192000" cy="1236111"/>
          </a:xfrm>
        </p:spPr>
        <p:txBody>
          <a:bodyPr>
            <a:normAutofit/>
          </a:bodyPr>
          <a:lstStyle/>
          <a:p>
            <a:r>
              <a:rPr lang="en-US" sz="1000" dirty="0"/>
              <a:t>	</a:t>
            </a:r>
          </a:p>
        </p:txBody>
      </p:sp>
      <p:sp>
        <p:nvSpPr>
          <p:cNvPr id="28" name="Content Placeholder 13">
            <a:extLst>
              <a:ext uri="{FF2B5EF4-FFF2-40B4-BE49-F238E27FC236}">
                <a16:creationId xmlns:a16="http://schemas.microsoft.com/office/drawing/2014/main" id="{57432FE2-6A71-6039-AF51-D1E1C0545104}"/>
              </a:ext>
            </a:extLst>
          </p:cNvPr>
          <p:cNvSpPr txBox="1">
            <a:spLocks/>
          </p:cNvSpPr>
          <p:nvPr/>
        </p:nvSpPr>
        <p:spPr>
          <a:xfrm>
            <a:off x="11301" y="4975886"/>
            <a:ext cx="6019800" cy="9346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endParaRPr lang="en-US" sz="1000" dirty="0"/>
          </a:p>
        </p:txBody>
      </p:sp>
      <p:sp>
        <p:nvSpPr>
          <p:cNvPr id="34" name="Content Placeholder 13">
            <a:extLst>
              <a:ext uri="{FF2B5EF4-FFF2-40B4-BE49-F238E27FC236}">
                <a16:creationId xmlns:a16="http://schemas.microsoft.com/office/drawing/2014/main" id="{9E78D7D8-2879-FFF1-F7CD-90C3BA904407}"/>
              </a:ext>
            </a:extLst>
          </p:cNvPr>
          <p:cNvSpPr txBox="1">
            <a:spLocks/>
          </p:cNvSpPr>
          <p:nvPr/>
        </p:nvSpPr>
        <p:spPr>
          <a:xfrm>
            <a:off x="-15677" y="457258"/>
            <a:ext cx="12168916" cy="6258958"/>
          </a:xfrm>
          <a:prstGeom prst="rect">
            <a:avLst/>
          </a:prstGeom>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ts val="0"/>
              </a:spcBef>
              <a:buNone/>
            </a:pPr>
            <a:r>
              <a:rPr lang="en-HK" sz="1600" dirty="0"/>
              <a:t>Client: </a:t>
            </a:r>
            <a:r>
              <a:rPr lang="en-HK" sz="1600" b="1" dirty="0"/>
              <a:t>CHANEL</a:t>
            </a:r>
          </a:p>
          <a:p>
            <a:pPr lvl="0" algn="just">
              <a:lnSpc>
                <a:spcPct val="110000"/>
              </a:lnSpc>
              <a:spcBef>
                <a:spcPts val="0"/>
              </a:spcBef>
            </a:pPr>
            <a:r>
              <a:rPr lang="en-HK" sz="1600" dirty="0"/>
              <a:t>Participated in Pre-sales activity for providing High availability, Fault tolerant and resilience application to the client. </a:t>
            </a:r>
          </a:p>
          <a:p>
            <a:pPr lvl="0" algn="just">
              <a:lnSpc>
                <a:spcPct val="110000"/>
              </a:lnSpc>
              <a:spcBef>
                <a:spcPts val="0"/>
              </a:spcBef>
            </a:pPr>
            <a:r>
              <a:rPr lang="en-HK" sz="1600" dirty="0"/>
              <a:t>Contributing as SME for application implementation and Azure cloud for accepted SLA, RPO and RTO.</a:t>
            </a:r>
          </a:p>
          <a:p>
            <a:pPr algn="just">
              <a:lnSpc>
                <a:spcPct val="110000"/>
              </a:lnSpc>
              <a:spcBef>
                <a:spcPts val="0"/>
              </a:spcBef>
            </a:pPr>
            <a:r>
              <a:rPr lang="en-HK" sz="1600" dirty="0"/>
              <a:t>Working closely with delivery head, fellow Architects and other members for delivering complete IT solutions. </a:t>
            </a:r>
          </a:p>
          <a:p>
            <a:pPr marL="0" indent="0" algn="just">
              <a:lnSpc>
                <a:spcPct val="110000"/>
              </a:lnSpc>
              <a:spcBef>
                <a:spcPts val="0"/>
              </a:spcBef>
              <a:buNone/>
            </a:pPr>
            <a:r>
              <a:rPr lang="en-HK" sz="1600" dirty="0"/>
              <a:t>Client: </a:t>
            </a:r>
            <a:r>
              <a:rPr lang="en-HK" sz="1600" b="1" dirty="0"/>
              <a:t>HSBC</a:t>
            </a:r>
          </a:p>
          <a:p>
            <a:pPr lvl="0" algn="just">
              <a:spcBef>
                <a:spcPts val="0"/>
              </a:spcBef>
            </a:pPr>
            <a:r>
              <a:rPr lang="en-HK" sz="1600" dirty="0"/>
              <a:t>Gathered project requirements for setting up application on Cloud through interactions, meetings, and walkthroughs with potential application users functional and non-functional requirements. </a:t>
            </a:r>
          </a:p>
          <a:p>
            <a:pPr lvl="0" algn="just">
              <a:spcBef>
                <a:spcPts val="0"/>
              </a:spcBef>
            </a:pPr>
            <a:r>
              <a:rPr lang="en-HK" sz="1600" dirty="0"/>
              <a:t>Server side API designing, Security Patterns designs decision and Providing AWS architecture for setting up AWS EKS cluster having Jenkins CI/CD pipeline.</a:t>
            </a:r>
          </a:p>
          <a:p>
            <a:pPr marL="0" indent="0" algn="just">
              <a:lnSpc>
                <a:spcPct val="110000"/>
              </a:lnSpc>
              <a:spcBef>
                <a:spcPts val="0"/>
              </a:spcBef>
              <a:buNone/>
            </a:pPr>
            <a:r>
              <a:rPr lang="en-HK" sz="1600" dirty="0"/>
              <a:t>Client: </a:t>
            </a:r>
            <a:r>
              <a:rPr lang="en-HK" sz="1600" b="1" dirty="0"/>
              <a:t>Cathay Pacific Cargo Terminal &amp; Asia Airfreight Terminal </a:t>
            </a:r>
          </a:p>
          <a:p>
            <a:pPr lvl="0" algn="just">
              <a:spcBef>
                <a:spcPts val="0"/>
              </a:spcBef>
            </a:pPr>
            <a:r>
              <a:rPr lang="en-HK" sz="1600" dirty="0"/>
              <a:t>Gathered project requirements (150+ of AAT and 35+ of CPSL) through interactions, meetings, and walkthroughs with potential application users to develop/design business requirements documents (BRD). Also, I created 55+ technical responses to Requests for Quotes (RFQs) for customers.</a:t>
            </a:r>
          </a:p>
          <a:p>
            <a:pPr lvl="0" algn="just">
              <a:spcBef>
                <a:spcPts val="0"/>
              </a:spcBef>
            </a:pPr>
            <a:r>
              <a:rPr lang="en-HK" sz="1600" dirty="0"/>
              <a:t>I Provided winning solutions as part of the pre-sales team, which included responding to RFPs and RFIs from existing and prospective clients. Recently, involved in a proposal for the migration of Monolithic to cloud study. Conducted a few POCs for the same Participated in both pre-sales and post-sales activities, including establishing statements of work, responsibility matrixes, and overseeing the technical realization of solutions by delivery teams.</a:t>
            </a:r>
          </a:p>
          <a:p>
            <a:pPr lvl="0" algn="just">
              <a:spcBef>
                <a:spcPts val="0"/>
              </a:spcBef>
            </a:pPr>
            <a:r>
              <a:rPr lang="en-HK" sz="1600" dirty="0"/>
              <a:t>Worked closely with executive sales teams to deliver quotes and full IT solutions in networking, computing, storage, and virtual cloud infrastructure. Also, Designed and developed projects: On-premise Storage move to AWS, OCR using AI Computer vision, AWS IOT using MQTT (pub/sub) for controlling Cold Box for warehouse cargo application.  </a:t>
            </a:r>
          </a:p>
          <a:p>
            <a:pPr lvl="0" algn="just">
              <a:spcBef>
                <a:spcPts val="0"/>
              </a:spcBef>
            </a:pPr>
            <a:r>
              <a:rPr lang="en-HK" sz="1600" dirty="0"/>
              <a:t>Monitor SLA and tested application performance to identify potential bottlenecks, develop solutions, and collaborate with developers on solution implementation for 5 Web, 3 Mobile applications.  Provided 2nd and 3rd level technical support and troubleshooting to internal and external clients. Team Size - 4 - on-site resources, 4 - offshore resources. </a:t>
            </a:r>
          </a:p>
          <a:p>
            <a:pPr lvl="0" algn="just">
              <a:spcBef>
                <a:spcPts val="0"/>
              </a:spcBef>
            </a:pPr>
            <a:r>
              <a:rPr lang="en-HK" sz="1600" dirty="0"/>
              <a:t>Successfully managed multimillion-dollar revenue accounts including focus on several Completed 15.5K days of works. I have managing releases during all phases of software development life cycle, from requirements analysis through system implementation for more than 2 enterprises projects. Worked closely with customers, internal staff and other stakeholders to determine planning, implementation and integration of system-oriented projects. System development of RESTful API for having interface with HKIA.</a:t>
            </a:r>
          </a:p>
        </p:txBody>
      </p:sp>
      <p:sp>
        <p:nvSpPr>
          <p:cNvPr id="4" name="Title 1">
            <a:extLst>
              <a:ext uri="{FF2B5EF4-FFF2-40B4-BE49-F238E27FC236}">
                <a16:creationId xmlns:a16="http://schemas.microsoft.com/office/drawing/2014/main" id="{AE555ED8-EE74-91DE-7D80-8D21A88325BD}"/>
              </a:ext>
            </a:extLst>
          </p:cNvPr>
          <p:cNvSpPr txBox="1">
            <a:spLocks/>
          </p:cNvSpPr>
          <p:nvPr/>
        </p:nvSpPr>
        <p:spPr>
          <a:xfrm>
            <a:off x="0" y="30676"/>
            <a:ext cx="12191999" cy="40475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lnSpcReduction="10000"/>
          </a:bodyPr>
          <a:lstStyle>
            <a:lvl1pPr algn="ctr">
              <a:lnSpc>
                <a:spcPct val="90000"/>
              </a:lnSpc>
              <a:spcBef>
                <a:spcPct val="0"/>
              </a:spcBef>
              <a:buNone/>
              <a:defRPr sz="24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Relevant Experience</a:t>
            </a:r>
          </a:p>
        </p:txBody>
      </p:sp>
    </p:spTree>
    <p:extLst>
      <p:ext uri="{BB962C8B-B14F-4D97-AF65-F5344CB8AC3E}">
        <p14:creationId xmlns:p14="http://schemas.microsoft.com/office/powerpoint/2010/main" val="1300209602"/>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F1CC95D-6C1E-7426-F492-820188395530}"/>
              </a:ext>
            </a:extLst>
          </p:cNvPr>
          <p:cNvSpPr txBox="1"/>
          <p:nvPr/>
        </p:nvSpPr>
        <p:spPr>
          <a:xfrm>
            <a:off x="0" y="431625"/>
            <a:ext cx="12192000" cy="6711389"/>
          </a:xfrm>
          <a:prstGeom prst="rect">
            <a:avLst/>
          </a:prstGeom>
          <a:noFill/>
        </p:spPr>
        <p:txBody>
          <a:bodyPr wrap="square">
            <a:spAutoFit/>
          </a:bodyPr>
          <a:lstStyle/>
          <a:p>
            <a:pPr lvl="0" indent="-342900">
              <a:lnSpc>
                <a:spcPct val="115000"/>
              </a:lnSpc>
              <a:buFont typeface="Wingdings" pitchFamily="2" charset="2"/>
              <a:buChar char=""/>
            </a:pPr>
            <a:r>
              <a:rPr lang="en-US" sz="1550" b="1" i="1" spc="10" dirty="0">
                <a:solidFill>
                  <a:srgbClr val="333B56"/>
                </a:solidFill>
                <a:ea typeface="PMingLiU" panose="02020500000000000000" pitchFamily="18" charset="-120"/>
                <a:cs typeface="Times New Roman" panose="02020603050405020304" pitchFamily="18" charset="0"/>
              </a:rPr>
              <a:t>Storage S3, CLI</a:t>
            </a:r>
            <a:r>
              <a:rPr lang="en-US" sz="1550" b="1" i="1" dirty="0">
                <a:solidFill>
                  <a:srgbClr val="365F91"/>
                </a:solidFill>
                <a:ea typeface="PMingLiU" panose="02020500000000000000" pitchFamily="18" charset="-120"/>
                <a:cs typeface="Times New Roman" panose="02020603050405020304" pitchFamily="18" charset="0"/>
              </a:rPr>
              <a:t> - </a:t>
            </a:r>
            <a:r>
              <a:rPr lang="en-US" sz="1550" spc="35" dirty="0">
                <a:solidFill>
                  <a:srgbClr val="333B56"/>
                </a:solidFill>
              </a:rPr>
              <a:t>Cloud Computing on AWS</a:t>
            </a:r>
            <a:endParaRPr lang="en-HK" sz="1550" spc="35" dirty="0">
              <a:solidFill>
                <a:srgbClr val="333B56"/>
              </a:solidFill>
            </a:endParaRPr>
          </a:p>
          <a:p>
            <a:r>
              <a:rPr lang="en-US" sz="1550" b="1" spc="35" dirty="0">
                <a:solidFill>
                  <a:srgbClr val="333B56"/>
                </a:solidFill>
                <a:ea typeface="Times New Roman" panose="02020603050405020304" pitchFamily="18" charset="0"/>
              </a:rPr>
              <a:t>On Premises File Storage to AWS S3</a:t>
            </a:r>
            <a:r>
              <a:rPr lang="en-US" sz="1550" spc="35" dirty="0">
                <a:solidFill>
                  <a:srgbClr val="333B56"/>
                </a:solidFill>
                <a:ea typeface="Times New Roman" panose="02020603050405020304" pitchFamily="18" charset="0"/>
              </a:rPr>
              <a:t> </a:t>
            </a:r>
            <a:endParaRPr lang="en-HK" sz="1550" dirty="0">
              <a:ea typeface="Times New Roman" panose="02020603050405020304" pitchFamily="18" charset="0"/>
            </a:endParaRPr>
          </a:p>
          <a:p>
            <a:pPr algn="just"/>
            <a:r>
              <a:rPr lang="en-US" sz="1550" spc="35" dirty="0">
                <a:solidFill>
                  <a:srgbClr val="333B56"/>
                </a:solidFill>
                <a:ea typeface="Times New Roman" panose="02020603050405020304" pitchFamily="18" charset="0"/>
              </a:rPr>
              <a:t>Provides fault tolerant, highly available design </a:t>
            </a:r>
            <a:r>
              <a:rPr lang="en-US" sz="1550" spc="35" dirty="0">
                <a:solidFill>
                  <a:srgbClr val="333B56"/>
                </a:solidFill>
                <a:ea typeface="Times New Roman" panose="02020603050405020304" pitchFamily="18" charset="0"/>
                <a:sym typeface="Wingdings" pitchFamily="2" charset="2"/>
              </a:rPr>
              <a:t> development  deployment  monitoring  maintenance  data analytics support </a:t>
            </a:r>
            <a:r>
              <a:rPr lang="en-US" sz="1550" spc="35" dirty="0">
                <a:solidFill>
                  <a:srgbClr val="333B56"/>
                </a:solidFill>
                <a:ea typeface="Times New Roman" panose="02020603050405020304" pitchFamily="18" charset="0"/>
              </a:rPr>
              <a:t>for file upload Migration from on-prem files storage to AWS S3 bucket logic. In-addition, This enhancement provides the capability to upload the image, document, video and store the files in AWS S3 Bucket instead of on prem storage.</a:t>
            </a:r>
            <a:endParaRPr lang="en-HK" sz="1550" dirty="0">
              <a:ea typeface="Times New Roman" panose="02020603050405020304" pitchFamily="18" charset="0"/>
            </a:endParaRPr>
          </a:p>
          <a:p>
            <a:r>
              <a:rPr lang="en-US" sz="1550" b="1" spc="35" dirty="0">
                <a:solidFill>
                  <a:srgbClr val="333B56"/>
                </a:solidFill>
                <a:ea typeface="Times New Roman" panose="02020603050405020304" pitchFamily="18" charset="0"/>
              </a:rPr>
              <a:t>Skills and Tools</a:t>
            </a:r>
            <a:r>
              <a:rPr lang="en-HK" sz="1550" b="1" dirty="0">
                <a:ea typeface="Times New Roman" panose="02020603050405020304" pitchFamily="18" charset="0"/>
              </a:rPr>
              <a:t> - </a:t>
            </a:r>
            <a:r>
              <a:rPr lang="en-US" sz="1550" spc="35" dirty="0">
                <a:solidFill>
                  <a:srgbClr val="333B56"/>
                </a:solidFill>
                <a:ea typeface="Times New Roman" panose="02020603050405020304" pitchFamily="18" charset="0"/>
              </a:rPr>
              <a:t>S3, AWS SDK (Java), </a:t>
            </a:r>
            <a:r>
              <a:rPr lang="en-US" sz="1550" spc="35" dirty="0" err="1">
                <a:solidFill>
                  <a:srgbClr val="333B56"/>
                </a:solidFill>
                <a:ea typeface="Times New Roman" panose="02020603050405020304" pitchFamily="18" charset="0"/>
              </a:rPr>
              <a:t>awscli</a:t>
            </a:r>
            <a:endParaRPr lang="en-US" sz="1550" spc="35" dirty="0">
              <a:solidFill>
                <a:srgbClr val="333B56"/>
              </a:solidFill>
              <a:ea typeface="Times New Roman" panose="02020603050405020304" pitchFamily="18" charset="0"/>
            </a:endParaRPr>
          </a:p>
          <a:p>
            <a:endParaRPr lang="en-US" sz="1550" spc="35" dirty="0">
              <a:solidFill>
                <a:srgbClr val="333B56"/>
              </a:solidFill>
              <a:ea typeface="Times New Roman" panose="02020603050405020304" pitchFamily="18" charset="0"/>
            </a:endParaRPr>
          </a:p>
          <a:p>
            <a:pPr indent="-342900">
              <a:lnSpc>
                <a:spcPct val="115000"/>
              </a:lnSpc>
              <a:buFont typeface="Wingdings" pitchFamily="2" charset="2"/>
              <a:buChar char=""/>
            </a:pPr>
            <a:r>
              <a:rPr lang="en-US" sz="1550" b="1" i="1" spc="10" dirty="0">
                <a:solidFill>
                  <a:srgbClr val="333B56"/>
                </a:solidFill>
                <a:ea typeface="PMingLiU" panose="02020500000000000000" pitchFamily="18" charset="-120"/>
                <a:cs typeface="Times New Roman" panose="02020603050405020304" pitchFamily="18" charset="0"/>
              </a:rPr>
              <a:t>WebLogic to </a:t>
            </a:r>
            <a:r>
              <a:rPr lang="en-US" sz="1550" b="1" i="1" spc="10" dirty="0" err="1">
                <a:solidFill>
                  <a:srgbClr val="333B56"/>
                </a:solidFill>
                <a:ea typeface="PMingLiU" panose="02020500000000000000" pitchFamily="18" charset="-120"/>
                <a:cs typeface="Times New Roman" panose="02020603050405020304" pitchFamily="18" charset="0"/>
              </a:rPr>
              <a:t>Jboss</a:t>
            </a:r>
            <a:r>
              <a:rPr lang="en-US" sz="1550" b="1" i="1" spc="10" dirty="0">
                <a:solidFill>
                  <a:srgbClr val="333B56"/>
                </a:solidFill>
                <a:ea typeface="PMingLiU" panose="02020500000000000000" pitchFamily="18" charset="-120"/>
                <a:cs typeface="Times New Roman" panose="02020603050405020304" pitchFamily="18" charset="0"/>
              </a:rPr>
              <a:t> and Oracle to MySQL Migration </a:t>
            </a:r>
            <a:r>
              <a:rPr lang="en-US" sz="1550" b="1" i="1" dirty="0">
                <a:solidFill>
                  <a:srgbClr val="365F91"/>
                </a:solidFill>
                <a:ea typeface="PMingLiU" panose="02020500000000000000" pitchFamily="18" charset="-120"/>
                <a:cs typeface="Times New Roman" panose="02020603050405020304" pitchFamily="18" charset="0"/>
              </a:rPr>
              <a:t>– </a:t>
            </a:r>
            <a:r>
              <a:rPr lang="en-US" sz="1550" spc="35" dirty="0">
                <a:solidFill>
                  <a:srgbClr val="333B56"/>
                </a:solidFill>
              </a:rPr>
              <a:t>Monolithic Application Migration to AWS Cloud </a:t>
            </a:r>
          </a:p>
          <a:p>
            <a:pPr lvl="0">
              <a:lnSpc>
                <a:spcPct val="115000"/>
              </a:lnSpc>
            </a:pPr>
            <a:r>
              <a:rPr lang="en-US" sz="1550" b="1" spc="35" dirty="0">
                <a:solidFill>
                  <a:srgbClr val="333B56"/>
                </a:solidFill>
                <a:ea typeface="Times New Roman" panose="02020603050405020304" pitchFamily="18" charset="0"/>
              </a:rPr>
              <a:t>On Premises Application Migration to AWS - POC</a:t>
            </a:r>
            <a:endParaRPr lang="en-HK" sz="1550" dirty="0">
              <a:ea typeface="Times New Roman" panose="02020603050405020304" pitchFamily="18" charset="0"/>
            </a:endParaRPr>
          </a:p>
          <a:p>
            <a:pPr algn="just"/>
            <a:r>
              <a:rPr lang="en-US" sz="1550" spc="35" dirty="0">
                <a:solidFill>
                  <a:srgbClr val="333B56"/>
                </a:solidFill>
                <a:ea typeface="Times New Roman" panose="02020603050405020304" pitchFamily="18" charset="0"/>
              </a:rPr>
              <a:t>As part requirement client want to migrate application. We would need prepare quicker roadmap to best optimal ways for migration for Monolithic application to AWS Cloud with all possible options. As a vendor, we have migrated basic framework and one of module of existing from </a:t>
            </a:r>
            <a:r>
              <a:rPr lang="en-US" sz="1550" spc="35" dirty="0" err="1">
                <a:solidFill>
                  <a:srgbClr val="333B56"/>
                </a:solidFill>
                <a:ea typeface="Times New Roman" panose="02020603050405020304" pitchFamily="18" charset="0"/>
              </a:rPr>
              <a:t>Weblogic</a:t>
            </a:r>
            <a:r>
              <a:rPr lang="en-US" sz="1550" spc="35" dirty="0">
                <a:solidFill>
                  <a:srgbClr val="333B56"/>
                </a:solidFill>
                <a:ea typeface="Times New Roman" panose="02020603050405020304" pitchFamily="18" charset="0"/>
              </a:rPr>
              <a:t> application Server to </a:t>
            </a:r>
            <a:r>
              <a:rPr lang="en-US" sz="1550" spc="35" dirty="0" err="1">
                <a:solidFill>
                  <a:srgbClr val="333B56"/>
                </a:solidFill>
                <a:ea typeface="Times New Roman" panose="02020603050405020304" pitchFamily="18" charset="0"/>
              </a:rPr>
              <a:t>Jboss</a:t>
            </a:r>
            <a:r>
              <a:rPr lang="en-US" sz="1550" spc="35" dirty="0">
                <a:solidFill>
                  <a:srgbClr val="333B56"/>
                </a:solidFill>
                <a:ea typeface="Times New Roman" panose="02020603050405020304" pitchFamily="18" charset="0"/>
              </a:rPr>
              <a:t> Server. Also, We have done all required changes for migrating Oracle database to </a:t>
            </a:r>
            <a:r>
              <a:rPr lang="en-US" sz="1550" spc="35" dirty="0" err="1">
                <a:solidFill>
                  <a:srgbClr val="333B56"/>
                </a:solidFill>
                <a:ea typeface="Times New Roman" panose="02020603050405020304" pitchFamily="18" charset="0"/>
              </a:rPr>
              <a:t>Mysql</a:t>
            </a:r>
            <a:r>
              <a:rPr lang="en-US" sz="1550" spc="35" dirty="0">
                <a:solidFill>
                  <a:srgbClr val="333B56"/>
                </a:solidFill>
                <a:ea typeface="Times New Roman" panose="02020603050405020304" pitchFamily="18" charset="0"/>
              </a:rPr>
              <a:t>/Aurora database. </a:t>
            </a:r>
            <a:endParaRPr lang="en-HK" sz="1550" dirty="0">
              <a:ea typeface="Times New Roman" panose="02020603050405020304" pitchFamily="18" charset="0"/>
            </a:endParaRPr>
          </a:p>
          <a:p>
            <a:r>
              <a:rPr lang="en-US" sz="1550" b="1" spc="35" dirty="0">
                <a:solidFill>
                  <a:srgbClr val="333B56"/>
                </a:solidFill>
                <a:ea typeface="Times New Roman" panose="02020603050405020304" pitchFamily="18" charset="0"/>
              </a:rPr>
              <a:t>Skills and Tools</a:t>
            </a:r>
            <a:r>
              <a:rPr lang="en-HK" sz="1550" b="1" dirty="0">
                <a:ea typeface="Times New Roman" panose="02020603050405020304" pitchFamily="18" charset="0"/>
              </a:rPr>
              <a:t> – </a:t>
            </a:r>
            <a:r>
              <a:rPr lang="en-US" sz="1550" spc="35" dirty="0">
                <a:solidFill>
                  <a:srgbClr val="333B56"/>
                </a:solidFill>
                <a:ea typeface="Times New Roman" panose="02020603050405020304" pitchFamily="18" charset="0"/>
              </a:rPr>
              <a:t>RedHat </a:t>
            </a:r>
            <a:r>
              <a:rPr lang="en-US" sz="1550" spc="35" dirty="0" err="1">
                <a:solidFill>
                  <a:srgbClr val="333B56"/>
                </a:solidFill>
                <a:ea typeface="Times New Roman" panose="02020603050405020304" pitchFamily="18" charset="0"/>
              </a:rPr>
              <a:t>Jboss</a:t>
            </a:r>
            <a:r>
              <a:rPr lang="en-US" sz="1550" spc="35" dirty="0">
                <a:solidFill>
                  <a:srgbClr val="333B56"/>
                </a:solidFill>
                <a:ea typeface="Times New Roman" panose="02020603050405020304" pitchFamily="18" charset="0"/>
              </a:rPr>
              <a:t> migration </a:t>
            </a:r>
            <a:r>
              <a:rPr lang="en-US" sz="1550" spc="35" dirty="0">
                <a:solidFill>
                  <a:srgbClr val="333B56"/>
                </a:solidFill>
              </a:rPr>
              <a:t>tool, </a:t>
            </a:r>
            <a:r>
              <a:rPr lang="en-US" sz="1550" spc="35" dirty="0" err="1">
                <a:solidFill>
                  <a:srgbClr val="333B56"/>
                </a:solidFill>
              </a:rPr>
              <a:t>Jboss</a:t>
            </a:r>
            <a:r>
              <a:rPr lang="en-US" sz="1550" spc="35" dirty="0">
                <a:solidFill>
                  <a:srgbClr val="333B56"/>
                </a:solidFill>
              </a:rPr>
              <a:t> </a:t>
            </a:r>
            <a:r>
              <a:rPr lang="en-HK" sz="1550" spc="35" dirty="0">
                <a:solidFill>
                  <a:srgbClr val="333B56"/>
                </a:solidFill>
              </a:rPr>
              <a:t>The AWS Schema Conversion Tool (AWS SCT)</a:t>
            </a:r>
            <a:endParaRPr lang="en-US" sz="1550" spc="35" dirty="0">
              <a:solidFill>
                <a:srgbClr val="333B56"/>
              </a:solidFill>
            </a:endParaRPr>
          </a:p>
          <a:p>
            <a:endParaRPr lang="en-US" sz="1550" spc="35" dirty="0">
              <a:solidFill>
                <a:srgbClr val="333B56"/>
              </a:solidFill>
              <a:ea typeface="Times New Roman" panose="02020603050405020304" pitchFamily="18" charset="0"/>
            </a:endParaRPr>
          </a:p>
          <a:p>
            <a:pPr indent="-342900">
              <a:lnSpc>
                <a:spcPct val="115000"/>
              </a:lnSpc>
              <a:buFont typeface="Wingdings" pitchFamily="2" charset="2"/>
              <a:buChar char=""/>
            </a:pPr>
            <a:r>
              <a:rPr lang="en-US" sz="1550" b="1" i="1" spc="10" dirty="0">
                <a:solidFill>
                  <a:srgbClr val="333B56"/>
                </a:solidFill>
                <a:ea typeface="PMingLiU" panose="02020500000000000000" pitchFamily="18" charset="-120"/>
                <a:cs typeface="Times New Roman" panose="02020603050405020304" pitchFamily="18" charset="0"/>
              </a:rPr>
              <a:t>Mobile Apps Development for Cargo Users </a:t>
            </a:r>
            <a:r>
              <a:rPr lang="en-US" sz="1550" spc="35" dirty="0">
                <a:solidFill>
                  <a:srgbClr val="333B56"/>
                </a:solidFill>
              </a:rPr>
              <a:t>– Development and Magnificence for iOS and Android Application  </a:t>
            </a:r>
          </a:p>
          <a:p>
            <a:pPr>
              <a:lnSpc>
                <a:spcPct val="115000"/>
              </a:lnSpc>
            </a:pPr>
            <a:r>
              <a:rPr lang="en-US" sz="1550" b="1" spc="35" dirty="0">
                <a:solidFill>
                  <a:srgbClr val="333B56"/>
                </a:solidFill>
                <a:ea typeface="Times New Roman" panose="02020603050405020304" pitchFamily="18" charset="0"/>
              </a:rPr>
              <a:t>Hybrid Cloud Management – combination of Public and Private cloud </a:t>
            </a:r>
            <a:endParaRPr lang="en-HK" sz="1550" b="1" dirty="0">
              <a:ea typeface="Times New Roman" panose="02020603050405020304" pitchFamily="18" charset="0"/>
            </a:endParaRPr>
          </a:p>
          <a:p>
            <a:pPr>
              <a:lnSpc>
                <a:spcPct val="115000"/>
              </a:lnSpc>
            </a:pPr>
            <a:r>
              <a:rPr lang="en-HK" sz="1550" spc="35" dirty="0">
                <a:solidFill>
                  <a:srgbClr val="333B56"/>
                </a:solidFill>
              </a:rPr>
              <a:t>Provide cost optimization solution, Business, information and technology architecture and maintenance support to client for their new Mobile apps and upgrades Mobile Apps. To handle complex business functionality of Transhipment and intermodal functionalities.</a:t>
            </a:r>
            <a:r>
              <a:rPr lang="en-US" sz="1550" spc="35" dirty="0">
                <a:solidFill>
                  <a:srgbClr val="333B56"/>
                </a:solidFill>
              </a:rPr>
              <a:t> Application should allowed the agents, truck drivers and carrier airlines to view schedule and status of flights so that the shipment can be planned for delivery and pick-up. This app enabled user to track the status of Export/Import/</a:t>
            </a:r>
            <a:r>
              <a:rPr lang="en-US" sz="1550" spc="35" dirty="0" err="1">
                <a:solidFill>
                  <a:srgbClr val="333B56"/>
                </a:solidFill>
              </a:rPr>
              <a:t>Transhipment</a:t>
            </a:r>
            <a:r>
              <a:rPr lang="en-US" sz="1550" spc="35" dirty="0">
                <a:solidFill>
                  <a:srgbClr val="333B56"/>
                </a:solidFill>
              </a:rPr>
              <a:t> shipments. It also </a:t>
            </a:r>
            <a:r>
              <a:rPr lang="en-US" sz="1550" spc="35" dirty="0" err="1">
                <a:solidFill>
                  <a:srgbClr val="333B56"/>
                </a:solidFill>
              </a:rPr>
              <a:t>provid</a:t>
            </a:r>
            <a:r>
              <a:rPr lang="en-US" sz="1550" spc="35" dirty="0">
                <a:solidFill>
                  <a:srgbClr val="333B56"/>
                </a:solidFill>
              </a:rPr>
              <a:t> notifications to the user when the Import shipment is ready for pickup so that user can plan and schedule the travel to Cargo Terminal to pick-up the same. It reduced the customer support effort of Cargo Terminal Operator by self-servicing of flight schedule/AWB Enquiry and Notification. It also allowed users to choose languages of choice. </a:t>
            </a:r>
          </a:p>
          <a:p>
            <a:pPr>
              <a:lnSpc>
                <a:spcPct val="115000"/>
              </a:lnSpc>
            </a:pPr>
            <a:r>
              <a:rPr lang="en-US" sz="1550" b="1" spc="35" dirty="0">
                <a:solidFill>
                  <a:srgbClr val="333B56"/>
                </a:solidFill>
                <a:ea typeface="Times New Roman" panose="02020603050405020304" pitchFamily="18" charset="0"/>
              </a:rPr>
              <a:t>Skills and Tools</a:t>
            </a:r>
            <a:r>
              <a:rPr lang="en-HK" sz="1550" b="1" dirty="0">
                <a:ea typeface="Times New Roman" panose="02020603050405020304" pitchFamily="18" charset="0"/>
              </a:rPr>
              <a:t> </a:t>
            </a:r>
            <a:r>
              <a:rPr lang="en-HK" sz="1550" dirty="0"/>
              <a:t>– </a:t>
            </a:r>
            <a:r>
              <a:rPr lang="en-US" sz="1550" dirty="0"/>
              <a:t>J2EE, Oracle, App Notification and Google Notification</a:t>
            </a:r>
          </a:p>
        </p:txBody>
      </p:sp>
      <p:sp>
        <p:nvSpPr>
          <p:cNvPr id="7" name="Title 1">
            <a:extLst>
              <a:ext uri="{FF2B5EF4-FFF2-40B4-BE49-F238E27FC236}">
                <a16:creationId xmlns:a16="http://schemas.microsoft.com/office/drawing/2014/main" id="{279039EF-4887-C6E9-CCEF-291849355EE0}"/>
              </a:ext>
            </a:extLst>
          </p:cNvPr>
          <p:cNvSpPr>
            <a:spLocks noGrp="1"/>
          </p:cNvSpPr>
          <p:nvPr>
            <p:ph type="title"/>
          </p:nvPr>
        </p:nvSpPr>
        <p:spPr>
          <a:xfrm>
            <a:off x="0" y="0"/>
            <a:ext cx="12191999" cy="431625"/>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r>
              <a:rPr lang="en-US" sz="2400" b="1">
                <a:solidFill>
                  <a:schemeClr val="bg1"/>
                </a:solidFill>
              </a:rPr>
              <a:t>Projects &amp; POCs</a:t>
            </a:r>
            <a:endParaRPr lang="en-US" sz="2400" b="1" dirty="0">
              <a:solidFill>
                <a:schemeClr val="bg1"/>
              </a:solidFill>
            </a:endParaRPr>
          </a:p>
        </p:txBody>
      </p:sp>
    </p:spTree>
    <p:extLst>
      <p:ext uri="{BB962C8B-B14F-4D97-AF65-F5344CB8AC3E}">
        <p14:creationId xmlns:p14="http://schemas.microsoft.com/office/powerpoint/2010/main" val="768319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434C5CF-5DA9-5B85-3350-9DF8F6351156}"/>
              </a:ext>
            </a:extLst>
          </p:cNvPr>
          <p:cNvSpPr>
            <a:spLocks noGrp="1"/>
          </p:cNvSpPr>
          <p:nvPr>
            <p:ph type="title"/>
          </p:nvPr>
        </p:nvSpPr>
        <p:spPr>
          <a:xfrm>
            <a:off x="0" y="21709"/>
            <a:ext cx="12191999" cy="470067"/>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r>
              <a:rPr lang="en-US" sz="2400" b="1" dirty="0">
                <a:solidFill>
                  <a:schemeClr val="bg1"/>
                </a:solidFill>
              </a:rPr>
              <a:t>Key </a:t>
            </a:r>
            <a:r>
              <a:rPr lang="en-US" sz="2400" b="1">
                <a:solidFill>
                  <a:schemeClr val="bg1"/>
                </a:solidFill>
              </a:rPr>
              <a:t>Result Areas</a:t>
            </a:r>
            <a:endParaRPr lang="en-US" sz="2400" b="1" dirty="0">
              <a:solidFill>
                <a:schemeClr val="bg1"/>
              </a:solidFill>
            </a:endParaRPr>
          </a:p>
        </p:txBody>
      </p:sp>
      <p:sp>
        <p:nvSpPr>
          <p:cNvPr id="7" name="Content Placeholder 6">
            <a:extLst>
              <a:ext uri="{FF2B5EF4-FFF2-40B4-BE49-F238E27FC236}">
                <a16:creationId xmlns:a16="http://schemas.microsoft.com/office/drawing/2014/main" id="{E3266B80-AEDF-7C86-8384-A8A16F266B3E}"/>
              </a:ext>
            </a:extLst>
          </p:cNvPr>
          <p:cNvSpPr>
            <a:spLocks noGrp="1"/>
          </p:cNvSpPr>
          <p:nvPr>
            <p:ph sz="half" idx="1"/>
          </p:nvPr>
        </p:nvSpPr>
        <p:spPr>
          <a:xfrm>
            <a:off x="0" y="1038998"/>
            <a:ext cx="12192001" cy="2558597"/>
          </a:xfrm>
        </p:spPr>
        <p:txBody>
          <a:bodyPr>
            <a:noAutofit/>
          </a:bodyPr>
          <a:lstStyle/>
          <a:p>
            <a:pPr algn="just"/>
            <a:r>
              <a:rPr lang="en-GB" sz="1600" spc="-10" dirty="0">
                <a:solidFill>
                  <a:srgbClr val="404040"/>
                </a:solidFill>
                <a:ea typeface="Calibri" panose="020F0502020204030204" pitchFamily="34" charset="0"/>
                <a:cs typeface="Calibri" panose="020F0502020204030204" pitchFamily="34" charset="0"/>
              </a:rPr>
              <a:t>A customer-centric leader with strong analytical, design and problem solving skills</a:t>
            </a:r>
            <a:endParaRPr lang="en-HK" sz="1600" dirty="0">
              <a:ea typeface="Calibri" panose="020F0502020204030204" pitchFamily="34" charset="0"/>
              <a:cs typeface="Times New Roman" panose="02020603050405020304" pitchFamily="18" charset="0"/>
            </a:endParaRPr>
          </a:p>
          <a:p>
            <a:pPr algn="just"/>
            <a:r>
              <a:rPr lang="en-US" sz="1600" dirty="0"/>
              <a:t>Interacting with clients for business gathering, conducting system analysis to propose/finalize Infrastructure &amp; Application design specifications.</a:t>
            </a:r>
          </a:p>
          <a:p>
            <a:pPr algn="just"/>
            <a:r>
              <a:rPr lang="en-US" sz="1600" dirty="0"/>
              <a:t>Further conduct mockup interview with teams to discuss functional &amp; Non-Functional requirement and Security aspects; also help in preparing high level design documents for the project; </a:t>
            </a:r>
          </a:p>
          <a:p>
            <a:pPr algn="just"/>
            <a:r>
              <a:rPr lang="en-US" sz="1600" dirty="0"/>
              <a:t>I contribute teams as SME to the design, development, testing, troubleshooting and debugging during the process phases.</a:t>
            </a:r>
            <a:endParaRPr lang="en-HK" sz="1600" dirty="0"/>
          </a:p>
          <a:p>
            <a:pPr algn="just"/>
            <a:r>
              <a:rPr lang="en-US" sz="1600" dirty="0"/>
              <a:t>Reviewing design documents, code &amp; approving results during for critical functionalities of the projects; identifying &amp; highlighting risks and issues in project followed by appropriate escalation; providing post-implementation, application maintenance and enhancement support to the client with regard to the product / software application</a:t>
            </a:r>
          </a:p>
          <a:p>
            <a:endParaRPr lang="en-US" sz="1600" dirty="0"/>
          </a:p>
        </p:txBody>
      </p:sp>
      <p:sp>
        <p:nvSpPr>
          <p:cNvPr id="2" name="Content Placeholder 13">
            <a:extLst>
              <a:ext uri="{FF2B5EF4-FFF2-40B4-BE49-F238E27FC236}">
                <a16:creationId xmlns:a16="http://schemas.microsoft.com/office/drawing/2014/main" id="{3A0FA96E-A47F-7E87-1A58-7691E736BB68}"/>
              </a:ext>
            </a:extLst>
          </p:cNvPr>
          <p:cNvSpPr txBox="1">
            <a:spLocks/>
          </p:cNvSpPr>
          <p:nvPr/>
        </p:nvSpPr>
        <p:spPr>
          <a:xfrm>
            <a:off x="-5" y="723529"/>
            <a:ext cx="12191998" cy="227214"/>
          </a:xfrm>
          <a:prstGeom prst="rect">
            <a:avLst/>
          </a:prstGeom>
          <a:solidFill>
            <a:srgbClr val="002060"/>
          </a:solidFill>
          <a:ln>
            <a:solidFill>
              <a:schemeClr val="accent1"/>
            </a:solidFill>
          </a:ln>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Solution Architecture </a:t>
            </a:r>
            <a:endParaRPr lang="en-HK" sz="1600" dirty="0"/>
          </a:p>
          <a:p>
            <a:endParaRPr lang="en-US" sz="1600" dirty="0"/>
          </a:p>
        </p:txBody>
      </p:sp>
      <p:sp>
        <p:nvSpPr>
          <p:cNvPr id="3" name="Content Placeholder 13">
            <a:extLst>
              <a:ext uri="{FF2B5EF4-FFF2-40B4-BE49-F238E27FC236}">
                <a16:creationId xmlns:a16="http://schemas.microsoft.com/office/drawing/2014/main" id="{72DFC538-847A-3B75-1B9B-E90B1C271ADC}"/>
              </a:ext>
            </a:extLst>
          </p:cNvPr>
          <p:cNvSpPr txBox="1">
            <a:spLocks/>
          </p:cNvSpPr>
          <p:nvPr/>
        </p:nvSpPr>
        <p:spPr>
          <a:xfrm>
            <a:off x="-5" y="3682838"/>
            <a:ext cx="12191998" cy="227214"/>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Production Deployment &amp; Support </a:t>
            </a:r>
            <a:endParaRPr lang="en-HK" sz="1600" dirty="0"/>
          </a:p>
          <a:p>
            <a:endParaRPr lang="en-US" sz="1600" dirty="0"/>
          </a:p>
        </p:txBody>
      </p:sp>
      <p:sp>
        <p:nvSpPr>
          <p:cNvPr id="4" name="Content Placeholder 6">
            <a:extLst>
              <a:ext uri="{FF2B5EF4-FFF2-40B4-BE49-F238E27FC236}">
                <a16:creationId xmlns:a16="http://schemas.microsoft.com/office/drawing/2014/main" id="{DFC28732-1181-D574-E495-F361EB0D1B25}"/>
              </a:ext>
            </a:extLst>
          </p:cNvPr>
          <p:cNvSpPr txBox="1">
            <a:spLocks/>
          </p:cNvSpPr>
          <p:nvPr/>
        </p:nvSpPr>
        <p:spPr>
          <a:xfrm>
            <a:off x="1" y="3910052"/>
            <a:ext cx="12191999" cy="2917272"/>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1100" spc="-10">
                <a:solidFill>
                  <a:srgbClr val="404040"/>
                </a:solidFill>
                <a:ea typeface="Calibri" panose="020F0502020204030204" pitchFamily="34" charset="0"/>
                <a:cs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Managing product release and working in close coordination with Development, QA, BE (Business Experts) to plan post  deployment support</a:t>
            </a:r>
            <a:endParaRPr lang="en-HK" sz="1600" dirty="0"/>
          </a:p>
          <a:p>
            <a:r>
              <a:rPr lang="en-US" sz="1600" dirty="0"/>
              <a:t>Providing post deployment support till successful release; rendering deployment support statistics for reporting bugs, issues &amp; possible precautions; driving project change orders, rollback and error logs for change analysis.</a:t>
            </a:r>
            <a:endParaRPr lang="en-HK" sz="1600" dirty="0"/>
          </a:p>
          <a:p>
            <a:r>
              <a:rPr lang="en-US" sz="1600" dirty="0"/>
              <a:t>Ensuring continual improvement to ensure excellence in delivery through metrics-based measurement process &amp; define quality management principles,  &amp; processes</a:t>
            </a:r>
            <a:endParaRPr lang="en-HK" sz="1600" dirty="0"/>
          </a:p>
          <a:p>
            <a:r>
              <a:rPr lang="en-US" sz="1600" dirty="0"/>
              <a:t>Holding review meetings to monitor progress of the project as per schedule / budgets and ensuring timely completion and delivery of the project to the client.</a:t>
            </a:r>
            <a:endParaRPr lang="en-HK" sz="1600" dirty="0"/>
          </a:p>
          <a:p>
            <a:r>
              <a:rPr lang="en-US" sz="1600" dirty="0"/>
              <a:t>Nurturing and deepening strong rapport with key stakeholders/partners/vendors for successfully establishing sound business relationships </a:t>
            </a:r>
            <a:endParaRPr lang="en-HK" sz="1600" dirty="0"/>
          </a:p>
          <a:p>
            <a:r>
              <a:rPr lang="en-US" sz="1600" dirty="0"/>
              <a:t>Developing project baselines; monitoring &amp; controlling projects with respect to cost, resource deployment, time over-runs and quality compliance to ensure satisfactory execution/deliver.</a:t>
            </a:r>
          </a:p>
        </p:txBody>
      </p:sp>
    </p:spTree>
    <p:extLst>
      <p:ext uri="{BB962C8B-B14F-4D97-AF65-F5344CB8AC3E}">
        <p14:creationId xmlns:p14="http://schemas.microsoft.com/office/powerpoint/2010/main" val="89195441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434C5CF-5DA9-5B85-3350-9DF8F6351156}"/>
              </a:ext>
            </a:extLst>
          </p:cNvPr>
          <p:cNvSpPr>
            <a:spLocks noGrp="1"/>
          </p:cNvSpPr>
          <p:nvPr>
            <p:ph type="title"/>
          </p:nvPr>
        </p:nvSpPr>
        <p:spPr>
          <a:xfrm>
            <a:off x="0" y="30676"/>
            <a:ext cx="12191999" cy="4338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r>
              <a:rPr lang="en-US" sz="2400" b="1" dirty="0">
                <a:solidFill>
                  <a:schemeClr val="bg1"/>
                </a:solidFill>
              </a:rPr>
              <a:t>Key </a:t>
            </a:r>
            <a:r>
              <a:rPr lang="en-US" sz="2400" b="1">
                <a:solidFill>
                  <a:schemeClr val="bg1"/>
                </a:solidFill>
              </a:rPr>
              <a:t>Result </a:t>
            </a:r>
            <a:r>
              <a:rPr lang="en-US" sz="2400" b="1" dirty="0">
                <a:solidFill>
                  <a:schemeClr val="bg1"/>
                </a:solidFill>
              </a:rPr>
              <a:t>Areas </a:t>
            </a:r>
            <a:r>
              <a:rPr lang="en-US" sz="2400" b="1">
                <a:solidFill>
                  <a:schemeClr val="bg1"/>
                </a:solidFill>
              </a:rPr>
              <a:t>(Contd.)</a:t>
            </a:r>
            <a:endParaRPr lang="en-US" sz="2400" b="1" dirty="0">
              <a:solidFill>
                <a:schemeClr val="bg1"/>
              </a:solidFill>
            </a:endParaRPr>
          </a:p>
        </p:txBody>
      </p:sp>
      <p:sp>
        <p:nvSpPr>
          <p:cNvPr id="5" name="Content Placeholder 6">
            <a:extLst>
              <a:ext uri="{FF2B5EF4-FFF2-40B4-BE49-F238E27FC236}">
                <a16:creationId xmlns:a16="http://schemas.microsoft.com/office/drawing/2014/main" id="{B1EB490B-AD5E-9FA5-419A-38574622793E}"/>
              </a:ext>
            </a:extLst>
          </p:cNvPr>
          <p:cNvSpPr txBox="1">
            <a:spLocks/>
          </p:cNvSpPr>
          <p:nvPr/>
        </p:nvSpPr>
        <p:spPr>
          <a:xfrm>
            <a:off x="0" y="855729"/>
            <a:ext cx="12192000" cy="3095736"/>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Font typeface="Arial" panose="020B0604020202020204" pitchFamily="34" charset="0"/>
              <a:buChar char="•"/>
              <a:defRPr sz="1100" spc="-10">
                <a:solidFill>
                  <a:srgbClr val="404040"/>
                </a:solidFill>
                <a:ea typeface="Calibri" panose="020F0502020204030204" pitchFamily="34" charset="0"/>
                <a:cs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Manage projects including planning and execution; implementing project plans within preset budgets and deadlines; performed on-site and offsite tasks within a project scoping document, including the design, specification, and integration of software products within various customer environments.</a:t>
            </a:r>
            <a:endParaRPr lang="en-HK" sz="1600" dirty="0"/>
          </a:p>
          <a:p>
            <a:r>
              <a:rPr lang="en-US" sz="1600" dirty="0"/>
              <a:t>Monitoring project progress and outstanding issues; ensuring the quality and timeliness of the deliverables; reporting on the project’s progress</a:t>
            </a:r>
            <a:endParaRPr lang="en-HK" sz="1600" dirty="0"/>
          </a:p>
          <a:p>
            <a:r>
              <a:rPr lang="en-US" sz="1600" dirty="0"/>
              <a:t>Interacting with stakeholders to </a:t>
            </a:r>
            <a:r>
              <a:rPr lang="en-US" sz="1600" dirty="0" err="1"/>
              <a:t>analyse</a:t>
            </a:r>
            <a:r>
              <a:rPr lang="en-US" sz="1600" dirty="0"/>
              <a:t> and evaluate system program needs. Understanding the customer’s needs and expectations and managing resources to achieve customer satisfaction, ensuring zero defect project deliverables</a:t>
            </a:r>
            <a:endParaRPr lang="en-HK" sz="1600" dirty="0"/>
          </a:p>
          <a:p>
            <a:r>
              <a:rPr lang="en-US" sz="1600" dirty="0"/>
              <a:t>Conducting quality &amp; security audits and preparing various project teams for external audits/certifications; interacted with pre-sales &amp; sales teams in ensuring that new Request for Proposals (RFP) was properly planned for execution</a:t>
            </a:r>
            <a:endParaRPr lang="en-HK" sz="1600" dirty="0"/>
          </a:p>
          <a:p>
            <a:r>
              <a:rPr lang="en-US" sz="1600" dirty="0"/>
              <a:t>Working closely with third-party vendors &amp; contractors to manage &amp; coordinate projects with the business units and other IT departments, where necessary</a:t>
            </a:r>
            <a:endParaRPr lang="en-HK" sz="1600" dirty="0"/>
          </a:p>
          <a:p>
            <a:r>
              <a:rPr lang="en-US" sz="1600" dirty="0"/>
              <a:t>Provided overall leadership to the entire project team including managing deliverables of other functional team leaders</a:t>
            </a:r>
            <a:endParaRPr lang="en-HK" sz="1600" dirty="0"/>
          </a:p>
        </p:txBody>
      </p:sp>
      <p:sp>
        <p:nvSpPr>
          <p:cNvPr id="6" name="Content Placeholder 13">
            <a:extLst>
              <a:ext uri="{FF2B5EF4-FFF2-40B4-BE49-F238E27FC236}">
                <a16:creationId xmlns:a16="http://schemas.microsoft.com/office/drawing/2014/main" id="{14E5338B-1578-50A8-254F-60235AD4C51D}"/>
              </a:ext>
            </a:extLst>
          </p:cNvPr>
          <p:cNvSpPr txBox="1">
            <a:spLocks/>
          </p:cNvSpPr>
          <p:nvPr/>
        </p:nvSpPr>
        <p:spPr>
          <a:xfrm>
            <a:off x="0" y="595783"/>
            <a:ext cx="12191998" cy="227214"/>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Project Execution</a:t>
            </a:r>
            <a:endParaRPr lang="en-HK" sz="1600" dirty="0"/>
          </a:p>
        </p:txBody>
      </p:sp>
      <p:sp>
        <p:nvSpPr>
          <p:cNvPr id="10" name="Content Placeholder 13">
            <a:extLst>
              <a:ext uri="{FF2B5EF4-FFF2-40B4-BE49-F238E27FC236}">
                <a16:creationId xmlns:a16="http://schemas.microsoft.com/office/drawing/2014/main" id="{4CC01DE5-CE7B-8A11-C369-49B82B654C20}"/>
              </a:ext>
            </a:extLst>
          </p:cNvPr>
          <p:cNvSpPr txBox="1">
            <a:spLocks/>
          </p:cNvSpPr>
          <p:nvPr/>
        </p:nvSpPr>
        <p:spPr>
          <a:xfrm>
            <a:off x="35965" y="4616954"/>
            <a:ext cx="6019800" cy="227214"/>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Academic</a:t>
            </a:r>
          </a:p>
        </p:txBody>
      </p:sp>
      <p:sp>
        <p:nvSpPr>
          <p:cNvPr id="11" name="Content Placeholder 13">
            <a:extLst>
              <a:ext uri="{FF2B5EF4-FFF2-40B4-BE49-F238E27FC236}">
                <a16:creationId xmlns:a16="http://schemas.microsoft.com/office/drawing/2014/main" id="{C9CD74DD-1405-3ED8-9FC7-58D5FA134EAB}"/>
              </a:ext>
            </a:extLst>
          </p:cNvPr>
          <p:cNvSpPr txBox="1">
            <a:spLocks/>
          </p:cNvSpPr>
          <p:nvPr/>
        </p:nvSpPr>
        <p:spPr>
          <a:xfrm>
            <a:off x="6172200" y="4628400"/>
            <a:ext cx="6019800" cy="227214"/>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a:t>Certifications</a:t>
            </a:r>
            <a:endParaRPr lang="en-US" sz="1600" dirty="0"/>
          </a:p>
        </p:txBody>
      </p:sp>
      <p:pic>
        <p:nvPicPr>
          <p:cNvPr id="12" name="Picture 11">
            <a:extLst>
              <a:ext uri="{FF2B5EF4-FFF2-40B4-BE49-F238E27FC236}">
                <a16:creationId xmlns:a16="http://schemas.microsoft.com/office/drawing/2014/main" id="{B357C34A-F900-6BC2-542E-F56A0420FD8D}"/>
              </a:ext>
            </a:extLst>
          </p:cNvPr>
          <p:cNvPicPr>
            <a:picLocks noChangeAspect="1"/>
          </p:cNvPicPr>
          <p:nvPr/>
        </p:nvPicPr>
        <p:blipFill>
          <a:blip r:embed="rId3"/>
          <a:stretch>
            <a:fillRect/>
          </a:stretch>
        </p:blipFill>
        <p:spPr>
          <a:xfrm>
            <a:off x="34334" y="4942030"/>
            <a:ext cx="6019318" cy="1885293"/>
          </a:xfrm>
          <a:prstGeom prst="rect">
            <a:avLst/>
          </a:prstGeom>
        </p:spPr>
      </p:pic>
      <p:pic>
        <p:nvPicPr>
          <p:cNvPr id="14" name="Picture 13" descr="Table&#10;&#10;Description automatically generated">
            <a:extLst>
              <a:ext uri="{FF2B5EF4-FFF2-40B4-BE49-F238E27FC236}">
                <a16:creationId xmlns:a16="http://schemas.microsoft.com/office/drawing/2014/main" id="{C7B42FE8-9A43-21FD-A2AC-76D375CA53E8}"/>
              </a:ext>
            </a:extLst>
          </p:cNvPr>
          <p:cNvPicPr>
            <a:picLocks noChangeAspect="1"/>
          </p:cNvPicPr>
          <p:nvPr/>
        </p:nvPicPr>
        <p:blipFill rotWithShape="1">
          <a:blip r:embed="rId4"/>
          <a:srcRect t="10708"/>
          <a:stretch/>
        </p:blipFill>
        <p:spPr>
          <a:xfrm>
            <a:off x="6162531" y="4942030"/>
            <a:ext cx="5995135" cy="1885293"/>
          </a:xfrm>
          <a:prstGeom prst="rect">
            <a:avLst/>
          </a:prstGeom>
        </p:spPr>
      </p:pic>
      <p:sp>
        <p:nvSpPr>
          <p:cNvPr id="15" name="Title 1">
            <a:extLst>
              <a:ext uri="{FF2B5EF4-FFF2-40B4-BE49-F238E27FC236}">
                <a16:creationId xmlns:a16="http://schemas.microsoft.com/office/drawing/2014/main" id="{5EC83122-223A-B697-DF94-47A3D0E87C18}"/>
              </a:ext>
            </a:extLst>
          </p:cNvPr>
          <p:cNvSpPr txBox="1">
            <a:spLocks/>
          </p:cNvSpPr>
          <p:nvPr/>
        </p:nvSpPr>
        <p:spPr>
          <a:xfrm>
            <a:off x="1" y="4137799"/>
            <a:ext cx="12191999" cy="35939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2500" lnSpcReduction="20000"/>
          </a:bodyPr>
          <a:lstStyle>
            <a:lvl1pPr algn="ctr">
              <a:lnSpc>
                <a:spcPct val="90000"/>
              </a:lnSpc>
              <a:spcBef>
                <a:spcPct val="0"/>
              </a:spcBef>
              <a:buNone/>
              <a:defRPr sz="2400" b="1">
                <a:solidFill>
                  <a:schemeClr val="bg1"/>
                </a:solidFill>
              </a:defRPr>
            </a:lvl1pPr>
          </a:lstStyle>
          <a:p>
            <a:r>
              <a:rPr lang="en-US"/>
              <a:t>Education</a:t>
            </a:r>
            <a:endParaRPr lang="en-US" dirty="0"/>
          </a:p>
        </p:txBody>
      </p:sp>
    </p:spTree>
    <p:extLst>
      <p:ext uri="{BB962C8B-B14F-4D97-AF65-F5344CB8AC3E}">
        <p14:creationId xmlns:p14="http://schemas.microsoft.com/office/powerpoint/2010/main" val="1443606646"/>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1999</TotalTime>
  <Words>1630</Words>
  <Application>Microsoft Macintosh PowerPoint</Application>
  <PresentationFormat>Widescreen</PresentationFormat>
  <Paragraphs>75</Paragraphs>
  <Slides>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Avenir Next LT Pro</vt:lpstr>
      <vt:lpstr>Calibri</vt:lpstr>
      <vt:lpstr>Calibri Light</vt:lpstr>
      <vt:lpstr>Wingdings</vt:lpstr>
      <vt:lpstr>Office Theme</vt:lpstr>
      <vt:lpstr>PowerPoint Presentation</vt:lpstr>
      <vt:lpstr> </vt:lpstr>
      <vt:lpstr>Projects &amp; POCs</vt:lpstr>
      <vt:lpstr>Key Result Areas</vt:lpstr>
      <vt:lpstr>Key Result Areas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Mayank Chugh</dc:creator>
  <cp:lastModifiedBy>Mayank Chugh</cp:lastModifiedBy>
  <cp:revision>67</cp:revision>
  <dcterms:created xsi:type="dcterms:W3CDTF">2022-08-22T08:06:07Z</dcterms:created>
  <dcterms:modified xsi:type="dcterms:W3CDTF">2022-08-27T10:42:40Z</dcterms:modified>
</cp:coreProperties>
</file>