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drawings/drawing1.xml" ContentType="application/vnd.openxmlformats-officedocument.drawingml.chartshap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  <p:sldMasterId id="2147483825" r:id="rId2"/>
  </p:sldMasterIdLst>
  <p:notesMasterIdLst>
    <p:notesMasterId r:id="rId24"/>
  </p:notesMasterIdLst>
  <p:handoutMasterIdLst>
    <p:handoutMasterId r:id="rId25"/>
  </p:handoutMasterIdLst>
  <p:sldIdLst>
    <p:sldId id="288" r:id="rId3"/>
    <p:sldId id="301" r:id="rId4"/>
    <p:sldId id="289" r:id="rId5"/>
    <p:sldId id="316" r:id="rId6"/>
    <p:sldId id="328" r:id="rId7"/>
    <p:sldId id="332" r:id="rId8"/>
    <p:sldId id="338" r:id="rId9"/>
    <p:sldId id="336" r:id="rId10"/>
    <p:sldId id="300" r:id="rId11"/>
    <p:sldId id="305" r:id="rId12"/>
    <p:sldId id="329" r:id="rId13"/>
    <p:sldId id="339" r:id="rId14"/>
    <p:sldId id="308" r:id="rId15"/>
    <p:sldId id="309" r:id="rId16"/>
    <p:sldId id="310" r:id="rId17"/>
    <p:sldId id="335" r:id="rId18"/>
    <p:sldId id="321" r:id="rId19"/>
    <p:sldId id="327" r:id="rId20"/>
    <p:sldId id="337" r:id="rId21"/>
    <p:sldId id="296" r:id="rId22"/>
    <p:sldId id="299" r:id="rId23"/>
  </p:sldIdLst>
  <p:sldSz cx="16256000" cy="9144000"/>
  <p:notesSz cx="6805613" cy="9944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dola B P" initials="BBP" lastIdx="15" clrIdx="0">
    <p:extLst/>
  </p:cmAuthor>
  <p:cmAuthor id="2" name="Pallavi Bahuguna-CMO" initials="PB" lastIdx="6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9B03"/>
    <a:srgbClr val="DE6408"/>
    <a:srgbClr val="0056A4"/>
    <a:srgbClr val="F68B1F"/>
    <a:srgbClr val="808080"/>
    <a:srgbClr val="092252"/>
    <a:srgbClr val="00A1FF"/>
    <a:srgbClr val="F2B800"/>
    <a:srgbClr val="F08700"/>
    <a:srgbClr val="9F9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29F691-2552-4703-A03D-0D73D7653E1E}" v="7" dt="2020-08-21T10:01:58.98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9" autoAdjust="0"/>
    <p:restoredTop sz="86146" autoAdjust="0"/>
  </p:normalViewPr>
  <p:slideViewPr>
    <p:cSldViewPr>
      <p:cViewPr>
        <p:scale>
          <a:sx n="75" d="100"/>
          <a:sy n="75" d="100"/>
        </p:scale>
        <p:origin x="288" y="72"/>
      </p:cViewPr>
      <p:guideLst>
        <p:guide orient="horz" pos="2880"/>
        <p:guide pos="5120"/>
      </p:guideLst>
    </p:cSldViewPr>
  </p:slideViewPr>
  <p:outlineViewPr>
    <p:cViewPr>
      <p:scale>
        <a:sx n="33" d="100"/>
        <a:sy n="33" d="100"/>
      </p:scale>
      <p:origin x="0" y="29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05" d="100"/>
          <a:sy n="105" d="100"/>
        </p:scale>
        <p:origin x="35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ak" userId="a392f9cd-b658-4096-8ff7-a0060f2e4a2b" providerId="ADAL" clId="{7129F691-2552-4703-A03D-0D73D7653E1E}"/>
    <pc:docChg chg="undo custSel addSld delSld modSld">
      <pc:chgData name="Vinayak" userId="a392f9cd-b658-4096-8ff7-a0060f2e4a2b" providerId="ADAL" clId="{7129F691-2552-4703-A03D-0D73D7653E1E}" dt="2020-08-21T10:02:06.298" v="18" actId="478"/>
      <pc:docMkLst>
        <pc:docMk/>
      </pc:docMkLst>
      <pc:sldChg chg="addSp delSp modSp mod">
        <pc:chgData name="Vinayak" userId="a392f9cd-b658-4096-8ff7-a0060f2e4a2b" providerId="ADAL" clId="{7129F691-2552-4703-A03D-0D73D7653E1E}" dt="2020-08-21T10:02:06.298" v="18" actId="478"/>
        <pc:sldMkLst>
          <pc:docMk/>
          <pc:sldMk cId="2397195794" sldId="288"/>
        </pc:sldMkLst>
        <pc:spChg chg="mod">
          <ac:chgData name="Vinayak" userId="a392f9cd-b658-4096-8ff7-a0060f2e4a2b" providerId="ADAL" clId="{7129F691-2552-4703-A03D-0D73D7653E1E}" dt="2020-08-21T10:01:44.629" v="4" actId="1076"/>
          <ac:spMkLst>
            <pc:docMk/>
            <pc:sldMk cId="2397195794" sldId="288"/>
            <ac:spMk id="2" creationId="{ED5079B4-C962-D140-8B43-B14B78B50C89}"/>
          </ac:spMkLst>
        </pc:spChg>
        <pc:spChg chg="add del mod">
          <ac:chgData name="Vinayak" userId="a392f9cd-b658-4096-8ff7-a0060f2e4a2b" providerId="ADAL" clId="{7129F691-2552-4703-A03D-0D73D7653E1E}" dt="2020-08-21T10:02:06.298" v="18" actId="478"/>
          <ac:spMkLst>
            <pc:docMk/>
            <pc:sldMk cId="2397195794" sldId="288"/>
            <ac:spMk id="4" creationId="{F79C7B21-D771-4697-B431-EF486E7F4CE7}"/>
          </ac:spMkLst>
        </pc:spChg>
      </pc:sldChg>
      <pc:sldChg chg="add del">
        <pc:chgData name="Vinayak" userId="a392f9cd-b658-4096-8ff7-a0060f2e4a2b" providerId="ADAL" clId="{7129F691-2552-4703-A03D-0D73D7653E1E}" dt="2020-08-21T10:00:29.208" v="1"/>
        <pc:sldMkLst>
          <pc:docMk/>
          <pc:sldMk cId="1836495707" sldId="301"/>
        </pc:sldMkLst>
      </pc:sldChg>
      <pc:sldChg chg="add">
        <pc:chgData name="Vinayak" userId="a392f9cd-b658-4096-8ff7-a0060f2e4a2b" providerId="ADAL" clId="{7129F691-2552-4703-A03D-0D73D7653E1E}" dt="2020-08-21T10:00:37.317" v="2"/>
        <pc:sldMkLst>
          <pc:docMk/>
          <pc:sldMk cId="3668466573" sldId="30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Cathay\From%2006Oct21\Archival%20Checking\Archival%20Data%20Checking.xls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thay\Archival%20Checking\Archival%20Data%20Checking.xls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thay\Archival%20Checking\Archival%20Data%20Checking.xls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thay\From%2006Oct21\Archival%20Checking\Archival%20Data%20Checking.xls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D:\Cathay\From%2006Oct21\Archival%20Checking\Archival%20Data%20Checking.xls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niitkarthikan\Desktop\WOS%20Management\2021\July%202021\2021-08%20Trend.xlsx" TargetMode="Externa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niitkarthikan\Desktop\WOS%20Management\2021\July%202021\2021-08%20Trend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thay\From%2006Oct21\Archival%20Checking\archive_size_20210520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[Archival Data Checking.xls]Charts!PivotTable5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800" b="0" i="0" baseline="0">
                <a:effectLst/>
              </a:rPr>
              <a:t>Weekly Archival - Difference</a:t>
            </a:r>
            <a:endParaRPr lang="en-US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Charts!$D$29:$D$30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multiLvlStrRef>
              <c:f>Charts!$B$31:$C$42</c:f>
              <c:multiLvlStrCache>
                <c:ptCount val="11"/>
                <c:lvl>
                  <c:pt idx="0">
                    <c:v>5-Jul</c:v>
                  </c:pt>
                  <c:pt idx="1">
                    <c:v>12-Jul</c:v>
                  </c:pt>
                  <c:pt idx="2">
                    <c:v>19-Jul</c:v>
                  </c:pt>
                  <c:pt idx="3">
                    <c:v>26-Jul</c:v>
                  </c:pt>
                  <c:pt idx="4">
                    <c:v>1-Aug</c:v>
                  </c:pt>
                  <c:pt idx="5">
                    <c:v>8-Aug</c:v>
                  </c:pt>
                  <c:pt idx="6">
                    <c:v>15-Aug</c:v>
                  </c:pt>
                  <c:pt idx="7">
                    <c:v>23-Aug</c:v>
                  </c:pt>
                  <c:pt idx="8">
                    <c:v>31-Aug</c:v>
                  </c:pt>
                  <c:pt idx="9">
                    <c:v>5-Sep</c:v>
                  </c:pt>
                  <c:pt idx="10">
                    <c:v>13-Sep</c:v>
                  </c:pt>
                </c:lvl>
                <c:lvl>
                  <c:pt idx="0">
                    <c:v>Jul</c:v>
                  </c:pt>
                  <c:pt idx="4">
                    <c:v>Aug</c:v>
                  </c:pt>
                  <c:pt idx="9">
                    <c:v>Sep</c:v>
                  </c:pt>
                </c:lvl>
              </c:multiLvlStrCache>
            </c:multiLvlStrRef>
          </c:cat>
          <c:val>
            <c:numRef>
              <c:f>Charts!$D$31:$D$42</c:f>
              <c:numCache>
                <c:formatCode>_-* #,##0_-;\-* #,##0_-;_-* "-"??_-;_-@_-</c:formatCode>
                <c:ptCount val="11"/>
                <c:pt idx="0">
                  <c:v>73224</c:v>
                </c:pt>
                <c:pt idx="1">
                  <c:v>81098</c:v>
                </c:pt>
                <c:pt idx="2">
                  <c:v>108599</c:v>
                </c:pt>
                <c:pt idx="3">
                  <c:v>88340</c:v>
                </c:pt>
                <c:pt idx="4">
                  <c:v>102219</c:v>
                </c:pt>
                <c:pt idx="5">
                  <c:v>128002</c:v>
                </c:pt>
                <c:pt idx="6">
                  <c:v>114989</c:v>
                </c:pt>
                <c:pt idx="7">
                  <c:v>106756</c:v>
                </c:pt>
                <c:pt idx="8">
                  <c:v>-28710</c:v>
                </c:pt>
                <c:pt idx="9">
                  <c:v>107176</c:v>
                </c:pt>
                <c:pt idx="10">
                  <c:v>137248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1D-4B57-ADB3-838CD9050C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7359232"/>
        <c:axId val="187360768"/>
      </c:barChart>
      <c:catAx>
        <c:axId val="187359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360768"/>
        <c:crosses val="autoZero"/>
        <c:auto val="0"/>
        <c:lblAlgn val="ctr"/>
        <c:lblOffset val="100"/>
        <c:noMultiLvlLbl val="0"/>
      </c:catAx>
      <c:valAx>
        <c:axId val="187360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35923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[Archival Data Checking.xls]Charts!PivotTable1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Weekly Archival Trend (AWBs)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857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</c:pivotFmt>
      <c:pivotFmt>
        <c:idx val="1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857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</c:pivotFmt>
      <c:pivotFmt>
        <c:idx val="2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857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Charts!$D$5:$D$6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multiLvlStrRef>
              <c:f>Charts!$B$7:$C$24</c:f>
              <c:multiLvlStrCache>
                <c:ptCount val="17"/>
                <c:lvl>
                  <c:pt idx="0">
                    <c:v>24-Apr</c:v>
                  </c:pt>
                  <c:pt idx="1">
                    <c:v>11-May</c:v>
                  </c:pt>
                  <c:pt idx="2">
                    <c:v>18-May</c:v>
                  </c:pt>
                  <c:pt idx="3">
                    <c:v>26-May</c:v>
                  </c:pt>
                  <c:pt idx="4">
                    <c:v>1-Jun</c:v>
                  </c:pt>
                  <c:pt idx="5">
                    <c:v>8-Jun</c:v>
                  </c:pt>
                  <c:pt idx="6">
                    <c:v>15-Jun</c:v>
                  </c:pt>
                  <c:pt idx="7">
                    <c:v>21-Jun</c:v>
                  </c:pt>
                  <c:pt idx="8">
                    <c:v>29-Jun</c:v>
                  </c:pt>
                  <c:pt idx="9">
                    <c:v>5-Jul</c:v>
                  </c:pt>
                  <c:pt idx="10">
                    <c:v>12-Jul</c:v>
                  </c:pt>
                  <c:pt idx="11">
                    <c:v>19-Jul</c:v>
                  </c:pt>
                  <c:pt idx="12">
                    <c:v>26-Jul</c:v>
                  </c:pt>
                  <c:pt idx="13">
                    <c:v>1-Aug</c:v>
                  </c:pt>
                  <c:pt idx="14">
                    <c:v>8-Aug</c:v>
                  </c:pt>
                  <c:pt idx="15">
                    <c:v>15-Aug</c:v>
                  </c:pt>
                  <c:pt idx="16">
                    <c:v>23-Aug</c:v>
                  </c:pt>
                </c:lvl>
                <c:lvl>
                  <c:pt idx="0">
                    <c:v>Apr</c:v>
                  </c:pt>
                  <c:pt idx="1">
                    <c:v>May</c:v>
                  </c:pt>
                  <c:pt idx="4">
                    <c:v>Jun</c:v>
                  </c:pt>
                  <c:pt idx="9">
                    <c:v>Jul</c:v>
                  </c:pt>
                  <c:pt idx="13">
                    <c:v>Aug</c:v>
                  </c:pt>
                </c:lvl>
              </c:multiLvlStrCache>
            </c:multiLvlStrRef>
          </c:cat>
          <c:val>
            <c:numRef>
              <c:f>Charts!$D$7:$D$24</c:f>
              <c:numCache>
                <c:formatCode>_-* #,##0_-;\-* #,##0_-;_-* "-"??_-;_-@_-</c:formatCode>
                <c:ptCount val="17"/>
                <c:pt idx="0">
                  <c:v>2415684</c:v>
                </c:pt>
                <c:pt idx="1">
                  <c:v>2004337</c:v>
                </c:pt>
                <c:pt idx="2">
                  <c:v>1871776</c:v>
                </c:pt>
                <c:pt idx="3">
                  <c:v>1813050</c:v>
                </c:pt>
                <c:pt idx="4">
                  <c:v>1749180</c:v>
                </c:pt>
                <c:pt idx="5">
                  <c:v>1727347</c:v>
                </c:pt>
                <c:pt idx="6">
                  <c:v>1730638</c:v>
                </c:pt>
                <c:pt idx="7">
                  <c:v>1733080</c:v>
                </c:pt>
                <c:pt idx="8">
                  <c:v>1744519</c:v>
                </c:pt>
                <c:pt idx="9">
                  <c:v>1671295</c:v>
                </c:pt>
                <c:pt idx="10">
                  <c:v>1590197</c:v>
                </c:pt>
                <c:pt idx="11">
                  <c:v>1481598</c:v>
                </c:pt>
                <c:pt idx="12">
                  <c:v>1393258</c:v>
                </c:pt>
                <c:pt idx="13">
                  <c:v>1291039</c:v>
                </c:pt>
                <c:pt idx="14">
                  <c:v>1163037</c:v>
                </c:pt>
                <c:pt idx="15">
                  <c:v>1048048</c:v>
                </c:pt>
                <c:pt idx="16">
                  <c:v>941292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0E-4B23-81BE-515FD7FF768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87149312"/>
        <c:axId val="187155200"/>
      </c:lineChart>
      <c:catAx>
        <c:axId val="1871493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155200"/>
        <c:crosses val="autoZero"/>
        <c:auto val="0"/>
        <c:lblAlgn val="ctr"/>
        <c:lblOffset val="100"/>
        <c:noMultiLvlLbl val="0"/>
      </c:catAx>
      <c:valAx>
        <c:axId val="187155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14931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064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[Archival Data Checking.xls]Charts!PivotTable9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Weekly Tread - Projection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5B9BD5"/>
          </a:solidFill>
          <a:ln w="25400"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rgbClr val="5B9BD5"/>
          </a:solidFill>
          <a:ln w="25400"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rgbClr val="5B9BD5"/>
          </a:solidFill>
          <a:ln w="25400"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Charts!$D$27:$D$28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chemeClr val="accent1"/>
                </a:solidFill>
                <a:prstDash val="sysDash"/>
              </a:ln>
              <a:effectLst/>
            </c:spPr>
            <c:trendlineType val="linear"/>
            <c:dispRSqr val="0"/>
            <c:dispEq val="0"/>
          </c:trendline>
          <c:cat>
            <c:multiLvlStrRef>
              <c:f>Charts!$B$29:$C$45</c:f>
              <c:multiLvlStrCache>
                <c:ptCount val="16"/>
                <c:lvl>
                  <c:pt idx="0">
                    <c:v>5-Jul</c:v>
                  </c:pt>
                  <c:pt idx="1">
                    <c:v>12-Jul</c:v>
                  </c:pt>
                  <c:pt idx="2">
                    <c:v>19-Jul</c:v>
                  </c:pt>
                  <c:pt idx="3">
                    <c:v>26-Jul</c:v>
                  </c:pt>
                  <c:pt idx="4">
                    <c:v>1-Aug</c:v>
                  </c:pt>
                  <c:pt idx="5">
                    <c:v>8-Aug</c:v>
                  </c:pt>
                  <c:pt idx="6">
                    <c:v>15-Aug</c:v>
                  </c:pt>
                  <c:pt idx="7">
                    <c:v>23-Aug</c:v>
                  </c:pt>
                  <c:pt idx="8">
                    <c:v>30-Aug</c:v>
                  </c:pt>
                  <c:pt idx="9">
                    <c:v>6-Sep</c:v>
                  </c:pt>
                  <c:pt idx="10">
                    <c:v>13-Sep</c:v>
                  </c:pt>
                  <c:pt idx="11">
                    <c:v>20-Sep</c:v>
                  </c:pt>
                  <c:pt idx="12">
                    <c:v>27-Sep</c:v>
                  </c:pt>
                  <c:pt idx="13">
                    <c:v>4-Oct</c:v>
                  </c:pt>
                  <c:pt idx="14">
                    <c:v>11-Oct</c:v>
                  </c:pt>
                  <c:pt idx="15">
                    <c:v>18-Oct</c:v>
                  </c:pt>
                </c:lvl>
                <c:lvl>
                  <c:pt idx="0">
                    <c:v>Jul</c:v>
                  </c:pt>
                  <c:pt idx="4">
                    <c:v>Aug</c:v>
                  </c:pt>
                  <c:pt idx="9">
                    <c:v>Sep</c:v>
                  </c:pt>
                  <c:pt idx="13">
                    <c:v>Oct</c:v>
                  </c:pt>
                </c:lvl>
              </c:multiLvlStrCache>
            </c:multiLvlStrRef>
          </c:cat>
          <c:val>
            <c:numRef>
              <c:f>Charts!$D$29:$D$45</c:f>
              <c:numCache>
                <c:formatCode>_-* #,##0_-;\-* #,##0_-;_-* "-"??_-;_-@_-</c:formatCode>
                <c:ptCount val="16"/>
                <c:pt idx="0">
                  <c:v>1671295</c:v>
                </c:pt>
                <c:pt idx="1">
                  <c:v>1590197</c:v>
                </c:pt>
                <c:pt idx="2">
                  <c:v>1481598</c:v>
                </c:pt>
                <c:pt idx="3">
                  <c:v>1393258</c:v>
                </c:pt>
                <c:pt idx="4">
                  <c:v>1291039</c:v>
                </c:pt>
                <c:pt idx="5">
                  <c:v>1163037</c:v>
                </c:pt>
                <c:pt idx="6">
                  <c:v>1048048</c:v>
                </c:pt>
                <c:pt idx="7">
                  <c:v>941292</c:v>
                </c:pt>
                <c:pt idx="8">
                  <c:v>826303</c:v>
                </c:pt>
                <c:pt idx="9">
                  <c:v>711314</c:v>
                </c:pt>
                <c:pt idx="10">
                  <c:v>596325</c:v>
                </c:pt>
                <c:pt idx="11">
                  <c:v>481336</c:v>
                </c:pt>
                <c:pt idx="12">
                  <c:v>366347</c:v>
                </c:pt>
                <c:pt idx="13">
                  <c:v>251358</c:v>
                </c:pt>
                <c:pt idx="14">
                  <c:v>136369</c:v>
                </c:pt>
                <c:pt idx="15">
                  <c:v>21380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97-4573-BC95-E1A5EA2EF5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87187968"/>
        <c:axId val="187189504"/>
      </c:barChart>
      <c:catAx>
        <c:axId val="187187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189504"/>
        <c:crosses val="autoZero"/>
        <c:auto val="0"/>
        <c:lblAlgn val="ctr"/>
        <c:lblOffset val="100"/>
        <c:noMultiLvlLbl val="0"/>
      </c:catAx>
      <c:valAx>
        <c:axId val="187189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187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[Archival Data Checking.xls]Charts!PivotTable4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Weekly Archival Trend (AWBs)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Charts!$D$4:$D$5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Charts!$B$6:$C$26</c:f>
              <c:multiLvlStrCache>
                <c:ptCount val="20"/>
                <c:lvl>
                  <c:pt idx="0">
                    <c:v>24-Apr</c:v>
                  </c:pt>
                  <c:pt idx="1">
                    <c:v>11-May</c:v>
                  </c:pt>
                  <c:pt idx="2">
                    <c:v>18-May</c:v>
                  </c:pt>
                  <c:pt idx="3">
                    <c:v>26-May</c:v>
                  </c:pt>
                  <c:pt idx="4">
                    <c:v>1-Jun</c:v>
                  </c:pt>
                  <c:pt idx="5">
                    <c:v>8-Jun</c:v>
                  </c:pt>
                  <c:pt idx="6">
                    <c:v>15-Jun</c:v>
                  </c:pt>
                  <c:pt idx="7">
                    <c:v>21-Jun</c:v>
                  </c:pt>
                  <c:pt idx="8">
                    <c:v>29-Jun</c:v>
                  </c:pt>
                  <c:pt idx="9">
                    <c:v>5-Jul</c:v>
                  </c:pt>
                  <c:pt idx="10">
                    <c:v>12-Jul</c:v>
                  </c:pt>
                  <c:pt idx="11">
                    <c:v>19-Jul</c:v>
                  </c:pt>
                  <c:pt idx="12">
                    <c:v>26-Jul</c:v>
                  </c:pt>
                  <c:pt idx="13">
                    <c:v>1-Aug</c:v>
                  </c:pt>
                  <c:pt idx="14">
                    <c:v>8-Aug</c:v>
                  </c:pt>
                  <c:pt idx="15">
                    <c:v>15-Aug</c:v>
                  </c:pt>
                  <c:pt idx="16">
                    <c:v>23-Aug</c:v>
                  </c:pt>
                  <c:pt idx="17">
                    <c:v>31-Aug</c:v>
                  </c:pt>
                  <c:pt idx="18">
                    <c:v>5-Sep</c:v>
                  </c:pt>
                  <c:pt idx="19">
                    <c:v>13-Sep</c:v>
                  </c:pt>
                </c:lvl>
                <c:lvl>
                  <c:pt idx="0">
                    <c:v>Apr</c:v>
                  </c:pt>
                  <c:pt idx="1">
                    <c:v>May</c:v>
                  </c:pt>
                  <c:pt idx="4">
                    <c:v>Jun</c:v>
                  </c:pt>
                  <c:pt idx="9">
                    <c:v>Jul</c:v>
                  </c:pt>
                  <c:pt idx="13">
                    <c:v>Aug</c:v>
                  </c:pt>
                  <c:pt idx="18">
                    <c:v>Sep</c:v>
                  </c:pt>
                </c:lvl>
              </c:multiLvlStrCache>
            </c:multiLvlStrRef>
          </c:cat>
          <c:val>
            <c:numRef>
              <c:f>Charts!$D$6:$D$26</c:f>
              <c:numCache>
                <c:formatCode>_-* #,##0_-;\-* #,##0_-;_-* "-"??_-;_-@_-</c:formatCode>
                <c:ptCount val="20"/>
                <c:pt idx="0">
                  <c:v>2415684</c:v>
                </c:pt>
                <c:pt idx="1">
                  <c:v>2004337</c:v>
                </c:pt>
                <c:pt idx="2">
                  <c:v>1871776</c:v>
                </c:pt>
                <c:pt idx="3">
                  <c:v>1813050</c:v>
                </c:pt>
                <c:pt idx="4">
                  <c:v>1749180</c:v>
                </c:pt>
                <c:pt idx="5">
                  <c:v>1727347</c:v>
                </c:pt>
                <c:pt idx="6">
                  <c:v>1730638</c:v>
                </c:pt>
                <c:pt idx="7">
                  <c:v>1733080</c:v>
                </c:pt>
                <c:pt idx="8">
                  <c:v>1744519</c:v>
                </c:pt>
                <c:pt idx="9">
                  <c:v>1671295</c:v>
                </c:pt>
                <c:pt idx="10">
                  <c:v>1590197</c:v>
                </c:pt>
                <c:pt idx="11">
                  <c:v>1481598</c:v>
                </c:pt>
                <c:pt idx="12">
                  <c:v>1393258</c:v>
                </c:pt>
                <c:pt idx="13">
                  <c:v>1291039</c:v>
                </c:pt>
                <c:pt idx="14">
                  <c:v>1163037</c:v>
                </c:pt>
                <c:pt idx="15">
                  <c:v>1048048</c:v>
                </c:pt>
                <c:pt idx="16">
                  <c:v>941292</c:v>
                </c:pt>
                <c:pt idx="17">
                  <c:v>970002</c:v>
                </c:pt>
                <c:pt idx="18">
                  <c:v>862826</c:v>
                </c:pt>
                <c:pt idx="19">
                  <c:v>725578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01C-4397-BCCB-9664EAAB03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8107008"/>
        <c:axId val="188108800"/>
      </c:lineChart>
      <c:catAx>
        <c:axId val="1881070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108800"/>
        <c:crosses val="autoZero"/>
        <c:auto val="0"/>
        <c:lblAlgn val="ctr"/>
        <c:lblOffset val="100"/>
        <c:noMultiLvlLbl val="0"/>
      </c:catAx>
      <c:valAx>
        <c:axId val="188108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10700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064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[Archival Data Checking.xls]Charts!PivotTable6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>
                <a:effectLst/>
              </a:rPr>
              <a:t>Weekly Tread - Projection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Charts!$D$49:$D$50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multiLvlStrRef>
              <c:f>Charts!$B$51:$C$68</c:f>
              <c:multiLvlStrCache>
                <c:ptCount val="17"/>
                <c:lvl>
                  <c:pt idx="0">
                    <c:v>5-Jul</c:v>
                  </c:pt>
                  <c:pt idx="1">
                    <c:v>12-Jul</c:v>
                  </c:pt>
                  <c:pt idx="2">
                    <c:v>19-Jul</c:v>
                  </c:pt>
                  <c:pt idx="3">
                    <c:v>26-Jul</c:v>
                  </c:pt>
                  <c:pt idx="4">
                    <c:v>1-Aug</c:v>
                  </c:pt>
                  <c:pt idx="5">
                    <c:v>8-Aug</c:v>
                  </c:pt>
                  <c:pt idx="6">
                    <c:v>15-Aug</c:v>
                  </c:pt>
                  <c:pt idx="7">
                    <c:v>23-Aug</c:v>
                  </c:pt>
                  <c:pt idx="8">
                    <c:v>31-Aug</c:v>
                  </c:pt>
                  <c:pt idx="9">
                    <c:v>5-Sep</c:v>
                  </c:pt>
                  <c:pt idx="10">
                    <c:v>13-Sep</c:v>
                  </c:pt>
                  <c:pt idx="11">
                    <c:v>20-Sep</c:v>
                  </c:pt>
                  <c:pt idx="12">
                    <c:v>27-Sep</c:v>
                  </c:pt>
                  <c:pt idx="13">
                    <c:v>4-Oct</c:v>
                  </c:pt>
                  <c:pt idx="14">
                    <c:v>11-Oct</c:v>
                  </c:pt>
                  <c:pt idx="15">
                    <c:v>18-Oct</c:v>
                  </c:pt>
                  <c:pt idx="16">
                    <c:v>25-Oct</c:v>
                  </c:pt>
                </c:lvl>
                <c:lvl>
                  <c:pt idx="0">
                    <c:v>Jul</c:v>
                  </c:pt>
                  <c:pt idx="4">
                    <c:v>Aug</c:v>
                  </c:pt>
                  <c:pt idx="9">
                    <c:v>Sep</c:v>
                  </c:pt>
                  <c:pt idx="13">
                    <c:v>Oct</c:v>
                  </c:pt>
                </c:lvl>
              </c:multiLvlStrCache>
            </c:multiLvlStrRef>
          </c:cat>
          <c:val>
            <c:numRef>
              <c:f>Charts!$D$51:$D$68</c:f>
              <c:numCache>
                <c:formatCode>_-* #,##0_-;\-* #,##0_-;_-* "-"??_-;_-@_-</c:formatCode>
                <c:ptCount val="17"/>
                <c:pt idx="0">
                  <c:v>1671295</c:v>
                </c:pt>
                <c:pt idx="1">
                  <c:v>1590197</c:v>
                </c:pt>
                <c:pt idx="2">
                  <c:v>1481598</c:v>
                </c:pt>
                <c:pt idx="3">
                  <c:v>1393258</c:v>
                </c:pt>
                <c:pt idx="4">
                  <c:v>1291039</c:v>
                </c:pt>
                <c:pt idx="5">
                  <c:v>1163037</c:v>
                </c:pt>
                <c:pt idx="6">
                  <c:v>1048048</c:v>
                </c:pt>
                <c:pt idx="7">
                  <c:v>941292</c:v>
                </c:pt>
                <c:pt idx="8">
                  <c:v>970002</c:v>
                </c:pt>
                <c:pt idx="9">
                  <c:v>862826</c:v>
                </c:pt>
                <c:pt idx="10">
                  <c:v>725578</c:v>
                </c:pt>
                <c:pt idx="11">
                  <c:v>610589</c:v>
                </c:pt>
                <c:pt idx="12">
                  <c:v>495600</c:v>
                </c:pt>
                <c:pt idx="13">
                  <c:v>380611</c:v>
                </c:pt>
                <c:pt idx="14">
                  <c:v>265622</c:v>
                </c:pt>
                <c:pt idx="15">
                  <c:v>150633</c:v>
                </c:pt>
                <c:pt idx="16">
                  <c:v>22633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89-4894-958F-F427D61386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8153216"/>
        <c:axId val="187376768"/>
      </c:barChart>
      <c:catAx>
        <c:axId val="188153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376768"/>
        <c:crosses val="autoZero"/>
        <c:auto val="0"/>
        <c:lblAlgn val="ctr"/>
        <c:lblOffset val="100"/>
        <c:noMultiLvlLbl val="0"/>
      </c:catAx>
      <c:valAx>
        <c:axId val="187376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15321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Deployment Status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'[2021-08 Trend.xlsx]Sheet1'!$B$38</c:f>
              <c:strCache>
                <c:ptCount val="1"/>
                <c:pt idx="0">
                  <c:v>Fixes</c:v>
                </c:pt>
              </c:strCache>
            </c:strRef>
          </c:tx>
          <c:invertIfNegative val="0"/>
          <c:cat>
            <c:multiLvlStrRef>
              <c:f>'[2021-08 Trend.xlsx]Sheet1'!$C$34:$K$37</c:f>
              <c:multiLvlStrCache>
                <c:ptCount val="9"/>
                <c:lvl>
                  <c:pt idx="0">
                    <c:v>14A, 1B</c:v>
                  </c:pt>
                  <c:pt idx="1">
                    <c:v>0A, 0B</c:v>
                  </c:pt>
                  <c:pt idx="2">
                    <c:v>0A, 0B</c:v>
                  </c:pt>
                  <c:pt idx="3">
                    <c:v>1A, 0B</c:v>
                  </c:pt>
                  <c:pt idx="4">
                    <c:v>4A, 0B</c:v>
                  </c:pt>
                  <c:pt idx="5">
                    <c:v>0A, 0B</c:v>
                  </c:pt>
                  <c:pt idx="6">
                    <c:v>2A, 0B</c:v>
                  </c:pt>
                  <c:pt idx="7">
                    <c:v>0A, 0B</c:v>
                  </c:pt>
                  <c:pt idx="8">
                    <c:v>0A, 0B</c:v>
                  </c:pt>
                </c:lvl>
                <c:lvl>
                  <c:pt idx="0">
                    <c:v>3</c:v>
                  </c:pt>
                  <c:pt idx="1">
                    <c:v>2</c:v>
                  </c:pt>
                  <c:pt idx="2">
                    <c:v>2</c:v>
                  </c:pt>
                  <c:pt idx="3">
                    <c:v>3</c:v>
                  </c:pt>
                  <c:pt idx="4">
                    <c:v>2</c:v>
                  </c:pt>
                  <c:pt idx="5">
                    <c:v>2</c:v>
                  </c:pt>
                  <c:pt idx="6">
                    <c:v>3</c:v>
                  </c:pt>
                  <c:pt idx="7">
                    <c:v>2</c:v>
                  </c:pt>
                  <c:pt idx="8">
                    <c:v>1</c:v>
                  </c:pt>
                </c:lvl>
                <c:lvl>
                  <c:pt idx="0">
                    <c:v>3</c:v>
                  </c:pt>
                  <c:pt idx="1">
                    <c:v>2</c:v>
                  </c:pt>
                  <c:pt idx="2">
                    <c:v>2</c:v>
                  </c:pt>
                  <c:pt idx="3">
                    <c:v>3</c:v>
                  </c:pt>
                  <c:pt idx="4">
                    <c:v>2</c:v>
                  </c:pt>
                  <c:pt idx="5">
                    <c:v>2</c:v>
                  </c:pt>
                  <c:pt idx="6">
                    <c:v>3</c:v>
                  </c:pt>
                  <c:pt idx="7">
                    <c:v>2</c:v>
                  </c:pt>
                  <c:pt idx="8">
                    <c:v>1</c:v>
                  </c:pt>
                </c:lvl>
                <c:lvl>
                  <c:pt idx="0">
                    <c:v>Dec'20</c:v>
                  </c:pt>
                  <c:pt idx="1">
                    <c:v>Jan'21</c:v>
                  </c:pt>
                  <c:pt idx="2">
                    <c:v>Feb'21</c:v>
                  </c:pt>
                  <c:pt idx="3">
                    <c:v>Mar'21</c:v>
                  </c:pt>
                  <c:pt idx="4">
                    <c:v>Apr'21</c:v>
                  </c:pt>
                  <c:pt idx="5">
                    <c:v>May'21</c:v>
                  </c:pt>
                  <c:pt idx="6">
                    <c:v>Jun'21</c:v>
                  </c:pt>
                  <c:pt idx="7">
                    <c:v>Jul'21</c:v>
                  </c:pt>
                  <c:pt idx="8">
                    <c:v>Aug'21</c:v>
                  </c:pt>
                </c:lvl>
              </c:multiLvlStrCache>
            </c:multiLvlStrRef>
          </c:cat>
          <c:val>
            <c:numRef>
              <c:f>'[2021-08 Trend.xlsx]Sheet1'!$C$38:$K$38</c:f>
              <c:numCache>
                <c:formatCode>General</c:formatCode>
                <c:ptCount val="9"/>
                <c:pt idx="0">
                  <c:v>9</c:v>
                </c:pt>
                <c:pt idx="1">
                  <c:v>17</c:v>
                </c:pt>
                <c:pt idx="2">
                  <c:v>5</c:v>
                </c:pt>
                <c:pt idx="3">
                  <c:v>16</c:v>
                </c:pt>
                <c:pt idx="4">
                  <c:v>21</c:v>
                </c:pt>
                <c:pt idx="5">
                  <c:v>6</c:v>
                </c:pt>
                <c:pt idx="6">
                  <c:v>10</c:v>
                </c:pt>
                <c:pt idx="7">
                  <c:v>10</c:v>
                </c:pt>
                <c:pt idx="8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4-482E-98F1-E0B6600856BF}"/>
            </c:ext>
          </c:extLst>
        </c:ser>
        <c:ser>
          <c:idx val="1"/>
          <c:order val="1"/>
          <c:tx>
            <c:strRef>
              <c:f>'[2021-08 Trend.xlsx]Sheet1'!$B$39</c:f>
              <c:strCache>
                <c:ptCount val="1"/>
                <c:pt idx="0">
                  <c:v>CR</c:v>
                </c:pt>
              </c:strCache>
            </c:strRef>
          </c:tx>
          <c:invertIfNegative val="0"/>
          <c:cat>
            <c:multiLvlStrRef>
              <c:f>'[2021-08 Trend.xlsx]Sheet1'!$C$34:$K$37</c:f>
              <c:multiLvlStrCache>
                <c:ptCount val="9"/>
                <c:lvl>
                  <c:pt idx="0">
                    <c:v>14A, 1B</c:v>
                  </c:pt>
                  <c:pt idx="1">
                    <c:v>0A, 0B</c:v>
                  </c:pt>
                  <c:pt idx="2">
                    <c:v>0A, 0B</c:v>
                  </c:pt>
                  <c:pt idx="3">
                    <c:v>1A, 0B</c:v>
                  </c:pt>
                  <c:pt idx="4">
                    <c:v>4A, 0B</c:v>
                  </c:pt>
                  <c:pt idx="5">
                    <c:v>0A, 0B</c:v>
                  </c:pt>
                  <c:pt idx="6">
                    <c:v>2A, 0B</c:v>
                  </c:pt>
                  <c:pt idx="7">
                    <c:v>0A, 0B</c:v>
                  </c:pt>
                  <c:pt idx="8">
                    <c:v>0A, 0B</c:v>
                  </c:pt>
                </c:lvl>
                <c:lvl>
                  <c:pt idx="0">
                    <c:v>3</c:v>
                  </c:pt>
                  <c:pt idx="1">
                    <c:v>2</c:v>
                  </c:pt>
                  <c:pt idx="2">
                    <c:v>2</c:v>
                  </c:pt>
                  <c:pt idx="3">
                    <c:v>3</c:v>
                  </c:pt>
                  <c:pt idx="4">
                    <c:v>2</c:v>
                  </c:pt>
                  <c:pt idx="5">
                    <c:v>2</c:v>
                  </c:pt>
                  <c:pt idx="6">
                    <c:v>3</c:v>
                  </c:pt>
                  <c:pt idx="7">
                    <c:v>2</c:v>
                  </c:pt>
                  <c:pt idx="8">
                    <c:v>1</c:v>
                  </c:pt>
                </c:lvl>
                <c:lvl>
                  <c:pt idx="0">
                    <c:v>3</c:v>
                  </c:pt>
                  <c:pt idx="1">
                    <c:v>2</c:v>
                  </c:pt>
                  <c:pt idx="2">
                    <c:v>2</c:v>
                  </c:pt>
                  <c:pt idx="3">
                    <c:v>3</c:v>
                  </c:pt>
                  <c:pt idx="4">
                    <c:v>2</c:v>
                  </c:pt>
                  <c:pt idx="5">
                    <c:v>2</c:v>
                  </c:pt>
                  <c:pt idx="6">
                    <c:v>3</c:v>
                  </c:pt>
                  <c:pt idx="7">
                    <c:v>2</c:v>
                  </c:pt>
                  <c:pt idx="8">
                    <c:v>1</c:v>
                  </c:pt>
                </c:lvl>
                <c:lvl>
                  <c:pt idx="0">
                    <c:v>Dec'20</c:v>
                  </c:pt>
                  <c:pt idx="1">
                    <c:v>Jan'21</c:v>
                  </c:pt>
                  <c:pt idx="2">
                    <c:v>Feb'21</c:v>
                  </c:pt>
                  <c:pt idx="3">
                    <c:v>Mar'21</c:v>
                  </c:pt>
                  <c:pt idx="4">
                    <c:v>Apr'21</c:v>
                  </c:pt>
                  <c:pt idx="5">
                    <c:v>May'21</c:v>
                  </c:pt>
                  <c:pt idx="6">
                    <c:v>Jun'21</c:v>
                  </c:pt>
                  <c:pt idx="7">
                    <c:v>Jul'21</c:v>
                  </c:pt>
                  <c:pt idx="8">
                    <c:v>Aug'21</c:v>
                  </c:pt>
                </c:lvl>
              </c:multiLvlStrCache>
            </c:multiLvlStrRef>
          </c:cat>
          <c:val>
            <c:numRef>
              <c:f>'[2021-08 Trend.xlsx]Sheet1'!$C$39:$K$39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0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  <c:pt idx="6">
                  <c:v>4</c:v>
                </c:pt>
                <c:pt idx="7">
                  <c:v>2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44-482E-98F1-E0B6600856BF}"/>
            </c:ext>
          </c:extLst>
        </c:ser>
        <c:ser>
          <c:idx val="2"/>
          <c:order val="2"/>
          <c:tx>
            <c:strRef>
              <c:f>'[2021-08 Trend.xlsx]Sheet1'!$B$40</c:f>
              <c:strCache>
                <c:ptCount val="1"/>
                <c:pt idx="0">
                  <c:v>SR</c:v>
                </c:pt>
              </c:strCache>
            </c:strRef>
          </c:tx>
          <c:invertIfNegative val="0"/>
          <c:cat>
            <c:multiLvlStrRef>
              <c:f>'[2021-08 Trend.xlsx]Sheet1'!$C$34:$K$37</c:f>
              <c:multiLvlStrCache>
                <c:ptCount val="9"/>
                <c:lvl>
                  <c:pt idx="0">
                    <c:v>14A, 1B</c:v>
                  </c:pt>
                  <c:pt idx="1">
                    <c:v>0A, 0B</c:v>
                  </c:pt>
                  <c:pt idx="2">
                    <c:v>0A, 0B</c:v>
                  </c:pt>
                  <c:pt idx="3">
                    <c:v>1A, 0B</c:v>
                  </c:pt>
                  <c:pt idx="4">
                    <c:v>4A, 0B</c:v>
                  </c:pt>
                  <c:pt idx="5">
                    <c:v>0A, 0B</c:v>
                  </c:pt>
                  <c:pt idx="6">
                    <c:v>2A, 0B</c:v>
                  </c:pt>
                  <c:pt idx="7">
                    <c:v>0A, 0B</c:v>
                  </c:pt>
                  <c:pt idx="8">
                    <c:v>0A, 0B</c:v>
                  </c:pt>
                </c:lvl>
                <c:lvl>
                  <c:pt idx="0">
                    <c:v>3</c:v>
                  </c:pt>
                  <c:pt idx="1">
                    <c:v>2</c:v>
                  </c:pt>
                  <c:pt idx="2">
                    <c:v>2</c:v>
                  </c:pt>
                  <c:pt idx="3">
                    <c:v>3</c:v>
                  </c:pt>
                  <c:pt idx="4">
                    <c:v>2</c:v>
                  </c:pt>
                  <c:pt idx="5">
                    <c:v>2</c:v>
                  </c:pt>
                  <c:pt idx="6">
                    <c:v>3</c:v>
                  </c:pt>
                  <c:pt idx="7">
                    <c:v>2</c:v>
                  </c:pt>
                  <c:pt idx="8">
                    <c:v>1</c:v>
                  </c:pt>
                </c:lvl>
                <c:lvl>
                  <c:pt idx="0">
                    <c:v>3</c:v>
                  </c:pt>
                  <c:pt idx="1">
                    <c:v>2</c:v>
                  </c:pt>
                  <c:pt idx="2">
                    <c:v>2</c:v>
                  </c:pt>
                  <c:pt idx="3">
                    <c:v>3</c:v>
                  </c:pt>
                  <c:pt idx="4">
                    <c:v>2</c:v>
                  </c:pt>
                  <c:pt idx="5">
                    <c:v>2</c:v>
                  </c:pt>
                  <c:pt idx="6">
                    <c:v>3</c:v>
                  </c:pt>
                  <c:pt idx="7">
                    <c:v>2</c:v>
                  </c:pt>
                  <c:pt idx="8">
                    <c:v>1</c:v>
                  </c:pt>
                </c:lvl>
                <c:lvl>
                  <c:pt idx="0">
                    <c:v>Dec'20</c:v>
                  </c:pt>
                  <c:pt idx="1">
                    <c:v>Jan'21</c:v>
                  </c:pt>
                  <c:pt idx="2">
                    <c:v>Feb'21</c:v>
                  </c:pt>
                  <c:pt idx="3">
                    <c:v>Mar'21</c:v>
                  </c:pt>
                  <c:pt idx="4">
                    <c:v>Apr'21</c:v>
                  </c:pt>
                  <c:pt idx="5">
                    <c:v>May'21</c:v>
                  </c:pt>
                  <c:pt idx="6">
                    <c:v>Jun'21</c:v>
                  </c:pt>
                  <c:pt idx="7">
                    <c:v>Jul'21</c:v>
                  </c:pt>
                  <c:pt idx="8">
                    <c:v>Aug'21</c:v>
                  </c:pt>
                </c:lvl>
              </c:multiLvlStrCache>
            </c:multiLvlStrRef>
          </c:cat>
          <c:val>
            <c:numRef>
              <c:f>'[2021-08 Trend.xlsx]Sheet1'!$C$40:$K$40</c:f>
              <c:numCache>
                <c:formatCode>General</c:formatCode>
                <c:ptCount val="9"/>
                <c:pt idx="0">
                  <c:v>8</c:v>
                </c:pt>
                <c:pt idx="1">
                  <c:v>3</c:v>
                </c:pt>
                <c:pt idx="2">
                  <c:v>4</c:v>
                </c:pt>
                <c:pt idx="3">
                  <c:v>11</c:v>
                </c:pt>
                <c:pt idx="4">
                  <c:v>8</c:v>
                </c:pt>
                <c:pt idx="5">
                  <c:v>6</c:v>
                </c:pt>
                <c:pt idx="6">
                  <c:v>7</c:v>
                </c:pt>
                <c:pt idx="7">
                  <c:v>7</c:v>
                </c:pt>
                <c:pt idx="8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844-482E-98F1-E0B6600856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8618112"/>
        <c:axId val="108619648"/>
      </c:barChart>
      <c:barChart>
        <c:barDir val="col"/>
        <c:grouping val="clustered"/>
        <c:varyColors val="0"/>
        <c:ser>
          <c:idx val="3"/>
          <c:order val="3"/>
          <c:tx>
            <c:strRef>
              <c:f>'[2021-08 Trend.xlsx]Sheet1'!$B$41</c:f>
              <c:strCache>
                <c:ptCount val="1"/>
                <c:pt idx="0">
                  <c:v>Mandays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multiLvlStrRef>
              <c:f>'[2021-08 Trend.xlsx]Sheet1'!$C$34:$K$37</c:f>
              <c:multiLvlStrCache>
                <c:ptCount val="9"/>
                <c:lvl>
                  <c:pt idx="0">
                    <c:v>14A, 1B</c:v>
                  </c:pt>
                  <c:pt idx="1">
                    <c:v>0A, 0B</c:v>
                  </c:pt>
                  <c:pt idx="2">
                    <c:v>0A, 0B</c:v>
                  </c:pt>
                  <c:pt idx="3">
                    <c:v>1A, 0B</c:v>
                  </c:pt>
                  <c:pt idx="4">
                    <c:v>4A, 0B</c:v>
                  </c:pt>
                  <c:pt idx="5">
                    <c:v>0A, 0B</c:v>
                  </c:pt>
                  <c:pt idx="6">
                    <c:v>2A, 0B</c:v>
                  </c:pt>
                  <c:pt idx="7">
                    <c:v>0A, 0B</c:v>
                  </c:pt>
                  <c:pt idx="8">
                    <c:v>0A, 0B</c:v>
                  </c:pt>
                </c:lvl>
                <c:lvl>
                  <c:pt idx="0">
                    <c:v>3</c:v>
                  </c:pt>
                  <c:pt idx="1">
                    <c:v>2</c:v>
                  </c:pt>
                  <c:pt idx="2">
                    <c:v>2</c:v>
                  </c:pt>
                  <c:pt idx="3">
                    <c:v>3</c:v>
                  </c:pt>
                  <c:pt idx="4">
                    <c:v>2</c:v>
                  </c:pt>
                  <c:pt idx="5">
                    <c:v>2</c:v>
                  </c:pt>
                  <c:pt idx="6">
                    <c:v>3</c:v>
                  </c:pt>
                  <c:pt idx="7">
                    <c:v>2</c:v>
                  </c:pt>
                  <c:pt idx="8">
                    <c:v>1</c:v>
                  </c:pt>
                </c:lvl>
                <c:lvl>
                  <c:pt idx="0">
                    <c:v>3</c:v>
                  </c:pt>
                  <c:pt idx="1">
                    <c:v>2</c:v>
                  </c:pt>
                  <c:pt idx="2">
                    <c:v>2</c:v>
                  </c:pt>
                  <c:pt idx="3">
                    <c:v>3</c:v>
                  </c:pt>
                  <c:pt idx="4">
                    <c:v>2</c:v>
                  </c:pt>
                  <c:pt idx="5">
                    <c:v>2</c:v>
                  </c:pt>
                  <c:pt idx="6">
                    <c:v>3</c:v>
                  </c:pt>
                  <c:pt idx="7">
                    <c:v>2</c:v>
                  </c:pt>
                  <c:pt idx="8">
                    <c:v>1</c:v>
                  </c:pt>
                </c:lvl>
                <c:lvl>
                  <c:pt idx="0">
                    <c:v>Dec'20</c:v>
                  </c:pt>
                  <c:pt idx="1">
                    <c:v>Jan'21</c:v>
                  </c:pt>
                  <c:pt idx="2">
                    <c:v>Feb'21</c:v>
                  </c:pt>
                  <c:pt idx="3">
                    <c:v>Mar'21</c:v>
                  </c:pt>
                  <c:pt idx="4">
                    <c:v>Apr'21</c:v>
                  </c:pt>
                  <c:pt idx="5">
                    <c:v>May'21</c:v>
                  </c:pt>
                  <c:pt idx="6">
                    <c:v>Jun'21</c:v>
                  </c:pt>
                  <c:pt idx="7">
                    <c:v>Jul'21</c:v>
                  </c:pt>
                  <c:pt idx="8">
                    <c:v>Aug'21</c:v>
                  </c:pt>
                </c:lvl>
              </c:multiLvlStrCache>
            </c:multiLvlStrRef>
          </c:cat>
          <c:val>
            <c:numRef>
              <c:f>'[2021-08 Trend.xlsx]Sheet1'!$C$41:$K$41</c:f>
              <c:numCache>
                <c:formatCode>General</c:formatCode>
                <c:ptCount val="9"/>
                <c:pt idx="0">
                  <c:v>373</c:v>
                </c:pt>
                <c:pt idx="1">
                  <c:v>47</c:v>
                </c:pt>
                <c:pt idx="2">
                  <c:v>61</c:v>
                </c:pt>
                <c:pt idx="3">
                  <c:v>206</c:v>
                </c:pt>
                <c:pt idx="4">
                  <c:v>75</c:v>
                </c:pt>
                <c:pt idx="5">
                  <c:v>97</c:v>
                </c:pt>
                <c:pt idx="6">
                  <c:v>59</c:v>
                </c:pt>
                <c:pt idx="7">
                  <c:v>438</c:v>
                </c:pt>
                <c:pt idx="8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844-482E-98F1-E0B6600856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8751488"/>
        <c:axId val="108748800"/>
      </c:barChart>
      <c:catAx>
        <c:axId val="10861811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08619648"/>
        <c:crosses val="autoZero"/>
        <c:auto val="1"/>
        <c:lblAlgn val="ctr"/>
        <c:lblOffset val="100"/>
        <c:noMultiLvlLbl val="0"/>
      </c:catAx>
      <c:valAx>
        <c:axId val="108619648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# Fixes / CR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crossAx val="108618112"/>
        <c:crosses val="autoZero"/>
        <c:crossBetween val="between"/>
      </c:valAx>
      <c:valAx>
        <c:axId val="10874880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crossAx val="108751488"/>
        <c:crosses val="max"/>
        <c:crossBetween val="between"/>
      </c:valAx>
      <c:catAx>
        <c:axId val="10875148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108748800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</c:dTable>
    </c:plotArea>
    <c:plotVisOnly val="1"/>
    <c:dispBlanksAs val="gap"/>
    <c:showDLblsOverMax val="0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572217012840762E-2"/>
          <c:y val="0.1252470106530704"/>
          <c:w val="0.90867683138302924"/>
          <c:h val="0.569714960103878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Sheet1!$B$5</c:f>
              <c:strCache>
                <c:ptCount val="1"/>
                <c:pt idx="0">
                  <c:v>Valid Incidents created this month</c:v>
                </c:pt>
              </c:strCache>
            </c:strRef>
          </c:tx>
          <c:invertIfNegative val="0"/>
          <c:dLbls>
            <c:dLbl>
              <c:idx val="2"/>
              <c:layout>
                <c:manualLayout>
                  <c:x val="-3.9876283953341573E-17"/>
                  <c:y val="-1.797176229807289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25A2-425E-89CE-5322D7DBBD0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Sheet1!$C$4:$K$4</c:f>
              <c:strCache>
                <c:ptCount val="9"/>
                <c:pt idx="0">
                  <c:v>Dec'20</c:v>
                </c:pt>
                <c:pt idx="1">
                  <c:v>Jan'21</c:v>
                </c:pt>
                <c:pt idx="2">
                  <c:v>Feb'21</c:v>
                </c:pt>
                <c:pt idx="3">
                  <c:v>Mar'21</c:v>
                </c:pt>
                <c:pt idx="4">
                  <c:v>Apr'21</c:v>
                </c:pt>
                <c:pt idx="5">
                  <c:v>May'21</c:v>
                </c:pt>
                <c:pt idx="6">
                  <c:v>Jun'21</c:v>
                </c:pt>
                <c:pt idx="7">
                  <c:v>Jul'21</c:v>
                </c:pt>
                <c:pt idx="8">
                  <c:v>Aug'21</c:v>
                </c:pt>
              </c:strCache>
            </c:strRef>
          </c:cat>
          <c:val>
            <c:numRef>
              <c:f>Sheet1!$C$5:$K$5</c:f>
              <c:numCache>
                <c:formatCode>General</c:formatCode>
                <c:ptCount val="9"/>
                <c:pt idx="0">
                  <c:v>6</c:v>
                </c:pt>
                <c:pt idx="1">
                  <c:v>16</c:v>
                </c:pt>
                <c:pt idx="2">
                  <c:v>12</c:v>
                </c:pt>
                <c:pt idx="3">
                  <c:v>23</c:v>
                </c:pt>
                <c:pt idx="4">
                  <c:v>8</c:v>
                </c:pt>
                <c:pt idx="5">
                  <c:v>11</c:v>
                </c:pt>
                <c:pt idx="6">
                  <c:v>10</c:v>
                </c:pt>
                <c:pt idx="7">
                  <c:v>3</c:v>
                </c:pt>
                <c:pt idx="8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BF-47F7-AB4D-5AA4112A7F2B}"/>
            </c:ext>
          </c:extLst>
        </c:ser>
        <c:ser>
          <c:idx val="3"/>
          <c:order val="3"/>
          <c:tx>
            <c:strRef>
              <c:f>Sheet1!$B$11</c:f>
              <c:strCache>
                <c:ptCount val="1"/>
                <c:pt idx="0">
                  <c:v>Valid Problem created this month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Sheet1!$C$4:$K$4</c:f>
              <c:strCache>
                <c:ptCount val="9"/>
                <c:pt idx="0">
                  <c:v>Dec'20</c:v>
                </c:pt>
                <c:pt idx="1">
                  <c:v>Jan'21</c:v>
                </c:pt>
                <c:pt idx="2">
                  <c:v>Feb'21</c:v>
                </c:pt>
                <c:pt idx="3">
                  <c:v>Mar'21</c:v>
                </c:pt>
                <c:pt idx="4">
                  <c:v>Apr'21</c:v>
                </c:pt>
                <c:pt idx="5">
                  <c:v>May'21</c:v>
                </c:pt>
                <c:pt idx="6">
                  <c:v>Jun'21</c:v>
                </c:pt>
                <c:pt idx="7">
                  <c:v>Jul'21</c:v>
                </c:pt>
                <c:pt idx="8">
                  <c:v>Aug'21</c:v>
                </c:pt>
              </c:strCache>
            </c:strRef>
          </c:cat>
          <c:val>
            <c:numRef>
              <c:f>Sheet1!$C$11:$K$11</c:f>
              <c:numCache>
                <c:formatCode>General</c:formatCode>
                <c:ptCount val="9"/>
                <c:pt idx="0">
                  <c:v>6</c:v>
                </c:pt>
                <c:pt idx="1">
                  <c:v>16</c:v>
                </c:pt>
                <c:pt idx="2">
                  <c:v>12</c:v>
                </c:pt>
                <c:pt idx="3">
                  <c:v>23</c:v>
                </c:pt>
                <c:pt idx="4">
                  <c:v>8</c:v>
                </c:pt>
                <c:pt idx="5">
                  <c:v>11</c:v>
                </c:pt>
                <c:pt idx="6">
                  <c:v>10</c:v>
                </c:pt>
                <c:pt idx="7">
                  <c:v>3</c:v>
                </c:pt>
                <c:pt idx="8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A2-425E-89CE-5322D7DBBD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8254080"/>
        <c:axId val="188255616"/>
      </c:barChart>
      <c:lineChart>
        <c:grouping val="standard"/>
        <c:varyColors val="0"/>
        <c:ser>
          <c:idx val="1"/>
          <c:order val="1"/>
          <c:tx>
            <c:strRef>
              <c:f>Sheet1!$B$8</c:f>
              <c:strCache>
                <c:ptCount val="1"/>
                <c:pt idx="0">
                  <c:v>Deployment related issues</c:v>
                </c:pt>
              </c:strCache>
            </c:strRef>
          </c:tx>
          <c:spPr>
            <a:ln>
              <a:solidFill>
                <a:schemeClr val="accent2">
                  <a:lumMod val="40000"/>
                  <a:lumOff val="60000"/>
                </a:schemeClr>
              </a:solidFill>
            </a:ln>
          </c:spPr>
          <c:dLbls>
            <c:dLbl>
              <c:idx val="1"/>
              <c:layout>
                <c:manualLayout>
                  <c:x val="-3.2854898031710149E-2"/>
                  <c:y val="-2.189563075932818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EABF-47F7-AB4D-5AA4112A7F2B}"/>
                </c:ext>
              </c:extLst>
            </c:dLbl>
            <c:dLbl>
              <c:idx val="5"/>
              <c:layout>
                <c:manualLayout>
                  <c:x val="-9.8079446799920408E-3"/>
                  <c:y val="-1.94545056867891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25A2-425E-89CE-5322D7DBBD00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Sheet1!$C$4:$K$4</c:f>
              <c:strCache>
                <c:ptCount val="9"/>
                <c:pt idx="0">
                  <c:v>Dec'20</c:v>
                </c:pt>
                <c:pt idx="1">
                  <c:v>Jan'21</c:v>
                </c:pt>
                <c:pt idx="2">
                  <c:v>Feb'21</c:v>
                </c:pt>
                <c:pt idx="3">
                  <c:v>Mar'21</c:v>
                </c:pt>
                <c:pt idx="4">
                  <c:v>Apr'21</c:v>
                </c:pt>
                <c:pt idx="5">
                  <c:v>May'21</c:v>
                </c:pt>
                <c:pt idx="6">
                  <c:v>Jun'21</c:v>
                </c:pt>
                <c:pt idx="7">
                  <c:v>Jul'21</c:v>
                </c:pt>
                <c:pt idx="8">
                  <c:v>Aug'21</c:v>
                </c:pt>
              </c:strCache>
            </c:strRef>
          </c:cat>
          <c:val>
            <c:numRef>
              <c:f>Sheet1!$C$8:$K$8</c:f>
              <c:numCache>
                <c:formatCode>General</c:formatCode>
                <c:ptCount val="9"/>
                <c:pt idx="0">
                  <c:v>15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4</c:v>
                </c:pt>
                <c:pt idx="5">
                  <c:v>0</c:v>
                </c:pt>
                <c:pt idx="6">
                  <c:v>2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ABF-47F7-AB4D-5AA4112A7F2B}"/>
            </c:ext>
          </c:extLst>
        </c:ser>
        <c:ser>
          <c:idx val="2"/>
          <c:order val="2"/>
          <c:tx>
            <c:strRef>
              <c:f>Sheet1!$B$9</c:f>
              <c:strCache>
                <c:ptCount val="1"/>
                <c:pt idx="0">
                  <c:v>Total Incidents of the month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Sheet1!$C$4:$K$4</c:f>
              <c:strCache>
                <c:ptCount val="9"/>
                <c:pt idx="0">
                  <c:v>Dec'20</c:v>
                </c:pt>
                <c:pt idx="1">
                  <c:v>Jan'21</c:v>
                </c:pt>
                <c:pt idx="2">
                  <c:v>Feb'21</c:v>
                </c:pt>
                <c:pt idx="3">
                  <c:v>Mar'21</c:v>
                </c:pt>
                <c:pt idx="4">
                  <c:v>Apr'21</c:v>
                </c:pt>
                <c:pt idx="5">
                  <c:v>May'21</c:v>
                </c:pt>
                <c:pt idx="6">
                  <c:v>Jun'21</c:v>
                </c:pt>
                <c:pt idx="7">
                  <c:v>Jul'21</c:v>
                </c:pt>
                <c:pt idx="8">
                  <c:v>Aug'21</c:v>
                </c:pt>
              </c:strCache>
            </c:strRef>
          </c:cat>
          <c:val>
            <c:numRef>
              <c:f>Sheet1!$C$9:$K$9</c:f>
              <c:numCache>
                <c:formatCode>General</c:formatCode>
                <c:ptCount val="9"/>
                <c:pt idx="0">
                  <c:v>38</c:v>
                </c:pt>
                <c:pt idx="1">
                  <c:v>53</c:v>
                </c:pt>
                <c:pt idx="2">
                  <c:v>43</c:v>
                </c:pt>
                <c:pt idx="3">
                  <c:v>97</c:v>
                </c:pt>
                <c:pt idx="4">
                  <c:v>77</c:v>
                </c:pt>
                <c:pt idx="5">
                  <c:v>52</c:v>
                </c:pt>
                <c:pt idx="6">
                  <c:v>45</c:v>
                </c:pt>
                <c:pt idx="7">
                  <c:v>45</c:v>
                </c:pt>
                <c:pt idx="8">
                  <c:v>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ABF-47F7-AB4D-5AA4112A7F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8254080"/>
        <c:axId val="188255616"/>
      </c:lineChart>
      <c:catAx>
        <c:axId val="18825408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88255616"/>
        <c:crosses val="autoZero"/>
        <c:auto val="1"/>
        <c:lblAlgn val="ctr"/>
        <c:lblOffset val="100"/>
        <c:noMultiLvlLbl val="0"/>
      </c:catAx>
      <c:valAx>
        <c:axId val="1882556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8254080"/>
        <c:crosses val="autoZero"/>
        <c:crossBetween val="between"/>
        <c:majorUnit val="25"/>
      </c:valAx>
    </c:plotArea>
    <c:legend>
      <c:legendPos val="b"/>
      <c:layout>
        <c:manualLayout>
          <c:xMode val="edge"/>
          <c:yMode val="edge"/>
          <c:x val="8.2809983172984283E-2"/>
          <c:y val="0.74845092101744026"/>
          <c:w val="0.65167204017931701"/>
          <c:h val="0.23614471129849723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400" baseline="0"/>
      </a:pPr>
      <a:endParaRPr lang="en-US"/>
    </a:p>
  </c:txPr>
  <c:externalData r:id="rId1">
    <c:autoUpdate val="0"/>
  </c:externalData>
  <c:userShapes r:id="rId2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[archive_size_20210520.xlsx]Sheet1!PivotTable1</c:name>
    <c:fmtId val="3"/>
  </c:pivotSource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Sheet1!$C$24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Sheet1!$B$25:$B$36</c:f>
              <c:multiLvlStrCache>
                <c:ptCount val="9"/>
                <c:lvl>
                  <c:pt idx="0">
                    <c:v>Dec</c:v>
                  </c:pt>
                  <c:pt idx="1">
                    <c:v>Jan</c:v>
                  </c:pt>
                  <c:pt idx="2">
                    <c:v>Feb</c:v>
                  </c:pt>
                  <c:pt idx="3">
                    <c:v>Mar</c:v>
                  </c:pt>
                  <c:pt idx="4">
                    <c:v>Apr</c:v>
                  </c:pt>
                  <c:pt idx="5">
                    <c:v>May</c:v>
                  </c:pt>
                  <c:pt idx="6">
                    <c:v>Jun</c:v>
                  </c:pt>
                  <c:pt idx="7">
                    <c:v>Jul</c:v>
                  </c:pt>
                  <c:pt idx="8">
                    <c:v>Aug</c:v>
                  </c:pt>
                </c:lvl>
                <c:lvl>
                  <c:pt idx="0">
                    <c:v>2020</c:v>
                  </c:pt>
                  <c:pt idx="1">
                    <c:v>2021</c:v>
                  </c:pt>
                </c:lvl>
              </c:multiLvlStrCache>
            </c:multiLvlStrRef>
          </c:cat>
          <c:val>
            <c:numRef>
              <c:f>Sheet1!$C$25:$C$36</c:f>
              <c:numCache>
                <c:formatCode>_(* #,##0.00_);_(* \(#,##0.00\);_(* "-"??_);_(@_)</c:formatCode>
                <c:ptCount val="9"/>
                <c:pt idx="0">
                  <c:v>3661864.0078125</c:v>
                </c:pt>
                <c:pt idx="1">
                  <c:v>11357988.88671875</c:v>
                </c:pt>
                <c:pt idx="2">
                  <c:v>8962192.833984375</c:v>
                </c:pt>
                <c:pt idx="3">
                  <c:v>10070780.396484375</c:v>
                </c:pt>
                <c:pt idx="4">
                  <c:v>8681409.5</c:v>
                </c:pt>
                <c:pt idx="5">
                  <c:v>7288421.3157812506</c:v>
                </c:pt>
                <c:pt idx="6">
                  <c:v>6721832.6490000002</c:v>
                </c:pt>
                <c:pt idx="7">
                  <c:v>7716076</c:v>
                </c:pt>
                <c:pt idx="8">
                  <c:v>7063636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36-46ED-BD5C-BA6E57062FB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7883520"/>
        <c:axId val="187886208"/>
      </c:barChart>
      <c:catAx>
        <c:axId val="187883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886208"/>
        <c:crosses val="autoZero"/>
        <c:auto val="1"/>
        <c:lblAlgn val="ctr"/>
        <c:lblOffset val="100"/>
        <c:noMultiLvlLbl val="0"/>
      </c:catAx>
      <c:valAx>
        <c:axId val="187886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883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0.01468</cdr:x>
      <cdr:y>0.00638</cdr:y>
    </cdr:from>
    <cdr:to>
      <cdr:x>0.95596</cdr:x>
      <cdr:y>0.09459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85725" y="28571"/>
          <a:ext cx="5495936" cy="39531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ctr"/>
          <a:r>
            <a:rPr lang="en-US" sz="2300" b="1"/>
            <a:t>Monthwise Incidents Analysis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878" cy="498932"/>
          </a:xfrm>
          <a:prstGeom prst="rect">
            <a:avLst/>
          </a:prstGeom>
        </p:spPr>
        <p:txBody>
          <a:bodyPr vert="horz" lIns="60296" tIns="30148" rIns="60296" bIns="30148" rtlCol="0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742" y="0"/>
            <a:ext cx="2949542" cy="498932"/>
          </a:xfrm>
          <a:prstGeom prst="rect">
            <a:avLst/>
          </a:prstGeom>
        </p:spPr>
        <p:txBody>
          <a:bodyPr vert="horz" lIns="60296" tIns="30148" rIns="60296" bIns="30148" rtlCol="0"/>
          <a:lstStyle>
            <a:lvl1pPr algn="r">
              <a:defRPr sz="800"/>
            </a:lvl1pPr>
          </a:lstStyle>
          <a:p>
            <a:fld id="{0B643108-4CFC-4FAB-97CD-CE7634AE86F6}" type="datetimeFigureOut">
              <a:rPr lang="en-GB" smtClean="0"/>
              <a:t>16/09/2021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170"/>
            <a:ext cx="2948878" cy="498931"/>
          </a:xfrm>
          <a:prstGeom prst="rect">
            <a:avLst/>
          </a:prstGeom>
        </p:spPr>
        <p:txBody>
          <a:bodyPr vert="horz" lIns="60296" tIns="30148" rIns="60296" bIns="30148" rtlCol="0" anchor="b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742" y="9445170"/>
            <a:ext cx="2949542" cy="498931"/>
          </a:xfrm>
          <a:prstGeom prst="rect">
            <a:avLst/>
          </a:prstGeom>
        </p:spPr>
        <p:txBody>
          <a:bodyPr vert="horz" lIns="60296" tIns="30148" rIns="60296" bIns="30148" rtlCol="0" anchor="b"/>
          <a:lstStyle>
            <a:lvl1pPr algn="r">
              <a:defRPr sz="800"/>
            </a:lvl1pPr>
          </a:lstStyle>
          <a:p>
            <a:fld id="{F45247AA-1C7D-4300-9006-F0E7139767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439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878" cy="498932"/>
          </a:xfrm>
          <a:prstGeom prst="rect">
            <a:avLst/>
          </a:prstGeom>
        </p:spPr>
        <p:txBody>
          <a:bodyPr vert="horz" lIns="60296" tIns="30148" rIns="60296" bIns="30148" rtlCol="0"/>
          <a:lstStyle>
            <a:lvl1pPr algn="l">
              <a:defRPr sz="8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742" y="0"/>
            <a:ext cx="2949542" cy="498932"/>
          </a:xfrm>
          <a:prstGeom prst="rect">
            <a:avLst/>
          </a:prstGeom>
        </p:spPr>
        <p:txBody>
          <a:bodyPr vert="horz" lIns="60296" tIns="30148" rIns="60296" bIns="30148" rtlCol="0"/>
          <a:lstStyle>
            <a:lvl1pPr algn="r">
              <a:defRPr sz="800"/>
            </a:lvl1pPr>
          </a:lstStyle>
          <a:p>
            <a:fld id="{D53807A2-B2E0-AA4D-ACE0-B2097FFE7254}" type="datetimeFigureOut">
              <a:rPr lang="en-US" smtClean="0"/>
              <a:t>9/16/2021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3013"/>
            <a:ext cx="5967413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60296" tIns="30148" rIns="60296" bIns="3014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5598"/>
            <a:ext cx="5444490" cy="3915489"/>
          </a:xfrm>
          <a:prstGeom prst="rect">
            <a:avLst/>
          </a:prstGeom>
        </p:spPr>
        <p:txBody>
          <a:bodyPr vert="horz" lIns="60296" tIns="30148" rIns="60296" bIns="3014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8878" cy="498931"/>
          </a:xfrm>
          <a:prstGeom prst="rect">
            <a:avLst/>
          </a:prstGeom>
        </p:spPr>
        <p:txBody>
          <a:bodyPr vert="horz" lIns="60296" tIns="30148" rIns="60296" bIns="30148" rtlCol="0" anchor="b"/>
          <a:lstStyle>
            <a:lvl1pPr algn="l">
              <a:defRPr sz="8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742" y="9445170"/>
            <a:ext cx="2949542" cy="498931"/>
          </a:xfrm>
          <a:prstGeom prst="rect">
            <a:avLst/>
          </a:prstGeom>
        </p:spPr>
        <p:txBody>
          <a:bodyPr vert="horz" lIns="60296" tIns="30148" rIns="60296" bIns="30148" rtlCol="0" anchor="b"/>
          <a:lstStyle>
            <a:lvl1pPr algn="r">
              <a:defRPr sz="800"/>
            </a:lvl1pPr>
          </a:lstStyle>
          <a:p>
            <a:fld id="{2D753CA0-28A1-1E4E-9EF7-EC20CB6FB8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973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205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733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zh-HK" b="0" baseline="0" dirty="0" smtClean="0">
              <a:latin typeface="+mn-lt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170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zh-HK" baseline="0" dirty="0" smtClean="0"/>
              <a:t>For item 2.5, please </a:t>
            </a:r>
            <a:r>
              <a:rPr lang="en-US" altLang="zh-HK" baseline="0" dirty="0" err="1" smtClean="0"/>
              <a:t>short-list:those</a:t>
            </a:r>
            <a:r>
              <a:rPr lang="en-US" altLang="zh-HK" baseline="0" dirty="0" smtClean="0"/>
              <a:t> unclosed AWBs beyond 75 days</a:t>
            </a:r>
          </a:p>
          <a:p>
            <a:pPr marL="228600" indent="-228600">
              <a:buFont typeface="+mj-lt"/>
              <a:buAutoNum type="alphaLcParenR"/>
            </a:pPr>
            <a:r>
              <a:rPr lang="en-US" altLang="zh-HK" baseline="0" dirty="0" smtClean="0"/>
              <a:t>With inventory</a:t>
            </a:r>
          </a:p>
          <a:p>
            <a:pPr marL="228600" indent="-228600">
              <a:buFont typeface="+mj-lt"/>
              <a:buAutoNum type="alphaLcParenR"/>
            </a:pPr>
            <a:r>
              <a:rPr lang="en-US" altLang="zh-HK" baseline="0" dirty="0" smtClean="0"/>
              <a:t>Outstanding charges</a:t>
            </a:r>
          </a:p>
          <a:p>
            <a:pPr marL="228600" indent="-228600">
              <a:buFont typeface="+mj-lt"/>
              <a:buAutoNum type="alphaLcParenR"/>
            </a:pPr>
            <a:r>
              <a:rPr lang="en-US" altLang="zh-HK" baseline="0" dirty="0" smtClean="0"/>
              <a:t>Outstanding tracing record</a:t>
            </a:r>
          </a:p>
          <a:p>
            <a:pPr marL="171450" indent="-171450">
              <a:buFontTx/>
              <a:buChar char="-"/>
            </a:pPr>
            <a:endParaRPr lang="en-US" altLang="zh-HK" baseline="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024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zh-HK" baseline="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284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zh-HK" baseline="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898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095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971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zh-HK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1408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zh-HK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1408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advise the status of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below outstanding SR: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SR166453 </a:t>
            </a:r>
            <a:r>
              <a:rPr lang="en-US" altLang="zh-HK" sz="1200" b="0" i="0" u="none" strike="noStrike" baseline="0" dirty="0" smtClean="0"/>
              <a:t>WOS - WOS Data Patching - </a:t>
            </a:r>
            <a:r>
              <a:rPr lang="en-US" altLang="zh-HK" sz="1200" b="0" i="0" u="none" strike="noStrike" baseline="0" dirty="0" err="1" smtClean="0"/>
              <a:t>eSR</a:t>
            </a:r>
            <a:r>
              <a:rPr lang="en-US" altLang="zh-HK" sz="1200" b="0" i="0" u="none" strike="noStrike" baseline="0" dirty="0" smtClean="0"/>
              <a:t> 28781 - housekeep the data beyond 7-year retention</a:t>
            </a:r>
          </a:p>
          <a:p>
            <a:r>
              <a:rPr lang="en-US" altLang="zh-HK" sz="1200" b="0" i="0" u="none" strike="noStrike" baseline="0" dirty="0" smtClean="0"/>
              <a:t>Please report the actual number of data patching done (including one related </a:t>
            </a:r>
            <a:r>
              <a:rPr lang="en-US" altLang="zh-HK" sz="1200" b="0" i="0" u="none" strike="noStrike" baseline="0" dirty="0" err="1" smtClean="0"/>
              <a:t>to“invalid</a:t>
            </a:r>
            <a:r>
              <a:rPr lang="en-US" altLang="zh-HK" sz="1200" b="0" i="0" u="none" strike="noStrike" baseline="0" dirty="0" smtClean="0"/>
              <a:t>” incidents).</a:t>
            </a:r>
            <a:endParaRPr lang="zh-HK" altLang="en-US" sz="1200" b="0" i="0" u="none" strike="noStrike" baseline="0" dirty="0" smtClean="0"/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HK" sz="1200" b="0" i="0" u="none" strike="noStrik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HK" sz="1200" b="0" i="0" u="none" strike="noStrike" baseline="0" dirty="0" smtClean="0"/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5328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727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5026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0917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7831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0917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1093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Tx/>
              <a:buAutoNum type="arabicParenR"/>
            </a:pPr>
            <a:endParaRPr lang="zh-HK" altLang="en-US" b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488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jpeg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jpeg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jpeg"/><Relationship Id="rId4" Type="http://schemas.openxmlformats.org/officeDocument/2006/relationships/image" Target="../media/image10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niit.tech/" TargetMode="External"/><Relationship Id="rId5" Type="http://schemas.openxmlformats.org/officeDocument/2006/relationships/hyperlink" Target="https://www.youtube.com/user/niittechnologiesltd" TargetMode="External"/><Relationship Id="rId4" Type="http://schemas.openxmlformats.org/officeDocument/2006/relationships/hyperlink" Target="https://twitter.com/NIITTech" TargetMode="Externa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5.sv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www.facebook.com/niit.tech/" TargetMode="External"/><Relationship Id="rId5" Type="http://schemas.openxmlformats.org/officeDocument/2006/relationships/hyperlink" Target="https://www.youtube.com/user/niittechnologiesltd" TargetMode="External"/><Relationship Id="rId4" Type="http://schemas.openxmlformats.org/officeDocument/2006/relationships/hyperlink" Target="https://twitter.com/NIITTech" TargetMode="Externa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4C6A7D-8749-814E-A87E-5D98A6F31C67}"/>
              </a:ext>
            </a:extLst>
          </p:cNvPr>
          <p:cNvSpPr/>
          <p:nvPr userDrawn="1"/>
        </p:nvSpPr>
        <p:spPr>
          <a:xfrm>
            <a:off x="0" y="0"/>
            <a:ext cx="15595600" cy="19901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66B366-994A-5945-A7CB-02E2EEAF0DE2}"/>
              </a:ext>
            </a:extLst>
          </p:cNvPr>
          <p:cNvSpPr/>
          <p:nvPr userDrawn="1"/>
        </p:nvSpPr>
        <p:spPr>
          <a:xfrm>
            <a:off x="12141200" y="7153835"/>
            <a:ext cx="4114800" cy="19901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4EFB45-BB7E-CB41-9CC3-407BA438C4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94593B4-CA58-9849-815C-64A09F6C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9600" y="3925263"/>
            <a:ext cx="6172200" cy="731837"/>
          </a:xfrm>
        </p:spPr>
        <p:txBody>
          <a:bodyPr>
            <a:noAutofit/>
          </a:bodyPr>
          <a:lstStyle>
            <a:lvl1pPr algn="l">
              <a:defRPr sz="6000"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CFAD6C1-D7B6-3F44-993B-3A0575EC76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6600" y="564912"/>
            <a:ext cx="3568700" cy="959088"/>
          </a:xfrm>
          <a:prstGeom prst="rect">
            <a:avLst/>
          </a:prstGeom>
        </p:spPr>
      </p:pic>
      <p:sp>
        <p:nvSpPr>
          <p:cNvPr id="16" name="object 19">
            <a:extLst>
              <a:ext uri="{FF2B5EF4-FFF2-40B4-BE49-F238E27FC236}">
                <a16:creationId xmlns:a16="http://schemas.microsoft.com/office/drawing/2014/main" id="{80A13578-E81C-2C4F-8B54-20DE9833B5E3}"/>
              </a:ext>
            </a:extLst>
          </p:cNvPr>
          <p:cNvSpPr txBox="1"/>
          <p:nvPr userDrawn="1"/>
        </p:nvSpPr>
        <p:spPr>
          <a:xfrm>
            <a:off x="11557000" y="8336910"/>
            <a:ext cx="40576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292A6BE-B25D-844D-9DF4-A9F932911E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93484" y="5189839"/>
            <a:ext cx="6078316" cy="51884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buFontTx/>
              <a:buNone/>
              <a:defRPr sz="3600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Sub-heading here</a:t>
            </a:r>
          </a:p>
        </p:txBody>
      </p:sp>
    </p:spTree>
    <p:extLst>
      <p:ext uri="{BB962C8B-B14F-4D97-AF65-F5344CB8AC3E}">
        <p14:creationId xmlns:p14="http://schemas.microsoft.com/office/powerpoint/2010/main" val="2243408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D6172-4CF5-574A-A9E3-F0FD1AE71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AFEA5-A18B-4447-8296-C8EBB130E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828800"/>
            <a:ext cx="14020800" cy="61722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7738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AC1C1-7A53-004E-810D-68614B09B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8DDD3-4FFD-2D49-BC4A-EF2D58B46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67802" y="1860076"/>
            <a:ext cx="6934200" cy="580231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37C46-A0A4-9342-80F4-A452677CB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30602" y="1860076"/>
            <a:ext cx="6934200" cy="58023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324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81279-0F69-D446-AB0C-1B87B7F8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278337FD-4220-D042-B7E0-4060142079F2}"/>
              </a:ext>
            </a:extLst>
          </p:cNvPr>
          <p:cNvSpPr/>
          <p:nvPr userDrawn="1"/>
        </p:nvSpPr>
        <p:spPr>
          <a:xfrm>
            <a:off x="622300" y="2133601"/>
            <a:ext cx="4762500" cy="762000"/>
          </a:xfrm>
          <a:prstGeom prst="round1Rect">
            <a:avLst>
              <a:gd name="adj" fmla="val 50000"/>
            </a:avLst>
          </a:prstGeom>
          <a:solidFill>
            <a:srgbClr val="0061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7201ADE-5297-E04F-A3FF-BC12B8437165}"/>
              </a:ext>
            </a:extLst>
          </p:cNvPr>
          <p:cNvSpPr txBox="1">
            <a:spLocks/>
          </p:cNvSpPr>
          <p:nvPr userDrawn="1"/>
        </p:nvSpPr>
        <p:spPr>
          <a:xfrm>
            <a:off x="660400" y="2201864"/>
            <a:ext cx="45720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Click to edit Master title style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78918F3-44D5-2247-BBEF-D83F377C4D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700" y="2993841"/>
            <a:ext cx="4737100" cy="3912618"/>
          </a:xfrm>
          <a:prstGeom prst="rect">
            <a:avLst/>
          </a:prstGeom>
        </p:spPr>
        <p:txBody>
          <a:bodyPr wrap="square" lIns="91440" tIns="91440" rIns="91440" bIns="91440">
            <a:noAutofit/>
          </a:bodyPr>
          <a:lstStyle>
            <a:lvl1pPr marL="171450" marR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 lang="en-US" sz="18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2pPr>
            <a:lvl3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3pPr>
            <a:lvl4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4pPr>
            <a:lvl5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</p:txBody>
      </p:sp>
      <p:sp>
        <p:nvSpPr>
          <p:cNvPr id="12" name="Round Single Corner Rectangle 11">
            <a:extLst>
              <a:ext uri="{FF2B5EF4-FFF2-40B4-BE49-F238E27FC236}">
                <a16:creationId xmlns:a16="http://schemas.microsoft.com/office/drawing/2014/main" id="{B45E2C00-C0E2-2647-8BCF-826845158AA0}"/>
              </a:ext>
            </a:extLst>
          </p:cNvPr>
          <p:cNvSpPr/>
          <p:nvPr userDrawn="1"/>
        </p:nvSpPr>
        <p:spPr>
          <a:xfrm>
            <a:off x="5727156" y="2133601"/>
            <a:ext cx="4762500" cy="762000"/>
          </a:xfrm>
          <a:prstGeom prst="round1Rect">
            <a:avLst>
              <a:gd name="adj" fmla="val 50000"/>
            </a:avLst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3C40093-5B11-FD4B-8D5E-4FE32ED8D864}"/>
              </a:ext>
            </a:extLst>
          </p:cNvPr>
          <p:cNvSpPr txBox="1">
            <a:spLocks/>
          </p:cNvSpPr>
          <p:nvPr userDrawn="1"/>
        </p:nvSpPr>
        <p:spPr>
          <a:xfrm>
            <a:off x="5765256" y="2201864"/>
            <a:ext cx="45720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Click to edit Master title style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F89F47-A73E-D944-9D31-6D47FC988D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52556" y="2993841"/>
            <a:ext cx="4737100" cy="3912618"/>
          </a:xfrm>
          <a:prstGeom prst="rect">
            <a:avLst/>
          </a:prstGeom>
        </p:spPr>
        <p:txBody>
          <a:bodyPr wrap="square" lIns="91440" tIns="91440" rIns="91440" bIns="91440">
            <a:noAutofit/>
          </a:bodyPr>
          <a:lstStyle>
            <a:lvl1pPr marL="171450" marR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 lang="en-US" sz="18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2pPr>
            <a:lvl3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3pPr>
            <a:lvl4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4pPr>
            <a:lvl5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</p:txBody>
      </p:sp>
      <p:sp>
        <p:nvSpPr>
          <p:cNvPr id="15" name="Round Single Corner Rectangle 14">
            <a:extLst>
              <a:ext uri="{FF2B5EF4-FFF2-40B4-BE49-F238E27FC236}">
                <a16:creationId xmlns:a16="http://schemas.microsoft.com/office/drawing/2014/main" id="{F24A34FC-EE04-7C47-9383-3F9252005512}"/>
              </a:ext>
            </a:extLst>
          </p:cNvPr>
          <p:cNvSpPr/>
          <p:nvPr userDrawn="1"/>
        </p:nvSpPr>
        <p:spPr>
          <a:xfrm>
            <a:off x="10833100" y="2133601"/>
            <a:ext cx="4762500" cy="762000"/>
          </a:xfrm>
          <a:prstGeom prst="round1Rect">
            <a:avLst>
              <a:gd name="adj" fmla="val 5000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52C5471-DCEF-4246-B995-AEF09ED8F964}"/>
              </a:ext>
            </a:extLst>
          </p:cNvPr>
          <p:cNvSpPr txBox="1">
            <a:spLocks/>
          </p:cNvSpPr>
          <p:nvPr userDrawn="1"/>
        </p:nvSpPr>
        <p:spPr>
          <a:xfrm>
            <a:off x="10871200" y="2201864"/>
            <a:ext cx="45720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Click to edit Master title style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2849398-2708-7149-816A-EE91216564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58500" y="2993841"/>
            <a:ext cx="4737100" cy="3912618"/>
          </a:xfrm>
          <a:prstGeom prst="rect">
            <a:avLst/>
          </a:prstGeom>
        </p:spPr>
        <p:txBody>
          <a:bodyPr wrap="square" lIns="91440" tIns="91440" rIns="91440" bIns="91440">
            <a:noAutofit/>
          </a:bodyPr>
          <a:lstStyle>
            <a:lvl1pPr marL="171450" marR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 lang="en-US" sz="18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2pPr>
            <a:lvl3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3pPr>
            <a:lvl4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4pPr>
            <a:lvl5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898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81279-0F69-D446-AB0C-1B87B7F8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4199C8A-EC23-4647-BA60-B44C15FDD6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7800" y="1981200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59D863D-1370-7C48-ABBE-073E3D9F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22400" y="47697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8209C18-91F1-2B4C-934A-C617725210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22400" y="53884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B116989-A590-BA40-9B7B-F0236AFA0D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2400" y="6019800"/>
            <a:ext cx="2819400" cy="2193396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77D03EC3-57B9-E64B-81C8-7758EA28A22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54600" y="1981200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3E4E7A01-9963-CB46-960F-37A21BD9FB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0" y="47697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2B49BE7-78E7-7C49-B505-6C8A391764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0" y="53884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2F875404-B195-F94B-9781-8E5DBBDF4F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0" y="6019800"/>
            <a:ext cx="2819400" cy="2193396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88518A3D-FD51-3A43-AFCF-0F6A4F3F80D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636000" y="1981200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09F7C79-C02C-BB4E-8F44-3E706689BC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10600" y="47697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49DCF53-3D2E-254C-8FEB-F61156FEF4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0600" y="53884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4C3F2507-5704-5F4D-B15C-2E1470B2EB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10600" y="6019800"/>
            <a:ext cx="2819400" cy="2193396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4" name="Picture Placeholder 6">
            <a:extLst>
              <a:ext uri="{FF2B5EF4-FFF2-40B4-BE49-F238E27FC236}">
                <a16:creationId xmlns:a16="http://schemas.microsoft.com/office/drawing/2014/main" id="{B477983A-0FFD-934B-8B03-F37C0641619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242800" y="1981200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9A21512B-ECBE-B24D-9A6E-1B87D94162A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17400" y="47697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6203DAA3-1568-774D-B328-AD01B6F8B4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17400" y="53884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ED1DD434-F118-3F45-85C6-29E7BB0762D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17400" y="6019800"/>
            <a:ext cx="2819400" cy="2193396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40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2" grpId="0" animBg="1"/>
      <p:bldP spid="30" grpId="0" animBg="1"/>
      <p:bldP spid="34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c 10">
            <a:extLst>
              <a:ext uri="{FF2B5EF4-FFF2-40B4-BE49-F238E27FC236}">
                <a16:creationId xmlns:a16="http://schemas.microsoft.com/office/drawing/2014/main" id="{B27DCA1A-E7A1-4B60-ADB1-A70718AAA2BE}"/>
              </a:ext>
            </a:extLst>
          </p:cNvPr>
          <p:cNvSpPr>
            <a:spLocks noChangeAspect="1"/>
          </p:cNvSpPr>
          <p:nvPr userDrawn="1"/>
        </p:nvSpPr>
        <p:spPr>
          <a:xfrm>
            <a:off x="696099" y="3404699"/>
            <a:ext cx="2808000" cy="280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82B78E4-D8AA-4CD5-8D9F-0FDF06AE63B4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588099" y="3296699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281279-0F69-D446-AB0C-1B87B7F8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4199C8A-EC23-4647-BA60-B44C15FDD6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4699" y="3513299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59D863D-1370-7C48-ABBE-073E3D9F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2200" y="34743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8209C18-91F1-2B4C-934A-C617725210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32200" y="40930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B116989-A590-BA40-9B7B-F0236AFA0D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32200" y="4724400"/>
            <a:ext cx="4140200" cy="114300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1DC90DBF-CC02-5A4A-A1D9-6003ADFC9BF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80800" y="34743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D676D87D-5E40-0947-B8E5-86324E6CCB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0800" y="40930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5094E6B-9011-6E4D-823D-8D7881108E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80800" y="4724400"/>
            <a:ext cx="4140200" cy="114300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3A56A678-52E4-423E-AABB-0212F46C2B50}"/>
              </a:ext>
            </a:extLst>
          </p:cNvPr>
          <p:cNvSpPr>
            <a:spLocks noChangeAspect="1"/>
          </p:cNvSpPr>
          <p:nvPr userDrawn="1"/>
        </p:nvSpPr>
        <p:spPr>
          <a:xfrm>
            <a:off x="8400402" y="3404699"/>
            <a:ext cx="2808000" cy="280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9E1E117-1423-4F75-9A2E-FD5ED7B3F062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8292402" y="3296699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88A3813-4911-4AA2-A2B1-465E0C96AD1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509002" y="3513299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8977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2F185E-6C7B-C543-8775-FDAC135D95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5999" cy="9143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5A4E4E1-1F94-A946-8CAE-DE1E6419772D}"/>
              </a:ext>
            </a:extLst>
          </p:cNvPr>
          <p:cNvSpPr/>
          <p:nvPr userDrawn="1"/>
        </p:nvSpPr>
        <p:spPr>
          <a:xfrm>
            <a:off x="0" y="0"/>
            <a:ext cx="2456329" cy="207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FC350DB-73A6-7D47-A25F-4DAB649E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00" y="609600"/>
            <a:ext cx="9083373" cy="731837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F602B8C-E381-B94E-82DF-7A5DAB4C4B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1828800"/>
            <a:ext cx="90082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A4A87AB-42E2-6245-AC40-B83FA7F2033E}"/>
              </a:ext>
            </a:extLst>
          </p:cNvPr>
          <p:cNvSpPr/>
          <p:nvPr userDrawn="1"/>
        </p:nvSpPr>
        <p:spPr>
          <a:xfrm>
            <a:off x="15367000" y="8382000"/>
            <a:ext cx="609600" cy="6096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Holder 5">
            <a:extLst>
              <a:ext uri="{FF2B5EF4-FFF2-40B4-BE49-F238E27FC236}">
                <a16:creationId xmlns:a16="http://schemas.microsoft.com/office/drawing/2014/main" id="{FDA283F4-F85A-7743-ADEF-B5672B932856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721BBA2-E195-4022-A0AE-7A8197BFFF39}"/>
              </a:ext>
            </a:extLst>
          </p:cNvPr>
          <p:cNvGrpSpPr/>
          <p:nvPr userDrawn="1"/>
        </p:nvGrpSpPr>
        <p:grpSpPr>
          <a:xfrm>
            <a:off x="10109200" y="1371600"/>
            <a:ext cx="6150503" cy="5086579"/>
            <a:chOff x="10032998" y="1581147"/>
            <a:chExt cx="6225676" cy="5010153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8C8FCA98-547E-4865-99DD-13180BA09D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09200" y="1661003"/>
              <a:ext cx="6149474" cy="4930297"/>
            </a:xfrm>
            <a:prstGeom prst="rect">
              <a:avLst/>
            </a:pr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759A308-13FE-430B-A116-8EC255D9BC2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032998" y="1581147"/>
              <a:ext cx="218748" cy="21275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306B0B7-6D2D-47E2-B5CC-E21CC1C2240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 flipV="1">
            <a:off x="0" y="7646276"/>
            <a:ext cx="1497724" cy="149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835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5A97CCE-3E56-8A48-A193-9A04E19538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6255998" cy="9143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5A4E4E1-1F94-A946-8CAE-DE1E6419772D}"/>
              </a:ext>
            </a:extLst>
          </p:cNvPr>
          <p:cNvSpPr/>
          <p:nvPr userDrawn="1"/>
        </p:nvSpPr>
        <p:spPr>
          <a:xfrm>
            <a:off x="0" y="0"/>
            <a:ext cx="2456329" cy="207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FC350DB-73A6-7D47-A25F-4DAB649E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00" y="609600"/>
            <a:ext cx="9083373" cy="731837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F602B8C-E381-B94E-82DF-7A5DAB4C4B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1828800"/>
            <a:ext cx="90082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CC20271-8E0E-D249-BF9F-AA82ABE4176D}"/>
              </a:ext>
            </a:extLst>
          </p:cNvPr>
          <p:cNvSpPr/>
          <p:nvPr userDrawn="1"/>
        </p:nvSpPr>
        <p:spPr>
          <a:xfrm>
            <a:off x="15367000" y="8382000"/>
            <a:ext cx="609600" cy="6096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Holder 5">
            <a:extLst>
              <a:ext uri="{FF2B5EF4-FFF2-40B4-BE49-F238E27FC236}">
                <a16:creationId xmlns:a16="http://schemas.microsoft.com/office/drawing/2014/main" id="{65415436-2778-3D4A-BD2D-A3ED52761015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F245505-E755-4747-95D0-A7262A54BBB2}"/>
              </a:ext>
            </a:extLst>
          </p:cNvPr>
          <p:cNvGrpSpPr/>
          <p:nvPr userDrawn="1"/>
        </p:nvGrpSpPr>
        <p:grpSpPr>
          <a:xfrm>
            <a:off x="10109200" y="1371600"/>
            <a:ext cx="6150503" cy="5086579"/>
            <a:chOff x="10032998" y="1581147"/>
            <a:chExt cx="6225676" cy="5010153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BEAE285-C8F3-42CD-BA19-86CA1288A0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09200" y="1661003"/>
              <a:ext cx="6149474" cy="4930297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51B7A88-A583-4128-9AD7-B87EB34D3EB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032998" y="1581147"/>
              <a:ext cx="218748" cy="21275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BC50F715-EC70-4442-837E-9FDF870D070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 flipV="1">
            <a:off x="0" y="7646276"/>
            <a:ext cx="1497724" cy="149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330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3490AD-049D-A244-B0E8-962BF14DA9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5998" cy="91439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A4E631E-1EDB-524A-B6ED-0FAF4824D902}"/>
              </a:ext>
            </a:extLst>
          </p:cNvPr>
          <p:cNvSpPr/>
          <p:nvPr userDrawn="1"/>
        </p:nvSpPr>
        <p:spPr>
          <a:xfrm>
            <a:off x="0" y="0"/>
            <a:ext cx="2456329" cy="207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3276B3A-1F0B-A746-899C-F8C2E8801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00" y="609600"/>
            <a:ext cx="9083373" cy="731837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71EB4A9-77AF-DF4A-91E3-0ED3274588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1828800"/>
            <a:ext cx="90082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AC9418-60D2-6E4D-B250-DA39F17941C5}"/>
              </a:ext>
            </a:extLst>
          </p:cNvPr>
          <p:cNvSpPr/>
          <p:nvPr userDrawn="1"/>
        </p:nvSpPr>
        <p:spPr>
          <a:xfrm>
            <a:off x="15367000" y="8382000"/>
            <a:ext cx="609600" cy="6096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Holder 5">
            <a:extLst>
              <a:ext uri="{FF2B5EF4-FFF2-40B4-BE49-F238E27FC236}">
                <a16:creationId xmlns:a16="http://schemas.microsoft.com/office/drawing/2014/main" id="{BF0C27AE-3C77-3946-A3FB-FAF0158F5AC5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6CCFDB-874E-F54A-A1BB-7984383E6FC2}"/>
              </a:ext>
            </a:extLst>
          </p:cNvPr>
          <p:cNvGrpSpPr/>
          <p:nvPr userDrawn="1"/>
        </p:nvGrpSpPr>
        <p:grpSpPr>
          <a:xfrm>
            <a:off x="10109200" y="1371600"/>
            <a:ext cx="6150503" cy="5086579"/>
            <a:chOff x="10032998" y="1581147"/>
            <a:chExt cx="6225676" cy="5010153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9B0CB6AE-DB9B-E645-9299-4DF9BC6D55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09200" y="1661003"/>
              <a:ext cx="6149474" cy="4930297"/>
            </a:xfrm>
            <a:prstGeom prst="rect">
              <a:avLst/>
            </a:prstGeom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EE0C21-20EA-904E-8B79-325B55FC9C3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032998" y="1581147"/>
              <a:ext cx="218748" cy="212755"/>
            </a:xfrm>
            <a:prstGeom prst="ellipse">
              <a:avLst/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B4A9E719-6995-42D8-B7C5-CF6B0386CD5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 flipV="1">
            <a:off x="0" y="7646276"/>
            <a:ext cx="1497724" cy="149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08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7131A9-4801-C94B-9649-CB4A71C31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0" y="533400"/>
            <a:ext cx="13106400" cy="7318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AC6BE3B-2BA0-DB4E-9D4E-A324ED7239BC}"/>
              </a:ext>
            </a:extLst>
          </p:cNvPr>
          <p:cNvSpPr/>
          <p:nvPr userDrawn="1"/>
        </p:nvSpPr>
        <p:spPr>
          <a:xfrm>
            <a:off x="812800" y="2819400"/>
            <a:ext cx="1447800" cy="1447800"/>
          </a:xfrm>
          <a:prstGeom prst="ellipse">
            <a:avLst/>
          </a:prstGeom>
          <a:solidFill>
            <a:srgbClr val="00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DED0528-D4DF-1349-84DC-420DC01A278D}"/>
              </a:ext>
            </a:extLst>
          </p:cNvPr>
          <p:cNvSpPr/>
          <p:nvPr userDrawn="1"/>
        </p:nvSpPr>
        <p:spPr>
          <a:xfrm>
            <a:off x="5776630" y="2819400"/>
            <a:ext cx="1447800" cy="1447800"/>
          </a:xfrm>
          <a:prstGeom prst="ellipse">
            <a:avLst/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15947A4-4D97-5345-AEC0-A39860FA186B}"/>
              </a:ext>
            </a:extLst>
          </p:cNvPr>
          <p:cNvSpPr/>
          <p:nvPr userDrawn="1"/>
        </p:nvSpPr>
        <p:spPr>
          <a:xfrm>
            <a:off x="10656910" y="2819400"/>
            <a:ext cx="1447800" cy="1447800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DD14DE1-8079-BF43-9041-A4FA760967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3000" y="284480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49B7974-F0D4-F549-A9E2-97B103E445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3000" y="3485280"/>
            <a:ext cx="3048000" cy="299172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31E050E-CA62-4746-8682-BB43515055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87660" y="284480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0DAFD4D-838F-3446-ADF0-D5A683A1B7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87660" y="3485280"/>
            <a:ext cx="3048000" cy="299172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052210EB-FA98-0142-964E-CEB8C86DA8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242800" y="284480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14B13D95-9485-8B4F-BA97-701870F592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42800" y="3485280"/>
            <a:ext cx="3048000" cy="299172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E56609E-3E3F-6546-B3BA-E840779BB7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52194" y="3336240"/>
            <a:ext cx="842792" cy="4789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03149A-8E47-2348-9BA4-03B58CF475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57140" y="3288064"/>
            <a:ext cx="738257" cy="521123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68501B80-DF48-D547-A9CB-6BF0955098C3}"/>
              </a:ext>
            </a:extLst>
          </p:cNvPr>
          <p:cNvGrpSpPr/>
          <p:nvPr userDrawn="1"/>
        </p:nvGrpSpPr>
        <p:grpSpPr>
          <a:xfrm>
            <a:off x="1303584" y="3154397"/>
            <a:ext cx="498115" cy="821728"/>
            <a:chOff x="6531329" y="2691707"/>
            <a:chExt cx="444716" cy="733318"/>
          </a:xfrm>
        </p:grpSpPr>
        <p:sp>
          <p:nvSpPr>
            <p:cNvPr id="23" name="Freeform 95">
              <a:extLst>
                <a:ext uri="{FF2B5EF4-FFF2-40B4-BE49-F238E27FC236}">
                  <a16:creationId xmlns:a16="http://schemas.microsoft.com/office/drawing/2014/main" id="{C25FF615-AFE6-4A49-95BB-85BFEFCA4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2002" y="3283678"/>
              <a:ext cx="203371" cy="52742"/>
            </a:xfrm>
            <a:custGeom>
              <a:avLst/>
              <a:gdLst>
                <a:gd name="T0" fmla="*/ 177 w 204"/>
                <a:gd name="T1" fmla="*/ 0 h 53"/>
                <a:gd name="T2" fmla="*/ 26 w 204"/>
                <a:gd name="T3" fmla="*/ 0 h 53"/>
                <a:gd name="T4" fmla="*/ 0 w 204"/>
                <a:gd name="T5" fmla="*/ 26 h 53"/>
                <a:gd name="T6" fmla="*/ 26 w 204"/>
                <a:gd name="T7" fmla="*/ 53 h 53"/>
                <a:gd name="T8" fmla="*/ 177 w 204"/>
                <a:gd name="T9" fmla="*/ 53 h 53"/>
                <a:gd name="T10" fmla="*/ 204 w 204"/>
                <a:gd name="T11" fmla="*/ 26 h 53"/>
                <a:gd name="T12" fmla="*/ 177 w 204"/>
                <a:gd name="T13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53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41"/>
                    <a:pt x="12" y="53"/>
                    <a:pt x="26" y="53"/>
                  </a:cubicBezTo>
                  <a:cubicBezTo>
                    <a:pt x="177" y="53"/>
                    <a:pt x="177" y="53"/>
                    <a:pt x="177" y="53"/>
                  </a:cubicBezTo>
                  <a:cubicBezTo>
                    <a:pt x="192" y="53"/>
                    <a:pt x="204" y="41"/>
                    <a:pt x="204" y="26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  <p:sp>
          <p:nvSpPr>
            <p:cNvPr id="24" name="Freeform 96">
              <a:extLst>
                <a:ext uri="{FF2B5EF4-FFF2-40B4-BE49-F238E27FC236}">
                  <a16:creationId xmlns:a16="http://schemas.microsoft.com/office/drawing/2014/main" id="{EA006F3C-E7AC-EA42-88CE-748F406CF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2002" y="3336419"/>
              <a:ext cx="203371" cy="54007"/>
            </a:xfrm>
            <a:custGeom>
              <a:avLst/>
              <a:gdLst>
                <a:gd name="T0" fmla="*/ 177 w 204"/>
                <a:gd name="T1" fmla="*/ 0 h 54"/>
                <a:gd name="T2" fmla="*/ 26 w 204"/>
                <a:gd name="T3" fmla="*/ 0 h 54"/>
                <a:gd name="T4" fmla="*/ 0 w 204"/>
                <a:gd name="T5" fmla="*/ 27 h 54"/>
                <a:gd name="T6" fmla="*/ 26 w 204"/>
                <a:gd name="T7" fmla="*/ 54 h 54"/>
                <a:gd name="T8" fmla="*/ 177 w 204"/>
                <a:gd name="T9" fmla="*/ 54 h 54"/>
                <a:gd name="T10" fmla="*/ 204 w 204"/>
                <a:gd name="T11" fmla="*/ 27 h 54"/>
                <a:gd name="T12" fmla="*/ 177 w 204"/>
                <a:gd name="T1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  <p:sp>
          <p:nvSpPr>
            <p:cNvPr id="25" name="Freeform 97">
              <a:extLst>
                <a:ext uri="{FF2B5EF4-FFF2-40B4-BE49-F238E27FC236}">
                  <a16:creationId xmlns:a16="http://schemas.microsoft.com/office/drawing/2014/main" id="{FC5814E0-20F4-1041-BF47-1B89A0F65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7866" y="3390427"/>
              <a:ext cx="131643" cy="34598"/>
            </a:xfrm>
            <a:custGeom>
              <a:avLst/>
              <a:gdLst>
                <a:gd name="T0" fmla="*/ 0 w 132"/>
                <a:gd name="T1" fmla="*/ 0 h 35"/>
                <a:gd name="T2" fmla="*/ 66 w 132"/>
                <a:gd name="T3" fmla="*/ 35 h 35"/>
                <a:gd name="T4" fmla="*/ 132 w 132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" h="35">
                  <a:moveTo>
                    <a:pt x="0" y="0"/>
                  </a:moveTo>
                  <a:cubicBezTo>
                    <a:pt x="0" y="19"/>
                    <a:pt x="29" y="35"/>
                    <a:pt x="66" y="35"/>
                  </a:cubicBezTo>
                  <a:cubicBezTo>
                    <a:pt x="102" y="35"/>
                    <a:pt x="132" y="19"/>
                    <a:pt x="132" y="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  <p:sp>
          <p:nvSpPr>
            <p:cNvPr id="26" name="Freeform 98">
              <a:extLst>
                <a:ext uri="{FF2B5EF4-FFF2-40B4-BE49-F238E27FC236}">
                  <a16:creationId xmlns:a16="http://schemas.microsoft.com/office/drawing/2014/main" id="{83E32DA5-FCF5-4B48-985D-6FD9DDDDA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1329" y="2691707"/>
              <a:ext cx="444716" cy="537964"/>
            </a:xfrm>
            <a:custGeom>
              <a:avLst/>
              <a:gdLst>
                <a:gd name="T0" fmla="*/ 223 w 446"/>
                <a:gd name="T1" fmla="*/ 0 h 540"/>
                <a:gd name="T2" fmla="*/ 0 w 446"/>
                <a:gd name="T3" fmla="*/ 223 h 540"/>
                <a:gd name="T4" fmla="*/ 62 w 446"/>
                <a:gd name="T5" fmla="*/ 379 h 540"/>
                <a:gd name="T6" fmla="*/ 94 w 446"/>
                <a:gd name="T7" fmla="*/ 440 h 540"/>
                <a:gd name="T8" fmla="*/ 94 w 446"/>
                <a:gd name="T9" fmla="*/ 484 h 540"/>
                <a:gd name="T10" fmla="*/ 150 w 446"/>
                <a:gd name="T11" fmla="*/ 540 h 540"/>
                <a:gd name="T12" fmla="*/ 296 w 446"/>
                <a:gd name="T13" fmla="*/ 540 h 540"/>
                <a:gd name="T14" fmla="*/ 352 w 446"/>
                <a:gd name="T15" fmla="*/ 484 h 540"/>
                <a:gd name="T16" fmla="*/ 352 w 446"/>
                <a:gd name="T17" fmla="*/ 440 h 540"/>
                <a:gd name="T18" fmla="*/ 383 w 446"/>
                <a:gd name="T19" fmla="*/ 379 h 540"/>
                <a:gd name="T20" fmla="*/ 446 w 446"/>
                <a:gd name="T21" fmla="*/ 223 h 540"/>
                <a:gd name="T22" fmla="*/ 223 w 446"/>
                <a:gd name="T23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46" h="540">
                  <a:moveTo>
                    <a:pt x="223" y="0"/>
                  </a:moveTo>
                  <a:cubicBezTo>
                    <a:pt x="99" y="0"/>
                    <a:pt x="0" y="100"/>
                    <a:pt x="0" y="223"/>
                  </a:cubicBezTo>
                  <a:cubicBezTo>
                    <a:pt x="0" y="284"/>
                    <a:pt x="22" y="339"/>
                    <a:pt x="62" y="379"/>
                  </a:cubicBezTo>
                  <a:cubicBezTo>
                    <a:pt x="83" y="399"/>
                    <a:pt x="94" y="415"/>
                    <a:pt x="94" y="440"/>
                  </a:cubicBezTo>
                  <a:cubicBezTo>
                    <a:pt x="94" y="466"/>
                    <a:pt x="94" y="484"/>
                    <a:pt x="94" y="484"/>
                  </a:cubicBezTo>
                  <a:cubicBezTo>
                    <a:pt x="94" y="515"/>
                    <a:pt x="119" y="540"/>
                    <a:pt x="150" y="540"/>
                  </a:cubicBezTo>
                  <a:cubicBezTo>
                    <a:pt x="296" y="540"/>
                    <a:pt x="296" y="540"/>
                    <a:pt x="296" y="540"/>
                  </a:cubicBezTo>
                  <a:cubicBezTo>
                    <a:pt x="327" y="540"/>
                    <a:pt x="352" y="515"/>
                    <a:pt x="352" y="484"/>
                  </a:cubicBezTo>
                  <a:cubicBezTo>
                    <a:pt x="352" y="484"/>
                    <a:pt x="352" y="466"/>
                    <a:pt x="352" y="440"/>
                  </a:cubicBezTo>
                  <a:cubicBezTo>
                    <a:pt x="352" y="415"/>
                    <a:pt x="362" y="399"/>
                    <a:pt x="383" y="379"/>
                  </a:cubicBezTo>
                  <a:cubicBezTo>
                    <a:pt x="423" y="339"/>
                    <a:pt x="446" y="284"/>
                    <a:pt x="446" y="223"/>
                  </a:cubicBezTo>
                  <a:cubicBezTo>
                    <a:pt x="446" y="100"/>
                    <a:pt x="347" y="0"/>
                    <a:pt x="223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  <p:sp>
          <p:nvSpPr>
            <p:cNvPr id="27" name="Freeform 99">
              <a:extLst>
                <a:ext uri="{FF2B5EF4-FFF2-40B4-BE49-F238E27FC236}">
                  <a16:creationId xmlns:a16="http://schemas.microsoft.com/office/drawing/2014/main" id="{8BAD59FE-8B52-A140-8A8A-945812676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2002" y="3229670"/>
              <a:ext cx="203371" cy="54007"/>
            </a:xfrm>
            <a:custGeom>
              <a:avLst/>
              <a:gdLst>
                <a:gd name="T0" fmla="*/ 177 w 204"/>
                <a:gd name="T1" fmla="*/ 0 h 54"/>
                <a:gd name="T2" fmla="*/ 26 w 204"/>
                <a:gd name="T3" fmla="*/ 0 h 54"/>
                <a:gd name="T4" fmla="*/ 0 w 204"/>
                <a:gd name="T5" fmla="*/ 27 h 54"/>
                <a:gd name="T6" fmla="*/ 26 w 204"/>
                <a:gd name="T7" fmla="*/ 54 h 54"/>
                <a:gd name="T8" fmla="*/ 177 w 204"/>
                <a:gd name="T9" fmla="*/ 54 h 54"/>
                <a:gd name="T10" fmla="*/ 204 w 204"/>
                <a:gd name="T11" fmla="*/ 27 h 54"/>
                <a:gd name="T12" fmla="*/ 177 w 204"/>
                <a:gd name="T1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</p:grpSp>
    </p:spTree>
    <p:extLst>
      <p:ext uri="{BB962C8B-B14F-4D97-AF65-F5344CB8AC3E}">
        <p14:creationId xmlns:p14="http://schemas.microsoft.com/office/powerpoint/2010/main" val="199283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853E2CC-2C26-F540-8640-FF6D1552F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0" y="533400"/>
            <a:ext cx="13258800" cy="7318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F67F97C-A72A-428A-8133-2979F5569C6F}"/>
              </a:ext>
            </a:extLst>
          </p:cNvPr>
          <p:cNvSpPr/>
          <p:nvPr userDrawn="1"/>
        </p:nvSpPr>
        <p:spPr>
          <a:xfrm>
            <a:off x="6727296" y="2843704"/>
            <a:ext cx="2895600" cy="2895600"/>
          </a:xfrm>
          <a:prstGeom prst="ellipse">
            <a:avLst/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C570AD4B-AB63-414A-97BB-661BEAD3C576}"/>
              </a:ext>
            </a:extLst>
          </p:cNvPr>
          <p:cNvSpPr>
            <a:spLocks noChangeAspect="1"/>
          </p:cNvSpPr>
          <p:nvPr userDrawn="1"/>
        </p:nvSpPr>
        <p:spPr>
          <a:xfrm>
            <a:off x="6591096" y="2707504"/>
            <a:ext cx="3168000" cy="316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CAC10B4B-FF17-4470-87DF-25A6BE478266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6663096" y="2779504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C615F22-04F5-484B-A0DD-702A5ECB42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80200" y="3902085"/>
            <a:ext cx="2895600" cy="730229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58EC2C-D990-4075-AC06-2A2C1EC7FB37}"/>
              </a:ext>
            </a:extLst>
          </p:cNvPr>
          <p:cNvSpPr/>
          <p:nvPr userDrawn="1"/>
        </p:nvSpPr>
        <p:spPr>
          <a:xfrm>
            <a:off x="2601304" y="2843704"/>
            <a:ext cx="2895600" cy="2895600"/>
          </a:xfrm>
          <a:prstGeom prst="ellipse">
            <a:avLst/>
          </a:prstGeom>
          <a:solidFill>
            <a:srgbClr val="00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3FB9D7BD-01C9-49A0-B9E7-9176D08F65E9}"/>
              </a:ext>
            </a:extLst>
          </p:cNvPr>
          <p:cNvSpPr>
            <a:spLocks noChangeAspect="1"/>
          </p:cNvSpPr>
          <p:nvPr userDrawn="1"/>
        </p:nvSpPr>
        <p:spPr>
          <a:xfrm>
            <a:off x="2465104" y="2707504"/>
            <a:ext cx="3168000" cy="316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95CDE023-0207-4565-8240-3E3E8C318F71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2537104" y="2779504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E64EF43-46E5-4593-9DF0-D2905B11E8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54208" y="3902085"/>
            <a:ext cx="2895600" cy="730229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B10E84B-B04E-4A8B-9910-7D156DDE180E}"/>
              </a:ext>
            </a:extLst>
          </p:cNvPr>
          <p:cNvSpPr/>
          <p:nvPr userDrawn="1"/>
        </p:nvSpPr>
        <p:spPr>
          <a:xfrm>
            <a:off x="10870122" y="2843704"/>
            <a:ext cx="2895600" cy="28956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87FB81FB-73A6-46A9-B4DB-7DDB7DF80406}"/>
              </a:ext>
            </a:extLst>
          </p:cNvPr>
          <p:cNvSpPr>
            <a:spLocks noChangeAspect="1"/>
          </p:cNvSpPr>
          <p:nvPr userDrawn="1"/>
        </p:nvSpPr>
        <p:spPr>
          <a:xfrm>
            <a:off x="10733922" y="2707504"/>
            <a:ext cx="3168000" cy="316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24716145-CB6B-4F92-B60C-B82075AB5ABC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10805922" y="2779504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558EFD17-63B5-4907-8BBB-8273142813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23026" y="3902085"/>
            <a:ext cx="2895600" cy="730229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</p:spTree>
    <p:extLst>
      <p:ext uri="{BB962C8B-B14F-4D97-AF65-F5344CB8AC3E}">
        <p14:creationId xmlns:p14="http://schemas.microsoft.com/office/powerpoint/2010/main" val="1515111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287B71-4C69-1C46-AAA6-597F94A7769B}"/>
              </a:ext>
            </a:extLst>
          </p:cNvPr>
          <p:cNvSpPr/>
          <p:nvPr userDrawn="1"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BC6E9F5-F5CB-194A-BF85-D16A2B7045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38400" cy="9144000"/>
          </a:xfrm>
          <a:prstGeom prst="rect">
            <a:avLst/>
          </a:prstGeom>
        </p:spPr>
      </p:pic>
      <p:sp>
        <p:nvSpPr>
          <p:cNvPr id="17" name="object 19">
            <a:extLst>
              <a:ext uri="{FF2B5EF4-FFF2-40B4-BE49-F238E27FC236}">
                <a16:creationId xmlns:a16="http://schemas.microsoft.com/office/drawing/2014/main" id="{65BC19DC-E626-8845-B117-846196BEDFC0}"/>
              </a:ext>
            </a:extLst>
          </p:cNvPr>
          <p:cNvSpPr txBox="1"/>
          <p:nvPr userDrawn="1"/>
        </p:nvSpPr>
        <p:spPr>
          <a:xfrm>
            <a:off x="720000" y="8565510"/>
            <a:ext cx="40576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1200" spc="-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1200" spc="-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1200" spc="-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12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DFE9A53-89C2-AE46-BE73-2993E7A8D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609600"/>
            <a:ext cx="7315200" cy="7318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8BA6B30-8888-6448-A04F-408ECD665B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951037"/>
            <a:ext cx="74080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8BC1A59-366D-EE4A-83E8-B7D7141F4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8600" y="808037"/>
            <a:ext cx="67818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8A63FA-5D1B-5644-BF11-1605EEBC977C}"/>
              </a:ext>
            </a:extLst>
          </p:cNvPr>
          <p:cNvSpPr/>
          <p:nvPr userDrawn="1"/>
        </p:nvSpPr>
        <p:spPr>
          <a:xfrm>
            <a:off x="15367000" y="8382000"/>
            <a:ext cx="609600" cy="6096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Holder 5">
            <a:extLst>
              <a:ext uri="{FF2B5EF4-FFF2-40B4-BE49-F238E27FC236}">
                <a16:creationId xmlns:a16="http://schemas.microsoft.com/office/drawing/2014/main" id="{AD40C997-F355-1F46-893F-3E3DF4345B26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E3740A6-22FE-4E69-A4E0-A329F31E571F}"/>
              </a:ext>
            </a:extLst>
          </p:cNvPr>
          <p:cNvGrpSpPr/>
          <p:nvPr userDrawn="1"/>
        </p:nvGrpSpPr>
        <p:grpSpPr>
          <a:xfrm>
            <a:off x="7899400" y="966535"/>
            <a:ext cx="1276632" cy="8177465"/>
            <a:chOff x="8146768" y="966535"/>
            <a:chExt cx="1276632" cy="8177465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33341255-1B94-454E-8ACA-055686EB0D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46768" y="990599"/>
              <a:ext cx="1276632" cy="8153401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B2D8D35-52B7-44D5-9E6A-7F525E2CC3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30818" y="966535"/>
              <a:ext cx="215819" cy="216000"/>
            </a:xfrm>
            <a:prstGeom prst="ellipse">
              <a:avLst/>
            </a:prstGeom>
            <a:solidFill>
              <a:srgbClr val="F68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44895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FA470-02E7-F44D-A795-D036827C2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1828800"/>
            <a:ext cx="5243512" cy="1427162"/>
          </a:xfrm>
        </p:spPr>
        <p:txBody>
          <a:bodyPr anchor="ctr"/>
          <a:lstStyle>
            <a:lvl1pPr>
              <a:defRPr sz="3200"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F3372-B4B6-E247-AED1-5903A2B5A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200" y="1828800"/>
            <a:ext cx="8229600" cy="64992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D653B-64FA-934B-AFE8-BC50A6D3A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70000" y="3255962"/>
            <a:ext cx="5243512" cy="508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6D78929-A738-074F-A775-B2146D0F2DC5}"/>
              </a:ext>
            </a:extLst>
          </p:cNvPr>
          <p:cNvSpPr txBox="1">
            <a:spLocks/>
          </p:cNvSpPr>
          <p:nvPr userDrawn="1"/>
        </p:nvSpPr>
        <p:spPr>
          <a:xfrm>
            <a:off x="2184400" y="596901"/>
            <a:ext cx="131826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0056A4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015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6486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8E7164-56BE-E145-8380-A6FFF91133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2" name="object 19">
            <a:extLst>
              <a:ext uri="{FF2B5EF4-FFF2-40B4-BE49-F238E27FC236}">
                <a16:creationId xmlns:a16="http://schemas.microsoft.com/office/drawing/2014/main" id="{1909E3CD-9BCF-FC4C-AD79-FA88411AA601}"/>
              </a:ext>
            </a:extLst>
          </p:cNvPr>
          <p:cNvSpPr txBox="1"/>
          <p:nvPr userDrawn="1"/>
        </p:nvSpPr>
        <p:spPr>
          <a:xfrm>
            <a:off x="720000" y="8641710"/>
            <a:ext cx="40576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1200" spc="-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1200" spc="-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1200" spc="-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12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CAB7C9-1C76-6040-8865-2D2DA39E7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1800" y="3733800"/>
            <a:ext cx="6388100" cy="1676400"/>
          </a:xfrm>
        </p:spPr>
        <p:txBody>
          <a:bodyPr>
            <a:no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264B56-427D-DD40-BC53-1F09257124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14" b="23925"/>
          <a:stretch/>
        </p:blipFill>
        <p:spPr>
          <a:xfrm>
            <a:off x="12198021" y="510848"/>
            <a:ext cx="3526348" cy="116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2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8E7164-56BE-E145-8380-A6FFF91133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2" name="object 19">
            <a:extLst>
              <a:ext uri="{FF2B5EF4-FFF2-40B4-BE49-F238E27FC236}">
                <a16:creationId xmlns:a16="http://schemas.microsoft.com/office/drawing/2014/main" id="{1909E3CD-9BCF-FC4C-AD79-FA88411AA601}"/>
              </a:ext>
            </a:extLst>
          </p:cNvPr>
          <p:cNvSpPr txBox="1"/>
          <p:nvPr userDrawn="1"/>
        </p:nvSpPr>
        <p:spPr>
          <a:xfrm>
            <a:off x="11557000" y="8458200"/>
            <a:ext cx="40576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CAB7C9-1C76-6040-8865-2D2DA39E7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0" y="3962400"/>
            <a:ext cx="6388100" cy="1676400"/>
          </a:xfrm>
        </p:spPr>
        <p:txBody>
          <a:bodyPr>
            <a:noAutofit/>
          </a:bodyPr>
          <a:lstStyle>
            <a:lvl1pPr algn="l">
              <a:defRPr sz="5400"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6733FB-006C-C346-9438-58C1D83824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6600" y="564912"/>
            <a:ext cx="3568700" cy="959088"/>
          </a:xfrm>
          <a:prstGeom prst="rect">
            <a:avLst/>
          </a:prstGeom>
        </p:spPr>
      </p:pic>
      <p:sp>
        <p:nvSpPr>
          <p:cNvPr id="9" name="Freeform 8">
            <a:hlinkClick r:id="rId4"/>
            <a:extLst>
              <a:ext uri="{FF2B5EF4-FFF2-40B4-BE49-F238E27FC236}">
                <a16:creationId xmlns:a16="http://schemas.microsoft.com/office/drawing/2014/main" id="{21374C47-3DF0-A141-86AA-FA24EEE8217F}"/>
              </a:ext>
            </a:extLst>
          </p:cNvPr>
          <p:cNvSpPr>
            <a:spLocks/>
          </p:cNvSpPr>
          <p:nvPr userDrawn="1"/>
        </p:nvSpPr>
        <p:spPr bwMode="auto">
          <a:xfrm>
            <a:off x="10985939" y="5743705"/>
            <a:ext cx="435304" cy="355877"/>
          </a:xfrm>
          <a:custGeom>
            <a:avLst/>
            <a:gdLst>
              <a:gd name="T0" fmla="*/ 18 w 422"/>
              <a:gd name="T1" fmla="*/ 307 h 345"/>
              <a:gd name="T2" fmla="*/ 68 w 422"/>
              <a:gd name="T3" fmla="*/ 301 h 345"/>
              <a:gd name="T4" fmla="*/ 112 w 422"/>
              <a:gd name="T5" fmla="*/ 281 h 345"/>
              <a:gd name="T6" fmla="*/ 112 w 422"/>
              <a:gd name="T7" fmla="*/ 269 h 345"/>
              <a:gd name="T8" fmla="*/ 78 w 422"/>
              <a:gd name="T9" fmla="*/ 253 h 345"/>
              <a:gd name="T10" fmla="*/ 52 w 422"/>
              <a:gd name="T11" fmla="*/ 223 h 345"/>
              <a:gd name="T12" fmla="*/ 66 w 422"/>
              <a:gd name="T13" fmla="*/ 211 h 345"/>
              <a:gd name="T14" fmla="*/ 86 w 422"/>
              <a:gd name="T15" fmla="*/ 209 h 345"/>
              <a:gd name="T16" fmla="*/ 46 w 422"/>
              <a:gd name="T17" fmla="*/ 189 h 345"/>
              <a:gd name="T18" fmla="*/ 26 w 422"/>
              <a:gd name="T19" fmla="*/ 164 h 345"/>
              <a:gd name="T20" fmla="*/ 16 w 422"/>
              <a:gd name="T21" fmla="*/ 122 h 345"/>
              <a:gd name="T22" fmla="*/ 44 w 422"/>
              <a:gd name="T23" fmla="*/ 132 h 345"/>
              <a:gd name="T24" fmla="*/ 42 w 422"/>
              <a:gd name="T25" fmla="*/ 122 h 345"/>
              <a:gd name="T26" fmla="*/ 20 w 422"/>
              <a:gd name="T27" fmla="*/ 80 h 345"/>
              <a:gd name="T28" fmla="*/ 18 w 422"/>
              <a:gd name="T29" fmla="*/ 48 h 345"/>
              <a:gd name="T30" fmla="*/ 28 w 422"/>
              <a:gd name="T31" fmla="*/ 16 h 345"/>
              <a:gd name="T32" fmla="*/ 86 w 422"/>
              <a:gd name="T33" fmla="*/ 68 h 345"/>
              <a:gd name="T34" fmla="*/ 156 w 422"/>
              <a:gd name="T35" fmla="*/ 98 h 345"/>
              <a:gd name="T36" fmla="*/ 208 w 422"/>
              <a:gd name="T37" fmla="*/ 108 h 345"/>
              <a:gd name="T38" fmla="*/ 206 w 422"/>
              <a:gd name="T39" fmla="*/ 78 h 345"/>
              <a:gd name="T40" fmla="*/ 220 w 422"/>
              <a:gd name="T41" fmla="*/ 40 h 345"/>
              <a:gd name="T42" fmla="*/ 236 w 422"/>
              <a:gd name="T43" fmla="*/ 20 h 345"/>
              <a:gd name="T44" fmla="*/ 268 w 422"/>
              <a:gd name="T45" fmla="*/ 4 h 345"/>
              <a:gd name="T46" fmla="*/ 304 w 422"/>
              <a:gd name="T47" fmla="*/ 2 h 345"/>
              <a:gd name="T48" fmla="*/ 330 w 422"/>
              <a:gd name="T49" fmla="*/ 10 h 345"/>
              <a:gd name="T50" fmla="*/ 352 w 422"/>
              <a:gd name="T51" fmla="*/ 26 h 345"/>
              <a:gd name="T52" fmla="*/ 360 w 422"/>
              <a:gd name="T53" fmla="*/ 28 h 345"/>
              <a:gd name="T54" fmla="*/ 406 w 422"/>
              <a:gd name="T55" fmla="*/ 10 h 345"/>
              <a:gd name="T56" fmla="*/ 404 w 422"/>
              <a:gd name="T57" fmla="*/ 22 h 345"/>
              <a:gd name="T58" fmla="*/ 386 w 422"/>
              <a:gd name="T59" fmla="*/ 46 h 345"/>
              <a:gd name="T60" fmla="*/ 398 w 422"/>
              <a:gd name="T61" fmla="*/ 50 h 345"/>
              <a:gd name="T62" fmla="*/ 422 w 422"/>
              <a:gd name="T63" fmla="*/ 44 h 345"/>
              <a:gd name="T64" fmla="*/ 400 w 422"/>
              <a:gd name="T65" fmla="*/ 68 h 345"/>
              <a:gd name="T66" fmla="*/ 380 w 422"/>
              <a:gd name="T67" fmla="*/ 90 h 345"/>
              <a:gd name="T68" fmla="*/ 372 w 422"/>
              <a:gd name="T69" fmla="*/ 154 h 345"/>
              <a:gd name="T70" fmla="*/ 350 w 422"/>
              <a:gd name="T71" fmla="*/ 215 h 345"/>
              <a:gd name="T72" fmla="*/ 314 w 422"/>
              <a:gd name="T73" fmla="*/ 267 h 345"/>
              <a:gd name="T74" fmla="*/ 268 w 422"/>
              <a:gd name="T75" fmla="*/ 307 h 345"/>
              <a:gd name="T76" fmla="*/ 232 w 422"/>
              <a:gd name="T77" fmla="*/ 327 h 345"/>
              <a:gd name="T78" fmla="*/ 150 w 422"/>
              <a:gd name="T79" fmla="*/ 345 h 345"/>
              <a:gd name="T80" fmla="*/ 98 w 422"/>
              <a:gd name="T81" fmla="*/ 343 h 345"/>
              <a:gd name="T82" fmla="*/ 30 w 422"/>
              <a:gd name="T83" fmla="*/ 323 h 345"/>
              <a:gd name="T84" fmla="*/ 0 w 422"/>
              <a:gd name="T85" fmla="*/ 309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422" h="345">
                <a:moveTo>
                  <a:pt x="0" y="307"/>
                </a:moveTo>
                <a:lnTo>
                  <a:pt x="0" y="307"/>
                </a:lnTo>
                <a:lnTo>
                  <a:pt x="18" y="307"/>
                </a:lnTo>
                <a:lnTo>
                  <a:pt x="34" y="307"/>
                </a:lnTo>
                <a:lnTo>
                  <a:pt x="52" y="305"/>
                </a:lnTo>
                <a:lnTo>
                  <a:pt x="68" y="301"/>
                </a:lnTo>
                <a:lnTo>
                  <a:pt x="82" y="297"/>
                </a:lnTo>
                <a:lnTo>
                  <a:pt x="98" y="289"/>
                </a:lnTo>
                <a:lnTo>
                  <a:pt x="112" y="281"/>
                </a:lnTo>
                <a:lnTo>
                  <a:pt x="128" y="271"/>
                </a:lnTo>
                <a:lnTo>
                  <a:pt x="128" y="271"/>
                </a:lnTo>
                <a:lnTo>
                  <a:pt x="112" y="269"/>
                </a:lnTo>
                <a:lnTo>
                  <a:pt x="100" y="265"/>
                </a:lnTo>
                <a:lnTo>
                  <a:pt x="88" y="261"/>
                </a:lnTo>
                <a:lnTo>
                  <a:pt x="78" y="253"/>
                </a:lnTo>
                <a:lnTo>
                  <a:pt x="68" y="245"/>
                </a:lnTo>
                <a:lnTo>
                  <a:pt x="60" y="235"/>
                </a:lnTo>
                <a:lnTo>
                  <a:pt x="52" y="223"/>
                </a:lnTo>
                <a:lnTo>
                  <a:pt x="46" y="211"/>
                </a:lnTo>
                <a:lnTo>
                  <a:pt x="46" y="211"/>
                </a:lnTo>
                <a:lnTo>
                  <a:pt x="66" y="211"/>
                </a:lnTo>
                <a:lnTo>
                  <a:pt x="76" y="211"/>
                </a:lnTo>
                <a:lnTo>
                  <a:pt x="86" y="209"/>
                </a:lnTo>
                <a:lnTo>
                  <a:pt x="86" y="209"/>
                </a:lnTo>
                <a:lnTo>
                  <a:pt x="70" y="205"/>
                </a:lnTo>
                <a:lnTo>
                  <a:pt x="58" y="197"/>
                </a:lnTo>
                <a:lnTo>
                  <a:pt x="46" y="189"/>
                </a:lnTo>
                <a:lnTo>
                  <a:pt x="36" y="178"/>
                </a:lnTo>
                <a:lnTo>
                  <a:pt x="36" y="178"/>
                </a:lnTo>
                <a:lnTo>
                  <a:pt x="26" y="164"/>
                </a:lnTo>
                <a:lnTo>
                  <a:pt x="20" y="152"/>
                </a:lnTo>
                <a:lnTo>
                  <a:pt x="18" y="138"/>
                </a:lnTo>
                <a:lnTo>
                  <a:pt x="16" y="122"/>
                </a:lnTo>
                <a:lnTo>
                  <a:pt x="16" y="122"/>
                </a:lnTo>
                <a:lnTo>
                  <a:pt x="34" y="130"/>
                </a:lnTo>
                <a:lnTo>
                  <a:pt x="44" y="132"/>
                </a:lnTo>
                <a:lnTo>
                  <a:pt x="56" y="132"/>
                </a:lnTo>
                <a:lnTo>
                  <a:pt x="56" y="132"/>
                </a:lnTo>
                <a:lnTo>
                  <a:pt x="42" y="122"/>
                </a:lnTo>
                <a:lnTo>
                  <a:pt x="32" y="110"/>
                </a:lnTo>
                <a:lnTo>
                  <a:pt x="24" y="96"/>
                </a:lnTo>
                <a:lnTo>
                  <a:pt x="20" y="80"/>
                </a:lnTo>
                <a:lnTo>
                  <a:pt x="20" y="80"/>
                </a:lnTo>
                <a:lnTo>
                  <a:pt x="16" y="64"/>
                </a:lnTo>
                <a:lnTo>
                  <a:pt x="18" y="48"/>
                </a:lnTo>
                <a:lnTo>
                  <a:pt x="22" y="32"/>
                </a:lnTo>
                <a:lnTo>
                  <a:pt x="28" y="16"/>
                </a:lnTo>
                <a:lnTo>
                  <a:pt x="28" y="16"/>
                </a:lnTo>
                <a:lnTo>
                  <a:pt x="46" y="36"/>
                </a:lnTo>
                <a:lnTo>
                  <a:pt x="66" y="54"/>
                </a:lnTo>
                <a:lnTo>
                  <a:pt x="86" y="68"/>
                </a:lnTo>
                <a:lnTo>
                  <a:pt x="108" y="82"/>
                </a:lnTo>
                <a:lnTo>
                  <a:pt x="132" y="92"/>
                </a:lnTo>
                <a:lnTo>
                  <a:pt x="156" y="98"/>
                </a:lnTo>
                <a:lnTo>
                  <a:pt x="180" y="104"/>
                </a:lnTo>
                <a:lnTo>
                  <a:pt x="208" y="108"/>
                </a:lnTo>
                <a:lnTo>
                  <a:pt x="208" y="108"/>
                </a:lnTo>
                <a:lnTo>
                  <a:pt x="206" y="92"/>
                </a:lnTo>
                <a:lnTo>
                  <a:pt x="206" y="92"/>
                </a:lnTo>
                <a:lnTo>
                  <a:pt x="206" y="78"/>
                </a:lnTo>
                <a:lnTo>
                  <a:pt x="208" y="64"/>
                </a:lnTo>
                <a:lnTo>
                  <a:pt x="214" y="52"/>
                </a:lnTo>
                <a:lnTo>
                  <a:pt x="220" y="40"/>
                </a:lnTo>
                <a:lnTo>
                  <a:pt x="220" y="40"/>
                </a:lnTo>
                <a:lnTo>
                  <a:pt x="228" y="30"/>
                </a:lnTo>
                <a:lnTo>
                  <a:pt x="236" y="20"/>
                </a:lnTo>
                <a:lnTo>
                  <a:pt x="246" y="14"/>
                </a:lnTo>
                <a:lnTo>
                  <a:pt x="256" y="8"/>
                </a:lnTo>
                <a:lnTo>
                  <a:pt x="268" y="4"/>
                </a:lnTo>
                <a:lnTo>
                  <a:pt x="278" y="2"/>
                </a:lnTo>
                <a:lnTo>
                  <a:pt x="290" y="0"/>
                </a:lnTo>
                <a:lnTo>
                  <a:pt x="304" y="2"/>
                </a:lnTo>
                <a:lnTo>
                  <a:pt x="304" y="2"/>
                </a:lnTo>
                <a:lnTo>
                  <a:pt x="318" y="4"/>
                </a:lnTo>
                <a:lnTo>
                  <a:pt x="330" y="10"/>
                </a:lnTo>
                <a:lnTo>
                  <a:pt x="342" y="16"/>
                </a:lnTo>
                <a:lnTo>
                  <a:pt x="352" y="26"/>
                </a:lnTo>
                <a:lnTo>
                  <a:pt x="352" y="26"/>
                </a:lnTo>
                <a:lnTo>
                  <a:pt x="356" y="28"/>
                </a:lnTo>
                <a:lnTo>
                  <a:pt x="360" y="28"/>
                </a:lnTo>
                <a:lnTo>
                  <a:pt x="360" y="28"/>
                </a:lnTo>
                <a:lnTo>
                  <a:pt x="384" y="20"/>
                </a:lnTo>
                <a:lnTo>
                  <a:pt x="406" y="10"/>
                </a:lnTo>
                <a:lnTo>
                  <a:pt x="406" y="10"/>
                </a:lnTo>
                <a:lnTo>
                  <a:pt x="410" y="8"/>
                </a:lnTo>
                <a:lnTo>
                  <a:pt x="410" y="8"/>
                </a:lnTo>
                <a:lnTo>
                  <a:pt x="404" y="22"/>
                </a:lnTo>
                <a:lnTo>
                  <a:pt x="396" y="34"/>
                </a:lnTo>
                <a:lnTo>
                  <a:pt x="396" y="34"/>
                </a:lnTo>
                <a:lnTo>
                  <a:pt x="386" y="46"/>
                </a:lnTo>
                <a:lnTo>
                  <a:pt x="374" y="54"/>
                </a:lnTo>
                <a:lnTo>
                  <a:pt x="374" y="54"/>
                </a:lnTo>
                <a:lnTo>
                  <a:pt x="398" y="50"/>
                </a:lnTo>
                <a:lnTo>
                  <a:pt x="422" y="42"/>
                </a:lnTo>
                <a:lnTo>
                  <a:pt x="422" y="42"/>
                </a:lnTo>
                <a:lnTo>
                  <a:pt x="422" y="44"/>
                </a:lnTo>
                <a:lnTo>
                  <a:pt x="422" y="44"/>
                </a:lnTo>
                <a:lnTo>
                  <a:pt x="400" y="68"/>
                </a:lnTo>
                <a:lnTo>
                  <a:pt x="400" y="68"/>
                </a:lnTo>
                <a:lnTo>
                  <a:pt x="382" y="84"/>
                </a:lnTo>
                <a:lnTo>
                  <a:pt x="382" y="84"/>
                </a:lnTo>
                <a:lnTo>
                  <a:pt x="380" y="90"/>
                </a:lnTo>
                <a:lnTo>
                  <a:pt x="380" y="90"/>
                </a:lnTo>
                <a:lnTo>
                  <a:pt x="378" y="122"/>
                </a:lnTo>
                <a:lnTo>
                  <a:pt x="372" y="154"/>
                </a:lnTo>
                <a:lnTo>
                  <a:pt x="364" y="185"/>
                </a:lnTo>
                <a:lnTo>
                  <a:pt x="350" y="215"/>
                </a:lnTo>
                <a:lnTo>
                  <a:pt x="350" y="215"/>
                </a:lnTo>
                <a:lnTo>
                  <a:pt x="340" y="233"/>
                </a:lnTo>
                <a:lnTo>
                  <a:pt x="328" y="251"/>
                </a:lnTo>
                <a:lnTo>
                  <a:pt x="314" y="267"/>
                </a:lnTo>
                <a:lnTo>
                  <a:pt x="300" y="281"/>
                </a:lnTo>
                <a:lnTo>
                  <a:pt x="286" y="295"/>
                </a:lnTo>
                <a:lnTo>
                  <a:pt x="268" y="307"/>
                </a:lnTo>
                <a:lnTo>
                  <a:pt x="252" y="317"/>
                </a:lnTo>
                <a:lnTo>
                  <a:pt x="232" y="327"/>
                </a:lnTo>
                <a:lnTo>
                  <a:pt x="232" y="327"/>
                </a:lnTo>
                <a:lnTo>
                  <a:pt x="206" y="335"/>
                </a:lnTo>
                <a:lnTo>
                  <a:pt x="178" y="343"/>
                </a:lnTo>
                <a:lnTo>
                  <a:pt x="150" y="345"/>
                </a:lnTo>
                <a:lnTo>
                  <a:pt x="122" y="345"/>
                </a:lnTo>
                <a:lnTo>
                  <a:pt x="122" y="345"/>
                </a:lnTo>
                <a:lnTo>
                  <a:pt x="98" y="343"/>
                </a:lnTo>
                <a:lnTo>
                  <a:pt x="76" y="339"/>
                </a:lnTo>
                <a:lnTo>
                  <a:pt x="52" y="333"/>
                </a:lnTo>
                <a:lnTo>
                  <a:pt x="30" y="323"/>
                </a:lnTo>
                <a:lnTo>
                  <a:pt x="30" y="323"/>
                </a:lnTo>
                <a:lnTo>
                  <a:pt x="0" y="309"/>
                </a:lnTo>
                <a:lnTo>
                  <a:pt x="0" y="309"/>
                </a:lnTo>
                <a:lnTo>
                  <a:pt x="0" y="307"/>
                </a:lnTo>
                <a:lnTo>
                  <a:pt x="0" y="307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AA1B2A1-44BF-514C-9B61-0217872F1428}"/>
              </a:ext>
            </a:extLst>
          </p:cNvPr>
          <p:cNvGrpSpPr/>
          <p:nvPr userDrawn="1"/>
        </p:nvGrpSpPr>
        <p:grpSpPr>
          <a:xfrm>
            <a:off x="11633200" y="5715000"/>
            <a:ext cx="426580" cy="430518"/>
            <a:chOff x="2652713" y="4170363"/>
            <a:chExt cx="687388" cy="693738"/>
          </a:xfrm>
          <a:solidFill>
            <a:schemeClr val="bg1"/>
          </a:solidFill>
        </p:grpSpPr>
        <p:sp>
          <p:nvSpPr>
            <p:cNvPr id="11" name="Freeform 10">
              <a:hlinkClick r:id="rId5"/>
              <a:extLst>
                <a:ext uri="{FF2B5EF4-FFF2-40B4-BE49-F238E27FC236}">
                  <a16:creationId xmlns:a16="http://schemas.microsoft.com/office/drawing/2014/main" id="{8CA46077-2A23-5A4C-8DC1-E5A970057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2713" y="4170363"/>
              <a:ext cx="687388" cy="693738"/>
            </a:xfrm>
            <a:custGeom>
              <a:avLst/>
              <a:gdLst>
                <a:gd name="T0" fmla="*/ 0 w 433"/>
                <a:gd name="T1" fmla="*/ 233 h 437"/>
                <a:gd name="T2" fmla="*/ 0 w 433"/>
                <a:gd name="T3" fmla="*/ 205 h 437"/>
                <a:gd name="T4" fmla="*/ 0 w 433"/>
                <a:gd name="T5" fmla="*/ 201 h 437"/>
                <a:gd name="T6" fmla="*/ 4 w 433"/>
                <a:gd name="T7" fmla="*/ 168 h 437"/>
                <a:gd name="T8" fmla="*/ 16 w 433"/>
                <a:gd name="T9" fmla="*/ 136 h 437"/>
                <a:gd name="T10" fmla="*/ 28 w 433"/>
                <a:gd name="T11" fmla="*/ 110 h 437"/>
                <a:gd name="T12" fmla="*/ 60 w 433"/>
                <a:gd name="T13" fmla="*/ 66 h 437"/>
                <a:gd name="T14" fmla="*/ 80 w 433"/>
                <a:gd name="T15" fmla="*/ 48 h 437"/>
                <a:gd name="T16" fmla="*/ 130 w 433"/>
                <a:gd name="T17" fmla="*/ 18 h 437"/>
                <a:gd name="T18" fmla="*/ 188 w 433"/>
                <a:gd name="T19" fmla="*/ 2 h 437"/>
                <a:gd name="T20" fmla="*/ 204 w 433"/>
                <a:gd name="T21" fmla="*/ 0 h 437"/>
                <a:gd name="T22" fmla="*/ 230 w 433"/>
                <a:gd name="T23" fmla="*/ 0 h 437"/>
                <a:gd name="T24" fmla="*/ 232 w 433"/>
                <a:gd name="T25" fmla="*/ 2 h 437"/>
                <a:gd name="T26" fmla="*/ 266 w 433"/>
                <a:gd name="T27" fmla="*/ 6 h 437"/>
                <a:gd name="T28" fmla="*/ 292 w 433"/>
                <a:gd name="T29" fmla="*/ 14 h 437"/>
                <a:gd name="T30" fmla="*/ 338 w 433"/>
                <a:gd name="T31" fmla="*/ 38 h 437"/>
                <a:gd name="T32" fmla="*/ 360 w 433"/>
                <a:gd name="T33" fmla="*/ 56 h 437"/>
                <a:gd name="T34" fmla="*/ 400 w 433"/>
                <a:gd name="T35" fmla="*/ 102 h 437"/>
                <a:gd name="T36" fmla="*/ 411 w 433"/>
                <a:gd name="T37" fmla="*/ 122 h 437"/>
                <a:gd name="T38" fmla="*/ 427 w 433"/>
                <a:gd name="T39" fmla="*/ 166 h 437"/>
                <a:gd name="T40" fmla="*/ 431 w 433"/>
                <a:gd name="T41" fmla="*/ 189 h 437"/>
                <a:gd name="T42" fmla="*/ 433 w 433"/>
                <a:gd name="T43" fmla="*/ 205 h 437"/>
                <a:gd name="T44" fmla="*/ 433 w 433"/>
                <a:gd name="T45" fmla="*/ 233 h 437"/>
                <a:gd name="T46" fmla="*/ 431 w 433"/>
                <a:gd name="T47" fmla="*/ 249 h 437"/>
                <a:gd name="T48" fmla="*/ 423 w 433"/>
                <a:gd name="T49" fmla="*/ 285 h 437"/>
                <a:gd name="T50" fmla="*/ 409 w 433"/>
                <a:gd name="T51" fmla="*/ 317 h 437"/>
                <a:gd name="T52" fmla="*/ 396 w 433"/>
                <a:gd name="T53" fmla="*/ 341 h 437"/>
                <a:gd name="T54" fmla="*/ 362 w 433"/>
                <a:gd name="T55" fmla="*/ 379 h 437"/>
                <a:gd name="T56" fmla="*/ 342 w 433"/>
                <a:gd name="T57" fmla="*/ 395 h 437"/>
                <a:gd name="T58" fmla="*/ 296 w 433"/>
                <a:gd name="T59" fmla="*/ 421 h 437"/>
                <a:gd name="T60" fmla="*/ 246 w 433"/>
                <a:gd name="T61" fmla="*/ 435 h 437"/>
                <a:gd name="T62" fmla="*/ 230 w 433"/>
                <a:gd name="T63" fmla="*/ 437 h 437"/>
                <a:gd name="T64" fmla="*/ 204 w 433"/>
                <a:gd name="T65" fmla="*/ 437 h 437"/>
                <a:gd name="T66" fmla="*/ 188 w 433"/>
                <a:gd name="T67" fmla="*/ 435 h 437"/>
                <a:gd name="T68" fmla="*/ 170 w 433"/>
                <a:gd name="T69" fmla="*/ 431 h 437"/>
                <a:gd name="T70" fmla="*/ 134 w 433"/>
                <a:gd name="T71" fmla="*/ 421 h 437"/>
                <a:gd name="T72" fmla="*/ 118 w 433"/>
                <a:gd name="T73" fmla="*/ 413 h 437"/>
                <a:gd name="T74" fmla="*/ 74 w 433"/>
                <a:gd name="T75" fmla="*/ 383 h 437"/>
                <a:gd name="T76" fmla="*/ 40 w 433"/>
                <a:gd name="T77" fmla="*/ 345 h 437"/>
                <a:gd name="T78" fmla="*/ 26 w 433"/>
                <a:gd name="T79" fmla="*/ 323 h 437"/>
                <a:gd name="T80" fmla="*/ 6 w 433"/>
                <a:gd name="T81" fmla="*/ 273 h 437"/>
                <a:gd name="T82" fmla="*/ 2 w 433"/>
                <a:gd name="T83" fmla="*/ 247 h 437"/>
                <a:gd name="T84" fmla="*/ 0 w 433"/>
                <a:gd name="T85" fmla="*/ 233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33" h="437">
                  <a:moveTo>
                    <a:pt x="0" y="233"/>
                  </a:moveTo>
                  <a:lnTo>
                    <a:pt x="0" y="233"/>
                  </a:lnTo>
                  <a:lnTo>
                    <a:pt x="0" y="205"/>
                  </a:lnTo>
                  <a:lnTo>
                    <a:pt x="0" y="205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2" y="185"/>
                  </a:lnTo>
                  <a:lnTo>
                    <a:pt x="4" y="168"/>
                  </a:lnTo>
                  <a:lnTo>
                    <a:pt x="10" y="152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28" y="110"/>
                  </a:lnTo>
                  <a:lnTo>
                    <a:pt x="42" y="88"/>
                  </a:lnTo>
                  <a:lnTo>
                    <a:pt x="60" y="66"/>
                  </a:lnTo>
                  <a:lnTo>
                    <a:pt x="80" y="48"/>
                  </a:lnTo>
                  <a:lnTo>
                    <a:pt x="80" y="48"/>
                  </a:lnTo>
                  <a:lnTo>
                    <a:pt x="104" y="32"/>
                  </a:lnTo>
                  <a:lnTo>
                    <a:pt x="130" y="18"/>
                  </a:lnTo>
                  <a:lnTo>
                    <a:pt x="158" y="8"/>
                  </a:lnTo>
                  <a:lnTo>
                    <a:pt x="188" y="2"/>
                  </a:lnTo>
                  <a:lnTo>
                    <a:pt x="188" y="2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30" y="0"/>
                  </a:lnTo>
                  <a:lnTo>
                    <a:pt x="230" y="0"/>
                  </a:lnTo>
                  <a:lnTo>
                    <a:pt x="232" y="2"/>
                  </a:lnTo>
                  <a:lnTo>
                    <a:pt x="232" y="2"/>
                  </a:lnTo>
                  <a:lnTo>
                    <a:pt x="266" y="6"/>
                  </a:lnTo>
                  <a:lnTo>
                    <a:pt x="266" y="6"/>
                  </a:lnTo>
                  <a:lnTo>
                    <a:pt x="292" y="14"/>
                  </a:lnTo>
                  <a:lnTo>
                    <a:pt x="316" y="24"/>
                  </a:lnTo>
                  <a:lnTo>
                    <a:pt x="338" y="38"/>
                  </a:lnTo>
                  <a:lnTo>
                    <a:pt x="360" y="56"/>
                  </a:lnTo>
                  <a:lnTo>
                    <a:pt x="360" y="56"/>
                  </a:lnTo>
                  <a:lnTo>
                    <a:pt x="382" y="78"/>
                  </a:lnTo>
                  <a:lnTo>
                    <a:pt x="400" y="102"/>
                  </a:lnTo>
                  <a:lnTo>
                    <a:pt x="400" y="102"/>
                  </a:lnTo>
                  <a:lnTo>
                    <a:pt x="411" y="122"/>
                  </a:lnTo>
                  <a:lnTo>
                    <a:pt x="419" y="144"/>
                  </a:lnTo>
                  <a:lnTo>
                    <a:pt x="427" y="166"/>
                  </a:lnTo>
                  <a:lnTo>
                    <a:pt x="431" y="189"/>
                  </a:lnTo>
                  <a:lnTo>
                    <a:pt x="431" y="189"/>
                  </a:lnTo>
                  <a:lnTo>
                    <a:pt x="433" y="205"/>
                  </a:lnTo>
                  <a:lnTo>
                    <a:pt x="433" y="205"/>
                  </a:lnTo>
                  <a:lnTo>
                    <a:pt x="433" y="233"/>
                  </a:lnTo>
                  <a:lnTo>
                    <a:pt x="433" y="233"/>
                  </a:lnTo>
                  <a:lnTo>
                    <a:pt x="431" y="249"/>
                  </a:lnTo>
                  <a:lnTo>
                    <a:pt x="431" y="249"/>
                  </a:lnTo>
                  <a:lnTo>
                    <a:pt x="427" y="267"/>
                  </a:lnTo>
                  <a:lnTo>
                    <a:pt x="423" y="285"/>
                  </a:lnTo>
                  <a:lnTo>
                    <a:pt x="417" y="301"/>
                  </a:lnTo>
                  <a:lnTo>
                    <a:pt x="409" y="317"/>
                  </a:lnTo>
                  <a:lnTo>
                    <a:pt x="409" y="317"/>
                  </a:lnTo>
                  <a:lnTo>
                    <a:pt x="396" y="341"/>
                  </a:lnTo>
                  <a:lnTo>
                    <a:pt x="380" y="361"/>
                  </a:lnTo>
                  <a:lnTo>
                    <a:pt x="362" y="379"/>
                  </a:lnTo>
                  <a:lnTo>
                    <a:pt x="342" y="395"/>
                  </a:lnTo>
                  <a:lnTo>
                    <a:pt x="342" y="395"/>
                  </a:lnTo>
                  <a:lnTo>
                    <a:pt x="320" y="409"/>
                  </a:lnTo>
                  <a:lnTo>
                    <a:pt x="296" y="421"/>
                  </a:lnTo>
                  <a:lnTo>
                    <a:pt x="272" y="429"/>
                  </a:lnTo>
                  <a:lnTo>
                    <a:pt x="246" y="435"/>
                  </a:lnTo>
                  <a:lnTo>
                    <a:pt x="246" y="435"/>
                  </a:lnTo>
                  <a:lnTo>
                    <a:pt x="230" y="437"/>
                  </a:lnTo>
                  <a:lnTo>
                    <a:pt x="230" y="437"/>
                  </a:lnTo>
                  <a:lnTo>
                    <a:pt x="204" y="437"/>
                  </a:lnTo>
                  <a:lnTo>
                    <a:pt x="204" y="437"/>
                  </a:lnTo>
                  <a:lnTo>
                    <a:pt x="188" y="435"/>
                  </a:lnTo>
                  <a:lnTo>
                    <a:pt x="188" y="435"/>
                  </a:lnTo>
                  <a:lnTo>
                    <a:pt x="170" y="431"/>
                  </a:lnTo>
                  <a:lnTo>
                    <a:pt x="152" y="427"/>
                  </a:lnTo>
                  <a:lnTo>
                    <a:pt x="134" y="421"/>
                  </a:lnTo>
                  <a:lnTo>
                    <a:pt x="118" y="413"/>
                  </a:lnTo>
                  <a:lnTo>
                    <a:pt x="118" y="413"/>
                  </a:lnTo>
                  <a:lnTo>
                    <a:pt x="96" y="399"/>
                  </a:lnTo>
                  <a:lnTo>
                    <a:pt x="74" y="383"/>
                  </a:lnTo>
                  <a:lnTo>
                    <a:pt x="56" y="365"/>
                  </a:lnTo>
                  <a:lnTo>
                    <a:pt x="40" y="345"/>
                  </a:lnTo>
                  <a:lnTo>
                    <a:pt x="40" y="345"/>
                  </a:lnTo>
                  <a:lnTo>
                    <a:pt x="26" y="323"/>
                  </a:lnTo>
                  <a:lnTo>
                    <a:pt x="14" y="299"/>
                  </a:lnTo>
                  <a:lnTo>
                    <a:pt x="6" y="273"/>
                  </a:lnTo>
                  <a:lnTo>
                    <a:pt x="2" y="247"/>
                  </a:lnTo>
                  <a:lnTo>
                    <a:pt x="2" y="247"/>
                  </a:lnTo>
                  <a:lnTo>
                    <a:pt x="0" y="233"/>
                  </a:lnTo>
                  <a:lnTo>
                    <a:pt x="0" y="233"/>
                  </a:lnTo>
                  <a:close/>
                </a:path>
              </a:pathLst>
            </a:custGeom>
            <a:solidFill>
              <a:srgbClr val="F68B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ACC6D88-0AF9-B74C-849F-4EE7329548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22588" y="4389438"/>
              <a:ext cx="190500" cy="252413"/>
            </a:xfrm>
            <a:custGeom>
              <a:avLst/>
              <a:gdLst>
                <a:gd name="T0" fmla="*/ 0 w 120"/>
                <a:gd name="T1" fmla="*/ 159 h 159"/>
                <a:gd name="T2" fmla="*/ 0 w 120"/>
                <a:gd name="T3" fmla="*/ 159 h 159"/>
                <a:gd name="T4" fmla="*/ 0 w 120"/>
                <a:gd name="T5" fmla="*/ 0 h 159"/>
                <a:gd name="T6" fmla="*/ 0 w 120"/>
                <a:gd name="T7" fmla="*/ 0 h 159"/>
                <a:gd name="T8" fmla="*/ 120 w 120"/>
                <a:gd name="T9" fmla="*/ 81 h 159"/>
                <a:gd name="T10" fmla="*/ 120 w 120"/>
                <a:gd name="T11" fmla="*/ 81 h 159"/>
                <a:gd name="T12" fmla="*/ 0 w 120"/>
                <a:gd name="T13" fmla="*/ 159 h 159"/>
                <a:gd name="T14" fmla="*/ 0 w 120"/>
                <a:gd name="T1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59">
                  <a:moveTo>
                    <a:pt x="0" y="159"/>
                  </a:move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0" y="81"/>
                  </a:lnTo>
                  <a:lnTo>
                    <a:pt x="120" y="81"/>
                  </a:lnTo>
                  <a:lnTo>
                    <a:pt x="0" y="159"/>
                  </a:lnTo>
                  <a:lnTo>
                    <a:pt x="0" y="1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4" name="Freeform 13">
            <a:extLst>
              <a:ext uri="{FF2B5EF4-FFF2-40B4-BE49-F238E27FC236}">
                <a16:creationId xmlns:a16="http://schemas.microsoft.com/office/drawing/2014/main" id="{EC9658BF-C4FE-4A4F-9BEB-82B19989885D}"/>
              </a:ext>
            </a:extLst>
          </p:cNvPr>
          <p:cNvSpPr>
            <a:spLocks/>
          </p:cNvSpPr>
          <p:nvPr userDrawn="1"/>
        </p:nvSpPr>
        <p:spPr bwMode="auto">
          <a:xfrm>
            <a:off x="9922423" y="5805742"/>
            <a:ext cx="286764" cy="289860"/>
          </a:xfrm>
          <a:custGeom>
            <a:avLst/>
            <a:gdLst>
              <a:gd name="T0" fmla="*/ 0 w 278"/>
              <a:gd name="T1" fmla="*/ 281 h 281"/>
              <a:gd name="T2" fmla="*/ 0 w 278"/>
              <a:gd name="T3" fmla="*/ 8 h 281"/>
              <a:gd name="T4" fmla="*/ 4 w 278"/>
              <a:gd name="T5" fmla="*/ 6 h 281"/>
              <a:gd name="T6" fmla="*/ 88 w 278"/>
              <a:gd name="T7" fmla="*/ 6 h 281"/>
              <a:gd name="T8" fmla="*/ 92 w 278"/>
              <a:gd name="T9" fmla="*/ 12 h 281"/>
              <a:gd name="T10" fmla="*/ 92 w 278"/>
              <a:gd name="T11" fmla="*/ 46 h 281"/>
              <a:gd name="T12" fmla="*/ 100 w 278"/>
              <a:gd name="T13" fmla="*/ 34 h 281"/>
              <a:gd name="T14" fmla="*/ 112 w 278"/>
              <a:gd name="T15" fmla="*/ 20 h 281"/>
              <a:gd name="T16" fmla="*/ 142 w 278"/>
              <a:gd name="T17" fmla="*/ 4 h 281"/>
              <a:gd name="T18" fmla="*/ 160 w 278"/>
              <a:gd name="T19" fmla="*/ 2 h 281"/>
              <a:gd name="T20" fmla="*/ 192 w 278"/>
              <a:gd name="T21" fmla="*/ 2 h 281"/>
              <a:gd name="T22" fmla="*/ 222 w 278"/>
              <a:gd name="T23" fmla="*/ 12 h 281"/>
              <a:gd name="T24" fmla="*/ 234 w 278"/>
              <a:gd name="T25" fmla="*/ 18 h 281"/>
              <a:gd name="T26" fmla="*/ 254 w 278"/>
              <a:gd name="T27" fmla="*/ 38 h 281"/>
              <a:gd name="T28" fmla="*/ 262 w 278"/>
              <a:gd name="T29" fmla="*/ 50 h 281"/>
              <a:gd name="T30" fmla="*/ 274 w 278"/>
              <a:gd name="T31" fmla="*/ 84 h 281"/>
              <a:gd name="T32" fmla="*/ 278 w 278"/>
              <a:gd name="T33" fmla="*/ 123 h 281"/>
              <a:gd name="T34" fmla="*/ 278 w 278"/>
              <a:gd name="T35" fmla="*/ 279 h 281"/>
              <a:gd name="T36" fmla="*/ 278 w 278"/>
              <a:gd name="T37" fmla="*/ 281 h 281"/>
              <a:gd name="T38" fmla="*/ 186 w 278"/>
              <a:gd name="T39" fmla="*/ 281 h 281"/>
              <a:gd name="T40" fmla="*/ 186 w 278"/>
              <a:gd name="T41" fmla="*/ 277 h 281"/>
              <a:gd name="T42" fmla="*/ 186 w 278"/>
              <a:gd name="T43" fmla="*/ 137 h 281"/>
              <a:gd name="T44" fmla="*/ 186 w 278"/>
              <a:gd name="T45" fmla="*/ 119 h 281"/>
              <a:gd name="T46" fmla="*/ 182 w 278"/>
              <a:gd name="T47" fmla="*/ 101 h 281"/>
              <a:gd name="T48" fmla="*/ 164 w 278"/>
              <a:gd name="T49" fmla="*/ 78 h 281"/>
              <a:gd name="T50" fmla="*/ 138 w 278"/>
              <a:gd name="T51" fmla="*/ 72 h 281"/>
              <a:gd name="T52" fmla="*/ 122 w 278"/>
              <a:gd name="T53" fmla="*/ 76 h 281"/>
              <a:gd name="T54" fmla="*/ 100 w 278"/>
              <a:gd name="T55" fmla="*/ 94 h 281"/>
              <a:gd name="T56" fmla="*/ 94 w 278"/>
              <a:gd name="T57" fmla="*/ 109 h 281"/>
              <a:gd name="T58" fmla="*/ 92 w 278"/>
              <a:gd name="T59" fmla="*/ 131 h 281"/>
              <a:gd name="T60" fmla="*/ 92 w 278"/>
              <a:gd name="T61" fmla="*/ 277 h 281"/>
              <a:gd name="T62" fmla="*/ 90 w 278"/>
              <a:gd name="T63" fmla="*/ 281 h 281"/>
              <a:gd name="T64" fmla="*/ 88 w 278"/>
              <a:gd name="T65" fmla="*/ 281 h 281"/>
              <a:gd name="T66" fmla="*/ 6 w 278"/>
              <a:gd name="T67" fmla="*/ 281 h 281"/>
              <a:gd name="T68" fmla="*/ 0 w 278"/>
              <a:gd name="T69" fmla="*/ 281 h 2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78" h="281">
                <a:moveTo>
                  <a:pt x="0" y="281"/>
                </a:moveTo>
                <a:lnTo>
                  <a:pt x="0" y="281"/>
                </a:lnTo>
                <a:lnTo>
                  <a:pt x="0" y="8"/>
                </a:lnTo>
                <a:lnTo>
                  <a:pt x="0" y="8"/>
                </a:lnTo>
                <a:lnTo>
                  <a:pt x="4" y="6"/>
                </a:lnTo>
                <a:lnTo>
                  <a:pt x="4" y="6"/>
                </a:lnTo>
                <a:lnTo>
                  <a:pt x="88" y="6"/>
                </a:lnTo>
                <a:lnTo>
                  <a:pt x="88" y="6"/>
                </a:lnTo>
                <a:lnTo>
                  <a:pt x="90" y="8"/>
                </a:lnTo>
                <a:lnTo>
                  <a:pt x="92" y="12"/>
                </a:lnTo>
                <a:lnTo>
                  <a:pt x="92" y="12"/>
                </a:lnTo>
                <a:lnTo>
                  <a:pt x="92" y="46"/>
                </a:lnTo>
                <a:lnTo>
                  <a:pt x="92" y="46"/>
                </a:lnTo>
                <a:lnTo>
                  <a:pt x="100" y="34"/>
                </a:lnTo>
                <a:lnTo>
                  <a:pt x="100" y="34"/>
                </a:lnTo>
                <a:lnTo>
                  <a:pt x="112" y="20"/>
                </a:lnTo>
                <a:lnTo>
                  <a:pt x="126" y="12"/>
                </a:lnTo>
                <a:lnTo>
                  <a:pt x="142" y="4"/>
                </a:lnTo>
                <a:lnTo>
                  <a:pt x="160" y="2"/>
                </a:lnTo>
                <a:lnTo>
                  <a:pt x="160" y="2"/>
                </a:lnTo>
                <a:lnTo>
                  <a:pt x="176" y="0"/>
                </a:lnTo>
                <a:lnTo>
                  <a:pt x="192" y="2"/>
                </a:lnTo>
                <a:lnTo>
                  <a:pt x="206" y="6"/>
                </a:lnTo>
                <a:lnTo>
                  <a:pt x="222" y="12"/>
                </a:lnTo>
                <a:lnTo>
                  <a:pt x="222" y="12"/>
                </a:lnTo>
                <a:lnTo>
                  <a:pt x="234" y="18"/>
                </a:lnTo>
                <a:lnTo>
                  <a:pt x="244" y="28"/>
                </a:lnTo>
                <a:lnTo>
                  <a:pt x="254" y="38"/>
                </a:lnTo>
                <a:lnTo>
                  <a:pt x="262" y="50"/>
                </a:lnTo>
                <a:lnTo>
                  <a:pt x="262" y="50"/>
                </a:lnTo>
                <a:lnTo>
                  <a:pt x="270" y="66"/>
                </a:lnTo>
                <a:lnTo>
                  <a:pt x="274" y="84"/>
                </a:lnTo>
                <a:lnTo>
                  <a:pt x="276" y="105"/>
                </a:lnTo>
                <a:lnTo>
                  <a:pt x="278" y="123"/>
                </a:lnTo>
                <a:lnTo>
                  <a:pt x="278" y="123"/>
                </a:lnTo>
                <a:lnTo>
                  <a:pt x="278" y="279"/>
                </a:lnTo>
                <a:lnTo>
                  <a:pt x="278" y="279"/>
                </a:lnTo>
                <a:lnTo>
                  <a:pt x="278" y="281"/>
                </a:lnTo>
                <a:lnTo>
                  <a:pt x="278" y="281"/>
                </a:lnTo>
                <a:lnTo>
                  <a:pt x="186" y="281"/>
                </a:lnTo>
                <a:lnTo>
                  <a:pt x="186" y="281"/>
                </a:lnTo>
                <a:lnTo>
                  <a:pt x="186" y="277"/>
                </a:lnTo>
                <a:lnTo>
                  <a:pt x="186" y="277"/>
                </a:lnTo>
                <a:lnTo>
                  <a:pt x="186" y="137"/>
                </a:lnTo>
                <a:lnTo>
                  <a:pt x="186" y="137"/>
                </a:lnTo>
                <a:lnTo>
                  <a:pt x="186" y="119"/>
                </a:lnTo>
                <a:lnTo>
                  <a:pt x="182" y="101"/>
                </a:lnTo>
                <a:lnTo>
                  <a:pt x="182" y="101"/>
                </a:lnTo>
                <a:lnTo>
                  <a:pt x="174" y="88"/>
                </a:lnTo>
                <a:lnTo>
                  <a:pt x="164" y="78"/>
                </a:lnTo>
                <a:lnTo>
                  <a:pt x="152" y="74"/>
                </a:lnTo>
                <a:lnTo>
                  <a:pt x="138" y="72"/>
                </a:lnTo>
                <a:lnTo>
                  <a:pt x="138" y="72"/>
                </a:lnTo>
                <a:lnTo>
                  <a:pt x="122" y="76"/>
                </a:lnTo>
                <a:lnTo>
                  <a:pt x="110" y="84"/>
                </a:lnTo>
                <a:lnTo>
                  <a:pt x="100" y="94"/>
                </a:lnTo>
                <a:lnTo>
                  <a:pt x="94" y="109"/>
                </a:lnTo>
                <a:lnTo>
                  <a:pt x="94" y="109"/>
                </a:lnTo>
                <a:lnTo>
                  <a:pt x="92" y="119"/>
                </a:lnTo>
                <a:lnTo>
                  <a:pt x="92" y="131"/>
                </a:lnTo>
                <a:lnTo>
                  <a:pt x="92" y="131"/>
                </a:lnTo>
                <a:lnTo>
                  <a:pt x="92" y="277"/>
                </a:lnTo>
                <a:lnTo>
                  <a:pt x="92" y="277"/>
                </a:lnTo>
                <a:lnTo>
                  <a:pt x="90" y="281"/>
                </a:lnTo>
                <a:lnTo>
                  <a:pt x="88" y="281"/>
                </a:lnTo>
                <a:lnTo>
                  <a:pt x="88" y="281"/>
                </a:lnTo>
                <a:lnTo>
                  <a:pt x="6" y="281"/>
                </a:lnTo>
                <a:lnTo>
                  <a:pt x="6" y="281"/>
                </a:lnTo>
                <a:lnTo>
                  <a:pt x="0" y="281"/>
                </a:lnTo>
                <a:lnTo>
                  <a:pt x="0" y="281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1F444A4B-99D0-B749-BAF2-0EBE5941DF6E}"/>
              </a:ext>
            </a:extLst>
          </p:cNvPr>
          <p:cNvSpPr>
            <a:spLocks/>
          </p:cNvSpPr>
          <p:nvPr userDrawn="1"/>
        </p:nvSpPr>
        <p:spPr bwMode="auto">
          <a:xfrm>
            <a:off x="9779040" y="5811932"/>
            <a:ext cx="91806" cy="283670"/>
          </a:xfrm>
          <a:custGeom>
            <a:avLst/>
            <a:gdLst>
              <a:gd name="T0" fmla="*/ 89 w 89"/>
              <a:gd name="T1" fmla="*/ 275 h 275"/>
              <a:gd name="T2" fmla="*/ 89 w 89"/>
              <a:gd name="T3" fmla="*/ 275 h 275"/>
              <a:gd name="T4" fmla="*/ 85 w 89"/>
              <a:gd name="T5" fmla="*/ 275 h 275"/>
              <a:gd name="T6" fmla="*/ 85 w 89"/>
              <a:gd name="T7" fmla="*/ 275 h 275"/>
              <a:gd name="T8" fmla="*/ 4 w 89"/>
              <a:gd name="T9" fmla="*/ 275 h 275"/>
              <a:gd name="T10" fmla="*/ 4 w 89"/>
              <a:gd name="T11" fmla="*/ 275 h 275"/>
              <a:gd name="T12" fmla="*/ 0 w 89"/>
              <a:gd name="T13" fmla="*/ 275 h 275"/>
              <a:gd name="T14" fmla="*/ 0 w 89"/>
              <a:gd name="T15" fmla="*/ 271 h 275"/>
              <a:gd name="T16" fmla="*/ 0 w 89"/>
              <a:gd name="T17" fmla="*/ 271 h 275"/>
              <a:gd name="T18" fmla="*/ 0 w 89"/>
              <a:gd name="T19" fmla="*/ 4 h 275"/>
              <a:gd name="T20" fmla="*/ 0 w 89"/>
              <a:gd name="T21" fmla="*/ 4 h 275"/>
              <a:gd name="T22" fmla="*/ 0 w 89"/>
              <a:gd name="T23" fmla="*/ 2 h 275"/>
              <a:gd name="T24" fmla="*/ 4 w 89"/>
              <a:gd name="T25" fmla="*/ 0 h 275"/>
              <a:gd name="T26" fmla="*/ 4 w 89"/>
              <a:gd name="T27" fmla="*/ 0 h 275"/>
              <a:gd name="T28" fmla="*/ 85 w 89"/>
              <a:gd name="T29" fmla="*/ 0 h 275"/>
              <a:gd name="T30" fmla="*/ 85 w 89"/>
              <a:gd name="T31" fmla="*/ 0 h 275"/>
              <a:gd name="T32" fmla="*/ 89 w 89"/>
              <a:gd name="T33" fmla="*/ 2 h 275"/>
              <a:gd name="T34" fmla="*/ 89 w 89"/>
              <a:gd name="T35" fmla="*/ 2 h 275"/>
              <a:gd name="T36" fmla="*/ 89 w 89"/>
              <a:gd name="T37" fmla="*/ 275 h 275"/>
              <a:gd name="T38" fmla="*/ 89 w 89"/>
              <a:gd name="T39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89" h="275">
                <a:moveTo>
                  <a:pt x="89" y="275"/>
                </a:moveTo>
                <a:lnTo>
                  <a:pt x="89" y="275"/>
                </a:lnTo>
                <a:lnTo>
                  <a:pt x="85" y="275"/>
                </a:lnTo>
                <a:lnTo>
                  <a:pt x="85" y="275"/>
                </a:lnTo>
                <a:lnTo>
                  <a:pt x="4" y="275"/>
                </a:lnTo>
                <a:lnTo>
                  <a:pt x="4" y="275"/>
                </a:lnTo>
                <a:lnTo>
                  <a:pt x="0" y="275"/>
                </a:lnTo>
                <a:lnTo>
                  <a:pt x="0" y="271"/>
                </a:lnTo>
                <a:lnTo>
                  <a:pt x="0" y="271"/>
                </a:lnTo>
                <a:lnTo>
                  <a:pt x="0" y="4"/>
                </a:lnTo>
                <a:lnTo>
                  <a:pt x="0" y="4"/>
                </a:lnTo>
                <a:lnTo>
                  <a:pt x="0" y="2"/>
                </a:lnTo>
                <a:lnTo>
                  <a:pt x="4" y="0"/>
                </a:lnTo>
                <a:lnTo>
                  <a:pt x="4" y="0"/>
                </a:lnTo>
                <a:lnTo>
                  <a:pt x="85" y="0"/>
                </a:lnTo>
                <a:lnTo>
                  <a:pt x="85" y="0"/>
                </a:lnTo>
                <a:lnTo>
                  <a:pt x="89" y="2"/>
                </a:lnTo>
                <a:lnTo>
                  <a:pt x="89" y="2"/>
                </a:lnTo>
                <a:lnTo>
                  <a:pt x="89" y="275"/>
                </a:lnTo>
                <a:lnTo>
                  <a:pt x="89" y="275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8022A10E-98EC-6B4D-B95E-C823A7C47B8C}"/>
              </a:ext>
            </a:extLst>
          </p:cNvPr>
          <p:cNvSpPr>
            <a:spLocks/>
          </p:cNvSpPr>
          <p:nvPr userDrawn="1"/>
        </p:nvSpPr>
        <p:spPr bwMode="auto">
          <a:xfrm>
            <a:off x="9772851" y="5677833"/>
            <a:ext cx="104184" cy="96964"/>
          </a:xfrm>
          <a:custGeom>
            <a:avLst/>
            <a:gdLst>
              <a:gd name="T0" fmla="*/ 49 w 101"/>
              <a:gd name="T1" fmla="*/ 94 h 94"/>
              <a:gd name="T2" fmla="*/ 49 w 101"/>
              <a:gd name="T3" fmla="*/ 94 h 94"/>
              <a:gd name="T4" fmla="*/ 38 w 101"/>
              <a:gd name="T5" fmla="*/ 92 h 94"/>
              <a:gd name="T6" fmla="*/ 26 w 101"/>
              <a:gd name="T7" fmla="*/ 88 h 94"/>
              <a:gd name="T8" fmla="*/ 16 w 101"/>
              <a:gd name="T9" fmla="*/ 82 h 94"/>
              <a:gd name="T10" fmla="*/ 8 w 101"/>
              <a:gd name="T11" fmla="*/ 72 h 94"/>
              <a:gd name="T12" fmla="*/ 8 w 101"/>
              <a:gd name="T13" fmla="*/ 72 h 94"/>
              <a:gd name="T14" fmla="*/ 4 w 101"/>
              <a:gd name="T15" fmla="*/ 62 h 94"/>
              <a:gd name="T16" fmla="*/ 0 w 101"/>
              <a:gd name="T17" fmla="*/ 52 h 94"/>
              <a:gd name="T18" fmla="*/ 0 w 101"/>
              <a:gd name="T19" fmla="*/ 42 h 94"/>
              <a:gd name="T20" fmla="*/ 2 w 101"/>
              <a:gd name="T21" fmla="*/ 32 h 94"/>
              <a:gd name="T22" fmla="*/ 6 w 101"/>
              <a:gd name="T23" fmla="*/ 22 h 94"/>
              <a:gd name="T24" fmla="*/ 14 w 101"/>
              <a:gd name="T25" fmla="*/ 14 h 94"/>
              <a:gd name="T26" fmla="*/ 22 w 101"/>
              <a:gd name="T27" fmla="*/ 6 h 94"/>
              <a:gd name="T28" fmla="*/ 34 w 101"/>
              <a:gd name="T29" fmla="*/ 2 h 94"/>
              <a:gd name="T30" fmla="*/ 34 w 101"/>
              <a:gd name="T31" fmla="*/ 2 h 94"/>
              <a:gd name="T32" fmla="*/ 45 w 101"/>
              <a:gd name="T33" fmla="*/ 0 h 94"/>
              <a:gd name="T34" fmla="*/ 59 w 101"/>
              <a:gd name="T35" fmla="*/ 0 h 94"/>
              <a:gd name="T36" fmla="*/ 71 w 101"/>
              <a:gd name="T37" fmla="*/ 2 h 94"/>
              <a:gd name="T38" fmla="*/ 83 w 101"/>
              <a:gd name="T39" fmla="*/ 8 h 94"/>
              <a:gd name="T40" fmla="*/ 83 w 101"/>
              <a:gd name="T41" fmla="*/ 8 h 94"/>
              <a:gd name="T42" fmla="*/ 91 w 101"/>
              <a:gd name="T43" fmla="*/ 18 h 94"/>
              <a:gd name="T44" fmla="*/ 99 w 101"/>
              <a:gd name="T45" fmla="*/ 28 h 94"/>
              <a:gd name="T46" fmla="*/ 101 w 101"/>
              <a:gd name="T47" fmla="*/ 40 h 94"/>
              <a:gd name="T48" fmla="*/ 101 w 101"/>
              <a:gd name="T49" fmla="*/ 54 h 94"/>
              <a:gd name="T50" fmla="*/ 101 w 101"/>
              <a:gd name="T51" fmla="*/ 54 h 94"/>
              <a:gd name="T52" fmla="*/ 97 w 101"/>
              <a:gd name="T53" fmla="*/ 66 h 94"/>
              <a:gd name="T54" fmla="*/ 91 w 101"/>
              <a:gd name="T55" fmla="*/ 76 h 94"/>
              <a:gd name="T56" fmla="*/ 83 w 101"/>
              <a:gd name="T57" fmla="*/ 84 h 94"/>
              <a:gd name="T58" fmla="*/ 71 w 101"/>
              <a:gd name="T59" fmla="*/ 90 h 94"/>
              <a:gd name="T60" fmla="*/ 71 w 101"/>
              <a:gd name="T61" fmla="*/ 90 h 94"/>
              <a:gd name="T62" fmla="*/ 61 w 101"/>
              <a:gd name="T63" fmla="*/ 92 h 94"/>
              <a:gd name="T64" fmla="*/ 51 w 101"/>
              <a:gd name="T65" fmla="*/ 94 h 94"/>
              <a:gd name="T66" fmla="*/ 51 w 101"/>
              <a:gd name="T67" fmla="*/ 94 h 94"/>
              <a:gd name="T68" fmla="*/ 49 w 101"/>
              <a:gd name="T69" fmla="*/ 94 h 94"/>
              <a:gd name="T70" fmla="*/ 49 w 101"/>
              <a:gd name="T71" fmla="*/ 9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1" h="94">
                <a:moveTo>
                  <a:pt x="49" y="94"/>
                </a:moveTo>
                <a:lnTo>
                  <a:pt x="49" y="94"/>
                </a:lnTo>
                <a:lnTo>
                  <a:pt x="38" y="92"/>
                </a:lnTo>
                <a:lnTo>
                  <a:pt x="26" y="88"/>
                </a:lnTo>
                <a:lnTo>
                  <a:pt x="16" y="82"/>
                </a:lnTo>
                <a:lnTo>
                  <a:pt x="8" y="72"/>
                </a:lnTo>
                <a:lnTo>
                  <a:pt x="8" y="72"/>
                </a:lnTo>
                <a:lnTo>
                  <a:pt x="4" y="62"/>
                </a:lnTo>
                <a:lnTo>
                  <a:pt x="0" y="52"/>
                </a:lnTo>
                <a:lnTo>
                  <a:pt x="0" y="42"/>
                </a:lnTo>
                <a:lnTo>
                  <a:pt x="2" y="32"/>
                </a:lnTo>
                <a:lnTo>
                  <a:pt x="6" y="22"/>
                </a:lnTo>
                <a:lnTo>
                  <a:pt x="14" y="14"/>
                </a:lnTo>
                <a:lnTo>
                  <a:pt x="22" y="6"/>
                </a:lnTo>
                <a:lnTo>
                  <a:pt x="34" y="2"/>
                </a:lnTo>
                <a:lnTo>
                  <a:pt x="34" y="2"/>
                </a:lnTo>
                <a:lnTo>
                  <a:pt x="45" y="0"/>
                </a:lnTo>
                <a:lnTo>
                  <a:pt x="59" y="0"/>
                </a:lnTo>
                <a:lnTo>
                  <a:pt x="71" y="2"/>
                </a:lnTo>
                <a:lnTo>
                  <a:pt x="83" y="8"/>
                </a:lnTo>
                <a:lnTo>
                  <a:pt x="83" y="8"/>
                </a:lnTo>
                <a:lnTo>
                  <a:pt x="91" y="18"/>
                </a:lnTo>
                <a:lnTo>
                  <a:pt x="99" y="28"/>
                </a:lnTo>
                <a:lnTo>
                  <a:pt x="101" y="40"/>
                </a:lnTo>
                <a:lnTo>
                  <a:pt x="101" y="54"/>
                </a:lnTo>
                <a:lnTo>
                  <a:pt x="101" y="54"/>
                </a:lnTo>
                <a:lnTo>
                  <a:pt x="97" y="66"/>
                </a:lnTo>
                <a:lnTo>
                  <a:pt x="91" y="76"/>
                </a:lnTo>
                <a:lnTo>
                  <a:pt x="83" y="84"/>
                </a:lnTo>
                <a:lnTo>
                  <a:pt x="71" y="90"/>
                </a:lnTo>
                <a:lnTo>
                  <a:pt x="71" y="90"/>
                </a:lnTo>
                <a:lnTo>
                  <a:pt x="61" y="92"/>
                </a:lnTo>
                <a:lnTo>
                  <a:pt x="51" y="94"/>
                </a:lnTo>
                <a:lnTo>
                  <a:pt x="51" y="94"/>
                </a:lnTo>
                <a:lnTo>
                  <a:pt x="49" y="94"/>
                </a:lnTo>
                <a:lnTo>
                  <a:pt x="49" y="94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Freeform 12">
            <a:hlinkClick r:id="rId6"/>
            <a:extLst>
              <a:ext uri="{FF2B5EF4-FFF2-40B4-BE49-F238E27FC236}">
                <a16:creationId xmlns:a16="http://schemas.microsoft.com/office/drawing/2014/main" id="{557D7513-4F27-6546-BB47-1F0776A61A17}"/>
              </a:ext>
            </a:extLst>
          </p:cNvPr>
          <p:cNvSpPr>
            <a:spLocks/>
          </p:cNvSpPr>
          <p:nvPr userDrawn="1"/>
        </p:nvSpPr>
        <p:spPr bwMode="auto">
          <a:xfrm>
            <a:off x="10496531" y="5696119"/>
            <a:ext cx="202064" cy="440212"/>
          </a:xfrm>
          <a:custGeom>
            <a:avLst/>
            <a:gdLst>
              <a:gd name="T0" fmla="*/ 92 w 140"/>
              <a:gd name="T1" fmla="*/ 152 h 305"/>
              <a:gd name="T2" fmla="*/ 92 w 140"/>
              <a:gd name="T3" fmla="*/ 152 h 305"/>
              <a:gd name="T4" fmla="*/ 92 w 140"/>
              <a:gd name="T5" fmla="*/ 305 h 305"/>
              <a:gd name="T6" fmla="*/ 92 w 140"/>
              <a:gd name="T7" fmla="*/ 305 h 305"/>
              <a:gd name="T8" fmla="*/ 30 w 140"/>
              <a:gd name="T9" fmla="*/ 305 h 305"/>
              <a:gd name="T10" fmla="*/ 30 w 140"/>
              <a:gd name="T11" fmla="*/ 305 h 305"/>
              <a:gd name="T12" fmla="*/ 30 w 140"/>
              <a:gd name="T13" fmla="*/ 152 h 305"/>
              <a:gd name="T14" fmla="*/ 30 w 140"/>
              <a:gd name="T15" fmla="*/ 152 h 305"/>
              <a:gd name="T16" fmla="*/ 0 w 140"/>
              <a:gd name="T17" fmla="*/ 152 h 305"/>
              <a:gd name="T18" fmla="*/ 0 w 140"/>
              <a:gd name="T19" fmla="*/ 152 h 305"/>
              <a:gd name="T20" fmla="*/ 0 w 140"/>
              <a:gd name="T21" fmla="*/ 98 h 305"/>
              <a:gd name="T22" fmla="*/ 0 w 140"/>
              <a:gd name="T23" fmla="*/ 98 h 305"/>
              <a:gd name="T24" fmla="*/ 30 w 140"/>
              <a:gd name="T25" fmla="*/ 98 h 305"/>
              <a:gd name="T26" fmla="*/ 30 w 140"/>
              <a:gd name="T27" fmla="*/ 98 h 305"/>
              <a:gd name="T28" fmla="*/ 30 w 140"/>
              <a:gd name="T29" fmla="*/ 94 h 305"/>
              <a:gd name="T30" fmla="*/ 30 w 140"/>
              <a:gd name="T31" fmla="*/ 94 h 305"/>
              <a:gd name="T32" fmla="*/ 30 w 140"/>
              <a:gd name="T33" fmla="*/ 56 h 305"/>
              <a:gd name="T34" fmla="*/ 30 w 140"/>
              <a:gd name="T35" fmla="*/ 56 h 305"/>
              <a:gd name="T36" fmla="*/ 32 w 140"/>
              <a:gd name="T37" fmla="*/ 42 h 305"/>
              <a:gd name="T38" fmla="*/ 38 w 140"/>
              <a:gd name="T39" fmla="*/ 30 h 305"/>
              <a:gd name="T40" fmla="*/ 46 w 140"/>
              <a:gd name="T41" fmla="*/ 18 h 305"/>
              <a:gd name="T42" fmla="*/ 58 w 140"/>
              <a:gd name="T43" fmla="*/ 8 h 305"/>
              <a:gd name="T44" fmla="*/ 58 w 140"/>
              <a:gd name="T45" fmla="*/ 8 h 305"/>
              <a:gd name="T46" fmla="*/ 74 w 140"/>
              <a:gd name="T47" fmla="*/ 2 h 305"/>
              <a:gd name="T48" fmla="*/ 90 w 140"/>
              <a:gd name="T49" fmla="*/ 0 h 305"/>
              <a:gd name="T50" fmla="*/ 90 w 140"/>
              <a:gd name="T51" fmla="*/ 0 h 305"/>
              <a:gd name="T52" fmla="*/ 138 w 140"/>
              <a:gd name="T53" fmla="*/ 0 h 305"/>
              <a:gd name="T54" fmla="*/ 138 w 140"/>
              <a:gd name="T55" fmla="*/ 0 h 305"/>
              <a:gd name="T56" fmla="*/ 140 w 140"/>
              <a:gd name="T57" fmla="*/ 0 h 305"/>
              <a:gd name="T58" fmla="*/ 140 w 140"/>
              <a:gd name="T59" fmla="*/ 0 h 305"/>
              <a:gd name="T60" fmla="*/ 140 w 140"/>
              <a:gd name="T61" fmla="*/ 52 h 305"/>
              <a:gd name="T62" fmla="*/ 140 w 140"/>
              <a:gd name="T63" fmla="*/ 52 h 305"/>
              <a:gd name="T64" fmla="*/ 132 w 140"/>
              <a:gd name="T65" fmla="*/ 52 h 305"/>
              <a:gd name="T66" fmla="*/ 132 w 140"/>
              <a:gd name="T67" fmla="*/ 52 h 305"/>
              <a:gd name="T68" fmla="*/ 106 w 140"/>
              <a:gd name="T69" fmla="*/ 52 h 305"/>
              <a:gd name="T70" fmla="*/ 106 w 140"/>
              <a:gd name="T71" fmla="*/ 52 h 305"/>
              <a:gd name="T72" fmla="*/ 102 w 140"/>
              <a:gd name="T73" fmla="*/ 54 h 305"/>
              <a:gd name="T74" fmla="*/ 96 w 140"/>
              <a:gd name="T75" fmla="*/ 56 h 305"/>
              <a:gd name="T76" fmla="*/ 94 w 140"/>
              <a:gd name="T77" fmla="*/ 60 h 305"/>
              <a:gd name="T78" fmla="*/ 92 w 140"/>
              <a:gd name="T79" fmla="*/ 64 h 305"/>
              <a:gd name="T80" fmla="*/ 92 w 140"/>
              <a:gd name="T81" fmla="*/ 64 h 305"/>
              <a:gd name="T82" fmla="*/ 92 w 140"/>
              <a:gd name="T83" fmla="*/ 98 h 305"/>
              <a:gd name="T84" fmla="*/ 92 w 140"/>
              <a:gd name="T85" fmla="*/ 98 h 305"/>
              <a:gd name="T86" fmla="*/ 140 w 140"/>
              <a:gd name="T87" fmla="*/ 98 h 305"/>
              <a:gd name="T88" fmla="*/ 140 w 140"/>
              <a:gd name="T89" fmla="*/ 98 h 305"/>
              <a:gd name="T90" fmla="*/ 136 w 140"/>
              <a:gd name="T91" fmla="*/ 152 h 305"/>
              <a:gd name="T92" fmla="*/ 136 w 140"/>
              <a:gd name="T93" fmla="*/ 152 h 305"/>
              <a:gd name="T94" fmla="*/ 92 w 140"/>
              <a:gd name="T95" fmla="*/ 152 h 305"/>
              <a:gd name="T96" fmla="*/ 92 w 140"/>
              <a:gd name="T97" fmla="*/ 152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0" h="305">
                <a:moveTo>
                  <a:pt x="92" y="152"/>
                </a:moveTo>
                <a:lnTo>
                  <a:pt x="92" y="152"/>
                </a:lnTo>
                <a:lnTo>
                  <a:pt x="92" y="305"/>
                </a:lnTo>
                <a:lnTo>
                  <a:pt x="92" y="305"/>
                </a:lnTo>
                <a:lnTo>
                  <a:pt x="30" y="305"/>
                </a:lnTo>
                <a:lnTo>
                  <a:pt x="30" y="305"/>
                </a:lnTo>
                <a:lnTo>
                  <a:pt x="30" y="152"/>
                </a:lnTo>
                <a:lnTo>
                  <a:pt x="30" y="152"/>
                </a:lnTo>
                <a:lnTo>
                  <a:pt x="0" y="152"/>
                </a:lnTo>
                <a:lnTo>
                  <a:pt x="0" y="152"/>
                </a:lnTo>
                <a:lnTo>
                  <a:pt x="0" y="98"/>
                </a:lnTo>
                <a:lnTo>
                  <a:pt x="0" y="98"/>
                </a:lnTo>
                <a:lnTo>
                  <a:pt x="30" y="98"/>
                </a:lnTo>
                <a:lnTo>
                  <a:pt x="30" y="98"/>
                </a:lnTo>
                <a:lnTo>
                  <a:pt x="30" y="94"/>
                </a:lnTo>
                <a:lnTo>
                  <a:pt x="30" y="94"/>
                </a:lnTo>
                <a:lnTo>
                  <a:pt x="30" y="56"/>
                </a:lnTo>
                <a:lnTo>
                  <a:pt x="30" y="56"/>
                </a:lnTo>
                <a:lnTo>
                  <a:pt x="32" y="42"/>
                </a:lnTo>
                <a:lnTo>
                  <a:pt x="38" y="30"/>
                </a:lnTo>
                <a:lnTo>
                  <a:pt x="46" y="18"/>
                </a:lnTo>
                <a:lnTo>
                  <a:pt x="58" y="8"/>
                </a:lnTo>
                <a:lnTo>
                  <a:pt x="58" y="8"/>
                </a:lnTo>
                <a:lnTo>
                  <a:pt x="74" y="2"/>
                </a:lnTo>
                <a:lnTo>
                  <a:pt x="90" y="0"/>
                </a:lnTo>
                <a:lnTo>
                  <a:pt x="90" y="0"/>
                </a:lnTo>
                <a:lnTo>
                  <a:pt x="138" y="0"/>
                </a:lnTo>
                <a:lnTo>
                  <a:pt x="138" y="0"/>
                </a:lnTo>
                <a:lnTo>
                  <a:pt x="140" y="0"/>
                </a:lnTo>
                <a:lnTo>
                  <a:pt x="140" y="0"/>
                </a:lnTo>
                <a:lnTo>
                  <a:pt x="140" y="52"/>
                </a:lnTo>
                <a:lnTo>
                  <a:pt x="140" y="52"/>
                </a:lnTo>
                <a:lnTo>
                  <a:pt x="132" y="52"/>
                </a:lnTo>
                <a:lnTo>
                  <a:pt x="132" y="52"/>
                </a:lnTo>
                <a:lnTo>
                  <a:pt x="106" y="52"/>
                </a:lnTo>
                <a:lnTo>
                  <a:pt x="106" y="52"/>
                </a:lnTo>
                <a:lnTo>
                  <a:pt x="102" y="54"/>
                </a:lnTo>
                <a:lnTo>
                  <a:pt x="96" y="56"/>
                </a:lnTo>
                <a:lnTo>
                  <a:pt x="94" y="60"/>
                </a:lnTo>
                <a:lnTo>
                  <a:pt x="92" y="64"/>
                </a:lnTo>
                <a:lnTo>
                  <a:pt x="92" y="64"/>
                </a:lnTo>
                <a:lnTo>
                  <a:pt x="92" y="98"/>
                </a:lnTo>
                <a:lnTo>
                  <a:pt x="92" y="98"/>
                </a:lnTo>
                <a:lnTo>
                  <a:pt x="140" y="98"/>
                </a:lnTo>
                <a:lnTo>
                  <a:pt x="140" y="98"/>
                </a:lnTo>
                <a:lnTo>
                  <a:pt x="136" y="152"/>
                </a:lnTo>
                <a:lnTo>
                  <a:pt x="136" y="152"/>
                </a:lnTo>
                <a:lnTo>
                  <a:pt x="92" y="152"/>
                </a:lnTo>
                <a:lnTo>
                  <a:pt x="92" y="152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330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44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4C6A7D-8749-814E-A87E-5D98A6F31C67}"/>
              </a:ext>
            </a:extLst>
          </p:cNvPr>
          <p:cNvSpPr/>
          <p:nvPr userDrawn="1"/>
        </p:nvSpPr>
        <p:spPr>
          <a:xfrm>
            <a:off x="0" y="0"/>
            <a:ext cx="15595600" cy="19901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66B366-994A-5945-A7CB-02E2EEAF0DE2}"/>
              </a:ext>
            </a:extLst>
          </p:cNvPr>
          <p:cNvSpPr/>
          <p:nvPr userDrawn="1"/>
        </p:nvSpPr>
        <p:spPr>
          <a:xfrm>
            <a:off x="12141200" y="7153835"/>
            <a:ext cx="4114800" cy="19901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4EFB45-BB7E-CB41-9CC3-407BA438C4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94593B4-CA58-9849-815C-64A09F6C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9600" y="3925263"/>
            <a:ext cx="6172200" cy="731837"/>
          </a:xfrm>
        </p:spPr>
        <p:txBody>
          <a:bodyPr>
            <a:noAutofit/>
          </a:bodyPr>
          <a:lstStyle>
            <a:lvl1pPr algn="l">
              <a:defRPr sz="6000"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CFAD6C1-D7B6-3F44-993B-3A0575EC76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6600" y="564912"/>
            <a:ext cx="3568700" cy="959088"/>
          </a:xfrm>
          <a:prstGeom prst="rect">
            <a:avLst/>
          </a:prstGeom>
        </p:spPr>
      </p:pic>
      <p:sp>
        <p:nvSpPr>
          <p:cNvPr id="16" name="object 19">
            <a:extLst>
              <a:ext uri="{FF2B5EF4-FFF2-40B4-BE49-F238E27FC236}">
                <a16:creationId xmlns:a16="http://schemas.microsoft.com/office/drawing/2014/main" id="{80A13578-E81C-2C4F-8B54-20DE9833B5E3}"/>
              </a:ext>
            </a:extLst>
          </p:cNvPr>
          <p:cNvSpPr txBox="1"/>
          <p:nvPr userDrawn="1"/>
        </p:nvSpPr>
        <p:spPr>
          <a:xfrm>
            <a:off x="11557000" y="8336910"/>
            <a:ext cx="40576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292A6BE-B25D-844D-9DF4-A9F932911E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93484" y="5189839"/>
            <a:ext cx="6078316" cy="51884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buFontTx/>
              <a:buNone/>
              <a:defRPr sz="3600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Sub-heading here</a:t>
            </a:r>
          </a:p>
        </p:txBody>
      </p:sp>
    </p:spTree>
    <p:extLst>
      <p:ext uri="{BB962C8B-B14F-4D97-AF65-F5344CB8AC3E}">
        <p14:creationId xmlns:p14="http://schemas.microsoft.com/office/powerpoint/2010/main" val="24666697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22485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D6172-4CF5-574A-A9E3-F0FD1AE71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AFEA5-A18B-4447-8296-C8EBB130E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828800"/>
            <a:ext cx="14020800" cy="61722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13772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AC1C1-7A53-004E-810D-68614B09B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8DDD3-4FFD-2D49-BC4A-EF2D58B46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67802" y="1860076"/>
            <a:ext cx="6934200" cy="580231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37C46-A0A4-9342-80F4-A452677CB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30602" y="1860076"/>
            <a:ext cx="6934200" cy="58023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12708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81279-0F69-D446-AB0C-1B87B7F8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278337FD-4220-D042-B7E0-4060142079F2}"/>
              </a:ext>
            </a:extLst>
          </p:cNvPr>
          <p:cNvSpPr/>
          <p:nvPr userDrawn="1"/>
        </p:nvSpPr>
        <p:spPr>
          <a:xfrm>
            <a:off x="622300" y="2133601"/>
            <a:ext cx="4762500" cy="762000"/>
          </a:xfrm>
          <a:prstGeom prst="round1Rect">
            <a:avLst>
              <a:gd name="adj" fmla="val 50000"/>
            </a:avLst>
          </a:prstGeom>
          <a:solidFill>
            <a:srgbClr val="0061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7201ADE-5297-E04F-A3FF-BC12B8437165}"/>
              </a:ext>
            </a:extLst>
          </p:cNvPr>
          <p:cNvSpPr txBox="1">
            <a:spLocks/>
          </p:cNvSpPr>
          <p:nvPr userDrawn="1"/>
        </p:nvSpPr>
        <p:spPr>
          <a:xfrm>
            <a:off x="660400" y="2201864"/>
            <a:ext cx="45720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Click to edit Master title style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78918F3-44D5-2247-BBEF-D83F377C4D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700" y="2993841"/>
            <a:ext cx="4737100" cy="3912618"/>
          </a:xfrm>
          <a:prstGeom prst="rect">
            <a:avLst/>
          </a:prstGeom>
        </p:spPr>
        <p:txBody>
          <a:bodyPr wrap="square" lIns="91440" tIns="91440" rIns="91440" bIns="91440">
            <a:noAutofit/>
          </a:bodyPr>
          <a:lstStyle>
            <a:lvl1pPr marL="171450" marR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 lang="en-US" sz="18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2pPr>
            <a:lvl3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3pPr>
            <a:lvl4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4pPr>
            <a:lvl5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</p:txBody>
      </p:sp>
      <p:sp>
        <p:nvSpPr>
          <p:cNvPr id="12" name="Round Single Corner Rectangle 11">
            <a:extLst>
              <a:ext uri="{FF2B5EF4-FFF2-40B4-BE49-F238E27FC236}">
                <a16:creationId xmlns:a16="http://schemas.microsoft.com/office/drawing/2014/main" id="{B45E2C00-C0E2-2647-8BCF-826845158AA0}"/>
              </a:ext>
            </a:extLst>
          </p:cNvPr>
          <p:cNvSpPr/>
          <p:nvPr userDrawn="1"/>
        </p:nvSpPr>
        <p:spPr>
          <a:xfrm>
            <a:off x="5727156" y="2133601"/>
            <a:ext cx="4762500" cy="762000"/>
          </a:xfrm>
          <a:prstGeom prst="round1Rect">
            <a:avLst>
              <a:gd name="adj" fmla="val 50000"/>
            </a:avLst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3C40093-5B11-FD4B-8D5E-4FE32ED8D864}"/>
              </a:ext>
            </a:extLst>
          </p:cNvPr>
          <p:cNvSpPr txBox="1">
            <a:spLocks/>
          </p:cNvSpPr>
          <p:nvPr userDrawn="1"/>
        </p:nvSpPr>
        <p:spPr>
          <a:xfrm>
            <a:off x="5765256" y="2201864"/>
            <a:ext cx="45720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Click to edit Master title style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F89F47-A73E-D944-9D31-6D47FC988D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52556" y="2993841"/>
            <a:ext cx="4737100" cy="3912618"/>
          </a:xfrm>
          <a:prstGeom prst="rect">
            <a:avLst/>
          </a:prstGeom>
        </p:spPr>
        <p:txBody>
          <a:bodyPr wrap="square" lIns="91440" tIns="91440" rIns="91440" bIns="91440">
            <a:noAutofit/>
          </a:bodyPr>
          <a:lstStyle>
            <a:lvl1pPr marL="171450" marR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 lang="en-US" sz="18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2pPr>
            <a:lvl3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3pPr>
            <a:lvl4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4pPr>
            <a:lvl5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</p:txBody>
      </p:sp>
      <p:sp>
        <p:nvSpPr>
          <p:cNvPr id="15" name="Round Single Corner Rectangle 14">
            <a:extLst>
              <a:ext uri="{FF2B5EF4-FFF2-40B4-BE49-F238E27FC236}">
                <a16:creationId xmlns:a16="http://schemas.microsoft.com/office/drawing/2014/main" id="{F24A34FC-EE04-7C47-9383-3F9252005512}"/>
              </a:ext>
            </a:extLst>
          </p:cNvPr>
          <p:cNvSpPr/>
          <p:nvPr userDrawn="1"/>
        </p:nvSpPr>
        <p:spPr>
          <a:xfrm>
            <a:off x="10833100" y="2133601"/>
            <a:ext cx="4762500" cy="762000"/>
          </a:xfrm>
          <a:prstGeom prst="round1Rect">
            <a:avLst>
              <a:gd name="adj" fmla="val 5000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52C5471-DCEF-4246-B995-AEF09ED8F964}"/>
              </a:ext>
            </a:extLst>
          </p:cNvPr>
          <p:cNvSpPr txBox="1">
            <a:spLocks/>
          </p:cNvSpPr>
          <p:nvPr userDrawn="1"/>
        </p:nvSpPr>
        <p:spPr>
          <a:xfrm>
            <a:off x="10871200" y="2201864"/>
            <a:ext cx="45720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Click to edit Master title style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2849398-2708-7149-816A-EE91216564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58500" y="2993841"/>
            <a:ext cx="4737100" cy="3912618"/>
          </a:xfrm>
          <a:prstGeom prst="rect">
            <a:avLst/>
          </a:prstGeom>
        </p:spPr>
        <p:txBody>
          <a:bodyPr wrap="square" lIns="91440" tIns="91440" rIns="91440" bIns="91440">
            <a:noAutofit/>
          </a:bodyPr>
          <a:lstStyle>
            <a:lvl1pPr marL="171450" marR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 lang="en-US" sz="18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2pPr>
            <a:lvl3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3pPr>
            <a:lvl4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4pPr>
            <a:lvl5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9552505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81279-0F69-D446-AB0C-1B87B7F8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4199C8A-EC23-4647-BA60-B44C15FDD6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7800" y="1981200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59D863D-1370-7C48-ABBE-073E3D9F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22400" y="47697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8209C18-91F1-2B4C-934A-C617725210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22400" y="53884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B116989-A590-BA40-9B7B-F0236AFA0D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2400" y="6019800"/>
            <a:ext cx="2819400" cy="2193396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77D03EC3-57B9-E64B-81C8-7758EA28A22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54600" y="1981200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3E4E7A01-9963-CB46-960F-37A21BD9FB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0" y="47697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2B49BE7-78E7-7C49-B505-6C8A391764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0" y="53884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2F875404-B195-F94B-9781-8E5DBBDF4F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0" y="6019800"/>
            <a:ext cx="2819400" cy="2193396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88518A3D-FD51-3A43-AFCF-0F6A4F3F80D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636000" y="1981200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09F7C79-C02C-BB4E-8F44-3E706689BC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10600" y="47697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49DCF53-3D2E-254C-8FEB-F61156FEF4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0600" y="53884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4C3F2507-5704-5F4D-B15C-2E1470B2EB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10600" y="6019800"/>
            <a:ext cx="2819400" cy="2193396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4" name="Picture Placeholder 6">
            <a:extLst>
              <a:ext uri="{FF2B5EF4-FFF2-40B4-BE49-F238E27FC236}">
                <a16:creationId xmlns:a16="http://schemas.microsoft.com/office/drawing/2014/main" id="{B477983A-0FFD-934B-8B03-F37C0641619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242800" y="1981200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9A21512B-ECBE-B24D-9A6E-1B87D94162A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17400" y="47697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6203DAA3-1568-774D-B328-AD01B6F8B4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17400" y="53884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ED1DD434-F118-3F45-85C6-29E7BB0762D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17400" y="6019800"/>
            <a:ext cx="2819400" cy="2193396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37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2" grpId="0" animBg="1"/>
      <p:bldP spid="30" grpId="0" animBg="1"/>
      <p:bldP spid="34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c 10">
            <a:extLst>
              <a:ext uri="{FF2B5EF4-FFF2-40B4-BE49-F238E27FC236}">
                <a16:creationId xmlns:a16="http://schemas.microsoft.com/office/drawing/2014/main" id="{B27DCA1A-E7A1-4B60-ADB1-A70718AAA2BE}"/>
              </a:ext>
            </a:extLst>
          </p:cNvPr>
          <p:cNvSpPr>
            <a:spLocks noChangeAspect="1"/>
          </p:cNvSpPr>
          <p:nvPr userDrawn="1"/>
        </p:nvSpPr>
        <p:spPr>
          <a:xfrm>
            <a:off x="696099" y="3404699"/>
            <a:ext cx="2808000" cy="280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82B78E4-D8AA-4CD5-8D9F-0FDF06AE63B4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588099" y="3296699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281279-0F69-D446-AB0C-1B87B7F8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4199C8A-EC23-4647-BA60-B44C15FDD6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4699" y="3513299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59D863D-1370-7C48-ABBE-073E3D9F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2200" y="34743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8209C18-91F1-2B4C-934A-C617725210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32200" y="40930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B116989-A590-BA40-9B7B-F0236AFA0D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32200" y="4724400"/>
            <a:ext cx="4140200" cy="114300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1DC90DBF-CC02-5A4A-A1D9-6003ADFC9BF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80800" y="34743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D676D87D-5E40-0947-B8E5-86324E6CCB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0800" y="40930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5094E6B-9011-6E4D-823D-8D7881108E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80800" y="4724400"/>
            <a:ext cx="4140200" cy="114300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3A56A678-52E4-423E-AABB-0212F46C2B50}"/>
              </a:ext>
            </a:extLst>
          </p:cNvPr>
          <p:cNvSpPr>
            <a:spLocks noChangeAspect="1"/>
          </p:cNvSpPr>
          <p:nvPr userDrawn="1"/>
        </p:nvSpPr>
        <p:spPr>
          <a:xfrm>
            <a:off x="8400402" y="3404699"/>
            <a:ext cx="2808000" cy="280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9E1E117-1423-4F75-9A2E-FD5ED7B3F062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8292402" y="3296699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88A3813-4911-4AA2-A2B1-465E0C96AD1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509002" y="3513299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9710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2F185E-6C7B-C543-8775-FDAC135D95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5999" cy="9143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5A4E4E1-1F94-A946-8CAE-DE1E6419772D}"/>
              </a:ext>
            </a:extLst>
          </p:cNvPr>
          <p:cNvSpPr/>
          <p:nvPr userDrawn="1"/>
        </p:nvSpPr>
        <p:spPr>
          <a:xfrm>
            <a:off x="0" y="0"/>
            <a:ext cx="2456329" cy="207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FC350DB-73A6-7D47-A25F-4DAB649E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00" y="609600"/>
            <a:ext cx="9083373" cy="731837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F602B8C-E381-B94E-82DF-7A5DAB4C4B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1828800"/>
            <a:ext cx="90082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A4A87AB-42E2-6245-AC40-B83FA7F2033E}"/>
              </a:ext>
            </a:extLst>
          </p:cNvPr>
          <p:cNvSpPr/>
          <p:nvPr userDrawn="1"/>
        </p:nvSpPr>
        <p:spPr>
          <a:xfrm>
            <a:off x="15367000" y="8382000"/>
            <a:ext cx="609600" cy="6096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Holder 5">
            <a:extLst>
              <a:ext uri="{FF2B5EF4-FFF2-40B4-BE49-F238E27FC236}">
                <a16:creationId xmlns:a16="http://schemas.microsoft.com/office/drawing/2014/main" id="{FDA283F4-F85A-7743-ADEF-B5672B932856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721BBA2-E195-4022-A0AE-7A8197BFFF39}"/>
              </a:ext>
            </a:extLst>
          </p:cNvPr>
          <p:cNvGrpSpPr/>
          <p:nvPr userDrawn="1"/>
        </p:nvGrpSpPr>
        <p:grpSpPr>
          <a:xfrm>
            <a:off x="10109200" y="1371600"/>
            <a:ext cx="6150503" cy="5086579"/>
            <a:chOff x="10032998" y="1581147"/>
            <a:chExt cx="6225676" cy="5010153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8C8FCA98-547E-4865-99DD-13180BA09D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09200" y="1661003"/>
              <a:ext cx="6149474" cy="4930297"/>
            </a:xfrm>
            <a:prstGeom prst="rect">
              <a:avLst/>
            </a:pr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759A308-13FE-430B-A116-8EC255D9BC2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032998" y="1581147"/>
              <a:ext cx="218748" cy="21275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1573448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5A97CCE-3E56-8A48-A193-9A04E19538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6255998" cy="9143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5A4E4E1-1F94-A946-8CAE-DE1E6419772D}"/>
              </a:ext>
            </a:extLst>
          </p:cNvPr>
          <p:cNvSpPr/>
          <p:nvPr userDrawn="1"/>
        </p:nvSpPr>
        <p:spPr>
          <a:xfrm>
            <a:off x="0" y="0"/>
            <a:ext cx="2456329" cy="207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FC350DB-73A6-7D47-A25F-4DAB649E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00" y="609600"/>
            <a:ext cx="9083373" cy="731837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F602B8C-E381-B94E-82DF-7A5DAB4C4B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1828800"/>
            <a:ext cx="90082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CC20271-8E0E-D249-BF9F-AA82ABE4176D}"/>
              </a:ext>
            </a:extLst>
          </p:cNvPr>
          <p:cNvSpPr/>
          <p:nvPr userDrawn="1"/>
        </p:nvSpPr>
        <p:spPr>
          <a:xfrm>
            <a:off x="15367000" y="8382000"/>
            <a:ext cx="609600" cy="6096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Holder 5">
            <a:extLst>
              <a:ext uri="{FF2B5EF4-FFF2-40B4-BE49-F238E27FC236}">
                <a16:creationId xmlns:a16="http://schemas.microsoft.com/office/drawing/2014/main" id="{65415436-2778-3D4A-BD2D-A3ED52761015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F245505-E755-4747-95D0-A7262A54BBB2}"/>
              </a:ext>
            </a:extLst>
          </p:cNvPr>
          <p:cNvGrpSpPr/>
          <p:nvPr userDrawn="1"/>
        </p:nvGrpSpPr>
        <p:grpSpPr>
          <a:xfrm>
            <a:off x="10109200" y="1371600"/>
            <a:ext cx="6150503" cy="5086579"/>
            <a:chOff x="10032998" y="1581147"/>
            <a:chExt cx="6225676" cy="5010153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BEAE285-C8F3-42CD-BA19-86CA1288A0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09200" y="1661003"/>
              <a:ext cx="6149474" cy="4930297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51B7A88-A583-4128-9AD7-B87EB34D3EB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032998" y="1581147"/>
              <a:ext cx="218748" cy="21275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0732933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3490AD-049D-A244-B0E8-962BF14DA9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5998" cy="91439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A4E631E-1EDB-524A-B6ED-0FAF4824D902}"/>
              </a:ext>
            </a:extLst>
          </p:cNvPr>
          <p:cNvSpPr/>
          <p:nvPr userDrawn="1"/>
        </p:nvSpPr>
        <p:spPr>
          <a:xfrm>
            <a:off x="0" y="0"/>
            <a:ext cx="2456329" cy="207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3276B3A-1F0B-A746-899C-F8C2E8801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00" y="609600"/>
            <a:ext cx="9083373" cy="731837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71EB4A9-77AF-DF4A-91E3-0ED3274588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1828800"/>
            <a:ext cx="90082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AC9418-60D2-6E4D-B250-DA39F17941C5}"/>
              </a:ext>
            </a:extLst>
          </p:cNvPr>
          <p:cNvSpPr/>
          <p:nvPr userDrawn="1"/>
        </p:nvSpPr>
        <p:spPr>
          <a:xfrm>
            <a:off x="15367000" y="8382000"/>
            <a:ext cx="609600" cy="6096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Holder 5">
            <a:extLst>
              <a:ext uri="{FF2B5EF4-FFF2-40B4-BE49-F238E27FC236}">
                <a16:creationId xmlns:a16="http://schemas.microsoft.com/office/drawing/2014/main" id="{BF0C27AE-3C77-3946-A3FB-FAF0158F5AC5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6CCFDB-874E-F54A-A1BB-7984383E6FC2}"/>
              </a:ext>
            </a:extLst>
          </p:cNvPr>
          <p:cNvGrpSpPr/>
          <p:nvPr userDrawn="1"/>
        </p:nvGrpSpPr>
        <p:grpSpPr>
          <a:xfrm>
            <a:off x="10109200" y="1371600"/>
            <a:ext cx="6150503" cy="5086579"/>
            <a:chOff x="10032998" y="1581147"/>
            <a:chExt cx="6225676" cy="5010153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9B0CB6AE-DB9B-E645-9299-4DF9BC6D55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09200" y="1661003"/>
              <a:ext cx="6149474" cy="4930297"/>
            </a:xfrm>
            <a:prstGeom prst="rect">
              <a:avLst/>
            </a:prstGeom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EE0C21-20EA-904E-8B79-325B55FC9C3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032998" y="1581147"/>
              <a:ext cx="218748" cy="212755"/>
            </a:xfrm>
            <a:prstGeom prst="ellipse">
              <a:avLst/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0200383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7131A9-4801-C94B-9649-CB4A71C31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0" y="533400"/>
            <a:ext cx="13106400" cy="7318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AC6BE3B-2BA0-DB4E-9D4E-A324ED7239BC}"/>
              </a:ext>
            </a:extLst>
          </p:cNvPr>
          <p:cNvSpPr/>
          <p:nvPr userDrawn="1"/>
        </p:nvSpPr>
        <p:spPr>
          <a:xfrm>
            <a:off x="812800" y="2819400"/>
            <a:ext cx="1447800" cy="1447800"/>
          </a:xfrm>
          <a:prstGeom prst="ellipse">
            <a:avLst/>
          </a:prstGeom>
          <a:solidFill>
            <a:srgbClr val="00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DED0528-D4DF-1349-84DC-420DC01A278D}"/>
              </a:ext>
            </a:extLst>
          </p:cNvPr>
          <p:cNvSpPr/>
          <p:nvPr userDrawn="1"/>
        </p:nvSpPr>
        <p:spPr>
          <a:xfrm>
            <a:off x="5776630" y="2819400"/>
            <a:ext cx="1447800" cy="1447800"/>
          </a:xfrm>
          <a:prstGeom prst="ellipse">
            <a:avLst/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15947A4-4D97-5345-AEC0-A39860FA186B}"/>
              </a:ext>
            </a:extLst>
          </p:cNvPr>
          <p:cNvSpPr/>
          <p:nvPr userDrawn="1"/>
        </p:nvSpPr>
        <p:spPr>
          <a:xfrm>
            <a:off x="10656910" y="2819400"/>
            <a:ext cx="1447800" cy="1447800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DD14DE1-8079-BF43-9041-A4FA760967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3000" y="284480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49B7974-F0D4-F549-A9E2-97B103E445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3000" y="3485280"/>
            <a:ext cx="3048000" cy="299172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31E050E-CA62-4746-8682-BB43515055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87660" y="284480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0DAFD4D-838F-3446-ADF0-D5A683A1B7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87660" y="3485280"/>
            <a:ext cx="3048000" cy="299172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052210EB-FA98-0142-964E-CEB8C86DA8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242800" y="284480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14B13D95-9485-8B4F-BA97-701870F592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42800" y="3485280"/>
            <a:ext cx="3048000" cy="299172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E56609E-3E3F-6546-B3BA-E840779BB7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52194" y="3336240"/>
            <a:ext cx="842792" cy="4789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03149A-8E47-2348-9BA4-03B58CF475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57140" y="3288064"/>
            <a:ext cx="738257" cy="521123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68501B80-DF48-D547-A9CB-6BF0955098C3}"/>
              </a:ext>
            </a:extLst>
          </p:cNvPr>
          <p:cNvGrpSpPr/>
          <p:nvPr userDrawn="1"/>
        </p:nvGrpSpPr>
        <p:grpSpPr>
          <a:xfrm>
            <a:off x="1303584" y="3154397"/>
            <a:ext cx="498115" cy="821728"/>
            <a:chOff x="6531329" y="2691707"/>
            <a:chExt cx="444716" cy="733318"/>
          </a:xfrm>
        </p:grpSpPr>
        <p:sp>
          <p:nvSpPr>
            <p:cNvPr id="23" name="Freeform 95">
              <a:extLst>
                <a:ext uri="{FF2B5EF4-FFF2-40B4-BE49-F238E27FC236}">
                  <a16:creationId xmlns:a16="http://schemas.microsoft.com/office/drawing/2014/main" id="{C25FF615-AFE6-4A49-95BB-85BFEFCA4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2002" y="3283678"/>
              <a:ext cx="203371" cy="52742"/>
            </a:xfrm>
            <a:custGeom>
              <a:avLst/>
              <a:gdLst>
                <a:gd name="T0" fmla="*/ 177 w 204"/>
                <a:gd name="T1" fmla="*/ 0 h 53"/>
                <a:gd name="T2" fmla="*/ 26 w 204"/>
                <a:gd name="T3" fmla="*/ 0 h 53"/>
                <a:gd name="T4" fmla="*/ 0 w 204"/>
                <a:gd name="T5" fmla="*/ 26 h 53"/>
                <a:gd name="T6" fmla="*/ 26 w 204"/>
                <a:gd name="T7" fmla="*/ 53 h 53"/>
                <a:gd name="T8" fmla="*/ 177 w 204"/>
                <a:gd name="T9" fmla="*/ 53 h 53"/>
                <a:gd name="T10" fmla="*/ 204 w 204"/>
                <a:gd name="T11" fmla="*/ 26 h 53"/>
                <a:gd name="T12" fmla="*/ 177 w 204"/>
                <a:gd name="T13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53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41"/>
                    <a:pt x="12" y="53"/>
                    <a:pt x="26" y="53"/>
                  </a:cubicBezTo>
                  <a:cubicBezTo>
                    <a:pt x="177" y="53"/>
                    <a:pt x="177" y="53"/>
                    <a:pt x="177" y="53"/>
                  </a:cubicBezTo>
                  <a:cubicBezTo>
                    <a:pt x="192" y="53"/>
                    <a:pt x="204" y="41"/>
                    <a:pt x="204" y="26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  <p:sp>
          <p:nvSpPr>
            <p:cNvPr id="24" name="Freeform 96">
              <a:extLst>
                <a:ext uri="{FF2B5EF4-FFF2-40B4-BE49-F238E27FC236}">
                  <a16:creationId xmlns:a16="http://schemas.microsoft.com/office/drawing/2014/main" id="{EA006F3C-E7AC-EA42-88CE-748F406CF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2002" y="3336419"/>
              <a:ext cx="203371" cy="54007"/>
            </a:xfrm>
            <a:custGeom>
              <a:avLst/>
              <a:gdLst>
                <a:gd name="T0" fmla="*/ 177 w 204"/>
                <a:gd name="T1" fmla="*/ 0 h 54"/>
                <a:gd name="T2" fmla="*/ 26 w 204"/>
                <a:gd name="T3" fmla="*/ 0 h 54"/>
                <a:gd name="T4" fmla="*/ 0 w 204"/>
                <a:gd name="T5" fmla="*/ 27 h 54"/>
                <a:gd name="T6" fmla="*/ 26 w 204"/>
                <a:gd name="T7" fmla="*/ 54 h 54"/>
                <a:gd name="T8" fmla="*/ 177 w 204"/>
                <a:gd name="T9" fmla="*/ 54 h 54"/>
                <a:gd name="T10" fmla="*/ 204 w 204"/>
                <a:gd name="T11" fmla="*/ 27 h 54"/>
                <a:gd name="T12" fmla="*/ 177 w 204"/>
                <a:gd name="T1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  <p:sp>
          <p:nvSpPr>
            <p:cNvPr id="25" name="Freeform 97">
              <a:extLst>
                <a:ext uri="{FF2B5EF4-FFF2-40B4-BE49-F238E27FC236}">
                  <a16:creationId xmlns:a16="http://schemas.microsoft.com/office/drawing/2014/main" id="{FC5814E0-20F4-1041-BF47-1B89A0F65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7866" y="3390427"/>
              <a:ext cx="131643" cy="34598"/>
            </a:xfrm>
            <a:custGeom>
              <a:avLst/>
              <a:gdLst>
                <a:gd name="T0" fmla="*/ 0 w 132"/>
                <a:gd name="T1" fmla="*/ 0 h 35"/>
                <a:gd name="T2" fmla="*/ 66 w 132"/>
                <a:gd name="T3" fmla="*/ 35 h 35"/>
                <a:gd name="T4" fmla="*/ 132 w 132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" h="35">
                  <a:moveTo>
                    <a:pt x="0" y="0"/>
                  </a:moveTo>
                  <a:cubicBezTo>
                    <a:pt x="0" y="19"/>
                    <a:pt x="29" y="35"/>
                    <a:pt x="66" y="35"/>
                  </a:cubicBezTo>
                  <a:cubicBezTo>
                    <a:pt x="102" y="35"/>
                    <a:pt x="132" y="19"/>
                    <a:pt x="132" y="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  <p:sp>
          <p:nvSpPr>
            <p:cNvPr id="26" name="Freeform 98">
              <a:extLst>
                <a:ext uri="{FF2B5EF4-FFF2-40B4-BE49-F238E27FC236}">
                  <a16:creationId xmlns:a16="http://schemas.microsoft.com/office/drawing/2014/main" id="{83E32DA5-FCF5-4B48-985D-6FD9DDDDA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1329" y="2691707"/>
              <a:ext cx="444716" cy="537964"/>
            </a:xfrm>
            <a:custGeom>
              <a:avLst/>
              <a:gdLst>
                <a:gd name="T0" fmla="*/ 223 w 446"/>
                <a:gd name="T1" fmla="*/ 0 h 540"/>
                <a:gd name="T2" fmla="*/ 0 w 446"/>
                <a:gd name="T3" fmla="*/ 223 h 540"/>
                <a:gd name="T4" fmla="*/ 62 w 446"/>
                <a:gd name="T5" fmla="*/ 379 h 540"/>
                <a:gd name="T6" fmla="*/ 94 w 446"/>
                <a:gd name="T7" fmla="*/ 440 h 540"/>
                <a:gd name="T8" fmla="*/ 94 w 446"/>
                <a:gd name="T9" fmla="*/ 484 h 540"/>
                <a:gd name="T10" fmla="*/ 150 w 446"/>
                <a:gd name="T11" fmla="*/ 540 h 540"/>
                <a:gd name="T12" fmla="*/ 296 w 446"/>
                <a:gd name="T13" fmla="*/ 540 h 540"/>
                <a:gd name="T14" fmla="*/ 352 w 446"/>
                <a:gd name="T15" fmla="*/ 484 h 540"/>
                <a:gd name="T16" fmla="*/ 352 w 446"/>
                <a:gd name="T17" fmla="*/ 440 h 540"/>
                <a:gd name="T18" fmla="*/ 383 w 446"/>
                <a:gd name="T19" fmla="*/ 379 h 540"/>
                <a:gd name="T20" fmla="*/ 446 w 446"/>
                <a:gd name="T21" fmla="*/ 223 h 540"/>
                <a:gd name="T22" fmla="*/ 223 w 446"/>
                <a:gd name="T23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46" h="540">
                  <a:moveTo>
                    <a:pt x="223" y="0"/>
                  </a:moveTo>
                  <a:cubicBezTo>
                    <a:pt x="99" y="0"/>
                    <a:pt x="0" y="100"/>
                    <a:pt x="0" y="223"/>
                  </a:cubicBezTo>
                  <a:cubicBezTo>
                    <a:pt x="0" y="284"/>
                    <a:pt x="22" y="339"/>
                    <a:pt x="62" y="379"/>
                  </a:cubicBezTo>
                  <a:cubicBezTo>
                    <a:pt x="83" y="399"/>
                    <a:pt x="94" y="415"/>
                    <a:pt x="94" y="440"/>
                  </a:cubicBezTo>
                  <a:cubicBezTo>
                    <a:pt x="94" y="466"/>
                    <a:pt x="94" y="484"/>
                    <a:pt x="94" y="484"/>
                  </a:cubicBezTo>
                  <a:cubicBezTo>
                    <a:pt x="94" y="515"/>
                    <a:pt x="119" y="540"/>
                    <a:pt x="150" y="540"/>
                  </a:cubicBezTo>
                  <a:cubicBezTo>
                    <a:pt x="296" y="540"/>
                    <a:pt x="296" y="540"/>
                    <a:pt x="296" y="540"/>
                  </a:cubicBezTo>
                  <a:cubicBezTo>
                    <a:pt x="327" y="540"/>
                    <a:pt x="352" y="515"/>
                    <a:pt x="352" y="484"/>
                  </a:cubicBezTo>
                  <a:cubicBezTo>
                    <a:pt x="352" y="484"/>
                    <a:pt x="352" y="466"/>
                    <a:pt x="352" y="440"/>
                  </a:cubicBezTo>
                  <a:cubicBezTo>
                    <a:pt x="352" y="415"/>
                    <a:pt x="362" y="399"/>
                    <a:pt x="383" y="379"/>
                  </a:cubicBezTo>
                  <a:cubicBezTo>
                    <a:pt x="423" y="339"/>
                    <a:pt x="446" y="284"/>
                    <a:pt x="446" y="223"/>
                  </a:cubicBezTo>
                  <a:cubicBezTo>
                    <a:pt x="446" y="100"/>
                    <a:pt x="347" y="0"/>
                    <a:pt x="223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  <p:sp>
          <p:nvSpPr>
            <p:cNvPr id="27" name="Freeform 99">
              <a:extLst>
                <a:ext uri="{FF2B5EF4-FFF2-40B4-BE49-F238E27FC236}">
                  <a16:creationId xmlns:a16="http://schemas.microsoft.com/office/drawing/2014/main" id="{8BAD59FE-8B52-A140-8A8A-945812676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2002" y="3229670"/>
              <a:ext cx="203371" cy="54007"/>
            </a:xfrm>
            <a:custGeom>
              <a:avLst/>
              <a:gdLst>
                <a:gd name="T0" fmla="*/ 177 w 204"/>
                <a:gd name="T1" fmla="*/ 0 h 54"/>
                <a:gd name="T2" fmla="*/ 26 w 204"/>
                <a:gd name="T3" fmla="*/ 0 h 54"/>
                <a:gd name="T4" fmla="*/ 0 w 204"/>
                <a:gd name="T5" fmla="*/ 27 h 54"/>
                <a:gd name="T6" fmla="*/ 26 w 204"/>
                <a:gd name="T7" fmla="*/ 54 h 54"/>
                <a:gd name="T8" fmla="*/ 177 w 204"/>
                <a:gd name="T9" fmla="*/ 54 h 54"/>
                <a:gd name="T10" fmla="*/ 204 w 204"/>
                <a:gd name="T11" fmla="*/ 27 h 54"/>
                <a:gd name="T12" fmla="*/ 177 w 204"/>
                <a:gd name="T1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</p:grpSp>
    </p:spTree>
    <p:extLst>
      <p:ext uri="{BB962C8B-B14F-4D97-AF65-F5344CB8AC3E}">
        <p14:creationId xmlns:p14="http://schemas.microsoft.com/office/powerpoint/2010/main" val="343653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853E2CC-2C26-F540-8640-FF6D1552F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0" y="533400"/>
            <a:ext cx="13258800" cy="7318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F67F97C-A72A-428A-8133-2979F5569C6F}"/>
              </a:ext>
            </a:extLst>
          </p:cNvPr>
          <p:cNvSpPr/>
          <p:nvPr userDrawn="1"/>
        </p:nvSpPr>
        <p:spPr>
          <a:xfrm>
            <a:off x="6727296" y="2843704"/>
            <a:ext cx="2895600" cy="2895600"/>
          </a:xfrm>
          <a:prstGeom prst="ellipse">
            <a:avLst/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C570AD4B-AB63-414A-97BB-661BEAD3C576}"/>
              </a:ext>
            </a:extLst>
          </p:cNvPr>
          <p:cNvSpPr>
            <a:spLocks noChangeAspect="1"/>
          </p:cNvSpPr>
          <p:nvPr userDrawn="1"/>
        </p:nvSpPr>
        <p:spPr>
          <a:xfrm>
            <a:off x="6591096" y="2707504"/>
            <a:ext cx="3168000" cy="316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CAC10B4B-FF17-4470-87DF-25A6BE478266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6663096" y="2779504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C615F22-04F5-484B-A0DD-702A5ECB42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80200" y="3902085"/>
            <a:ext cx="2895600" cy="730229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58EC2C-D990-4075-AC06-2A2C1EC7FB37}"/>
              </a:ext>
            </a:extLst>
          </p:cNvPr>
          <p:cNvSpPr/>
          <p:nvPr userDrawn="1"/>
        </p:nvSpPr>
        <p:spPr>
          <a:xfrm>
            <a:off x="2601304" y="2843704"/>
            <a:ext cx="2895600" cy="2895600"/>
          </a:xfrm>
          <a:prstGeom prst="ellipse">
            <a:avLst/>
          </a:prstGeom>
          <a:solidFill>
            <a:srgbClr val="00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3FB9D7BD-01C9-49A0-B9E7-9176D08F65E9}"/>
              </a:ext>
            </a:extLst>
          </p:cNvPr>
          <p:cNvSpPr>
            <a:spLocks noChangeAspect="1"/>
          </p:cNvSpPr>
          <p:nvPr userDrawn="1"/>
        </p:nvSpPr>
        <p:spPr>
          <a:xfrm>
            <a:off x="2465104" y="2707504"/>
            <a:ext cx="3168000" cy="316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95CDE023-0207-4565-8240-3E3E8C318F71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2537104" y="2779504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E64EF43-46E5-4593-9DF0-D2905B11E8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54208" y="3902085"/>
            <a:ext cx="2895600" cy="730229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B10E84B-B04E-4A8B-9910-7D156DDE180E}"/>
              </a:ext>
            </a:extLst>
          </p:cNvPr>
          <p:cNvSpPr/>
          <p:nvPr userDrawn="1"/>
        </p:nvSpPr>
        <p:spPr>
          <a:xfrm>
            <a:off x="10870122" y="2843704"/>
            <a:ext cx="2895600" cy="28956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87FB81FB-73A6-46A9-B4DB-7DDB7DF80406}"/>
              </a:ext>
            </a:extLst>
          </p:cNvPr>
          <p:cNvSpPr>
            <a:spLocks noChangeAspect="1"/>
          </p:cNvSpPr>
          <p:nvPr userDrawn="1"/>
        </p:nvSpPr>
        <p:spPr>
          <a:xfrm>
            <a:off x="10733922" y="2707504"/>
            <a:ext cx="3168000" cy="316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24716145-CB6B-4F92-B60C-B82075AB5ABC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10805922" y="2779504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558EFD17-63B5-4907-8BBB-8273142813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23026" y="3902085"/>
            <a:ext cx="2895600" cy="730229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</p:spTree>
    <p:extLst>
      <p:ext uri="{BB962C8B-B14F-4D97-AF65-F5344CB8AC3E}">
        <p14:creationId xmlns:p14="http://schemas.microsoft.com/office/powerpoint/2010/main" val="31468564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287B71-4C69-1C46-AAA6-597F94A7769B}"/>
              </a:ext>
            </a:extLst>
          </p:cNvPr>
          <p:cNvSpPr/>
          <p:nvPr userDrawn="1"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BC6E9F5-F5CB-194A-BF85-D16A2B7045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38400" cy="9144000"/>
          </a:xfrm>
          <a:prstGeom prst="rect">
            <a:avLst/>
          </a:prstGeom>
        </p:spPr>
      </p:pic>
      <p:sp>
        <p:nvSpPr>
          <p:cNvPr id="17" name="object 19">
            <a:extLst>
              <a:ext uri="{FF2B5EF4-FFF2-40B4-BE49-F238E27FC236}">
                <a16:creationId xmlns:a16="http://schemas.microsoft.com/office/drawing/2014/main" id="{65BC19DC-E626-8845-B117-846196BEDFC0}"/>
              </a:ext>
            </a:extLst>
          </p:cNvPr>
          <p:cNvSpPr txBox="1"/>
          <p:nvPr userDrawn="1"/>
        </p:nvSpPr>
        <p:spPr>
          <a:xfrm>
            <a:off x="720000" y="8565510"/>
            <a:ext cx="40576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1200" spc="-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1200" spc="-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1200" spc="-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12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DFE9A53-89C2-AE46-BE73-2993E7A8D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609600"/>
            <a:ext cx="7315200" cy="7318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8BA6B30-8888-6448-A04F-408ECD665B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951037"/>
            <a:ext cx="74080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8BC1A59-366D-EE4A-83E8-B7D7141F4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8600" y="808037"/>
            <a:ext cx="67818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8A63FA-5D1B-5644-BF11-1605EEBC977C}"/>
              </a:ext>
            </a:extLst>
          </p:cNvPr>
          <p:cNvSpPr/>
          <p:nvPr userDrawn="1"/>
        </p:nvSpPr>
        <p:spPr>
          <a:xfrm>
            <a:off x="15367000" y="8382000"/>
            <a:ext cx="609600" cy="6096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Holder 5">
            <a:extLst>
              <a:ext uri="{FF2B5EF4-FFF2-40B4-BE49-F238E27FC236}">
                <a16:creationId xmlns:a16="http://schemas.microsoft.com/office/drawing/2014/main" id="{AD40C997-F355-1F46-893F-3E3DF4345B26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E3740A6-22FE-4E69-A4E0-A329F31E571F}"/>
              </a:ext>
            </a:extLst>
          </p:cNvPr>
          <p:cNvGrpSpPr/>
          <p:nvPr userDrawn="1"/>
        </p:nvGrpSpPr>
        <p:grpSpPr>
          <a:xfrm>
            <a:off x="7899400" y="966535"/>
            <a:ext cx="1276632" cy="8177465"/>
            <a:chOff x="8146768" y="966535"/>
            <a:chExt cx="1276632" cy="8177465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33341255-1B94-454E-8ACA-055686EB0D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46768" y="990599"/>
              <a:ext cx="1276632" cy="8153401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B2D8D35-52B7-44D5-9E6A-7F525E2CC3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30818" y="966535"/>
              <a:ext cx="215819" cy="216000"/>
            </a:xfrm>
            <a:prstGeom prst="ellipse">
              <a:avLst/>
            </a:prstGeom>
            <a:solidFill>
              <a:srgbClr val="F68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6884434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FA470-02E7-F44D-A795-D036827C2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1828800"/>
            <a:ext cx="5243512" cy="1427162"/>
          </a:xfrm>
        </p:spPr>
        <p:txBody>
          <a:bodyPr anchor="ctr"/>
          <a:lstStyle>
            <a:lvl1pPr>
              <a:defRPr sz="3200"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F3372-B4B6-E247-AED1-5903A2B5A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200" y="1828800"/>
            <a:ext cx="8229600" cy="64992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D653B-64FA-934B-AFE8-BC50A6D3A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70000" y="3255962"/>
            <a:ext cx="5243512" cy="508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6D78929-A738-074F-A775-B2146D0F2DC5}"/>
              </a:ext>
            </a:extLst>
          </p:cNvPr>
          <p:cNvSpPr txBox="1">
            <a:spLocks/>
          </p:cNvSpPr>
          <p:nvPr userDrawn="1"/>
        </p:nvSpPr>
        <p:spPr>
          <a:xfrm>
            <a:off x="2184400" y="596901"/>
            <a:ext cx="131826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0056A4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85250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729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8E7164-56BE-E145-8380-A6FFF91133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2" name="object 19">
            <a:extLst>
              <a:ext uri="{FF2B5EF4-FFF2-40B4-BE49-F238E27FC236}">
                <a16:creationId xmlns:a16="http://schemas.microsoft.com/office/drawing/2014/main" id="{1909E3CD-9BCF-FC4C-AD79-FA88411AA601}"/>
              </a:ext>
            </a:extLst>
          </p:cNvPr>
          <p:cNvSpPr txBox="1"/>
          <p:nvPr userDrawn="1"/>
        </p:nvSpPr>
        <p:spPr>
          <a:xfrm>
            <a:off x="720000" y="8641710"/>
            <a:ext cx="40576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1200" spc="-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1200" spc="-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1200" spc="-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12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CAB7C9-1C76-6040-8865-2D2DA39E7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1800" y="3733800"/>
            <a:ext cx="6388100" cy="1676400"/>
          </a:xfrm>
        </p:spPr>
        <p:txBody>
          <a:bodyPr>
            <a:no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264B56-427D-DD40-BC53-1F09257124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14" b="23925"/>
          <a:stretch/>
        </p:blipFill>
        <p:spPr>
          <a:xfrm>
            <a:off x="12198021" y="510848"/>
            <a:ext cx="3526348" cy="116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291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8E7164-56BE-E145-8380-A6FFF91133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2" name="object 19">
            <a:extLst>
              <a:ext uri="{FF2B5EF4-FFF2-40B4-BE49-F238E27FC236}">
                <a16:creationId xmlns:a16="http://schemas.microsoft.com/office/drawing/2014/main" id="{1909E3CD-9BCF-FC4C-AD79-FA88411AA601}"/>
              </a:ext>
            </a:extLst>
          </p:cNvPr>
          <p:cNvSpPr txBox="1"/>
          <p:nvPr userDrawn="1"/>
        </p:nvSpPr>
        <p:spPr>
          <a:xfrm>
            <a:off x="11557000" y="8458200"/>
            <a:ext cx="40576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CAB7C9-1C76-6040-8865-2D2DA39E7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0" y="3962400"/>
            <a:ext cx="6388100" cy="1676400"/>
          </a:xfrm>
        </p:spPr>
        <p:txBody>
          <a:bodyPr>
            <a:noAutofit/>
          </a:bodyPr>
          <a:lstStyle>
            <a:lvl1pPr algn="l">
              <a:defRPr sz="5400"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6733FB-006C-C346-9438-58C1D83824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6600" y="564912"/>
            <a:ext cx="3568700" cy="959088"/>
          </a:xfrm>
          <a:prstGeom prst="rect">
            <a:avLst/>
          </a:prstGeom>
        </p:spPr>
      </p:pic>
      <p:sp>
        <p:nvSpPr>
          <p:cNvPr id="9" name="Freeform 8">
            <a:hlinkClick r:id="rId4"/>
            <a:extLst>
              <a:ext uri="{FF2B5EF4-FFF2-40B4-BE49-F238E27FC236}">
                <a16:creationId xmlns:a16="http://schemas.microsoft.com/office/drawing/2014/main" id="{21374C47-3DF0-A141-86AA-FA24EEE8217F}"/>
              </a:ext>
            </a:extLst>
          </p:cNvPr>
          <p:cNvSpPr>
            <a:spLocks/>
          </p:cNvSpPr>
          <p:nvPr userDrawn="1"/>
        </p:nvSpPr>
        <p:spPr bwMode="auto">
          <a:xfrm>
            <a:off x="10985939" y="5743705"/>
            <a:ext cx="435304" cy="355877"/>
          </a:xfrm>
          <a:custGeom>
            <a:avLst/>
            <a:gdLst>
              <a:gd name="T0" fmla="*/ 18 w 422"/>
              <a:gd name="T1" fmla="*/ 307 h 345"/>
              <a:gd name="T2" fmla="*/ 68 w 422"/>
              <a:gd name="T3" fmla="*/ 301 h 345"/>
              <a:gd name="T4" fmla="*/ 112 w 422"/>
              <a:gd name="T5" fmla="*/ 281 h 345"/>
              <a:gd name="T6" fmla="*/ 112 w 422"/>
              <a:gd name="T7" fmla="*/ 269 h 345"/>
              <a:gd name="T8" fmla="*/ 78 w 422"/>
              <a:gd name="T9" fmla="*/ 253 h 345"/>
              <a:gd name="T10" fmla="*/ 52 w 422"/>
              <a:gd name="T11" fmla="*/ 223 h 345"/>
              <a:gd name="T12" fmla="*/ 66 w 422"/>
              <a:gd name="T13" fmla="*/ 211 h 345"/>
              <a:gd name="T14" fmla="*/ 86 w 422"/>
              <a:gd name="T15" fmla="*/ 209 h 345"/>
              <a:gd name="T16" fmla="*/ 46 w 422"/>
              <a:gd name="T17" fmla="*/ 189 h 345"/>
              <a:gd name="T18" fmla="*/ 26 w 422"/>
              <a:gd name="T19" fmla="*/ 164 h 345"/>
              <a:gd name="T20" fmla="*/ 16 w 422"/>
              <a:gd name="T21" fmla="*/ 122 h 345"/>
              <a:gd name="T22" fmla="*/ 44 w 422"/>
              <a:gd name="T23" fmla="*/ 132 h 345"/>
              <a:gd name="T24" fmla="*/ 42 w 422"/>
              <a:gd name="T25" fmla="*/ 122 h 345"/>
              <a:gd name="T26" fmla="*/ 20 w 422"/>
              <a:gd name="T27" fmla="*/ 80 h 345"/>
              <a:gd name="T28" fmla="*/ 18 w 422"/>
              <a:gd name="T29" fmla="*/ 48 h 345"/>
              <a:gd name="T30" fmla="*/ 28 w 422"/>
              <a:gd name="T31" fmla="*/ 16 h 345"/>
              <a:gd name="T32" fmla="*/ 86 w 422"/>
              <a:gd name="T33" fmla="*/ 68 h 345"/>
              <a:gd name="T34" fmla="*/ 156 w 422"/>
              <a:gd name="T35" fmla="*/ 98 h 345"/>
              <a:gd name="T36" fmla="*/ 208 w 422"/>
              <a:gd name="T37" fmla="*/ 108 h 345"/>
              <a:gd name="T38" fmla="*/ 206 w 422"/>
              <a:gd name="T39" fmla="*/ 78 h 345"/>
              <a:gd name="T40" fmla="*/ 220 w 422"/>
              <a:gd name="T41" fmla="*/ 40 h 345"/>
              <a:gd name="T42" fmla="*/ 236 w 422"/>
              <a:gd name="T43" fmla="*/ 20 h 345"/>
              <a:gd name="T44" fmla="*/ 268 w 422"/>
              <a:gd name="T45" fmla="*/ 4 h 345"/>
              <a:gd name="T46" fmla="*/ 304 w 422"/>
              <a:gd name="T47" fmla="*/ 2 h 345"/>
              <a:gd name="T48" fmla="*/ 330 w 422"/>
              <a:gd name="T49" fmla="*/ 10 h 345"/>
              <a:gd name="T50" fmla="*/ 352 w 422"/>
              <a:gd name="T51" fmla="*/ 26 h 345"/>
              <a:gd name="T52" fmla="*/ 360 w 422"/>
              <a:gd name="T53" fmla="*/ 28 h 345"/>
              <a:gd name="T54" fmla="*/ 406 w 422"/>
              <a:gd name="T55" fmla="*/ 10 h 345"/>
              <a:gd name="T56" fmla="*/ 404 w 422"/>
              <a:gd name="T57" fmla="*/ 22 h 345"/>
              <a:gd name="T58" fmla="*/ 386 w 422"/>
              <a:gd name="T59" fmla="*/ 46 h 345"/>
              <a:gd name="T60" fmla="*/ 398 w 422"/>
              <a:gd name="T61" fmla="*/ 50 h 345"/>
              <a:gd name="T62" fmla="*/ 422 w 422"/>
              <a:gd name="T63" fmla="*/ 44 h 345"/>
              <a:gd name="T64" fmla="*/ 400 w 422"/>
              <a:gd name="T65" fmla="*/ 68 h 345"/>
              <a:gd name="T66" fmla="*/ 380 w 422"/>
              <a:gd name="T67" fmla="*/ 90 h 345"/>
              <a:gd name="T68" fmla="*/ 372 w 422"/>
              <a:gd name="T69" fmla="*/ 154 h 345"/>
              <a:gd name="T70" fmla="*/ 350 w 422"/>
              <a:gd name="T71" fmla="*/ 215 h 345"/>
              <a:gd name="T72" fmla="*/ 314 w 422"/>
              <a:gd name="T73" fmla="*/ 267 h 345"/>
              <a:gd name="T74" fmla="*/ 268 w 422"/>
              <a:gd name="T75" fmla="*/ 307 h 345"/>
              <a:gd name="T76" fmla="*/ 232 w 422"/>
              <a:gd name="T77" fmla="*/ 327 h 345"/>
              <a:gd name="T78" fmla="*/ 150 w 422"/>
              <a:gd name="T79" fmla="*/ 345 h 345"/>
              <a:gd name="T80" fmla="*/ 98 w 422"/>
              <a:gd name="T81" fmla="*/ 343 h 345"/>
              <a:gd name="T82" fmla="*/ 30 w 422"/>
              <a:gd name="T83" fmla="*/ 323 h 345"/>
              <a:gd name="T84" fmla="*/ 0 w 422"/>
              <a:gd name="T85" fmla="*/ 309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422" h="345">
                <a:moveTo>
                  <a:pt x="0" y="307"/>
                </a:moveTo>
                <a:lnTo>
                  <a:pt x="0" y="307"/>
                </a:lnTo>
                <a:lnTo>
                  <a:pt x="18" y="307"/>
                </a:lnTo>
                <a:lnTo>
                  <a:pt x="34" y="307"/>
                </a:lnTo>
                <a:lnTo>
                  <a:pt x="52" y="305"/>
                </a:lnTo>
                <a:lnTo>
                  <a:pt x="68" y="301"/>
                </a:lnTo>
                <a:lnTo>
                  <a:pt x="82" y="297"/>
                </a:lnTo>
                <a:lnTo>
                  <a:pt x="98" y="289"/>
                </a:lnTo>
                <a:lnTo>
                  <a:pt x="112" y="281"/>
                </a:lnTo>
                <a:lnTo>
                  <a:pt x="128" y="271"/>
                </a:lnTo>
                <a:lnTo>
                  <a:pt x="128" y="271"/>
                </a:lnTo>
                <a:lnTo>
                  <a:pt x="112" y="269"/>
                </a:lnTo>
                <a:lnTo>
                  <a:pt x="100" y="265"/>
                </a:lnTo>
                <a:lnTo>
                  <a:pt x="88" y="261"/>
                </a:lnTo>
                <a:lnTo>
                  <a:pt x="78" y="253"/>
                </a:lnTo>
                <a:lnTo>
                  <a:pt x="68" y="245"/>
                </a:lnTo>
                <a:lnTo>
                  <a:pt x="60" y="235"/>
                </a:lnTo>
                <a:lnTo>
                  <a:pt x="52" y="223"/>
                </a:lnTo>
                <a:lnTo>
                  <a:pt x="46" y="211"/>
                </a:lnTo>
                <a:lnTo>
                  <a:pt x="46" y="211"/>
                </a:lnTo>
                <a:lnTo>
                  <a:pt x="66" y="211"/>
                </a:lnTo>
                <a:lnTo>
                  <a:pt x="76" y="211"/>
                </a:lnTo>
                <a:lnTo>
                  <a:pt x="86" y="209"/>
                </a:lnTo>
                <a:lnTo>
                  <a:pt x="86" y="209"/>
                </a:lnTo>
                <a:lnTo>
                  <a:pt x="70" y="205"/>
                </a:lnTo>
                <a:lnTo>
                  <a:pt x="58" y="197"/>
                </a:lnTo>
                <a:lnTo>
                  <a:pt x="46" y="189"/>
                </a:lnTo>
                <a:lnTo>
                  <a:pt x="36" y="178"/>
                </a:lnTo>
                <a:lnTo>
                  <a:pt x="36" y="178"/>
                </a:lnTo>
                <a:lnTo>
                  <a:pt x="26" y="164"/>
                </a:lnTo>
                <a:lnTo>
                  <a:pt x="20" y="152"/>
                </a:lnTo>
                <a:lnTo>
                  <a:pt x="18" y="138"/>
                </a:lnTo>
                <a:lnTo>
                  <a:pt x="16" y="122"/>
                </a:lnTo>
                <a:lnTo>
                  <a:pt x="16" y="122"/>
                </a:lnTo>
                <a:lnTo>
                  <a:pt x="34" y="130"/>
                </a:lnTo>
                <a:lnTo>
                  <a:pt x="44" y="132"/>
                </a:lnTo>
                <a:lnTo>
                  <a:pt x="56" y="132"/>
                </a:lnTo>
                <a:lnTo>
                  <a:pt x="56" y="132"/>
                </a:lnTo>
                <a:lnTo>
                  <a:pt x="42" y="122"/>
                </a:lnTo>
                <a:lnTo>
                  <a:pt x="32" y="110"/>
                </a:lnTo>
                <a:lnTo>
                  <a:pt x="24" y="96"/>
                </a:lnTo>
                <a:lnTo>
                  <a:pt x="20" y="80"/>
                </a:lnTo>
                <a:lnTo>
                  <a:pt x="20" y="80"/>
                </a:lnTo>
                <a:lnTo>
                  <a:pt x="16" y="64"/>
                </a:lnTo>
                <a:lnTo>
                  <a:pt x="18" y="48"/>
                </a:lnTo>
                <a:lnTo>
                  <a:pt x="22" y="32"/>
                </a:lnTo>
                <a:lnTo>
                  <a:pt x="28" y="16"/>
                </a:lnTo>
                <a:lnTo>
                  <a:pt x="28" y="16"/>
                </a:lnTo>
                <a:lnTo>
                  <a:pt x="46" y="36"/>
                </a:lnTo>
                <a:lnTo>
                  <a:pt x="66" y="54"/>
                </a:lnTo>
                <a:lnTo>
                  <a:pt x="86" y="68"/>
                </a:lnTo>
                <a:lnTo>
                  <a:pt x="108" y="82"/>
                </a:lnTo>
                <a:lnTo>
                  <a:pt x="132" y="92"/>
                </a:lnTo>
                <a:lnTo>
                  <a:pt x="156" y="98"/>
                </a:lnTo>
                <a:lnTo>
                  <a:pt x="180" y="104"/>
                </a:lnTo>
                <a:lnTo>
                  <a:pt x="208" y="108"/>
                </a:lnTo>
                <a:lnTo>
                  <a:pt x="208" y="108"/>
                </a:lnTo>
                <a:lnTo>
                  <a:pt x="206" y="92"/>
                </a:lnTo>
                <a:lnTo>
                  <a:pt x="206" y="92"/>
                </a:lnTo>
                <a:lnTo>
                  <a:pt x="206" y="78"/>
                </a:lnTo>
                <a:lnTo>
                  <a:pt x="208" y="64"/>
                </a:lnTo>
                <a:lnTo>
                  <a:pt x="214" y="52"/>
                </a:lnTo>
                <a:lnTo>
                  <a:pt x="220" y="40"/>
                </a:lnTo>
                <a:lnTo>
                  <a:pt x="220" y="40"/>
                </a:lnTo>
                <a:lnTo>
                  <a:pt x="228" y="30"/>
                </a:lnTo>
                <a:lnTo>
                  <a:pt x="236" y="20"/>
                </a:lnTo>
                <a:lnTo>
                  <a:pt x="246" y="14"/>
                </a:lnTo>
                <a:lnTo>
                  <a:pt x="256" y="8"/>
                </a:lnTo>
                <a:lnTo>
                  <a:pt x="268" y="4"/>
                </a:lnTo>
                <a:lnTo>
                  <a:pt x="278" y="2"/>
                </a:lnTo>
                <a:lnTo>
                  <a:pt x="290" y="0"/>
                </a:lnTo>
                <a:lnTo>
                  <a:pt x="304" y="2"/>
                </a:lnTo>
                <a:lnTo>
                  <a:pt x="304" y="2"/>
                </a:lnTo>
                <a:lnTo>
                  <a:pt x="318" y="4"/>
                </a:lnTo>
                <a:lnTo>
                  <a:pt x="330" y="10"/>
                </a:lnTo>
                <a:lnTo>
                  <a:pt x="342" y="16"/>
                </a:lnTo>
                <a:lnTo>
                  <a:pt x="352" y="26"/>
                </a:lnTo>
                <a:lnTo>
                  <a:pt x="352" y="26"/>
                </a:lnTo>
                <a:lnTo>
                  <a:pt x="356" y="28"/>
                </a:lnTo>
                <a:lnTo>
                  <a:pt x="360" y="28"/>
                </a:lnTo>
                <a:lnTo>
                  <a:pt x="360" y="28"/>
                </a:lnTo>
                <a:lnTo>
                  <a:pt x="384" y="20"/>
                </a:lnTo>
                <a:lnTo>
                  <a:pt x="406" y="10"/>
                </a:lnTo>
                <a:lnTo>
                  <a:pt x="406" y="10"/>
                </a:lnTo>
                <a:lnTo>
                  <a:pt x="410" y="8"/>
                </a:lnTo>
                <a:lnTo>
                  <a:pt x="410" y="8"/>
                </a:lnTo>
                <a:lnTo>
                  <a:pt x="404" y="22"/>
                </a:lnTo>
                <a:lnTo>
                  <a:pt x="396" y="34"/>
                </a:lnTo>
                <a:lnTo>
                  <a:pt x="396" y="34"/>
                </a:lnTo>
                <a:lnTo>
                  <a:pt x="386" y="46"/>
                </a:lnTo>
                <a:lnTo>
                  <a:pt x="374" y="54"/>
                </a:lnTo>
                <a:lnTo>
                  <a:pt x="374" y="54"/>
                </a:lnTo>
                <a:lnTo>
                  <a:pt x="398" y="50"/>
                </a:lnTo>
                <a:lnTo>
                  <a:pt x="422" y="42"/>
                </a:lnTo>
                <a:lnTo>
                  <a:pt x="422" y="42"/>
                </a:lnTo>
                <a:lnTo>
                  <a:pt x="422" y="44"/>
                </a:lnTo>
                <a:lnTo>
                  <a:pt x="422" y="44"/>
                </a:lnTo>
                <a:lnTo>
                  <a:pt x="400" y="68"/>
                </a:lnTo>
                <a:lnTo>
                  <a:pt x="400" y="68"/>
                </a:lnTo>
                <a:lnTo>
                  <a:pt x="382" y="84"/>
                </a:lnTo>
                <a:lnTo>
                  <a:pt x="382" y="84"/>
                </a:lnTo>
                <a:lnTo>
                  <a:pt x="380" y="90"/>
                </a:lnTo>
                <a:lnTo>
                  <a:pt x="380" y="90"/>
                </a:lnTo>
                <a:lnTo>
                  <a:pt x="378" y="122"/>
                </a:lnTo>
                <a:lnTo>
                  <a:pt x="372" y="154"/>
                </a:lnTo>
                <a:lnTo>
                  <a:pt x="364" y="185"/>
                </a:lnTo>
                <a:lnTo>
                  <a:pt x="350" y="215"/>
                </a:lnTo>
                <a:lnTo>
                  <a:pt x="350" y="215"/>
                </a:lnTo>
                <a:lnTo>
                  <a:pt x="340" y="233"/>
                </a:lnTo>
                <a:lnTo>
                  <a:pt x="328" y="251"/>
                </a:lnTo>
                <a:lnTo>
                  <a:pt x="314" y="267"/>
                </a:lnTo>
                <a:lnTo>
                  <a:pt x="300" y="281"/>
                </a:lnTo>
                <a:lnTo>
                  <a:pt x="286" y="295"/>
                </a:lnTo>
                <a:lnTo>
                  <a:pt x="268" y="307"/>
                </a:lnTo>
                <a:lnTo>
                  <a:pt x="252" y="317"/>
                </a:lnTo>
                <a:lnTo>
                  <a:pt x="232" y="327"/>
                </a:lnTo>
                <a:lnTo>
                  <a:pt x="232" y="327"/>
                </a:lnTo>
                <a:lnTo>
                  <a:pt x="206" y="335"/>
                </a:lnTo>
                <a:lnTo>
                  <a:pt x="178" y="343"/>
                </a:lnTo>
                <a:lnTo>
                  <a:pt x="150" y="345"/>
                </a:lnTo>
                <a:lnTo>
                  <a:pt x="122" y="345"/>
                </a:lnTo>
                <a:lnTo>
                  <a:pt x="122" y="345"/>
                </a:lnTo>
                <a:lnTo>
                  <a:pt x="98" y="343"/>
                </a:lnTo>
                <a:lnTo>
                  <a:pt x="76" y="339"/>
                </a:lnTo>
                <a:lnTo>
                  <a:pt x="52" y="333"/>
                </a:lnTo>
                <a:lnTo>
                  <a:pt x="30" y="323"/>
                </a:lnTo>
                <a:lnTo>
                  <a:pt x="30" y="323"/>
                </a:lnTo>
                <a:lnTo>
                  <a:pt x="0" y="309"/>
                </a:lnTo>
                <a:lnTo>
                  <a:pt x="0" y="309"/>
                </a:lnTo>
                <a:lnTo>
                  <a:pt x="0" y="307"/>
                </a:lnTo>
                <a:lnTo>
                  <a:pt x="0" y="307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AA1B2A1-44BF-514C-9B61-0217872F1428}"/>
              </a:ext>
            </a:extLst>
          </p:cNvPr>
          <p:cNvGrpSpPr/>
          <p:nvPr userDrawn="1"/>
        </p:nvGrpSpPr>
        <p:grpSpPr>
          <a:xfrm>
            <a:off x="11633200" y="5715000"/>
            <a:ext cx="426580" cy="430518"/>
            <a:chOff x="2652713" y="4170363"/>
            <a:chExt cx="687388" cy="693738"/>
          </a:xfrm>
          <a:solidFill>
            <a:schemeClr val="bg1"/>
          </a:solidFill>
        </p:grpSpPr>
        <p:sp>
          <p:nvSpPr>
            <p:cNvPr id="11" name="Freeform 10">
              <a:hlinkClick r:id="rId5"/>
              <a:extLst>
                <a:ext uri="{FF2B5EF4-FFF2-40B4-BE49-F238E27FC236}">
                  <a16:creationId xmlns:a16="http://schemas.microsoft.com/office/drawing/2014/main" id="{8CA46077-2A23-5A4C-8DC1-E5A970057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2713" y="4170363"/>
              <a:ext cx="687388" cy="693738"/>
            </a:xfrm>
            <a:custGeom>
              <a:avLst/>
              <a:gdLst>
                <a:gd name="T0" fmla="*/ 0 w 433"/>
                <a:gd name="T1" fmla="*/ 233 h 437"/>
                <a:gd name="T2" fmla="*/ 0 w 433"/>
                <a:gd name="T3" fmla="*/ 205 h 437"/>
                <a:gd name="T4" fmla="*/ 0 w 433"/>
                <a:gd name="T5" fmla="*/ 201 h 437"/>
                <a:gd name="T6" fmla="*/ 4 w 433"/>
                <a:gd name="T7" fmla="*/ 168 h 437"/>
                <a:gd name="T8" fmla="*/ 16 w 433"/>
                <a:gd name="T9" fmla="*/ 136 h 437"/>
                <a:gd name="T10" fmla="*/ 28 w 433"/>
                <a:gd name="T11" fmla="*/ 110 h 437"/>
                <a:gd name="T12" fmla="*/ 60 w 433"/>
                <a:gd name="T13" fmla="*/ 66 h 437"/>
                <a:gd name="T14" fmla="*/ 80 w 433"/>
                <a:gd name="T15" fmla="*/ 48 h 437"/>
                <a:gd name="T16" fmla="*/ 130 w 433"/>
                <a:gd name="T17" fmla="*/ 18 h 437"/>
                <a:gd name="T18" fmla="*/ 188 w 433"/>
                <a:gd name="T19" fmla="*/ 2 h 437"/>
                <a:gd name="T20" fmla="*/ 204 w 433"/>
                <a:gd name="T21" fmla="*/ 0 h 437"/>
                <a:gd name="T22" fmla="*/ 230 w 433"/>
                <a:gd name="T23" fmla="*/ 0 h 437"/>
                <a:gd name="T24" fmla="*/ 232 w 433"/>
                <a:gd name="T25" fmla="*/ 2 h 437"/>
                <a:gd name="T26" fmla="*/ 266 w 433"/>
                <a:gd name="T27" fmla="*/ 6 h 437"/>
                <a:gd name="T28" fmla="*/ 292 w 433"/>
                <a:gd name="T29" fmla="*/ 14 h 437"/>
                <a:gd name="T30" fmla="*/ 338 w 433"/>
                <a:gd name="T31" fmla="*/ 38 h 437"/>
                <a:gd name="T32" fmla="*/ 360 w 433"/>
                <a:gd name="T33" fmla="*/ 56 h 437"/>
                <a:gd name="T34" fmla="*/ 400 w 433"/>
                <a:gd name="T35" fmla="*/ 102 h 437"/>
                <a:gd name="T36" fmla="*/ 411 w 433"/>
                <a:gd name="T37" fmla="*/ 122 h 437"/>
                <a:gd name="T38" fmla="*/ 427 w 433"/>
                <a:gd name="T39" fmla="*/ 166 h 437"/>
                <a:gd name="T40" fmla="*/ 431 w 433"/>
                <a:gd name="T41" fmla="*/ 189 h 437"/>
                <a:gd name="T42" fmla="*/ 433 w 433"/>
                <a:gd name="T43" fmla="*/ 205 h 437"/>
                <a:gd name="T44" fmla="*/ 433 w 433"/>
                <a:gd name="T45" fmla="*/ 233 h 437"/>
                <a:gd name="T46" fmla="*/ 431 w 433"/>
                <a:gd name="T47" fmla="*/ 249 h 437"/>
                <a:gd name="T48" fmla="*/ 423 w 433"/>
                <a:gd name="T49" fmla="*/ 285 h 437"/>
                <a:gd name="T50" fmla="*/ 409 w 433"/>
                <a:gd name="T51" fmla="*/ 317 h 437"/>
                <a:gd name="T52" fmla="*/ 396 w 433"/>
                <a:gd name="T53" fmla="*/ 341 h 437"/>
                <a:gd name="T54" fmla="*/ 362 w 433"/>
                <a:gd name="T55" fmla="*/ 379 h 437"/>
                <a:gd name="T56" fmla="*/ 342 w 433"/>
                <a:gd name="T57" fmla="*/ 395 h 437"/>
                <a:gd name="T58" fmla="*/ 296 w 433"/>
                <a:gd name="T59" fmla="*/ 421 h 437"/>
                <a:gd name="T60" fmla="*/ 246 w 433"/>
                <a:gd name="T61" fmla="*/ 435 h 437"/>
                <a:gd name="T62" fmla="*/ 230 w 433"/>
                <a:gd name="T63" fmla="*/ 437 h 437"/>
                <a:gd name="T64" fmla="*/ 204 w 433"/>
                <a:gd name="T65" fmla="*/ 437 h 437"/>
                <a:gd name="T66" fmla="*/ 188 w 433"/>
                <a:gd name="T67" fmla="*/ 435 h 437"/>
                <a:gd name="T68" fmla="*/ 170 w 433"/>
                <a:gd name="T69" fmla="*/ 431 h 437"/>
                <a:gd name="T70" fmla="*/ 134 w 433"/>
                <a:gd name="T71" fmla="*/ 421 h 437"/>
                <a:gd name="T72" fmla="*/ 118 w 433"/>
                <a:gd name="T73" fmla="*/ 413 h 437"/>
                <a:gd name="T74" fmla="*/ 74 w 433"/>
                <a:gd name="T75" fmla="*/ 383 h 437"/>
                <a:gd name="T76" fmla="*/ 40 w 433"/>
                <a:gd name="T77" fmla="*/ 345 h 437"/>
                <a:gd name="T78" fmla="*/ 26 w 433"/>
                <a:gd name="T79" fmla="*/ 323 h 437"/>
                <a:gd name="T80" fmla="*/ 6 w 433"/>
                <a:gd name="T81" fmla="*/ 273 h 437"/>
                <a:gd name="T82" fmla="*/ 2 w 433"/>
                <a:gd name="T83" fmla="*/ 247 h 437"/>
                <a:gd name="T84" fmla="*/ 0 w 433"/>
                <a:gd name="T85" fmla="*/ 233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33" h="437">
                  <a:moveTo>
                    <a:pt x="0" y="233"/>
                  </a:moveTo>
                  <a:lnTo>
                    <a:pt x="0" y="233"/>
                  </a:lnTo>
                  <a:lnTo>
                    <a:pt x="0" y="205"/>
                  </a:lnTo>
                  <a:lnTo>
                    <a:pt x="0" y="205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2" y="185"/>
                  </a:lnTo>
                  <a:lnTo>
                    <a:pt x="4" y="168"/>
                  </a:lnTo>
                  <a:lnTo>
                    <a:pt x="10" y="152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28" y="110"/>
                  </a:lnTo>
                  <a:lnTo>
                    <a:pt x="42" y="88"/>
                  </a:lnTo>
                  <a:lnTo>
                    <a:pt x="60" y="66"/>
                  </a:lnTo>
                  <a:lnTo>
                    <a:pt x="80" y="48"/>
                  </a:lnTo>
                  <a:lnTo>
                    <a:pt x="80" y="48"/>
                  </a:lnTo>
                  <a:lnTo>
                    <a:pt x="104" y="32"/>
                  </a:lnTo>
                  <a:lnTo>
                    <a:pt x="130" y="18"/>
                  </a:lnTo>
                  <a:lnTo>
                    <a:pt x="158" y="8"/>
                  </a:lnTo>
                  <a:lnTo>
                    <a:pt x="188" y="2"/>
                  </a:lnTo>
                  <a:lnTo>
                    <a:pt x="188" y="2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30" y="0"/>
                  </a:lnTo>
                  <a:lnTo>
                    <a:pt x="230" y="0"/>
                  </a:lnTo>
                  <a:lnTo>
                    <a:pt x="232" y="2"/>
                  </a:lnTo>
                  <a:lnTo>
                    <a:pt x="232" y="2"/>
                  </a:lnTo>
                  <a:lnTo>
                    <a:pt x="266" y="6"/>
                  </a:lnTo>
                  <a:lnTo>
                    <a:pt x="266" y="6"/>
                  </a:lnTo>
                  <a:lnTo>
                    <a:pt x="292" y="14"/>
                  </a:lnTo>
                  <a:lnTo>
                    <a:pt x="316" y="24"/>
                  </a:lnTo>
                  <a:lnTo>
                    <a:pt x="338" y="38"/>
                  </a:lnTo>
                  <a:lnTo>
                    <a:pt x="360" y="56"/>
                  </a:lnTo>
                  <a:lnTo>
                    <a:pt x="360" y="56"/>
                  </a:lnTo>
                  <a:lnTo>
                    <a:pt x="382" y="78"/>
                  </a:lnTo>
                  <a:lnTo>
                    <a:pt x="400" y="102"/>
                  </a:lnTo>
                  <a:lnTo>
                    <a:pt x="400" y="102"/>
                  </a:lnTo>
                  <a:lnTo>
                    <a:pt x="411" y="122"/>
                  </a:lnTo>
                  <a:lnTo>
                    <a:pt x="419" y="144"/>
                  </a:lnTo>
                  <a:lnTo>
                    <a:pt x="427" y="166"/>
                  </a:lnTo>
                  <a:lnTo>
                    <a:pt x="431" y="189"/>
                  </a:lnTo>
                  <a:lnTo>
                    <a:pt x="431" y="189"/>
                  </a:lnTo>
                  <a:lnTo>
                    <a:pt x="433" y="205"/>
                  </a:lnTo>
                  <a:lnTo>
                    <a:pt x="433" y="205"/>
                  </a:lnTo>
                  <a:lnTo>
                    <a:pt x="433" y="233"/>
                  </a:lnTo>
                  <a:lnTo>
                    <a:pt x="433" y="233"/>
                  </a:lnTo>
                  <a:lnTo>
                    <a:pt x="431" y="249"/>
                  </a:lnTo>
                  <a:lnTo>
                    <a:pt x="431" y="249"/>
                  </a:lnTo>
                  <a:lnTo>
                    <a:pt x="427" y="267"/>
                  </a:lnTo>
                  <a:lnTo>
                    <a:pt x="423" y="285"/>
                  </a:lnTo>
                  <a:lnTo>
                    <a:pt x="417" y="301"/>
                  </a:lnTo>
                  <a:lnTo>
                    <a:pt x="409" y="317"/>
                  </a:lnTo>
                  <a:lnTo>
                    <a:pt x="409" y="317"/>
                  </a:lnTo>
                  <a:lnTo>
                    <a:pt x="396" y="341"/>
                  </a:lnTo>
                  <a:lnTo>
                    <a:pt x="380" y="361"/>
                  </a:lnTo>
                  <a:lnTo>
                    <a:pt x="362" y="379"/>
                  </a:lnTo>
                  <a:lnTo>
                    <a:pt x="342" y="395"/>
                  </a:lnTo>
                  <a:lnTo>
                    <a:pt x="342" y="395"/>
                  </a:lnTo>
                  <a:lnTo>
                    <a:pt x="320" y="409"/>
                  </a:lnTo>
                  <a:lnTo>
                    <a:pt x="296" y="421"/>
                  </a:lnTo>
                  <a:lnTo>
                    <a:pt x="272" y="429"/>
                  </a:lnTo>
                  <a:lnTo>
                    <a:pt x="246" y="435"/>
                  </a:lnTo>
                  <a:lnTo>
                    <a:pt x="246" y="435"/>
                  </a:lnTo>
                  <a:lnTo>
                    <a:pt x="230" y="437"/>
                  </a:lnTo>
                  <a:lnTo>
                    <a:pt x="230" y="437"/>
                  </a:lnTo>
                  <a:lnTo>
                    <a:pt x="204" y="437"/>
                  </a:lnTo>
                  <a:lnTo>
                    <a:pt x="204" y="437"/>
                  </a:lnTo>
                  <a:lnTo>
                    <a:pt x="188" y="435"/>
                  </a:lnTo>
                  <a:lnTo>
                    <a:pt x="188" y="435"/>
                  </a:lnTo>
                  <a:lnTo>
                    <a:pt x="170" y="431"/>
                  </a:lnTo>
                  <a:lnTo>
                    <a:pt x="152" y="427"/>
                  </a:lnTo>
                  <a:lnTo>
                    <a:pt x="134" y="421"/>
                  </a:lnTo>
                  <a:lnTo>
                    <a:pt x="118" y="413"/>
                  </a:lnTo>
                  <a:lnTo>
                    <a:pt x="118" y="413"/>
                  </a:lnTo>
                  <a:lnTo>
                    <a:pt x="96" y="399"/>
                  </a:lnTo>
                  <a:lnTo>
                    <a:pt x="74" y="383"/>
                  </a:lnTo>
                  <a:lnTo>
                    <a:pt x="56" y="365"/>
                  </a:lnTo>
                  <a:lnTo>
                    <a:pt x="40" y="345"/>
                  </a:lnTo>
                  <a:lnTo>
                    <a:pt x="40" y="345"/>
                  </a:lnTo>
                  <a:lnTo>
                    <a:pt x="26" y="323"/>
                  </a:lnTo>
                  <a:lnTo>
                    <a:pt x="14" y="299"/>
                  </a:lnTo>
                  <a:lnTo>
                    <a:pt x="6" y="273"/>
                  </a:lnTo>
                  <a:lnTo>
                    <a:pt x="2" y="247"/>
                  </a:lnTo>
                  <a:lnTo>
                    <a:pt x="2" y="247"/>
                  </a:lnTo>
                  <a:lnTo>
                    <a:pt x="0" y="233"/>
                  </a:lnTo>
                  <a:lnTo>
                    <a:pt x="0" y="233"/>
                  </a:lnTo>
                  <a:close/>
                </a:path>
              </a:pathLst>
            </a:custGeom>
            <a:solidFill>
              <a:srgbClr val="F68B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ACC6D88-0AF9-B74C-849F-4EE7329548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22588" y="4389438"/>
              <a:ext cx="190500" cy="252413"/>
            </a:xfrm>
            <a:custGeom>
              <a:avLst/>
              <a:gdLst>
                <a:gd name="T0" fmla="*/ 0 w 120"/>
                <a:gd name="T1" fmla="*/ 159 h 159"/>
                <a:gd name="T2" fmla="*/ 0 w 120"/>
                <a:gd name="T3" fmla="*/ 159 h 159"/>
                <a:gd name="T4" fmla="*/ 0 w 120"/>
                <a:gd name="T5" fmla="*/ 0 h 159"/>
                <a:gd name="T6" fmla="*/ 0 w 120"/>
                <a:gd name="T7" fmla="*/ 0 h 159"/>
                <a:gd name="T8" fmla="*/ 120 w 120"/>
                <a:gd name="T9" fmla="*/ 81 h 159"/>
                <a:gd name="T10" fmla="*/ 120 w 120"/>
                <a:gd name="T11" fmla="*/ 81 h 159"/>
                <a:gd name="T12" fmla="*/ 0 w 120"/>
                <a:gd name="T13" fmla="*/ 159 h 159"/>
                <a:gd name="T14" fmla="*/ 0 w 120"/>
                <a:gd name="T1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59">
                  <a:moveTo>
                    <a:pt x="0" y="159"/>
                  </a:move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0" y="81"/>
                  </a:lnTo>
                  <a:lnTo>
                    <a:pt x="120" y="81"/>
                  </a:lnTo>
                  <a:lnTo>
                    <a:pt x="0" y="159"/>
                  </a:lnTo>
                  <a:lnTo>
                    <a:pt x="0" y="1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4" name="Freeform 13">
            <a:extLst>
              <a:ext uri="{FF2B5EF4-FFF2-40B4-BE49-F238E27FC236}">
                <a16:creationId xmlns:a16="http://schemas.microsoft.com/office/drawing/2014/main" id="{EC9658BF-C4FE-4A4F-9BEB-82B19989885D}"/>
              </a:ext>
            </a:extLst>
          </p:cNvPr>
          <p:cNvSpPr>
            <a:spLocks/>
          </p:cNvSpPr>
          <p:nvPr userDrawn="1"/>
        </p:nvSpPr>
        <p:spPr bwMode="auto">
          <a:xfrm>
            <a:off x="9922423" y="5805742"/>
            <a:ext cx="286764" cy="289860"/>
          </a:xfrm>
          <a:custGeom>
            <a:avLst/>
            <a:gdLst>
              <a:gd name="T0" fmla="*/ 0 w 278"/>
              <a:gd name="T1" fmla="*/ 281 h 281"/>
              <a:gd name="T2" fmla="*/ 0 w 278"/>
              <a:gd name="T3" fmla="*/ 8 h 281"/>
              <a:gd name="T4" fmla="*/ 4 w 278"/>
              <a:gd name="T5" fmla="*/ 6 h 281"/>
              <a:gd name="T6" fmla="*/ 88 w 278"/>
              <a:gd name="T7" fmla="*/ 6 h 281"/>
              <a:gd name="T8" fmla="*/ 92 w 278"/>
              <a:gd name="T9" fmla="*/ 12 h 281"/>
              <a:gd name="T10" fmla="*/ 92 w 278"/>
              <a:gd name="T11" fmla="*/ 46 h 281"/>
              <a:gd name="T12" fmla="*/ 100 w 278"/>
              <a:gd name="T13" fmla="*/ 34 h 281"/>
              <a:gd name="T14" fmla="*/ 112 w 278"/>
              <a:gd name="T15" fmla="*/ 20 h 281"/>
              <a:gd name="T16" fmla="*/ 142 w 278"/>
              <a:gd name="T17" fmla="*/ 4 h 281"/>
              <a:gd name="T18" fmla="*/ 160 w 278"/>
              <a:gd name="T19" fmla="*/ 2 h 281"/>
              <a:gd name="T20" fmla="*/ 192 w 278"/>
              <a:gd name="T21" fmla="*/ 2 h 281"/>
              <a:gd name="T22" fmla="*/ 222 w 278"/>
              <a:gd name="T23" fmla="*/ 12 h 281"/>
              <a:gd name="T24" fmla="*/ 234 w 278"/>
              <a:gd name="T25" fmla="*/ 18 h 281"/>
              <a:gd name="T26" fmla="*/ 254 w 278"/>
              <a:gd name="T27" fmla="*/ 38 h 281"/>
              <a:gd name="T28" fmla="*/ 262 w 278"/>
              <a:gd name="T29" fmla="*/ 50 h 281"/>
              <a:gd name="T30" fmla="*/ 274 w 278"/>
              <a:gd name="T31" fmla="*/ 84 h 281"/>
              <a:gd name="T32" fmla="*/ 278 w 278"/>
              <a:gd name="T33" fmla="*/ 123 h 281"/>
              <a:gd name="T34" fmla="*/ 278 w 278"/>
              <a:gd name="T35" fmla="*/ 279 h 281"/>
              <a:gd name="T36" fmla="*/ 278 w 278"/>
              <a:gd name="T37" fmla="*/ 281 h 281"/>
              <a:gd name="T38" fmla="*/ 186 w 278"/>
              <a:gd name="T39" fmla="*/ 281 h 281"/>
              <a:gd name="T40" fmla="*/ 186 w 278"/>
              <a:gd name="T41" fmla="*/ 277 h 281"/>
              <a:gd name="T42" fmla="*/ 186 w 278"/>
              <a:gd name="T43" fmla="*/ 137 h 281"/>
              <a:gd name="T44" fmla="*/ 186 w 278"/>
              <a:gd name="T45" fmla="*/ 119 h 281"/>
              <a:gd name="T46" fmla="*/ 182 w 278"/>
              <a:gd name="T47" fmla="*/ 101 h 281"/>
              <a:gd name="T48" fmla="*/ 164 w 278"/>
              <a:gd name="T49" fmla="*/ 78 h 281"/>
              <a:gd name="T50" fmla="*/ 138 w 278"/>
              <a:gd name="T51" fmla="*/ 72 h 281"/>
              <a:gd name="T52" fmla="*/ 122 w 278"/>
              <a:gd name="T53" fmla="*/ 76 h 281"/>
              <a:gd name="T54" fmla="*/ 100 w 278"/>
              <a:gd name="T55" fmla="*/ 94 h 281"/>
              <a:gd name="T56" fmla="*/ 94 w 278"/>
              <a:gd name="T57" fmla="*/ 109 h 281"/>
              <a:gd name="T58" fmla="*/ 92 w 278"/>
              <a:gd name="T59" fmla="*/ 131 h 281"/>
              <a:gd name="T60" fmla="*/ 92 w 278"/>
              <a:gd name="T61" fmla="*/ 277 h 281"/>
              <a:gd name="T62" fmla="*/ 90 w 278"/>
              <a:gd name="T63" fmla="*/ 281 h 281"/>
              <a:gd name="T64" fmla="*/ 88 w 278"/>
              <a:gd name="T65" fmla="*/ 281 h 281"/>
              <a:gd name="T66" fmla="*/ 6 w 278"/>
              <a:gd name="T67" fmla="*/ 281 h 281"/>
              <a:gd name="T68" fmla="*/ 0 w 278"/>
              <a:gd name="T69" fmla="*/ 281 h 2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78" h="281">
                <a:moveTo>
                  <a:pt x="0" y="281"/>
                </a:moveTo>
                <a:lnTo>
                  <a:pt x="0" y="281"/>
                </a:lnTo>
                <a:lnTo>
                  <a:pt x="0" y="8"/>
                </a:lnTo>
                <a:lnTo>
                  <a:pt x="0" y="8"/>
                </a:lnTo>
                <a:lnTo>
                  <a:pt x="4" y="6"/>
                </a:lnTo>
                <a:lnTo>
                  <a:pt x="4" y="6"/>
                </a:lnTo>
                <a:lnTo>
                  <a:pt x="88" y="6"/>
                </a:lnTo>
                <a:lnTo>
                  <a:pt x="88" y="6"/>
                </a:lnTo>
                <a:lnTo>
                  <a:pt x="90" y="8"/>
                </a:lnTo>
                <a:lnTo>
                  <a:pt x="92" y="12"/>
                </a:lnTo>
                <a:lnTo>
                  <a:pt x="92" y="12"/>
                </a:lnTo>
                <a:lnTo>
                  <a:pt x="92" y="46"/>
                </a:lnTo>
                <a:lnTo>
                  <a:pt x="92" y="46"/>
                </a:lnTo>
                <a:lnTo>
                  <a:pt x="100" y="34"/>
                </a:lnTo>
                <a:lnTo>
                  <a:pt x="100" y="34"/>
                </a:lnTo>
                <a:lnTo>
                  <a:pt x="112" y="20"/>
                </a:lnTo>
                <a:lnTo>
                  <a:pt x="126" y="12"/>
                </a:lnTo>
                <a:lnTo>
                  <a:pt x="142" y="4"/>
                </a:lnTo>
                <a:lnTo>
                  <a:pt x="160" y="2"/>
                </a:lnTo>
                <a:lnTo>
                  <a:pt x="160" y="2"/>
                </a:lnTo>
                <a:lnTo>
                  <a:pt x="176" y="0"/>
                </a:lnTo>
                <a:lnTo>
                  <a:pt x="192" y="2"/>
                </a:lnTo>
                <a:lnTo>
                  <a:pt x="206" y="6"/>
                </a:lnTo>
                <a:lnTo>
                  <a:pt x="222" y="12"/>
                </a:lnTo>
                <a:lnTo>
                  <a:pt x="222" y="12"/>
                </a:lnTo>
                <a:lnTo>
                  <a:pt x="234" y="18"/>
                </a:lnTo>
                <a:lnTo>
                  <a:pt x="244" y="28"/>
                </a:lnTo>
                <a:lnTo>
                  <a:pt x="254" y="38"/>
                </a:lnTo>
                <a:lnTo>
                  <a:pt x="262" y="50"/>
                </a:lnTo>
                <a:lnTo>
                  <a:pt x="262" y="50"/>
                </a:lnTo>
                <a:lnTo>
                  <a:pt x="270" y="66"/>
                </a:lnTo>
                <a:lnTo>
                  <a:pt x="274" y="84"/>
                </a:lnTo>
                <a:lnTo>
                  <a:pt x="276" y="105"/>
                </a:lnTo>
                <a:lnTo>
                  <a:pt x="278" y="123"/>
                </a:lnTo>
                <a:lnTo>
                  <a:pt x="278" y="123"/>
                </a:lnTo>
                <a:lnTo>
                  <a:pt x="278" y="279"/>
                </a:lnTo>
                <a:lnTo>
                  <a:pt x="278" y="279"/>
                </a:lnTo>
                <a:lnTo>
                  <a:pt x="278" y="281"/>
                </a:lnTo>
                <a:lnTo>
                  <a:pt x="278" y="281"/>
                </a:lnTo>
                <a:lnTo>
                  <a:pt x="186" y="281"/>
                </a:lnTo>
                <a:lnTo>
                  <a:pt x="186" y="281"/>
                </a:lnTo>
                <a:lnTo>
                  <a:pt x="186" y="277"/>
                </a:lnTo>
                <a:lnTo>
                  <a:pt x="186" y="277"/>
                </a:lnTo>
                <a:lnTo>
                  <a:pt x="186" y="137"/>
                </a:lnTo>
                <a:lnTo>
                  <a:pt x="186" y="137"/>
                </a:lnTo>
                <a:lnTo>
                  <a:pt x="186" y="119"/>
                </a:lnTo>
                <a:lnTo>
                  <a:pt x="182" y="101"/>
                </a:lnTo>
                <a:lnTo>
                  <a:pt x="182" y="101"/>
                </a:lnTo>
                <a:lnTo>
                  <a:pt x="174" y="88"/>
                </a:lnTo>
                <a:lnTo>
                  <a:pt x="164" y="78"/>
                </a:lnTo>
                <a:lnTo>
                  <a:pt x="152" y="74"/>
                </a:lnTo>
                <a:lnTo>
                  <a:pt x="138" y="72"/>
                </a:lnTo>
                <a:lnTo>
                  <a:pt x="138" y="72"/>
                </a:lnTo>
                <a:lnTo>
                  <a:pt x="122" y="76"/>
                </a:lnTo>
                <a:lnTo>
                  <a:pt x="110" y="84"/>
                </a:lnTo>
                <a:lnTo>
                  <a:pt x="100" y="94"/>
                </a:lnTo>
                <a:lnTo>
                  <a:pt x="94" y="109"/>
                </a:lnTo>
                <a:lnTo>
                  <a:pt x="94" y="109"/>
                </a:lnTo>
                <a:lnTo>
                  <a:pt x="92" y="119"/>
                </a:lnTo>
                <a:lnTo>
                  <a:pt x="92" y="131"/>
                </a:lnTo>
                <a:lnTo>
                  <a:pt x="92" y="131"/>
                </a:lnTo>
                <a:lnTo>
                  <a:pt x="92" y="277"/>
                </a:lnTo>
                <a:lnTo>
                  <a:pt x="92" y="277"/>
                </a:lnTo>
                <a:lnTo>
                  <a:pt x="90" y="281"/>
                </a:lnTo>
                <a:lnTo>
                  <a:pt x="88" y="281"/>
                </a:lnTo>
                <a:lnTo>
                  <a:pt x="88" y="281"/>
                </a:lnTo>
                <a:lnTo>
                  <a:pt x="6" y="281"/>
                </a:lnTo>
                <a:lnTo>
                  <a:pt x="6" y="281"/>
                </a:lnTo>
                <a:lnTo>
                  <a:pt x="0" y="281"/>
                </a:lnTo>
                <a:lnTo>
                  <a:pt x="0" y="281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1F444A4B-99D0-B749-BAF2-0EBE5941DF6E}"/>
              </a:ext>
            </a:extLst>
          </p:cNvPr>
          <p:cNvSpPr>
            <a:spLocks/>
          </p:cNvSpPr>
          <p:nvPr userDrawn="1"/>
        </p:nvSpPr>
        <p:spPr bwMode="auto">
          <a:xfrm>
            <a:off x="9779040" y="5811932"/>
            <a:ext cx="91806" cy="283670"/>
          </a:xfrm>
          <a:custGeom>
            <a:avLst/>
            <a:gdLst>
              <a:gd name="T0" fmla="*/ 89 w 89"/>
              <a:gd name="T1" fmla="*/ 275 h 275"/>
              <a:gd name="T2" fmla="*/ 89 w 89"/>
              <a:gd name="T3" fmla="*/ 275 h 275"/>
              <a:gd name="T4" fmla="*/ 85 w 89"/>
              <a:gd name="T5" fmla="*/ 275 h 275"/>
              <a:gd name="T6" fmla="*/ 85 w 89"/>
              <a:gd name="T7" fmla="*/ 275 h 275"/>
              <a:gd name="T8" fmla="*/ 4 w 89"/>
              <a:gd name="T9" fmla="*/ 275 h 275"/>
              <a:gd name="T10" fmla="*/ 4 w 89"/>
              <a:gd name="T11" fmla="*/ 275 h 275"/>
              <a:gd name="T12" fmla="*/ 0 w 89"/>
              <a:gd name="T13" fmla="*/ 275 h 275"/>
              <a:gd name="T14" fmla="*/ 0 w 89"/>
              <a:gd name="T15" fmla="*/ 271 h 275"/>
              <a:gd name="T16" fmla="*/ 0 w 89"/>
              <a:gd name="T17" fmla="*/ 271 h 275"/>
              <a:gd name="T18" fmla="*/ 0 w 89"/>
              <a:gd name="T19" fmla="*/ 4 h 275"/>
              <a:gd name="T20" fmla="*/ 0 w 89"/>
              <a:gd name="T21" fmla="*/ 4 h 275"/>
              <a:gd name="T22" fmla="*/ 0 w 89"/>
              <a:gd name="T23" fmla="*/ 2 h 275"/>
              <a:gd name="T24" fmla="*/ 4 w 89"/>
              <a:gd name="T25" fmla="*/ 0 h 275"/>
              <a:gd name="T26" fmla="*/ 4 w 89"/>
              <a:gd name="T27" fmla="*/ 0 h 275"/>
              <a:gd name="T28" fmla="*/ 85 w 89"/>
              <a:gd name="T29" fmla="*/ 0 h 275"/>
              <a:gd name="T30" fmla="*/ 85 w 89"/>
              <a:gd name="T31" fmla="*/ 0 h 275"/>
              <a:gd name="T32" fmla="*/ 89 w 89"/>
              <a:gd name="T33" fmla="*/ 2 h 275"/>
              <a:gd name="T34" fmla="*/ 89 w 89"/>
              <a:gd name="T35" fmla="*/ 2 h 275"/>
              <a:gd name="T36" fmla="*/ 89 w 89"/>
              <a:gd name="T37" fmla="*/ 275 h 275"/>
              <a:gd name="T38" fmla="*/ 89 w 89"/>
              <a:gd name="T39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89" h="275">
                <a:moveTo>
                  <a:pt x="89" y="275"/>
                </a:moveTo>
                <a:lnTo>
                  <a:pt x="89" y="275"/>
                </a:lnTo>
                <a:lnTo>
                  <a:pt x="85" y="275"/>
                </a:lnTo>
                <a:lnTo>
                  <a:pt x="85" y="275"/>
                </a:lnTo>
                <a:lnTo>
                  <a:pt x="4" y="275"/>
                </a:lnTo>
                <a:lnTo>
                  <a:pt x="4" y="275"/>
                </a:lnTo>
                <a:lnTo>
                  <a:pt x="0" y="275"/>
                </a:lnTo>
                <a:lnTo>
                  <a:pt x="0" y="271"/>
                </a:lnTo>
                <a:lnTo>
                  <a:pt x="0" y="271"/>
                </a:lnTo>
                <a:lnTo>
                  <a:pt x="0" y="4"/>
                </a:lnTo>
                <a:lnTo>
                  <a:pt x="0" y="4"/>
                </a:lnTo>
                <a:lnTo>
                  <a:pt x="0" y="2"/>
                </a:lnTo>
                <a:lnTo>
                  <a:pt x="4" y="0"/>
                </a:lnTo>
                <a:lnTo>
                  <a:pt x="4" y="0"/>
                </a:lnTo>
                <a:lnTo>
                  <a:pt x="85" y="0"/>
                </a:lnTo>
                <a:lnTo>
                  <a:pt x="85" y="0"/>
                </a:lnTo>
                <a:lnTo>
                  <a:pt x="89" y="2"/>
                </a:lnTo>
                <a:lnTo>
                  <a:pt x="89" y="2"/>
                </a:lnTo>
                <a:lnTo>
                  <a:pt x="89" y="275"/>
                </a:lnTo>
                <a:lnTo>
                  <a:pt x="89" y="275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8022A10E-98EC-6B4D-B95E-C823A7C47B8C}"/>
              </a:ext>
            </a:extLst>
          </p:cNvPr>
          <p:cNvSpPr>
            <a:spLocks/>
          </p:cNvSpPr>
          <p:nvPr userDrawn="1"/>
        </p:nvSpPr>
        <p:spPr bwMode="auto">
          <a:xfrm>
            <a:off x="9772851" y="5677833"/>
            <a:ext cx="104184" cy="96964"/>
          </a:xfrm>
          <a:custGeom>
            <a:avLst/>
            <a:gdLst>
              <a:gd name="T0" fmla="*/ 49 w 101"/>
              <a:gd name="T1" fmla="*/ 94 h 94"/>
              <a:gd name="T2" fmla="*/ 49 w 101"/>
              <a:gd name="T3" fmla="*/ 94 h 94"/>
              <a:gd name="T4" fmla="*/ 38 w 101"/>
              <a:gd name="T5" fmla="*/ 92 h 94"/>
              <a:gd name="T6" fmla="*/ 26 w 101"/>
              <a:gd name="T7" fmla="*/ 88 h 94"/>
              <a:gd name="T8" fmla="*/ 16 w 101"/>
              <a:gd name="T9" fmla="*/ 82 h 94"/>
              <a:gd name="T10" fmla="*/ 8 w 101"/>
              <a:gd name="T11" fmla="*/ 72 h 94"/>
              <a:gd name="T12" fmla="*/ 8 w 101"/>
              <a:gd name="T13" fmla="*/ 72 h 94"/>
              <a:gd name="T14" fmla="*/ 4 w 101"/>
              <a:gd name="T15" fmla="*/ 62 h 94"/>
              <a:gd name="T16" fmla="*/ 0 w 101"/>
              <a:gd name="T17" fmla="*/ 52 h 94"/>
              <a:gd name="T18" fmla="*/ 0 w 101"/>
              <a:gd name="T19" fmla="*/ 42 h 94"/>
              <a:gd name="T20" fmla="*/ 2 w 101"/>
              <a:gd name="T21" fmla="*/ 32 h 94"/>
              <a:gd name="T22" fmla="*/ 6 w 101"/>
              <a:gd name="T23" fmla="*/ 22 h 94"/>
              <a:gd name="T24" fmla="*/ 14 w 101"/>
              <a:gd name="T25" fmla="*/ 14 h 94"/>
              <a:gd name="T26" fmla="*/ 22 w 101"/>
              <a:gd name="T27" fmla="*/ 6 h 94"/>
              <a:gd name="T28" fmla="*/ 34 w 101"/>
              <a:gd name="T29" fmla="*/ 2 h 94"/>
              <a:gd name="T30" fmla="*/ 34 w 101"/>
              <a:gd name="T31" fmla="*/ 2 h 94"/>
              <a:gd name="T32" fmla="*/ 45 w 101"/>
              <a:gd name="T33" fmla="*/ 0 h 94"/>
              <a:gd name="T34" fmla="*/ 59 w 101"/>
              <a:gd name="T35" fmla="*/ 0 h 94"/>
              <a:gd name="T36" fmla="*/ 71 w 101"/>
              <a:gd name="T37" fmla="*/ 2 h 94"/>
              <a:gd name="T38" fmla="*/ 83 w 101"/>
              <a:gd name="T39" fmla="*/ 8 h 94"/>
              <a:gd name="T40" fmla="*/ 83 w 101"/>
              <a:gd name="T41" fmla="*/ 8 h 94"/>
              <a:gd name="T42" fmla="*/ 91 w 101"/>
              <a:gd name="T43" fmla="*/ 18 h 94"/>
              <a:gd name="T44" fmla="*/ 99 w 101"/>
              <a:gd name="T45" fmla="*/ 28 h 94"/>
              <a:gd name="T46" fmla="*/ 101 w 101"/>
              <a:gd name="T47" fmla="*/ 40 h 94"/>
              <a:gd name="T48" fmla="*/ 101 w 101"/>
              <a:gd name="T49" fmla="*/ 54 h 94"/>
              <a:gd name="T50" fmla="*/ 101 w 101"/>
              <a:gd name="T51" fmla="*/ 54 h 94"/>
              <a:gd name="T52" fmla="*/ 97 w 101"/>
              <a:gd name="T53" fmla="*/ 66 h 94"/>
              <a:gd name="T54" fmla="*/ 91 w 101"/>
              <a:gd name="T55" fmla="*/ 76 h 94"/>
              <a:gd name="T56" fmla="*/ 83 w 101"/>
              <a:gd name="T57" fmla="*/ 84 h 94"/>
              <a:gd name="T58" fmla="*/ 71 w 101"/>
              <a:gd name="T59" fmla="*/ 90 h 94"/>
              <a:gd name="T60" fmla="*/ 71 w 101"/>
              <a:gd name="T61" fmla="*/ 90 h 94"/>
              <a:gd name="T62" fmla="*/ 61 w 101"/>
              <a:gd name="T63" fmla="*/ 92 h 94"/>
              <a:gd name="T64" fmla="*/ 51 w 101"/>
              <a:gd name="T65" fmla="*/ 94 h 94"/>
              <a:gd name="T66" fmla="*/ 51 w 101"/>
              <a:gd name="T67" fmla="*/ 94 h 94"/>
              <a:gd name="T68" fmla="*/ 49 w 101"/>
              <a:gd name="T69" fmla="*/ 94 h 94"/>
              <a:gd name="T70" fmla="*/ 49 w 101"/>
              <a:gd name="T71" fmla="*/ 9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1" h="94">
                <a:moveTo>
                  <a:pt x="49" y="94"/>
                </a:moveTo>
                <a:lnTo>
                  <a:pt x="49" y="94"/>
                </a:lnTo>
                <a:lnTo>
                  <a:pt x="38" y="92"/>
                </a:lnTo>
                <a:lnTo>
                  <a:pt x="26" y="88"/>
                </a:lnTo>
                <a:lnTo>
                  <a:pt x="16" y="82"/>
                </a:lnTo>
                <a:lnTo>
                  <a:pt x="8" y="72"/>
                </a:lnTo>
                <a:lnTo>
                  <a:pt x="8" y="72"/>
                </a:lnTo>
                <a:lnTo>
                  <a:pt x="4" y="62"/>
                </a:lnTo>
                <a:lnTo>
                  <a:pt x="0" y="52"/>
                </a:lnTo>
                <a:lnTo>
                  <a:pt x="0" y="42"/>
                </a:lnTo>
                <a:lnTo>
                  <a:pt x="2" y="32"/>
                </a:lnTo>
                <a:lnTo>
                  <a:pt x="6" y="22"/>
                </a:lnTo>
                <a:lnTo>
                  <a:pt x="14" y="14"/>
                </a:lnTo>
                <a:lnTo>
                  <a:pt x="22" y="6"/>
                </a:lnTo>
                <a:lnTo>
                  <a:pt x="34" y="2"/>
                </a:lnTo>
                <a:lnTo>
                  <a:pt x="34" y="2"/>
                </a:lnTo>
                <a:lnTo>
                  <a:pt x="45" y="0"/>
                </a:lnTo>
                <a:lnTo>
                  <a:pt x="59" y="0"/>
                </a:lnTo>
                <a:lnTo>
                  <a:pt x="71" y="2"/>
                </a:lnTo>
                <a:lnTo>
                  <a:pt x="83" y="8"/>
                </a:lnTo>
                <a:lnTo>
                  <a:pt x="83" y="8"/>
                </a:lnTo>
                <a:lnTo>
                  <a:pt x="91" y="18"/>
                </a:lnTo>
                <a:lnTo>
                  <a:pt x="99" y="28"/>
                </a:lnTo>
                <a:lnTo>
                  <a:pt x="101" y="40"/>
                </a:lnTo>
                <a:lnTo>
                  <a:pt x="101" y="54"/>
                </a:lnTo>
                <a:lnTo>
                  <a:pt x="101" y="54"/>
                </a:lnTo>
                <a:lnTo>
                  <a:pt x="97" y="66"/>
                </a:lnTo>
                <a:lnTo>
                  <a:pt x="91" y="76"/>
                </a:lnTo>
                <a:lnTo>
                  <a:pt x="83" y="84"/>
                </a:lnTo>
                <a:lnTo>
                  <a:pt x="71" y="90"/>
                </a:lnTo>
                <a:lnTo>
                  <a:pt x="71" y="90"/>
                </a:lnTo>
                <a:lnTo>
                  <a:pt x="61" y="92"/>
                </a:lnTo>
                <a:lnTo>
                  <a:pt x="51" y="94"/>
                </a:lnTo>
                <a:lnTo>
                  <a:pt x="51" y="94"/>
                </a:lnTo>
                <a:lnTo>
                  <a:pt x="49" y="94"/>
                </a:lnTo>
                <a:lnTo>
                  <a:pt x="49" y="94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Freeform 12">
            <a:hlinkClick r:id="rId6"/>
            <a:extLst>
              <a:ext uri="{FF2B5EF4-FFF2-40B4-BE49-F238E27FC236}">
                <a16:creationId xmlns:a16="http://schemas.microsoft.com/office/drawing/2014/main" id="{557D7513-4F27-6546-BB47-1F0776A61A17}"/>
              </a:ext>
            </a:extLst>
          </p:cNvPr>
          <p:cNvSpPr>
            <a:spLocks/>
          </p:cNvSpPr>
          <p:nvPr userDrawn="1"/>
        </p:nvSpPr>
        <p:spPr bwMode="auto">
          <a:xfrm>
            <a:off x="10496531" y="5696119"/>
            <a:ext cx="202064" cy="440212"/>
          </a:xfrm>
          <a:custGeom>
            <a:avLst/>
            <a:gdLst>
              <a:gd name="T0" fmla="*/ 92 w 140"/>
              <a:gd name="T1" fmla="*/ 152 h 305"/>
              <a:gd name="T2" fmla="*/ 92 w 140"/>
              <a:gd name="T3" fmla="*/ 152 h 305"/>
              <a:gd name="T4" fmla="*/ 92 w 140"/>
              <a:gd name="T5" fmla="*/ 305 h 305"/>
              <a:gd name="T6" fmla="*/ 92 w 140"/>
              <a:gd name="T7" fmla="*/ 305 h 305"/>
              <a:gd name="T8" fmla="*/ 30 w 140"/>
              <a:gd name="T9" fmla="*/ 305 h 305"/>
              <a:gd name="T10" fmla="*/ 30 w 140"/>
              <a:gd name="T11" fmla="*/ 305 h 305"/>
              <a:gd name="T12" fmla="*/ 30 w 140"/>
              <a:gd name="T13" fmla="*/ 152 h 305"/>
              <a:gd name="T14" fmla="*/ 30 w 140"/>
              <a:gd name="T15" fmla="*/ 152 h 305"/>
              <a:gd name="T16" fmla="*/ 0 w 140"/>
              <a:gd name="T17" fmla="*/ 152 h 305"/>
              <a:gd name="T18" fmla="*/ 0 w 140"/>
              <a:gd name="T19" fmla="*/ 152 h 305"/>
              <a:gd name="T20" fmla="*/ 0 w 140"/>
              <a:gd name="T21" fmla="*/ 98 h 305"/>
              <a:gd name="T22" fmla="*/ 0 w 140"/>
              <a:gd name="T23" fmla="*/ 98 h 305"/>
              <a:gd name="T24" fmla="*/ 30 w 140"/>
              <a:gd name="T25" fmla="*/ 98 h 305"/>
              <a:gd name="T26" fmla="*/ 30 w 140"/>
              <a:gd name="T27" fmla="*/ 98 h 305"/>
              <a:gd name="T28" fmla="*/ 30 w 140"/>
              <a:gd name="T29" fmla="*/ 94 h 305"/>
              <a:gd name="T30" fmla="*/ 30 w 140"/>
              <a:gd name="T31" fmla="*/ 94 h 305"/>
              <a:gd name="T32" fmla="*/ 30 w 140"/>
              <a:gd name="T33" fmla="*/ 56 h 305"/>
              <a:gd name="T34" fmla="*/ 30 w 140"/>
              <a:gd name="T35" fmla="*/ 56 h 305"/>
              <a:gd name="T36" fmla="*/ 32 w 140"/>
              <a:gd name="T37" fmla="*/ 42 h 305"/>
              <a:gd name="T38" fmla="*/ 38 w 140"/>
              <a:gd name="T39" fmla="*/ 30 h 305"/>
              <a:gd name="T40" fmla="*/ 46 w 140"/>
              <a:gd name="T41" fmla="*/ 18 h 305"/>
              <a:gd name="T42" fmla="*/ 58 w 140"/>
              <a:gd name="T43" fmla="*/ 8 h 305"/>
              <a:gd name="T44" fmla="*/ 58 w 140"/>
              <a:gd name="T45" fmla="*/ 8 h 305"/>
              <a:gd name="T46" fmla="*/ 74 w 140"/>
              <a:gd name="T47" fmla="*/ 2 h 305"/>
              <a:gd name="T48" fmla="*/ 90 w 140"/>
              <a:gd name="T49" fmla="*/ 0 h 305"/>
              <a:gd name="T50" fmla="*/ 90 w 140"/>
              <a:gd name="T51" fmla="*/ 0 h 305"/>
              <a:gd name="T52" fmla="*/ 138 w 140"/>
              <a:gd name="T53" fmla="*/ 0 h 305"/>
              <a:gd name="T54" fmla="*/ 138 w 140"/>
              <a:gd name="T55" fmla="*/ 0 h 305"/>
              <a:gd name="T56" fmla="*/ 140 w 140"/>
              <a:gd name="T57" fmla="*/ 0 h 305"/>
              <a:gd name="T58" fmla="*/ 140 w 140"/>
              <a:gd name="T59" fmla="*/ 0 h 305"/>
              <a:gd name="T60" fmla="*/ 140 w 140"/>
              <a:gd name="T61" fmla="*/ 52 h 305"/>
              <a:gd name="T62" fmla="*/ 140 w 140"/>
              <a:gd name="T63" fmla="*/ 52 h 305"/>
              <a:gd name="T64" fmla="*/ 132 w 140"/>
              <a:gd name="T65" fmla="*/ 52 h 305"/>
              <a:gd name="T66" fmla="*/ 132 w 140"/>
              <a:gd name="T67" fmla="*/ 52 h 305"/>
              <a:gd name="T68" fmla="*/ 106 w 140"/>
              <a:gd name="T69" fmla="*/ 52 h 305"/>
              <a:gd name="T70" fmla="*/ 106 w 140"/>
              <a:gd name="T71" fmla="*/ 52 h 305"/>
              <a:gd name="T72" fmla="*/ 102 w 140"/>
              <a:gd name="T73" fmla="*/ 54 h 305"/>
              <a:gd name="T74" fmla="*/ 96 w 140"/>
              <a:gd name="T75" fmla="*/ 56 h 305"/>
              <a:gd name="T76" fmla="*/ 94 w 140"/>
              <a:gd name="T77" fmla="*/ 60 h 305"/>
              <a:gd name="T78" fmla="*/ 92 w 140"/>
              <a:gd name="T79" fmla="*/ 64 h 305"/>
              <a:gd name="T80" fmla="*/ 92 w 140"/>
              <a:gd name="T81" fmla="*/ 64 h 305"/>
              <a:gd name="T82" fmla="*/ 92 w 140"/>
              <a:gd name="T83" fmla="*/ 98 h 305"/>
              <a:gd name="T84" fmla="*/ 92 w 140"/>
              <a:gd name="T85" fmla="*/ 98 h 305"/>
              <a:gd name="T86" fmla="*/ 140 w 140"/>
              <a:gd name="T87" fmla="*/ 98 h 305"/>
              <a:gd name="T88" fmla="*/ 140 w 140"/>
              <a:gd name="T89" fmla="*/ 98 h 305"/>
              <a:gd name="T90" fmla="*/ 136 w 140"/>
              <a:gd name="T91" fmla="*/ 152 h 305"/>
              <a:gd name="T92" fmla="*/ 136 w 140"/>
              <a:gd name="T93" fmla="*/ 152 h 305"/>
              <a:gd name="T94" fmla="*/ 92 w 140"/>
              <a:gd name="T95" fmla="*/ 152 h 305"/>
              <a:gd name="T96" fmla="*/ 92 w 140"/>
              <a:gd name="T97" fmla="*/ 152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0" h="305">
                <a:moveTo>
                  <a:pt x="92" y="152"/>
                </a:moveTo>
                <a:lnTo>
                  <a:pt x="92" y="152"/>
                </a:lnTo>
                <a:lnTo>
                  <a:pt x="92" y="305"/>
                </a:lnTo>
                <a:lnTo>
                  <a:pt x="92" y="305"/>
                </a:lnTo>
                <a:lnTo>
                  <a:pt x="30" y="305"/>
                </a:lnTo>
                <a:lnTo>
                  <a:pt x="30" y="305"/>
                </a:lnTo>
                <a:lnTo>
                  <a:pt x="30" y="152"/>
                </a:lnTo>
                <a:lnTo>
                  <a:pt x="30" y="152"/>
                </a:lnTo>
                <a:lnTo>
                  <a:pt x="0" y="152"/>
                </a:lnTo>
                <a:lnTo>
                  <a:pt x="0" y="152"/>
                </a:lnTo>
                <a:lnTo>
                  <a:pt x="0" y="98"/>
                </a:lnTo>
                <a:lnTo>
                  <a:pt x="0" y="98"/>
                </a:lnTo>
                <a:lnTo>
                  <a:pt x="30" y="98"/>
                </a:lnTo>
                <a:lnTo>
                  <a:pt x="30" y="98"/>
                </a:lnTo>
                <a:lnTo>
                  <a:pt x="30" y="94"/>
                </a:lnTo>
                <a:lnTo>
                  <a:pt x="30" y="94"/>
                </a:lnTo>
                <a:lnTo>
                  <a:pt x="30" y="56"/>
                </a:lnTo>
                <a:lnTo>
                  <a:pt x="30" y="56"/>
                </a:lnTo>
                <a:lnTo>
                  <a:pt x="32" y="42"/>
                </a:lnTo>
                <a:lnTo>
                  <a:pt x="38" y="30"/>
                </a:lnTo>
                <a:lnTo>
                  <a:pt x="46" y="18"/>
                </a:lnTo>
                <a:lnTo>
                  <a:pt x="58" y="8"/>
                </a:lnTo>
                <a:lnTo>
                  <a:pt x="58" y="8"/>
                </a:lnTo>
                <a:lnTo>
                  <a:pt x="74" y="2"/>
                </a:lnTo>
                <a:lnTo>
                  <a:pt x="90" y="0"/>
                </a:lnTo>
                <a:lnTo>
                  <a:pt x="90" y="0"/>
                </a:lnTo>
                <a:lnTo>
                  <a:pt x="138" y="0"/>
                </a:lnTo>
                <a:lnTo>
                  <a:pt x="138" y="0"/>
                </a:lnTo>
                <a:lnTo>
                  <a:pt x="140" y="0"/>
                </a:lnTo>
                <a:lnTo>
                  <a:pt x="140" y="0"/>
                </a:lnTo>
                <a:lnTo>
                  <a:pt x="140" y="52"/>
                </a:lnTo>
                <a:lnTo>
                  <a:pt x="140" y="52"/>
                </a:lnTo>
                <a:lnTo>
                  <a:pt x="132" y="52"/>
                </a:lnTo>
                <a:lnTo>
                  <a:pt x="132" y="52"/>
                </a:lnTo>
                <a:lnTo>
                  <a:pt x="106" y="52"/>
                </a:lnTo>
                <a:lnTo>
                  <a:pt x="106" y="52"/>
                </a:lnTo>
                <a:lnTo>
                  <a:pt x="102" y="54"/>
                </a:lnTo>
                <a:lnTo>
                  <a:pt x="96" y="56"/>
                </a:lnTo>
                <a:lnTo>
                  <a:pt x="94" y="60"/>
                </a:lnTo>
                <a:lnTo>
                  <a:pt x="92" y="64"/>
                </a:lnTo>
                <a:lnTo>
                  <a:pt x="92" y="64"/>
                </a:lnTo>
                <a:lnTo>
                  <a:pt x="92" y="98"/>
                </a:lnTo>
                <a:lnTo>
                  <a:pt x="92" y="98"/>
                </a:lnTo>
                <a:lnTo>
                  <a:pt x="140" y="98"/>
                </a:lnTo>
                <a:lnTo>
                  <a:pt x="140" y="98"/>
                </a:lnTo>
                <a:lnTo>
                  <a:pt x="136" y="152"/>
                </a:lnTo>
                <a:lnTo>
                  <a:pt x="136" y="152"/>
                </a:lnTo>
                <a:lnTo>
                  <a:pt x="92" y="152"/>
                </a:lnTo>
                <a:lnTo>
                  <a:pt x="92" y="152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45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15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9">
            <a:extLst>
              <a:ext uri="{FF2B5EF4-FFF2-40B4-BE49-F238E27FC236}">
                <a16:creationId xmlns:a16="http://schemas.microsoft.com/office/drawing/2014/main" id="{F7B702B7-AEB1-5847-8F57-3EF6D0C12A02}"/>
              </a:ext>
            </a:extLst>
          </p:cNvPr>
          <p:cNvSpPr txBox="1"/>
          <p:nvPr userDrawn="1"/>
        </p:nvSpPr>
        <p:spPr>
          <a:xfrm>
            <a:off x="431800" y="8565510"/>
            <a:ext cx="40576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169F80-15BF-324D-B93B-8A8D8359E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0781" y="566932"/>
            <a:ext cx="13024323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25492-7A69-F946-B7EC-339114988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8888" y="1752600"/>
            <a:ext cx="14388111" cy="617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5EC8365-C4AA-1741-805F-E0E00ED1F313}"/>
              </a:ext>
            </a:extLst>
          </p:cNvPr>
          <p:cNvSpPr/>
          <p:nvPr userDrawn="1"/>
        </p:nvSpPr>
        <p:spPr>
          <a:xfrm>
            <a:off x="15367000" y="8382000"/>
            <a:ext cx="609600" cy="6096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Holder 5">
            <a:extLst>
              <a:ext uri="{FF2B5EF4-FFF2-40B4-BE49-F238E27FC236}">
                <a16:creationId xmlns:a16="http://schemas.microsoft.com/office/drawing/2014/main" id="{BA1ED55F-BB2C-B54A-901D-27956E441D96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387863-D3C3-3F42-A50C-00D97E287A80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97724" cy="149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32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812" r:id="rId2"/>
    <p:sldLayoutId id="2147483797" r:id="rId3"/>
    <p:sldLayoutId id="2147483799" r:id="rId4"/>
    <p:sldLayoutId id="2147483813" r:id="rId5"/>
    <p:sldLayoutId id="2147483815" r:id="rId6"/>
    <p:sldLayoutId id="2147483818" r:id="rId7"/>
    <p:sldLayoutId id="2147483824" r:id="rId8"/>
    <p:sldLayoutId id="2147483821" r:id="rId9"/>
    <p:sldLayoutId id="2147483800" r:id="rId10"/>
    <p:sldLayoutId id="2147483819" r:id="rId11"/>
    <p:sldLayoutId id="2147483816" r:id="rId12"/>
    <p:sldLayoutId id="2147483801" r:id="rId13"/>
    <p:sldLayoutId id="2147483814" r:id="rId14"/>
    <p:sldLayoutId id="2147483822" r:id="rId15"/>
    <p:sldLayoutId id="2147483823" r:id="rId16"/>
    <p:sldLayoutId id="214748382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56A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9">
            <a:extLst>
              <a:ext uri="{FF2B5EF4-FFF2-40B4-BE49-F238E27FC236}">
                <a16:creationId xmlns:a16="http://schemas.microsoft.com/office/drawing/2014/main" id="{F7B702B7-AEB1-5847-8F57-3EF6D0C12A02}"/>
              </a:ext>
            </a:extLst>
          </p:cNvPr>
          <p:cNvSpPr txBox="1"/>
          <p:nvPr userDrawn="1"/>
        </p:nvSpPr>
        <p:spPr>
          <a:xfrm>
            <a:off x="431800" y="8565510"/>
            <a:ext cx="40576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169F80-15BF-324D-B93B-8A8D8359E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0781" y="566932"/>
            <a:ext cx="13024323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25492-7A69-F946-B7EC-339114988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8888" y="1752600"/>
            <a:ext cx="14388111" cy="617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5EC8365-C4AA-1741-805F-E0E00ED1F313}"/>
              </a:ext>
            </a:extLst>
          </p:cNvPr>
          <p:cNvSpPr/>
          <p:nvPr userDrawn="1"/>
        </p:nvSpPr>
        <p:spPr>
          <a:xfrm>
            <a:off x="15367000" y="8382000"/>
            <a:ext cx="609600" cy="6096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Holder 5">
            <a:extLst>
              <a:ext uri="{FF2B5EF4-FFF2-40B4-BE49-F238E27FC236}">
                <a16:creationId xmlns:a16="http://schemas.microsoft.com/office/drawing/2014/main" id="{BA1ED55F-BB2C-B54A-901D-27956E441D96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387863-D3C3-3F42-A50C-00D97E287A80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97724" cy="149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76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  <p:sldLayoutId id="2147483842" r:id="rId17"/>
    <p:sldLayoutId id="2147483843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56A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nd01.safelinks.protection.outlook.com/ap/t-59584e83/?url=https%3A%2F%2Fteams.microsoft.com%2Fl%2Fmeetup-join%2F19%253ameeting_MjdjM2Q0YjktMmI1Ny00ZTFjLTgxMGQtN2Q5ZTVjNjAwNjUw%2540thread.v2%2F0%3Fcontext%3D%257b%2522Tid%2522%253a%25220077f81a-bc83-429d-a39b-86b97580d04c%2522%252c%2522Oid%2522%253a%2522ea8341d8-1e85-4e86-96f8-f646dc894ae3%2522%257d&amp;data=04%7C01%7Cmayank.chugh%40coforgetech.com%7Cb83933ad9389420a707908d976967af1%7Cb727a530a0d54fb8bd40d8f9763e97db%7C0%7C0%7C637671210959643704%7CUnknown%7CTWFpbGZsb3d8eyJWIjoiMC4wLjAwMDAiLCJQIjoiV2luMzIiLCJBTiI6Ik1haWwiLCJXVCI6Mn0%3D%7C1000&amp;sdata=QhkiZesWhuFoiEveBT2zMZb%2FM18prJb74eGiCJqaBps%3D&amp;reserved=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AE1264-8FD5-482E-8965-075EDABFAF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600" y="304800"/>
            <a:ext cx="1884181" cy="123770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D5079B4-C962-D140-8B43-B14B78B50C89}"/>
              </a:ext>
            </a:extLst>
          </p:cNvPr>
          <p:cNvSpPr txBox="1">
            <a:spLocks/>
          </p:cNvSpPr>
          <p:nvPr/>
        </p:nvSpPr>
        <p:spPr>
          <a:xfrm>
            <a:off x="9499600" y="4191000"/>
            <a:ext cx="6553200" cy="1295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56A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4800" dirty="0" smtClean="0"/>
              <a:t>Governance Meeting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195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86AF5-FBA7-1B4E-BD99-A4EA6A57E5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66200" y="4953000"/>
            <a:ext cx="6781800" cy="2667000"/>
          </a:xfrm>
        </p:spPr>
        <p:txBody>
          <a:bodyPr/>
          <a:lstStyle/>
          <a:p>
            <a:r>
              <a:rPr lang="en-US" b="0" u="sng" dirty="0">
                <a:hlinkClick r:id="rId3" tooltip="Original URL: https://teams.microsoft.com/l/meetup-join/19%3ameeting_MjdjM2Q0YjktMmI1Ny00ZTFjLTgxMGQtN2Q5ZTVjNjAwNjUw%40thread.v2/0?context=%7b%22Tid%22%3a%220077f81a-bc83-429d-a39b-86b97580d04c%22%2c%22Oid%22%3a%22ea8341d8-1e85-4e86-96f8-f646dc894ae3%22%7d. Click or tap if you trust this link."/>
              </a:rPr>
              <a:t>Click here to join the </a:t>
            </a:r>
            <a:r>
              <a:rPr lang="en-US" b="0" u="sng" dirty="0" smtClean="0">
                <a:hlinkClick r:id="rId3" tooltip="Original URL: https://teams.microsoft.com/l/meetup-join/19%3ameeting_MjdjM2Q0YjktMmI1Ny00ZTFjLTgxMGQtN2Q5ZTVjNjAwNjUw%40thread.v2/0?context=%7b%22Tid%22%3a%220077f81a-bc83-429d-a39b-86b97580d04c%22%2c%22Oid%22%3a%22ea8341d8-1e85-4e86-96f8-f646dc894ae3%22%7d. Click or tap if you trust this link."/>
              </a:rPr>
              <a:t>meeting</a:t>
            </a:r>
            <a:endParaRPr lang="en-US" b="0" u="sng" dirty="0" smtClean="0"/>
          </a:p>
          <a:p>
            <a:endParaRPr lang="en-HK" b="0" u="sng" dirty="0"/>
          </a:p>
          <a:p>
            <a:r>
              <a:rPr lang="en-HK" b="0" u="sng" dirty="0" smtClean="0"/>
              <a:t>16</a:t>
            </a:r>
            <a:r>
              <a:rPr lang="en-HK" b="0" u="sng" baseline="30000" dirty="0" smtClean="0"/>
              <a:t>th</a:t>
            </a:r>
            <a:r>
              <a:rPr lang="en-HK" b="0" u="sng" dirty="0" smtClean="0"/>
              <a:t> Sep 21 16:00 -17:00 HKT</a:t>
            </a:r>
            <a:endParaRPr lang="en-HK" b="0" u="sng" dirty="0" smtClean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AE1264-8FD5-482E-8965-075EDABFAF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600" y="381000"/>
            <a:ext cx="1884181" cy="1237702"/>
          </a:xfrm>
          <a:prstGeom prst="rect">
            <a:avLst/>
          </a:prstGeom>
        </p:spPr>
      </p:pic>
      <p:sp>
        <p:nvSpPr>
          <p:cNvPr id="5" name="Text Placeholder 3"/>
          <p:cNvSpPr txBox="1">
            <a:spLocks/>
          </p:cNvSpPr>
          <p:nvPr/>
        </p:nvSpPr>
        <p:spPr>
          <a:xfrm>
            <a:off x="12090400" y="8610600"/>
            <a:ext cx="4042976" cy="3799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dirty="0" smtClean="0"/>
              <a:t>16</a:t>
            </a:r>
            <a:r>
              <a:rPr lang="en-US" baseline="30000" dirty="0" smtClean="0"/>
              <a:t>th</a:t>
            </a:r>
            <a:r>
              <a:rPr lang="en-US" dirty="0" smtClean="0"/>
              <a:t> Sep 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46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879600" y="381000"/>
            <a:ext cx="12743251" cy="606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56A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 smtClean="0">
                <a:latin typeface="Arial" charset="0"/>
                <a:cs typeface="Arial" charset="0"/>
              </a:rPr>
              <a:t>Agenda</a:t>
            </a:r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889000" y="1447800"/>
            <a:ext cx="14173200" cy="6477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Project Summary</a:t>
            </a:r>
          </a:p>
          <a:p>
            <a:r>
              <a:rPr lang="en-US" sz="3200" dirty="0" smtClean="0"/>
              <a:t>WOS – Status Update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smtClean="0"/>
              <a:t>Project Summary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smtClean="0"/>
              <a:t>Deployment &amp; CR progress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smtClean="0"/>
              <a:t>Incident Statistics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smtClean="0"/>
              <a:t>WAD - Outstanding Incidents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smtClean="0"/>
              <a:t>Trucker and </a:t>
            </a:r>
            <a:r>
              <a:rPr lang="en-US" sz="3200" dirty="0"/>
              <a:t>Spot App – Status Update</a:t>
            </a:r>
            <a:endParaRPr lang="en-US" sz="3200" dirty="0" smtClean="0"/>
          </a:p>
          <a:p>
            <a:r>
              <a:rPr lang="en-US" sz="3200" dirty="0" smtClean="0"/>
              <a:t>AOB</a:t>
            </a:r>
          </a:p>
        </p:txBody>
      </p:sp>
    </p:spTree>
    <p:extLst>
      <p:ext uri="{BB962C8B-B14F-4D97-AF65-F5344CB8AC3E}">
        <p14:creationId xmlns:p14="http://schemas.microsoft.com/office/powerpoint/2010/main" val="2429508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879600" y="381000"/>
            <a:ext cx="6317747" cy="605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56A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Project Summary</a:t>
            </a:r>
            <a:endParaRPr lang="en-GB" dirty="0"/>
          </a:p>
        </p:txBody>
      </p:sp>
      <p:graphicFrame>
        <p:nvGraphicFramePr>
          <p:cNvPr id="9" name="Group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708529"/>
              </p:ext>
            </p:extLst>
          </p:nvPr>
        </p:nvGraphicFramePr>
        <p:xfrm>
          <a:off x="203200" y="3226644"/>
          <a:ext cx="15849600" cy="3920893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1554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4919">
                  <a:extLst>
                    <a:ext uri="{9D8B030D-6E8A-4147-A177-3AD203B41FA5}">
                      <a16:colId xmlns:a16="http://schemas.microsoft.com/office/drawing/2014/main" val="3986276368"/>
                    </a:ext>
                  </a:extLst>
                </a:gridCol>
                <a:gridCol w="2500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35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Previous meeting Action </a:t>
                      </a:r>
                      <a:r>
                        <a:rPr lang="en-US" sz="2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points </a:t>
                      </a:r>
                      <a:r>
                        <a:rPr lang="en-US" sz="2400" b="1" kern="120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(24</a:t>
                      </a:r>
                      <a:r>
                        <a:rPr lang="en-US" sz="2400" b="1" kern="1200" baseline="3000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sz="2400" b="1" kern="1200" baseline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1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Aug</a:t>
                      </a:r>
                      <a:r>
                        <a:rPr lang="en-US" sz="24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21) </a:t>
                      </a:r>
                      <a:endParaRPr 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solidFill>
                      <a:srgbClr val="0056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r>
                        <a:rPr lang="en-US" sz="24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Target</a:t>
                      </a:r>
                      <a:endParaRPr lang="en-HK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 horzOverflow="overflow">
                    <a:solidFill>
                      <a:srgbClr val="0056A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Status /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Revised target</a:t>
                      </a:r>
                      <a:endParaRPr 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solidFill>
                      <a:srgbClr val="0056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93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WorkAsDesign incidents discussion should be arranged with OSS </a:t>
                      </a:r>
                      <a:r>
                        <a:rPr lang="en-HK" sz="24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regularly</a:t>
                      </a: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on priority and count of outstanding issues to be brought down to less than 10</a:t>
                      </a:r>
                    </a:p>
                  </a:txBody>
                  <a:tcPr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1" kern="1200" baseline="0" dirty="0" smtClean="0">
                          <a:solidFill>
                            <a:srgbClr val="0056A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28Nov18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 smtClean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400" b="1" kern="1200" baseline="0" dirty="0" smtClean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 smtClean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 smtClean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 smtClean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 smtClean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 smtClean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kern="1200" baseline="0" dirty="0" smtClean="0">
                          <a:solidFill>
                            <a:srgbClr val="0056A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Ongoing Task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 smtClean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 smtClean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 smtClean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HK" sz="2400" b="1" kern="1200" baseline="0" dirty="0" smtClean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 smtClean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046553"/>
              </p:ext>
            </p:extLst>
          </p:nvPr>
        </p:nvGraphicFramePr>
        <p:xfrm>
          <a:off x="170947" y="1330642"/>
          <a:ext cx="16052800" cy="171735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60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5763">
                <a:tc>
                  <a:txBody>
                    <a:bodyPr/>
                    <a:lstStyle/>
                    <a:p>
                      <a:r>
                        <a:rPr lang="en-US" sz="2400" kern="1200" dirty="0" smtClean="0"/>
                        <a:t>Highlights</a:t>
                      </a:r>
                      <a:endParaRPr lang="en-US" sz="2400" b="1" kern="1200" dirty="0">
                        <a:solidFill>
                          <a:schemeClr val="bg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>
                    <a:solidFill>
                      <a:srgbClr val="0056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0158"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1200"/>
                        </a:spcAft>
                        <a:buFont typeface="Arial" pitchFamily="34" charset="0"/>
                        <a:buChar char="•"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WOS support</a:t>
                      </a:r>
                      <a:r>
                        <a:rPr lang="en-US" sz="2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activity and 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CRs are going on </a:t>
                      </a:r>
                      <a:r>
                        <a:rPr lang="en-US" sz="2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 per agreed schedule (Detailed </a:t>
                      </a: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Slide)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Footer Placeholder 23"/>
          <p:cNvSpPr txBox="1">
            <a:spLocks/>
          </p:cNvSpPr>
          <p:nvPr/>
        </p:nvSpPr>
        <p:spPr bwMode="auto">
          <a:xfrm>
            <a:off x="10566400" y="379020"/>
            <a:ext cx="4141341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eaLnBrk="0" hangingPunct="0"/>
            <a:r>
              <a:rPr lang="en-US" sz="2000" b="1" dirty="0">
                <a:solidFill>
                  <a:srgbClr val="0056A4"/>
                </a:solidFill>
                <a:latin typeface="Arial" pitchFamily="34" charset="0"/>
                <a:cs typeface="Arial" pitchFamily="34" charset="0"/>
              </a:rPr>
              <a:t>(Period: </a:t>
            </a:r>
            <a:r>
              <a:rPr lang="en-US" sz="2000" b="1" dirty="0" smtClean="0">
                <a:solidFill>
                  <a:srgbClr val="0056A4"/>
                </a:solidFill>
                <a:latin typeface="Arial" pitchFamily="34" charset="0"/>
                <a:cs typeface="Arial" pitchFamily="34" charset="0"/>
              </a:rPr>
              <a:t>18Aug21 </a:t>
            </a:r>
            <a:r>
              <a:rPr lang="en-US" sz="2000" b="1" dirty="0">
                <a:solidFill>
                  <a:srgbClr val="0056A4"/>
                </a:solidFill>
                <a:latin typeface="Arial" pitchFamily="34" charset="0"/>
                <a:cs typeface="Arial" pitchFamily="34" charset="0"/>
              </a:rPr>
              <a:t>to </a:t>
            </a:r>
            <a:r>
              <a:rPr lang="en-US" sz="2000" b="1" dirty="0" smtClean="0">
                <a:solidFill>
                  <a:srgbClr val="0056A4"/>
                </a:solidFill>
                <a:latin typeface="Arial" pitchFamily="34" charset="0"/>
                <a:cs typeface="Arial" pitchFamily="34" charset="0"/>
              </a:rPr>
              <a:t>16Sep21)</a:t>
            </a:r>
            <a:endParaRPr lang="en-US" sz="2000" b="1" dirty="0">
              <a:solidFill>
                <a:srgbClr val="0056A4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78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89400" y="158128"/>
            <a:ext cx="8229600" cy="605641"/>
          </a:xfrm>
        </p:spPr>
        <p:txBody>
          <a:bodyPr>
            <a:normAutofit fontScale="90000"/>
          </a:bodyPr>
          <a:lstStyle/>
          <a:p>
            <a:pPr algn="l"/>
            <a:r>
              <a:rPr lang="en-HK" dirty="0"/>
              <a:t>Maintenance </a:t>
            </a:r>
            <a:r>
              <a:rPr lang="en-HK" dirty="0" smtClean="0"/>
              <a:t>items – Summary 2021 </a:t>
            </a:r>
            <a:endParaRPr lang="en-GB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822070"/>
              </p:ext>
            </p:extLst>
          </p:nvPr>
        </p:nvGraphicFramePr>
        <p:xfrm>
          <a:off x="0" y="993568"/>
          <a:ext cx="16256001" cy="5602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880">
                  <a:extLst>
                    <a:ext uri="{9D8B030D-6E8A-4147-A177-3AD203B41FA5}">
                      <a16:colId xmlns:a16="http://schemas.microsoft.com/office/drawing/2014/main" val="3874004505"/>
                    </a:ext>
                  </a:extLst>
                </a:gridCol>
                <a:gridCol w="5386720">
                  <a:extLst>
                    <a:ext uri="{9D8B030D-6E8A-4147-A177-3AD203B41FA5}">
                      <a16:colId xmlns:a16="http://schemas.microsoft.com/office/drawing/2014/main" val="301560653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338104699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145520375"/>
                    </a:ext>
                  </a:extLst>
                </a:gridCol>
                <a:gridCol w="2229263">
                  <a:extLst>
                    <a:ext uri="{9D8B030D-6E8A-4147-A177-3AD203B41FA5}">
                      <a16:colId xmlns:a16="http://schemas.microsoft.com/office/drawing/2014/main" val="974493044"/>
                    </a:ext>
                  </a:extLst>
                </a:gridCol>
                <a:gridCol w="1860138">
                  <a:extLst>
                    <a:ext uri="{9D8B030D-6E8A-4147-A177-3AD203B41FA5}">
                      <a16:colId xmlns:a16="http://schemas.microsoft.com/office/drawing/2014/main" val="4325647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HK" sz="2400" dirty="0" smtClean="0"/>
                        <a:t>Quarter</a:t>
                      </a:r>
                      <a:endParaRPr lang="en-H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 smtClean="0"/>
                        <a:t>Item</a:t>
                      </a:r>
                      <a:endParaRPr lang="en-H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 smtClean="0"/>
                        <a:t>Status</a:t>
                      </a:r>
                      <a:endParaRPr lang="en-H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 smtClean="0"/>
                        <a:t>Planned Date</a:t>
                      </a:r>
                      <a:endParaRPr lang="en-H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dirty="0" smtClean="0"/>
                        <a:t>Revised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 smtClean="0"/>
                        <a:t>Actual Date</a:t>
                      </a:r>
                      <a:endParaRPr lang="en-HK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693539"/>
                  </a:ext>
                </a:extLst>
              </a:tr>
              <a:tr h="1041086">
                <a:tc>
                  <a:txBody>
                    <a:bodyPr/>
                    <a:lstStyle/>
                    <a:p>
                      <a:pPr algn="l" rtl="0" fontAlgn="t"/>
                      <a:r>
                        <a:rPr lang="en-HK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Q1</a:t>
                      </a:r>
                      <a:endParaRPr lang="en-HK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algn="l" defTabSz="609448" rtl="0" eaLnBrk="1" fontAlgn="t" latinLnBrk="0" hangingPunct="1"/>
                      <a:r>
                        <a:rPr lang="en-GB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Archiving Health Check </a:t>
                      </a:r>
                    </a:p>
                    <a:p>
                      <a:pPr marL="0" algn="l" defTabSz="609448" rtl="0" eaLnBrk="1" fontAlgn="t" latinLnBrk="0" hangingPunct="1"/>
                      <a:r>
                        <a:rPr lang="en-US" altLang="zh-HK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2016 Shipment Archival Analysis complete. </a:t>
                      </a:r>
                      <a:r>
                        <a:rPr lang="en-HK" sz="2400" b="1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Target completion date is 30Nov21 for 2016 shipment Analysis Issues</a:t>
                      </a:r>
                      <a:r>
                        <a:rPr lang="en-US" altLang="zh-HK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altLang="zh-HK" sz="2400" b="1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Bugziila</a:t>
                      </a:r>
                      <a:r>
                        <a:rPr lang="en-US" altLang="zh-HK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id - </a:t>
                      </a:r>
                      <a:r>
                        <a:rPr lang="en-US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24055</a:t>
                      </a:r>
                      <a:r>
                        <a:rPr lang="en-US" altLang="zh-HK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2400" b="1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Completed </a:t>
                      </a:r>
                    </a:p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(2016 shipment Analysis Issues</a:t>
                      </a:r>
                      <a:r>
                        <a:rPr lang="en-HK" sz="2400" b="1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need to fix</a:t>
                      </a:r>
                      <a:r>
                        <a:rPr lang="en-HK" sz="2400" b="1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HK" sz="2400" b="1" u="none" strike="noStrike" kern="1200" baseline="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31-Mar-21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31-May-21</a:t>
                      </a:r>
                    </a:p>
                    <a:p>
                      <a:endParaRPr lang="en-H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038960"/>
                  </a:ext>
                </a:extLst>
              </a:tr>
              <a:tr h="880157">
                <a:tc>
                  <a:txBody>
                    <a:bodyPr/>
                    <a:lstStyle/>
                    <a:p>
                      <a:pPr algn="l" rtl="0" fontAlgn="t"/>
                      <a:r>
                        <a:rPr lang="en-HK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Q1</a:t>
                      </a:r>
                      <a:endParaRPr lang="en-HK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algn="l" defTabSz="609448" rtl="0" eaLnBrk="1" fontAlgn="t" latinLnBrk="0" hangingPunct="1"/>
                      <a:r>
                        <a:rPr lang="en-GB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 out all problems / bugzilla issue under PENDING status</a:t>
                      </a:r>
                      <a:endParaRPr lang="en-US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baseline="0" dirty="0" smtClean="0"/>
                        <a:t>In Progress</a:t>
                      </a:r>
                      <a:endParaRPr lang="en-HK" sz="24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31-Mar-21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30-Sep-21</a:t>
                      </a:r>
                    </a:p>
                    <a:p>
                      <a:endParaRPr lang="en-H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292466"/>
                  </a:ext>
                </a:extLst>
              </a:tr>
              <a:tr h="880157">
                <a:tc>
                  <a:txBody>
                    <a:bodyPr/>
                    <a:lstStyle/>
                    <a:p>
                      <a:pPr algn="l" rtl="0" fontAlgn="t"/>
                      <a:r>
                        <a:rPr lang="en-HK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Q1</a:t>
                      </a:r>
                      <a:endParaRPr lang="en-HK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algn="l" defTabSz="609448" rtl="0" eaLnBrk="1" fontAlgn="t" latinLnBrk="0" hangingPunct="1"/>
                      <a:r>
                        <a:rPr lang="en-GB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Implementation of Automated Deployment</a:t>
                      </a:r>
                      <a:endParaRPr lang="en-US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baseline="0" dirty="0" smtClean="0"/>
                        <a:t>Completed</a:t>
                      </a:r>
                      <a:endParaRPr lang="en-HK" sz="2400" b="1" dirty="0" smtClean="0"/>
                    </a:p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31-Mar-21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31-May-21</a:t>
                      </a:r>
                    </a:p>
                    <a:p>
                      <a:endParaRPr lang="en-H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888884"/>
                  </a:ext>
                </a:extLst>
              </a:tr>
              <a:tr h="432863">
                <a:tc>
                  <a:txBody>
                    <a:bodyPr/>
                    <a:lstStyle/>
                    <a:p>
                      <a:pPr algn="l" rtl="0" fontAlgn="t"/>
                      <a:r>
                        <a:rPr lang="en-HK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Q2</a:t>
                      </a:r>
                      <a:endParaRPr lang="en-HK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algn="l" defTabSz="609448" rtl="0" eaLnBrk="1" fontAlgn="t" latinLnBrk="0" hangingPunct="1"/>
                      <a:r>
                        <a:rPr lang="en-GB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Archiving Health Check</a:t>
                      </a:r>
                      <a:endParaRPr lang="en-US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/>
                </a:tc>
                <a:tc rowSpan="2"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Shipment Archival detail</a:t>
                      </a:r>
                      <a:r>
                        <a:rPr lang="en-US" altLang="zh-HK" sz="2400" b="1" u="none" strike="noStrike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HK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Analysis shared</a:t>
                      </a:r>
                      <a:endParaRPr lang="en-HK" sz="24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u="none" strike="noStrike" smtClean="0">
                          <a:effectLst/>
                        </a:rPr>
                        <a:t>30-Jun-21</a:t>
                      </a:r>
                      <a:endParaRPr lang="en-HK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30-Sep-21</a:t>
                      </a:r>
                      <a:endParaRPr lang="en-HK" sz="2400" b="1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043093"/>
                  </a:ext>
                </a:extLst>
              </a:tr>
              <a:tr h="431290">
                <a:tc>
                  <a:txBody>
                    <a:bodyPr/>
                    <a:lstStyle/>
                    <a:p>
                      <a:pPr algn="l" rtl="0" fontAlgn="t"/>
                      <a:r>
                        <a:rPr lang="en-HK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Q3</a:t>
                      </a:r>
                      <a:endParaRPr lang="en-HK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algn="l" defTabSz="609448" rtl="0" eaLnBrk="1" fontAlgn="t" latinLnBrk="0" hangingPunct="1"/>
                      <a:r>
                        <a:rPr lang="en-GB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Archiving Health Check </a:t>
                      </a:r>
                      <a:endParaRPr lang="en-US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/>
                </a:tc>
                <a:tc vMerge="1"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u="none" strike="noStrike" dirty="0" smtClean="0">
                          <a:effectLst/>
                        </a:rPr>
                        <a:t>30-Sep-21</a:t>
                      </a:r>
                      <a:endParaRPr lang="en-HK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H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228871"/>
                  </a:ext>
                </a:extLst>
              </a:tr>
              <a:tr h="635890">
                <a:tc>
                  <a:txBody>
                    <a:bodyPr/>
                    <a:lstStyle/>
                    <a:p>
                      <a:pPr algn="l" rtl="0" fontAlgn="t"/>
                      <a:r>
                        <a:rPr lang="en-HK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Q4</a:t>
                      </a:r>
                      <a:endParaRPr lang="en-HK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algn="l" defTabSz="609448" rtl="0" eaLnBrk="1" fontAlgn="t" latinLnBrk="0" hangingPunct="1"/>
                      <a:r>
                        <a:rPr lang="en-GB" sz="2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Archiving Health Check </a:t>
                      </a:r>
                      <a:endParaRPr lang="en-US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u="none" strike="noStrike" dirty="0" smtClean="0">
                          <a:effectLst/>
                        </a:rPr>
                        <a:t>31-Dec-21</a:t>
                      </a:r>
                      <a:endParaRPr lang="en-HK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H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539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79600" y="-54591"/>
            <a:ext cx="11125200" cy="605641"/>
          </a:xfrm>
        </p:spPr>
        <p:txBody>
          <a:bodyPr>
            <a:normAutofit fontScale="90000"/>
          </a:bodyPr>
          <a:lstStyle/>
          <a:p>
            <a:pPr algn="l"/>
            <a:r>
              <a:rPr lang="en-HK" dirty="0"/>
              <a:t>Maintenance </a:t>
            </a:r>
            <a:r>
              <a:rPr lang="en-HK" dirty="0" smtClean="0"/>
              <a:t>items – Summary 2021 (Contd.) </a:t>
            </a:r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-101600" y="1600200"/>
            <a:ext cx="16357600" cy="55626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171450" indent="-171450">
              <a:buFontTx/>
              <a:buChar char="-"/>
            </a:pPr>
            <a:endParaRPr lang="en-HK" altLang="zh-HK" dirty="0" smtClean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375882"/>
              </p:ext>
            </p:extLst>
          </p:nvPr>
        </p:nvGraphicFramePr>
        <p:xfrm>
          <a:off x="0" y="533400"/>
          <a:ext cx="16254485" cy="432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171">
                  <a:extLst>
                    <a:ext uri="{9D8B030D-6E8A-4147-A177-3AD203B41FA5}">
                      <a16:colId xmlns:a16="http://schemas.microsoft.com/office/drawing/2014/main" val="875572944"/>
                    </a:ext>
                  </a:extLst>
                </a:gridCol>
                <a:gridCol w="3487702">
                  <a:extLst>
                    <a:ext uri="{9D8B030D-6E8A-4147-A177-3AD203B41FA5}">
                      <a16:colId xmlns:a16="http://schemas.microsoft.com/office/drawing/2014/main" val="996473203"/>
                    </a:ext>
                  </a:extLst>
                </a:gridCol>
                <a:gridCol w="11786612">
                  <a:extLst>
                    <a:ext uri="{9D8B030D-6E8A-4147-A177-3AD203B41FA5}">
                      <a16:colId xmlns:a16="http://schemas.microsoft.com/office/drawing/2014/main" val="736394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HK" dirty="0" smtClean="0"/>
                        <a:t>S</a:t>
                      </a:r>
                      <a:r>
                        <a:rPr lang="en-HK" baseline="0" dirty="0" smtClean="0"/>
                        <a:t> No.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 smtClean="0"/>
                        <a:t>Action Plan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793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 smtClean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 smtClean="0"/>
                        <a:t>300K Shipment Archiving (without flight)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On 22Mar21 fix has been deployed on Production. Archiving of the pending shipment has been completed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363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140K Flight archiving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On 12Apr21 fix has been deployed on Production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715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 smtClean="0"/>
                        <a:t>2.1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Daily Flight Archiving count set to 1800 flight.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05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 smtClean="0"/>
                        <a:t>2.2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IN480881/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PR102992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There was an incident reported (IN480881) on 08Jun21 related to 01Jun21 deployment due to that currently daily archival count has been decreased from 130K per week to 20K-60K per week.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 smtClean="0"/>
                        <a:t>Fix has been deployed on 30Jun21.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997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 smtClean="0"/>
                        <a:t>2.3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 smtClean="0"/>
                        <a:t>Current Remaining</a:t>
                      </a:r>
                      <a:r>
                        <a:rPr lang="en-HK" baseline="0" dirty="0" smtClean="0"/>
                        <a:t> Shipment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725</a:t>
                      </a:r>
                      <a:r>
                        <a:rPr lang="en-GB" sz="1800" baseline="0" dirty="0" smtClean="0"/>
                        <a:t> 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075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 smtClean="0"/>
                        <a:t>2.4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Target Completion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 smtClean="0"/>
                        <a:t>End of Oct</a:t>
                      </a:r>
                      <a:r>
                        <a:rPr lang="en-HK" baseline="0" dirty="0" smtClean="0"/>
                        <a:t>’</a:t>
                      </a:r>
                      <a:r>
                        <a:rPr lang="en-HK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432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 smtClean="0"/>
                        <a:t>2.5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 smtClean="0"/>
                        <a:t>Archival Status</a:t>
                      </a:r>
                      <a:r>
                        <a:rPr lang="en-HK" baseline="0" dirty="0" smtClean="0"/>
                        <a:t> Email Job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Weekly job will send an email to pre-configured</a:t>
                      </a:r>
                      <a:r>
                        <a:rPr lang="en-US" baseline="0" dirty="0" smtClean="0"/>
                        <a:t> email ID’s </a:t>
                      </a:r>
                      <a:r>
                        <a:rPr lang="en-US" dirty="0" smtClean="0"/>
                        <a:t>listing daily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archival job completion</a:t>
                      </a:r>
                      <a:r>
                        <a:rPr lang="en-US" baseline="0" dirty="0" smtClean="0"/>
                        <a:t> date time for </a:t>
                      </a:r>
                      <a:r>
                        <a:rPr lang="en-US" dirty="0" smtClean="0"/>
                        <a:t>previous week, count of archived flights and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pending shipments to be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archived. Bugzilla Id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23829 – Basic d</a:t>
                      </a:r>
                      <a:r>
                        <a:rPr lang="en-US" dirty="0" smtClean="0"/>
                        <a:t>evelopment completed &amp; User specific changes would be require to do.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148516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4875155"/>
              </p:ext>
            </p:extLst>
          </p:nvPr>
        </p:nvGraphicFramePr>
        <p:xfrm>
          <a:off x="355600" y="5105400"/>
          <a:ext cx="14630400" cy="312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9165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79600" y="232559"/>
            <a:ext cx="12420600" cy="605641"/>
          </a:xfrm>
        </p:spPr>
        <p:txBody>
          <a:bodyPr>
            <a:normAutofit fontScale="90000"/>
          </a:bodyPr>
          <a:lstStyle/>
          <a:p>
            <a:pPr algn="l"/>
            <a:r>
              <a:rPr lang="en-HK" dirty="0"/>
              <a:t>Maintenance </a:t>
            </a:r>
            <a:r>
              <a:rPr lang="en-HK" dirty="0" smtClean="0"/>
              <a:t>items – Summary 2021 (Contd.) - Aug 21</a:t>
            </a:r>
            <a:endParaRPr lang="en-GB"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/>
          </p:nvPr>
        </p:nvGraphicFramePr>
        <p:xfrm>
          <a:off x="1371600" y="1066800"/>
          <a:ext cx="134112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>
            <a:graphicFrameLocks/>
          </p:cNvGraphicFramePr>
          <p:nvPr>
            <p:extLst/>
          </p:nvPr>
        </p:nvGraphicFramePr>
        <p:xfrm>
          <a:off x="1382363" y="5181600"/>
          <a:ext cx="13400437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07628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79600" y="-54591"/>
            <a:ext cx="12039600" cy="605641"/>
          </a:xfrm>
        </p:spPr>
        <p:txBody>
          <a:bodyPr>
            <a:normAutofit fontScale="90000"/>
          </a:bodyPr>
          <a:lstStyle/>
          <a:p>
            <a:pPr algn="l"/>
            <a:r>
              <a:rPr lang="en-HK" dirty="0"/>
              <a:t>Maintenance </a:t>
            </a:r>
            <a:r>
              <a:rPr lang="en-HK" dirty="0" smtClean="0"/>
              <a:t>items – Summary 2021 (Contd.)  - Sep21</a:t>
            </a:r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-101600" y="1600200"/>
            <a:ext cx="16357600" cy="55626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171450" indent="-171450">
              <a:buFontTx/>
              <a:buChar char="-"/>
            </a:pPr>
            <a:endParaRPr lang="en-HK" altLang="zh-HK" dirty="0" smtClean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0344363"/>
              </p:ext>
            </p:extLst>
          </p:nvPr>
        </p:nvGraphicFramePr>
        <p:xfrm>
          <a:off x="698500" y="838200"/>
          <a:ext cx="144018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6447139"/>
              </p:ext>
            </p:extLst>
          </p:nvPr>
        </p:nvGraphicFramePr>
        <p:xfrm>
          <a:off x="584200" y="4428435"/>
          <a:ext cx="147828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4974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717800" y="4267200"/>
            <a:ext cx="8721782" cy="5639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887" lvl="1" indent="0" algn="ctr">
              <a:lnSpc>
                <a:spcPct val="110000"/>
              </a:lnSpc>
              <a:buClr>
                <a:srgbClr val="E07000"/>
              </a:buClr>
              <a:buFont typeface="Arial" panose="020B0604020202020204" pitchFamily="34" charset="0"/>
              <a:buNone/>
              <a:tabLst>
                <a:tab pos="1828800" algn="l"/>
              </a:tabLst>
            </a:pPr>
            <a:r>
              <a:rPr lang="en-US" sz="2800" b="1" u="sng" dirty="0" smtClean="0"/>
              <a:t>WOS Status Update</a:t>
            </a:r>
            <a:endParaRPr lang="en-US" sz="2400" b="1" u="sng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600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879600" y="381000"/>
            <a:ext cx="7696200" cy="6858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dirty="0"/>
              <a:t>WOS - Deployment &amp; CR progress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graphicFrame>
        <p:nvGraphicFramePr>
          <p:cNvPr id="9" name="Table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2770398"/>
              </p:ext>
            </p:extLst>
          </p:nvPr>
        </p:nvGraphicFramePr>
        <p:xfrm>
          <a:off x="660400" y="2438400"/>
          <a:ext cx="14885957" cy="2486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5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Deployment Update (18Aug21 to 16Sep21)</a:t>
                      </a:r>
                      <a:endParaRPr kumimoji="0" 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978">
                <a:tc>
                  <a:txBody>
                    <a:bodyPr/>
                    <a:lstStyle/>
                    <a:p>
                      <a:pPr marL="795338" lvl="1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 </a:t>
                      </a:r>
                      <a:r>
                        <a:rPr lang="en-US" sz="2000" b="1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Deployments in </a:t>
                      </a:r>
                      <a:r>
                        <a:rPr lang="en-US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WOS </a:t>
                      </a:r>
                      <a:r>
                        <a:rPr lang="en-US" sz="2000" b="1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 during this period</a:t>
                      </a:r>
                      <a:r>
                        <a:rPr lang="en-US" sz="2000" b="1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2000" b="1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deployment in Aug21, 1 deployment in Sep21)</a:t>
                      </a:r>
                      <a:endParaRPr lang="en-US" sz="2000" b="1" u="none" strike="noStrike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5" marR="7905" marT="79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092">
                <a:tc>
                  <a:txBody>
                    <a:bodyPr/>
                    <a:lstStyle/>
                    <a:p>
                      <a:pPr marL="457200" marR="0" lvl="1" indent="58738" algn="l" defTabSz="60944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These</a:t>
                      </a:r>
                      <a:r>
                        <a:rPr lang="en-US" sz="2000" b="1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included –9 fixes (23Aug21)</a:t>
                      </a:r>
                    </a:p>
                    <a:p>
                      <a:pPr marL="457200" marR="0" lvl="1" indent="58738" algn="l" defTabSz="60944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–10 fixes (06Sep21)</a:t>
                      </a:r>
                      <a:endParaRPr lang="en-US" sz="20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5" marR="7905" marT="79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092">
                <a:tc>
                  <a:txBody>
                    <a:bodyPr/>
                    <a:lstStyle/>
                    <a:p>
                      <a:pPr marL="457200" marR="0" lvl="1" indent="58738" algn="l" defTabSz="60944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5" marR="7905" marT="79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07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632200" y="228600"/>
            <a:ext cx="7696200" cy="6858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dirty="0"/>
              <a:t>WOS - Deployment &amp; CR progress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295400"/>
            <a:ext cx="15900399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0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632200" y="228600"/>
            <a:ext cx="7696200" cy="6858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dirty="0"/>
              <a:t>WOS - Deployment &amp; CR progress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990600"/>
            <a:ext cx="15087600" cy="7315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0470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879600" y="152400"/>
            <a:ext cx="7696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56A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 smtClean="0">
                <a:latin typeface="Arial" charset="0"/>
                <a:cs typeface="Arial" charset="0"/>
              </a:rPr>
              <a:t>Monthly Statistics Analysis</a:t>
            </a:r>
            <a:endParaRPr lang="en-US" altLang="en-US" dirty="0">
              <a:latin typeface="Arial" charset="0"/>
              <a:cs typeface="Arial" charset="0"/>
            </a:endParaRPr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3612504"/>
              </p:ext>
            </p:extLst>
          </p:nvPr>
        </p:nvGraphicFramePr>
        <p:xfrm>
          <a:off x="508000" y="1066801"/>
          <a:ext cx="15468600" cy="723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6600" y="6172200"/>
            <a:ext cx="723900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23512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651000" y="228600"/>
            <a:ext cx="7696200" cy="685800"/>
          </a:xfrm>
        </p:spPr>
        <p:txBody>
          <a:bodyPr/>
          <a:lstStyle/>
          <a:p>
            <a:pPr algn="l" eaLnBrk="1" hangingPunct="1"/>
            <a:r>
              <a:rPr lang="en-US" altLang="en-US" dirty="0">
                <a:latin typeface="Arial" charset="0"/>
                <a:cs typeface="Arial" charset="0"/>
              </a:rPr>
              <a:t>Month wise Incidents Analysis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7875620"/>
              </p:ext>
            </p:extLst>
          </p:nvPr>
        </p:nvGraphicFramePr>
        <p:xfrm>
          <a:off x="279400" y="1524000"/>
          <a:ext cx="158496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2561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803400" y="457200"/>
            <a:ext cx="11125200" cy="685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en-US" dirty="0">
                <a:latin typeface="Arial" charset="0"/>
                <a:cs typeface="Arial" charset="0"/>
              </a:rPr>
              <a:t>NIIT Resolution </a:t>
            </a:r>
            <a:r>
              <a:rPr lang="en-US" altLang="en-US" dirty="0" smtClean="0">
                <a:latin typeface="Arial" charset="0"/>
                <a:cs typeface="Arial" charset="0"/>
              </a:rPr>
              <a:t>Statistics Aug’2021</a:t>
            </a:r>
            <a:endParaRPr lang="en-US" altLang="en-US" dirty="0">
              <a:latin typeface="Arial" charset="0"/>
              <a:cs typeface="Arial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600200"/>
            <a:ext cx="15849599" cy="678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844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5900" y="609600"/>
            <a:ext cx="160655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u="sng" dirty="0" smtClean="0"/>
              <a:t>Background: </a:t>
            </a:r>
          </a:p>
          <a:p>
            <a:r>
              <a:rPr lang="en-GB" dirty="0" smtClean="0"/>
              <a:t>Original </a:t>
            </a:r>
            <a:r>
              <a:rPr lang="en-GB" dirty="0"/>
              <a:t>issue </a:t>
            </a:r>
            <a:r>
              <a:rPr lang="en-GB" dirty="0" smtClean="0"/>
              <a:t>reported by CPSL was </a:t>
            </a:r>
            <a:r>
              <a:rPr lang="en-GB" dirty="0"/>
              <a:t>that </a:t>
            </a:r>
            <a:r>
              <a:rPr lang="en-GB" dirty="0" smtClean="0"/>
              <a:t>the data replication </a:t>
            </a:r>
            <a:r>
              <a:rPr lang="en-GB" dirty="0"/>
              <a:t>to AWS was not happening fast </a:t>
            </a:r>
            <a:r>
              <a:rPr lang="en-GB" dirty="0" smtClean="0"/>
              <a:t>enough due </a:t>
            </a:r>
            <a:r>
              <a:rPr lang="en-GB" dirty="0"/>
              <a:t>to the increased archival redo log </a:t>
            </a:r>
            <a:r>
              <a:rPr lang="en-GB" dirty="0" smtClean="0"/>
              <a:t>file size due to numbers </a:t>
            </a:r>
            <a:r>
              <a:rPr lang="en-GB" dirty="0"/>
              <a:t>of insert/delete on SPL_CARGO_DASHBOARD table. After deployment of PR102900 (Dashboard Revamp) </a:t>
            </a:r>
            <a:r>
              <a:rPr lang="en-GB" dirty="0" smtClean="0"/>
              <a:t>on 29Apr21, there </a:t>
            </a:r>
            <a:r>
              <a:rPr lang="en-GB" dirty="0"/>
              <a:t>is no insert/delete on SPL_CARGO_DASHBOARD table </a:t>
            </a:r>
            <a:r>
              <a:rPr lang="en-GB" dirty="0" smtClean="0"/>
              <a:t>as the table has been removed. But its reported that the </a:t>
            </a:r>
            <a:r>
              <a:rPr lang="en-GB" dirty="0"/>
              <a:t>size of the archival </a:t>
            </a:r>
            <a:r>
              <a:rPr lang="en-GB" dirty="0" smtClean="0"/>
              <a:t>redo log file did not reduce much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/>
              <a:t> </a:t>
            </a:r>
            <a:r>
              <a:rPr lang="en-US" altLang="zh-HK" dirty="0" smtClean="0"/>
              <a:t>After the deployment of </a:t>
            </a:r>
            <a:r>
              <a:rPr lang="en-US" altLang="zh-HK" dirty="0"/>
              <a:t>29 Apr 21, the size of archival redo log file dropped by 16</a:t>
            </a:r>
            <a:r>
              <a:rPr lang="en-US" altLang="zh-HK" dirty="0" smtClean="0"/>
              <a:t>%.</a:t>
            </a:r>
            <a:endParaRPr lang="en-US" altLang="zh-HK" dirty="0"/>
          </a:p>
          <a:p>
            <a:r>
              <a:rPr lang="en-US" altLang="zh-HK" dirty="0"/>
              <a:t>The archival file log size (with archiving job stopped) is still more than 63% over that before special cargo handling module deployment date - 29 Dec 21</a:t>
            </a:r>
            <a:r>
              <a:rPr lang="en-US" altLang="zh-HK" dirty="0" smtClean="0"/>
              <a:t>.</a:t>
            </a:r>
          </a:p>
          <a:p>
            <a:endParaRPr lang="en-HK" altLang="zh-H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archiving process is taking around 20% size of the total archiving log.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 miner has been performed on production by IBM.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Based on the IBM Log miner report</a:t>
            </a:r>
            <a:r>
              <a:rPr lang="en-US" dirty="0" smtClean="0"/>
              <a:t>, </a:t>
            </a:r>
            <a:r>
              <a:rPr lang="en-US" dirty="0" err="1"/>
              <a:t>Coforge</a:t>
            </a:r>
            <a:r>
              <a:rPr lang="en-US" dirty="0"/>
              <a:t> </a:t>
            </a:r>
            <a:r>
              <a:rPr lang="en-US" dirty="0" smtClean="0"/>
              <a:t>has identified </a:t>
            </a:r>
            <a:r>
              <a:rPr lang="en-US" dirty="0"/>
              <a:t>the issue. </a:t>
            </a:r>
            <a:r>
              <a:rPr lang="en-US" dirty="0" smtClean="0"/>
              <a:t>Materialized </a:t>
            </a:r>
            <a:r>
              <a:rPr lang="en-US" dirty="0"/>
              <a:t>view generating the archiving log. </a:t>
            </a:r>
            <a:r>
              <a:rPr lang="en-US" dirty="0" smtClean="0"/>
              <a:t>After </a:t>
            </a:r>
            <a:r>
              <a:rPr lang="en-US" dirty="0"/>
              <a:t>f</a:t>
            </a:r>
            <a:r>
              <a:rPr lang="en-US" dirty="0" smtClean="0"/>
              <a:t>urther working with IBM.  </a:t>
            </a:r>
            <a:r>
              <a:rPr lang="en-US" dirty="0" err="1" smtClean="0"/>
              <a:t>Coforge</a:t>
            </a:r>
            <a:r>
              <a:rPr lang="en-US" dirty="0" smtClean="0"/>
              <a:t> </a:t>
            </a:r>
            <a:r>
              <a:rPr lang="en-US" dirty="0"/>
              <a:t>is </a:t>
            </a:r>
            <a:r>
              <a:rPr lang="en-US" dirty="0" smtClean="0"/>
              <a:t>evaluating 2 proposed below below.</a:t>
            </a:r>
          </a:p>
          <a:p>
            <a:pPr lvl="1" fontAlgn="base"/>
            <a:r>
              <a:rPr lang="en-US" b="1" u="sng" dirty="0"/>
              <a:t>Option 1:</a:t>
            </a:r>
            <a:r>
              <a:rPr lang="en-US" dirty="0"/>
              <a:t> Update the Materialized view to Fast refresh so that it will have only update for changed data</a:t>
            </a:r>
            <a:r>
              <a:rPr lang="en-US" dirty="0" smtClean="0"/>
              <a:t>. </a:t>
            </a:r>
            <a:r>
              <a:rPr lang="en-US" dirty="0"/>
              <a:t> </a:t>
            </a:r>
            <a:endParaRPr lang="en-US" dirty="0" smtClean="0"/>
          </a:p>
          <a:p>
            <a:pPr lvl="1" fontAlgn="base"/>
            <a:r>
              <a:rPr lang="en-US" dirty="0" smtClean="0"/>
              <a:t>IBM Response: oracle </a:t>
            </a:r>
            <a:r>
              <a:rPr lang="en-US" dirty="0"/>
              <a:t>materialized view fast refresh model can't support  complex sub-query.</a:t>
            </a:r>
            <a:endParaRPr lang="en-US" strike="sngStrike" dirty="0"/>
          </a:p>
          <a:p>
            <a:pPr lvl="1" fontAlgn="base"/>
            <a:r>
              <a:rPr lang="en-US" b="1" u="sng" dirty="0"/>
              <a:t>Option 2: </a:t>
            </a:r>
            <a:r>
              <a:rPr lang="en-US" dirty="0"/>
              <a:t>Upon every refresh Materialized View delete and inserts complete data. Usage of Materialized View is only for inventory view of Dashboard.</a:t>
            </a:r>
          </a:p>
          <a:p>
            <a:pPr lvl="1" fontAlgn="base"/>
            <a:r>
              <a:rPr lang="en-US" dirty="0"/>
              <a:t>Currently, Materialized View refreshes in one minute. This refresh can be changed to 5 minutes</a:t>
            </a:r>
            <a:r>
              <a:rPr lang="en-US" dirty="0" smtClean="0"/>
              <a:t>.</a:t>
            </a:r>
          </a:p>
          <a:p>
            <a:pPr lvl="1" fontAlgn="base"/>
            <a:r>
              <a:rPr lang="en-HK" altLang="zh-HK" dirty="0" smtClean="0"/>
              <a:t>Update: CPSL IM is working with IBM on the same.</a:t>
            </a:r>
            <a:endParaRPr lang="en-HK" altLang="zh-HK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193800" y="-36395"/>
            <a:ext cx="14478000" cy="6977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56A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HK" sz="2800" dirty="0" smtClean="0"/>
              <a:t>Large Archive </a:t>
            </a:r>
            <a:r>
              <a:rPr lang="en-US" altLang="zh-HK" sz="2800" dirty="0"/>
              <a:t>log usage </a:t>
            </a:r>
            <a:r>
              <a:rPr lang="en-US" altLang="zh-HK" sz="2800" dirty="0" smtClean="0"/>
              <a:t>issue</a:t>
            </a:r>
            <a:endParaRPr lang="en-US" altLang="zh-HK" sz="2800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8858182"/>
              </p:ext>
            </p:extLst>
          </p:nvPr>
        </p:nvGraphicFramePr>
        <p:xfrm>
          <a:off x="584200" y="5221532"/>
          <a:ext cx="14630400" cy="3008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469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51000" y="76200"/>
            <a:ext cx="8229600" cy="605641"/>
          </a:xfrm>
        </p:spPr>
        <p:txBody>
          <a:bodyPr>
            <a:normAutofit fontScale="90000"/>
          </a:bodyPr>
          <a:lstStyle/>
          <a:p>
            <a:pPr algn="l"/>
            <a:r>
              <a:rPr lang="en-HK" dirty="0" smtClean="0"/>
              <a:t>KPI (Year 2021)</a:t>
            </a:r>
            <a:endParaRPr lang="en-GB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409978"/>
              </p:ext>
            </p:extLst>
          </p:nvPr>
        </p:nvGraphicFramePr>
        <p:xfrm>
          <a:off x="0" y="990600"/>
          <a:ext cx="16256000" cy="7412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72262">
                  <a:extLst>
                    <a:ext uri="{9D8B030D-6E8A-4147-A177-3AD203B41FA5}">
                      <a16:colId xmlns:a16="http://schemas.microsoft.com/office/drawing/2014/main" val="644865520"/>
                    </a:ext>
                  </a:extLst>
                </a:gridCol>
                <a:gridCol w="6946538">
                  <a:extLst>
                    <a:ext uri="{9D8B030D-6E8A-4147-A177-3AD203B41FA5}">
                      <a16:colId xmlns:a16="http://schemas.microsoft.com/office/drawing/2014/main" val="3969558017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34399333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0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8552">
                  <a:extLst>
                    <a:ext uri="{9D8B030D-6E8A-4147-A177-3AD203B41FA5}">
                      <a16:colId xmlns:a16="http://schemas.microsoft.com/office/drawing/2014/main" val="631574920"/>
                    </a:ext>
                  </a:extLst>
                </a:gridCol>
              </a:tblGrid>
              <a:tr h="991742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HK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KPI in </a:t>
                      </a:r>
                      <a:r>
                        <a:rPr lang="en-HK" sz="22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2021</a:t>
                      </a:r>
                      <a:endParaRPr lang="en-HK" sz="2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56A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HK" sz="2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56A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HK" sz="2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56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2021</a:t>
                      </a:r>
                    </a:p>
                    <a:p>
                      <a:pPr algn="ctr" fontAlgn="ctr"/>
                      <a:r>
                        <a:rPr lang="en-HK" sz="2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HK" sz="2200" b="1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upto</a:t>
                      </a:r>
                      <a:r>
                        <a:rPr lang="en-HK" sz="2200" b="1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last month)</a:t>
                      </a:r>
                      <a:endParaRPr lang="en-HK" sz="2200" b="1" i="0" u="none" strike="noStrike" dirty="0" smtClean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solidFill>
                      <a:srgbClr val="0056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2021 Target</a:t>
                      </a:r>
                      <a:endParaRPr lang="en-HK" sz="220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rgbClr val="0056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2021</a:t>
                      </a:r>
                    </a:p>
                    <a:p>
                      <a:pPr algn="ctr" fontAlgn="ctr"/>
                      <a:r>
                        <a:rPr lang="en-HK" sz="22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Health </a:t>
                      </a:r>
                      <a:endParaRPr lang="en-HK" sz="2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56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064180"/>
                  </a:ext>
                </a:extLst>
              </a:tr>
              <a:tr h="413906">
                <a:tc gridSpan="2">
                  <a:txBody>
                    <a:bodyPr/>
                    <a:lstStyle/>
                    <a:p>
                      <a:pPr marL="457200" indent="-457200" algn="l" fontAlgn="b">
                        <a:buAutoNum type="arabicPeriod"/>
                      </a:pPr>
                      <a:r>
                        <a:rPr lang="en-US" sz="2200" b="1" u="none" strike="noStrike" dirty="0" smtClean="0">
                          <a:effectLst/>
                          <a:latin typeface="+mn-lt"/>
                        </a:rPr>
                        <a:t>Number </a:t>
                      </a:r>
                      <a:r>
                        <a:rPr lang="en-US" sz="2200" b="1" u="none" strike="noStrike" dirty="0">
                          <a:effectLst/>
                          <a:latin typeface="+mn-lt"/>
                        </a:rPr>
                        <a:t>of A cases / number of deployment: x1/y , where</a:t>
                      </a:r>
                      <a:r>
                        <a:rPr lang="en-US" sz="2200" b="1" u="none" strike="noStrike" dirty="0" smtClean="0">
                          <a:effectLst/>
                          <a:latin typeface="+mn-lt"/>
                        </a:rPr>
                        <a:t>: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H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22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x1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G</a:t>
                      </a:r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394978"/>
                  </a:ext>
                </a:extLst>
              </a:tr>
              <a:tr h="334728">
                <a:tc>
                  <a:txBody>
                    <a:bodyPr/>
                    <a:lstStyle/>
                    <a:p>
                      <a:pPr algn="l" fontAlgn="b"/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2200" b="1" u="none" strike="noStrike">
                          <a:effectLst/>
                          <a:latin typeface="+mn-lt"/>
                        </a:rPr>
                        <a:t>y = number of deployment</a:t>
                      </a:r>
                      <a:endParaRPr lang="en-HK" sz="2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22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56134330"/>
                  </a:ext>
                </a:extLst>
              </a:tr>
              <a:tr h="334728">
                <a:tc>
                  <a:txBody>
                    <a:bodyPr/>
                    <a:lstStyle/>
                    <a:p>
                      <a:pPr algn="l" fontAlgn="b"/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1" u="none" strike="noStrike" dirty="0">
                          <a:effectLst/>
                          <a:latin typeface="+mn-lt"/>
                        </a:rPr>
                        <a:t>y1 = number of </a:t>
                      </a:r>
                      <a:r>
                        <a:rPr lang="en-US" sz="2200" b="1" u="none" strike="noStrike">
                          <a:effectLst/>
                          <a:latin typeface="+mn-lt"/>
                        </a:rPr>
                        <a:t>scheduled </a:t>
                      </a:r>
                      <a:r>
                        <a:rPr lang="en-US" sz="2200" b="1" u="none" strike="noStrike" smtClean="0">
                          <a:effectLst/>
                          <a:latin typeface="+mn-lt"/>
                        </a:rPr>
                        <a:t>deployment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22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y1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97773078"/>
                  </a:ext>
                </a:extLst>
              </a:tr>
              <a:tr h="398036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200" b="1" u="none" strike="noStrike" dirty="0">
                          <a:effectLst/>
                          <a:latin typeface="+mn-lt"/>
                        </a:rPr>
                        <a:t>2. Number of B cases / number of deployment: x2/y, where: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H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22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x2</a:t>
                      </a:r>
                      <a:endParaRPr lang="en-HK" sz="2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G</a:t>
                      </a:r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879998"/>
                  </a:ext>
                </a:extLst>
              </a:tr>
              <a:tr h="398036">
                <a:tc>
                  <a:txBody>
                    <a:bodyPr/>
                    <a:lstStyle/>
                    <a:p>
                      <a:pPr algn="l" fontAlgn="b"/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2200" b="1" u="none" strike="noStrike" dirty="0">
                          <a:effectLst/>
                          <a:latin typeface="+mn-lt"/>
                        </a:rPr>
                        <a:t>y = number of deployment</a:t>
                      </a:r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22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99983981"/>
                  </a:ext>
                </a:extLst>
              </a:tr>
              <a:tr h="398036">
                <a:tc>
                  <a:txBody>
                    <a:bodyPr/>
                    <a:lstStyle/>
                    <a:p>
                      <a:pPr algn="l" fontAlgn="b"/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1" u="none" strike="noStrike" dirty="0">
                          <a:effectLst/>
                          <a:latin typeface="+mn-lt"/>
                        </a:rPr>
                        <a:t>y1 = number of scheduled </a:t>
                      </a:r>
                      <a:r>
                        <a:rPr lang="en-US" sz="2200" b="1" u="none" strike="noStrike" dirty="0" smtClean="0">
                          <a:effectLst/>
                          <a:latin typeface="+mn-lt"/>
                        </a:rPr>
                        <a:t>deployment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22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y1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HK" sz="2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49911229"/>
                  </a:ext>
                </a:extLst>
              </a:tr>
              <a:tr h="398036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200" b="1" u="none" strike="noStrike" dirty="0">
                          <a:effectLst/>
                          <a:latin typeface="+mn-lt"/>
                        </a:rPr>
                        <a:t>3. No S1 and S2 incidents from CR / Bug fix: x3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H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22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x3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u="none" strike="noStrike" dirty="0">
                          <a:effectLst/>
                          <a:latin typeface="+mn-lt"/>
                        </a:rPr>
                        <a:t>G</a:t>
                      </a:r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260454"/>
                  </a:ext>
                </a:extLst>
              </a:tr>
              <a:tr h="334728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200" b="1" u="none" strike="noStrike" dirty="0">
                          <a:effectLst/>
                          <a:latin typeface="+mn-lt"/>
                        </a:rPr>
                        <a:t>4. Timely RCA and Sharing with NIIT teams and BAs: within 3 days (with quarterly review)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H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22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9424168"/>
                  </a:ext>
                </a:extLst>
              </a:tr>
              <a:tr h="398036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200" b="1" u="none" strike="noStrike" dirty="0">
                          <a:effectLst/>
                          <a:latin typeface="+mn-lt"/>
                        </a:rPr>
                        <a:t>- Number of RCA and sharing within 3 days: x4/z , where z = total number of RCA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H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22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x4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HK" sz="2200" b="1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</a:t>
                      </a:r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306679"/>
                  </a:ext>
                </a:extLst>
              </a:tr>
              <a:tr h="398036">
                <a:tc>
                  <a:txBody>
                    <a:bodyPr/>
                    <a:lstStyle/>
                    <a:p>
                      <a:pPr algn="l" fontAlgn="ctr"/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HK" sz="22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z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5808765"/>
                  </a:ext>
                </a:extLst>
              </a:tr>
              <a:tr h="398036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200" b="1" u="none" strike="noStrike" dirty="0">
                          <a:effectLst/>
                          <a:latin typeface="+mn-lt"/>
                        </a:rPr>
                        <a:t>5. Average SR/data patch per month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H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609448" rtl="0" eaLnBrk="1" fontAlgn="ctr" latinLnBrk="0" hangingPunct="1"/>
                      <a:r>
                        <a:rPr lang="en-HK" sz="22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HK" sz="2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609448" rtl="0" eaLnBrk="1" fontAlgn="ctr" latinLnBrk="0" hangingPunct="1"/>
                      <a:r>
                        <a:rPr lang="en-HK" sz="22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HK" sz="2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</a:t>
                      </a:r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994462"/>
                  </a:ext>
                </a:extLst>
              </a:tr>
              <a:tr h="398036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2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</a:t>
                      </a:r>
                      <a:r>
                        <a:rPr lang="en-US" sz="2200" b="1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of outstanding Invalid Incidents for discussion</a:t>
                      </a:r>
                      <a:endParaRPr lang="en-US" sz="22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H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&lt;10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</a:t>
                      </a:r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836092"/>
                  </a:ext>
                </a:extLst>
              </a:tr>
              <a:tr h="398036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2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 No. of important OPS incidents  (e.g. S3 incident in DM report)</a:t>
                      </a:r>
                      <a:endParaRPr lang="en-US" sz="22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H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</a:t>
                      </a:r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90930"/>
                  </a:ext>
                </a:extLst>
              </a:tr>
              <a:tr h="398036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2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 No. of "cannot replicate" valid incidents</a:t>
                      </a:r>
                      <a:endParaRPr lang="en-US" sz="22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H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</a:t>
                      </a:r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438137"/>
                  </a:ext>
                </a:extLst>
              </a:tr>
              <a:tr h="398036"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</a:t>
                      </a:r>
                      <a:r>
                        <a:rPr lang="en-US" sz="2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No. of outstanding valid side-walk bugs to be fixed</a:t>
                      </a:r>
                    </a:p>
                  </a:txBody>
                  <a:tcPr marL="6350" marR="6350" marT="6350" marB="9525" anchor="b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350" marR="6350" marT="6350" marB="9525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&lt;10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R</a:t>
                      </a:r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176631"/>
                  </a:ext>
                </a:extLst>
              </a:tr>
              <a:tr h="603170"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 </a:t>
                      </a:r>
                      <a:r>
                        <a:rPr lang="en-US" sz="22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No. of problem and side-walk bugs issues for discussion</a:t>
                      </a:r>
                      <a:endParaRPr lang="en-US" sz="22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9525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&lt;10</a:t>
                      </a:r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</a:t>
                      </a:r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74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537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2032000" y="461159"/>
            <a:ext cx="8229600" cy="60564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Outstanding Incidents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1018" y="1371600"/>
            <a:ext cx="15925800" cy="66602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15887" lvl="1" algn="just">
              <a:lnSpc>
                <a:spcPct val="110000"/>
              </a:lnSpc>
              <a:buClr>
                <a:srgbClr val="E07000"/>
              </a:buClr>
              <a:tabLst>
                <a:tab pos="1828800" algn="l"/>
              </a:tabLst>
            </a:pPr>
            <a:r>
              <a:rPr lang="en-US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Progress </a:t>
            </a: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Summary of discussions with IMT &amp; OSS</a:t>
            </a: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endParaRPr lang="en-US" sz="2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endParaRPr lang="en-US" sz="2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5887" lvl="1" algn="just">
              <a:lnSpc>
                <a:spcPct val="110000"/>
              </a:lnSpc>
              <a:buClr>
                <a:srgbClr val="E07000"/>
              </a:buClr>
              <a:tabLst>
                <a:tab pos="1828800" algn="l"/>
              </a:tabLst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5887" lvl="1" algn="just">
              <a:lnSpc>
                <a:spcPct val="110000"/>
              </a:lnSpc>
              <a:buClr>
                <a:srgbClr val="E07000"/>
              </a:buClr>
              <a:tabLst>
                <a:tab pos="1828800" algn="l"/>
              </a:tabLst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endParaRPr lang="en-US" sz="2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endParaRPr lang="en-US" sz="2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No of Outstanding Incidents for discussion: 10</a:t>
            </a: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r>
              <a:rPr lang="en-HK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New incident added after last meeting	  </a:t>
            </a:r>
            <a:r>
              <a:rPr lang="en-HK" sz="2800" smtClean="0">
                <a:latin typeface="Calibri" panose="020F0502020204030204" pitchFamily="34" charset="0"/>
                <a:cs typeface="Calibri" panose="020F0502020204030204" pitchFamily="34" charset="0"/>
              </a:rPr>
              <a:t>: 21</a:t>
            </a:r>
            <a:endParaRPr lang="en-US" sz="2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Both “Work-As-Design” and “No Action” incidents are part of the issues</a:t>
            </a: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401095"/>
              </p:ext>
            </p:extLst>
          </p:nvPr>
        </p:nvGraphicFramePr>
        <p:xfrm>
          <a:off x="259118" y="2438400"/>
          <a:ext cx="15849600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771">
                  <a:extLst>
                    <a:ext uri="{9D8B030D-6E8A-4147-A177-3AD203B41FA5}">
                      <a16:colId xmlns:a16="http://schemas.microsoft.com/office/drawing/2014/main" val="3102947930"/>
                    </a:ext>
                  </a:extLst>
                </a:gridCol>
                <a:gridCol w="3449004">
                  <a:extLst>
                    <a:ext uri="{9D8B030D-6E8A-4147-A177-3AD203B41FA5}">
                      <a16:colId xmlns:a16="http://schemas.microsoft.com/office/drawing/2014/main" val="3958936546"/>
                    </a:ext>
                  </a:extLst>
                </a:gridCol>
                <a:gridCol w="2330408">
                  <a:extLst>
                    <a:ext uri="{9D8B030D-6E8A-4147-A177-3AD203B41FA5}">
                      <a16:colId xmlns:a16="http://schemas.microsoft.com/office/drawing/2014/main" val="4271953071"/>
                    </a:ext>
                  </a:extLst>
                </a:gridCol>
                <a:gridCol w="1926470">
                  <a:extLst>
                    <a:ext uri="{9D8B030D-6E8A-4147-A177-3AD203B41FA5}">
                      <a16:colId xmlns:a16="http://schemas.microsoft.com/office/drawing/2014/main" val="3439070598"/>
                    </a:ext>
                  </a:extLst>
                </a:gridCol>
                <a:gridCol w="3327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52407">
                  <a:extLst>
                    <a:ext uri="{9D8B030D-6E8A-4147-A177-3AD203B41FA5}">
                      <a16:colId xmlns:a16="http://schemas.microsoft.com/office/drawing/2014/main" val="2881583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HK" sz="2000" dirty="0" smtClean="0"/>
                        <a:t>Date</a:t>
                      </a:r>
                      <a:endParaRPr lang="en-H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2000" dirty="0" smtClean="0"/>
                        <a:t>No of Incidents carry forwarded as per previous meeting</a:t>
                      </a:r>
                      <a:endParaRPr lang="en-H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2000" dirty="0" smtClean="0"/>
                        <a:t>No of Incidents added new</a:t>
                      </a:r>
                      <a:endParaRPr lang="en-H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2000" dirty="0" smtClean="0"/>
                        <a:t>Incidents cancelled</a:t>
                      </a:r>
                      <a:endParaRPr lang="en-H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2000" dirty="0" smtClean="0"/>
                        <a:t>Incident under further investigation</a:t>
                      </a:r>
                      <a:endParaRPr lang="en-H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2000" dirty="0" smtClean="0"/>
                        <a:t>Incidents accepted by</a:t>
                      </a:r>
                      <a:r>
                        <a:rPr lang="en-HK" sz="2000" baseline="0" dirty="0" smtClean="0"/>
                        <a:t> NIIT for fixing</a:t>
                      </a:r>
                      <a:endParaRPr lang="en-HK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026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03Sep21</a:t>
                      </a:r>
                      <a:endParaRPr lang="en-GB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8</a:t>
                      </a:r>
                      <a:endParaRPr lang="en-GB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7</a:t>
                      </a:r>
                      <a:endParaRPr lang="en-GB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10</a:t>
                      </a:r>
                      <a:endParaRPr lang="en-GB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5</a:t>
                      </a:r>
                      <a:endParaRPr lang="en-GB" dirty="0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7209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644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2032000" y="461159"/>
            <a:ext cx="10363200" cy="60564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Trucker and </a:t>
            </a:r>
            <a:r>
              <a:rPr lang="en-US" dirty="0"/>
              <a:t>Spot App – Status Update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812800" y="1524000"/>
            <a:ext cx="14325600" cy="6572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5887" lvl="1" algn="just">
              <a:lnSpc>
                <a:spcPct val="110000"/>
              </a:lnSpc>
              <a:buClr>
                <a:srgbClr val="E07000"/>
              </a:buClr>
              <a:tabLst>
                <a:tab pos="1828800" algn="l"/>
              </a:tabLst>
            </a:pPr>
            <a:r>
              <a:rPr lang="en-US" altLang="zh-HK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Number of incident– 0</a:t>
            </a:r>
          </a:p>
          <a:p>
            <a:pPr marL="1011131" lvl="2" indent="-285750" algn="just">
              <a:lnSpc>
                <a:spcPct val="110000"/>
              </a:lnSpc>
              <a:buClr>
                <a:srgbClr val="E07000"/>
              </a:buClr>
              <a:buFont typeface="Courier New" pitchFamily="49" charset="0"/>
              <a:buChar char="o"/>
              <a:tabLst>
                <a:tab pos="1828800" algn="l"/>
              </a:tabLst>
            </a:pPr>
            <a:r>
              <a:rPr lang="en-US" sz="2400" dirty="0"/>
              <a:t> </a:t>
            </a:r>
            <a:r>
              <a:rPr lang="en-US" sz="2400" dirty="0" smtClean="0"/>
              <a:t>No </a:t>
            </a:r>
            <a:r>
              <a:rPr lang="en-US" sz="2400" dirty="0"/>
              <a:t>incidents reported </a:t>
            </a:r>
            <a:r>
              <a:rPr lang="en-US" sz="2400" dirty="0" smtClean="0"/>
              <a:t>Aug21</a:t>
            </a:r>
            <a:endParaRPr lang="en-US" sz="2400" dirty="0"/>
          </a:p>
          <a:p>
            <a:pPr marL="115887" lvl="1" algn="just">
              <a:lnSpc>
                <a:spcPct val="110000"/>
              </a:lnSpc>
              <a:buClr>
                <a:srgbClr val="E07000"/>
              </a:buClr>
              <a:tabLst>
                <a:tab pos="1828800" algn="l"/>
              </a:tabLst>
            </a:pPr>
            <a:endParaRPr lang="en-US" sz="2400" dirty="0">
              <a:cs typeface="Calibri" panose="020F0502020204030204" pitchFamily="34" charset="0"/>
            </a:endParaRPr>
          </a:p>
          <a:p>
            <a:pPr marL="115887" lvl="1" algn="just">
              <a:lnSpc>
                <a:spcPct val="110000"/>
              </a:lnSpc>
              <a:buClr>
                <a:srgbClr val="E07000"/>
              </a:buClr>
              <a:tabLst>
                <a:tab pos="1828800" algn="l"/>
              </a:tabLst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CR’s in progress</a:t>
            </a:r>
          </a:p>
          <a:p>
            <a:pPr marL="858837" lvl="2" indent="-285750" algn="just">
              <a:lnSpc>
                <a:spcPct val="110000"/>
              </a:lnSpc>
              <a:buClr>
                <a:srgbClr val="E07000"/>
              </a:buClr>
              <a:buFont typeface="Courier New" pitchFamily="49" charset="0"/>
              <a:buChar char="o"/>
              <a:tabLst>
                <a:tab pos="1828800" algn="l"/>
              </a:tabLst>
            </a:pPr>
            <a:r>
              <a:rPr lang="en-GB" sz="2400" dirty="0" smtClean="0"/>
              <a:t>CR</a:t>
            </a:r>
            <a:r>
              <a:rPr lang="en-GB" sz="2400" dirty="0"/>
              <a:t>: </a:t>
            </a:r>
          </a:p>
          <a:p>
            <a:pPr marL="1468331" lvl="3" indent="-285750" algn="just">
              <a:lnSpc>
                <a:spcPct val="110000"/>
              </a:lnSpc>
              <a:buClr>
                <a:srgbClr val="E07000"/>
              </a:buClr>
              <a:buFont typeface="Courier New" pitchFamily="49" charset="0"/>
              <a:buChar char="o"/>
              <a:tabLst>
                <a:tab pos="1828800" algn="l"/>
              </a:tabLst>
            </a:pPr>
            <a:r>
              <a:rPr lang="en-US" altLang="zh-HK" sz="2400" dirty="0" smtClean="0"/>
              <a:t> CR20051401 </a:t>
            </a:r>
            <a:r>
              <a:rPr lang="en-US" altLang="zh-HK" sz="2400" dirty="0"/>
              <a:t>Trucker App - Queue for Customs Hall </a:t>
            </a:r>
            <a:r>
              <a:rPr lang="en-US" altLang="zh-HK" sz="2400" dirty="0" smtClean="0"/>
              <a:t>Examination –</a:t>
            </a:r>
          </a:p>
          <a:p>
            <a:pPr marL="1639781" lvl="4" algn="just">
              <a:lnSpc>
                <a:spcPct val="110000"/>
              </a:lnSpc>
              <a:buClr>
                <a:srgbClr val="E07000"/>
              </a:buClr>
              <a:tabLst>
                <a:tab pos="1828800" algn="l"/>
              </a:tabLst>
            </a:pPr>
            <a:r>
              <a:rPr lang="en-US" altLang="zh-HK" sz="2400" dirty="0" smtClean="0"/>
              <a:t>CR quote submitted on 01Sep</a:t>
            </a:r>
            <a:endParaRPr lang="en-US" sz="24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algn="just">
              <a:lnSpc>
                <a:spcPct val="110000"/>
              </a:lnSpc>
              <a:buClr>
                <a:srgbClr val="E07000"/>
              </a:buClr>
              <a:tabLst>
                <a:tab pos="1828800" algn="l"/>
              </a:tabLst>
            </a:pPr>
            <a:endParaRPr lang="en-US" altLang="zh-HK" sz="24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algn="just">
              <a:lnSpc>
                <a:spcPct val="110000"/>
              </a:lnSpc>
              <a:buClr>
                <a:srgbClr val="E07000"/>
              </a:buClr>
              <a:tabLst>
                <a:tab pos="1828800" algn="l"/>
              </a:tabLst>
            </a:pPr>
            <a:r>
              <a:rPr lang="en-US" altLang="zh-HK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Other On going Tasks</a:t>
            </a:r>
            <a:endParaRPr lang="en-US" altLang="zh-HK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11131" lvl="2" indent="-285750" algn="just">
              <a:lnSpc>
                <a:spcPct val="110000"/>
              </a:lnSpc>
              <a:buClr>
                <a:srgbClr val="E07000"/>
              </a:buClr>
              <a:buFont typeface="Courier New" pitchFamily="49" charset="0"/>
              <a:buChar char="o"/>
              <a:tabLst>
                <a:tab pos="1828800" algn="l"/>
              </a:tabLst>
            </a:pPr>
            <a:r>
              <a:rPr lang="en-US" altLang="zh-HK" sz="2400" dirty="0" smtClean="0"/>
              <a:t> SAN </a:t>
            </a:r>
            <a:r>
              <a:rPr lang="en-US" altLang="zh-HK" sz="2400" dirty="0"/>
              <a:t>Certificates Domain Name (Production and Non-Production</a:t>
            </a:r>
            <a:r>
              <a:rPr lang="en-US" altLang="zh-HK" sz="2400" dirty="0" smtClean="0"/>
              <a:t>)</a:t>
            </a:r>
          </a:p>
          <a:p>
            <a:pPr marL="1468331" lvl="3" indent="-285750" algn="just">
              <a:lnSpc>
                <a:spcPct val="110000"/>
              </a:lnSpc>
              <a:buClr>
                <a:srgbClr val="E07000"/>
              </a:buClr>
              <a:buFont typeface="Courier New" pitchFamily="49" charset="0"/>
              <a:buChar char="o"/>
              <a:tabLst>
                <a:tab pos="1828800" algn="l"/>
              </a:tabLst>
            </a:pPr>
            <a:r>
              <a:rPr lang="en-US" altLang="zh-HK" sz="2400" dirty="0" smtClean="0"/>
              <a:t>Under discussion with IM </a:t>
            </a:r>
            <a:endParaRPr lang="en-US" altLang="zh-HK" sz="2400" dirty="0"/>
          </a:p>
          <a:p>
            <a:pPr marL="1011131" lvl="2" indent="-285750" algn="just">
              <a:lnSpc>
                <a:spcPct val="110000"/>
              </a:lnSpc>
              <a:buClr>
                <a:srgbClr val="E07000"/>
              </a:buClr>
              <a:buFont typeface="Courier New" pitchFamily="49" charset="0"/>
              <a:buChar char="o"/>
              <a:tabLst>
                <a:tab pos="1828800" algn="l"/>
              </a:tabLst>
            </a:pPr>
            <a:r>
              <a:rPr lang="en-US" altLang="zh-HK" sz="2400" dirty="0"/>
              <a:t> Annual version upgrade (IOS / </a:t>
            </a:r>
            <a:r>
              <a:rPr lang="en-US" altLang="zh-HK" sz="2400" dirty="0" smtClean="0"/>
              <a:t>Android)</a:t>
            </a:r>
          </a:p>
          <a:p>
            <a:pPr marL="1468331" lvl="3" indent="-285750" algn="just">
              <a:lnSpc>
                <a:spcPct val="110000"/>
              </a:lnSpc>
              <a:buClr>
                <a:srgbClr val="E07000"/>
              </a:buClr>
              <a:buFont typeface="Courier New" pitchFamily="49" charset="0"/>
              <a:buChar char="o"/>
              <a:tabLst>
                <a:tab pos="1828800" algn="l"/>
              </a:tabLst>
            </a:pPr>
            <a:r>
              <a:rPr lang="en-US" sz="2400" dirty="0" smtClean="0"/>
              <a:t>Latest OS support in both android and iOS versions of trucker app, So no need of any version upgrade is required. However, </a:t>
            </a:r>
            <a:r>
              <a:rPr lang="en-US" sz="2400" dirty="0" err="1" smtClean="0"/>
              <a:t>Coforge</a:t>
            </a:r>
            <a:r>
              <a:rPr lang="en-US" sz="2400" dirty="0" smtClean="0"/>
              <a:t> checking further </a:t>
            </a:r>
            <a:r>
              <a:rPr lang="sv-SE" sz="2400" dirty="0" smtClean="0"/>
              <a:t>OS </a:t>
            </a:r>
            <a:r>
              <a:rPr lang="sv-SE" sz="2400" dirty="0"/>
              <a:t>upgrade in 2021:</a:t>
            </a:r>
          </a:p>
          <a:p>
            <a:pPr marL="1925531" lvl="4" indent="-285750" algn="just">
              <a:lnSpc>
                <a:spcPct val="110000"/>
              </a:lnSpc>
              <a:buClr>
                <a:srgbClr val="E07000"/>
              </a:buClr>
              <a:buFont typeface="Courier New" pitchFamily="49" charset="0"/>
              <a:buChar char="o"/>
              <a:tabLst>
                <a:tab pos="1828800" algn="l"/>
              </a:tabLst>
            </a:pPr>
            <a:r>
              <a:rPr lang="sv-SE" sz="2400" dirty="0"/>
              <a:t>Android 12</a:t>
            </a:r>
          </a:p>
          <a:p>
            <a:pPr marL="1925531" lvl="4" indent="-285750" algn="just">
              <a:lnSpc>
                <a:spcPct val="110000"/>
              </a:lnSpc>
              <a:buClr>
                <a:srgbClr val="E07000"/>
              </a:buClr>
              <a:buFont typeface="Courier New" pitchFamily="49" charset="0"/>
              <a:buChar char="o"/>
              <a:tabLst>
                <a:tab pos="1828800" algn="l"/>
              </a:tabLst>
            </a:pPr>
            <a:r>
              <a:rPr lang="sv-SE" sz="2400" dirty="0"/>
              <a:t>IOS </a:t>
            </a:r>
            <a:r>
              <a:rPr lang="sv-SE" sz="2400" dirty="0" smtClean="0"/>
              <a:t>15</a:t>
            </a:r>
            <a:endParaRPr lang="en-US" sz="2400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38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E19B0-7363-CF41-AFE7-3FC82514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200" y="3733800"/>
            <a:ext cx="8534400" cy="1676400"/>
          </a:xfrm>
        </p:spPr>
        <p:txBody>
          <a:bodyPr/>
          <a:lstStyle/>
          <a:p>
            <a:pPr marL="228600" lvl="1" indent="-228600" fontAlgn="base">
              <a:lnSpc>
                <a:spcPct val="110000"/>
              </a:lnSpc>
              <a:spcAft>
                <a:spcPct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Next Meeting – </a:t>
            </a:r>
            <a:r>
              <a:rPr lang="en-US" sz="2800" b="1" dirty="0" smtClean="0">
                <a:solidFill>
                  <a:schemeClr val="bg1"/>
                </a:solidFill>
              </a:rPr>
              <a:t>14Oct21 02:30 </a:t>
            </a:r>
            <a:r>
              <a:rPr lang="en-US" sz="2800" b="1" dirty="0">
                <a:solidFill>
                  <a:schemeClr val="bg1"/>
                </a:solidFill>
              </a:rPr>
              <a:t>– </a:t>
            </a:r>
            <a:r>
              <a:rPr lang="en-US" sz="2800" b="1" dirty="0" smtClean="0">
                <a:solidFill>
                  <a:schemeClr val="bg1"/>
                </a:solidFill>
              </a:rPr>
              <a:t>03:30 </a:t>
            </a:r>
            <a:r>
              <a:rPr lang="en-US" sz="2800" b="1" dirty="0">
                <a:solidFill>
                  <a:schemeClr val="bg1"/>
                </a:solidFill>
              </a:rPr>
              <a:t>PM HKT </a:t>
            </a:r>
            <a:endParaRPr lang="en-GB" sz="2800" b="1" dirty="0">
              <a:solidFill>
                <a:schemeClr val="bg1"/>
              </a:solidFill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508000" y="457200"/>
            <a:ext cx="3197543" cy="605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AOB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445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215CE-A8DE-944D-BAC2-A62489E0A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2317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Autofit/>
      </a:bodyPr>
      <a:lstStyle>
        <a:defPPr algn="l">
          <a:defRPr sz="4000" dirty="0" smtClean="0">
            <a:solidFill>
              <a:srgbClr val="F68B1F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Autofit/>
      </a:bodyPr>
      <a:lstStyle>
        <a:defPPr algn="l">
          <a:defRPr sz="4000" dirty="0" smtClean="0">
            <a:solidFill>
              <a:srgbClr val="F68B1F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26504</TotalTime>
  <Words>1045</Words>
  <Application>Microsoft Office PowerPoint</Application>
  <PresentationFormat>Custom</PresentationFormat>
  <Paragraphs>276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游ゴシック</vt:lpstr>
      <vt:lpstr>Arial</vt:lpstr>
      <vt:lpstr>Calibri</vt:lpstr>
      <vt:lpstr>Calibri Light</vt:lpstr>
      <vt:lpstr>Courier New</vt:lpstr>
      <vt:lpstr>新細明體</vt:lpstr>
      <vt:lpstr>Times New Roman</vt:lpstr>
      <vt:lpstr>Wingdings</vt:lpstr>
      <vt:lpstr>Custom Design</vt:lpstr>
      <vt:lpstr>1_Custom Design</vt:lpstr>
      <vt:lpstr>PowerPoint Presentation</vt:lpstr>
      <vt:lpstr>PowerPoint Presentation</vt:lpstr>
      <vt:lpstr>PowerPoint Presentation</vt:lpstr>
      <vt:lpstr>PowerPoint Presentation</vt:lpstr>
      <vt:lpstr>Maintenance items – Summary 2021 </vt:lpstr>
      <vt:lpstr>Maintenance items – Summary 2021 (Contd.) </vt:lpstr>
      <vt:lpstr>Maintenance items – Summary 2021 (Contd.) - Aug 21</vt:lpstr>
      <vt:lpstr>Maintenance items – Summary 2021 (Contd.)  - Sep21</vt:lpstr>
      <vt:lpstr>PowerPoint Presentation</vt:lpstr>
      <vt:lpstr>WOS - Deployment &amp; CR progress</vt:lpstr>
      <vt:lpstr>WOS - Deployment &amp; CR progress</vt:lpstr>
      <vt:lpstr>WOS - Deployment &amp; CR progress</vt:lpstr>
      <vt:lpstr>PowerPoint Presentation</vt:lpstr>
      <vt:lpstr>Month wise Incidents Analysis</vt:lpstr>
      <vt:lpstr>NIIT Resolution Statistics Aug’2021</vt:lpstr>
      <vt:lpstr>PowerPoint Presentation</vt:lpstr>
      <vt:lpstr>KPI (Year 2021)</vt:lpstr>
      <vt:lpstr>Outstanding Incidents</vt:lpstr>
      <vt:lpstr>Trucker and Spot App – Status Update</vt:lpstr>
      <vt:lpstr>Next Meeting – 14Oct21 02:30 – 03:30 PM HKT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TEST</dc:title>
  <dc:creator>Bhupendra Singh - Cs</dc:creator>
  <cp:lastModifiedBy>cofor</cp:lastModifiedBy>
  <cp:revision>1563</cp:revision>
  <cp:lastPrinted>2018-06-28T10:51:56Z</cp:lastPrinted>
  <dcterms:created xsi:type="dcterms:W3CDTF">2018-06-04T11:08:06Z</dcterms:created>
  <dcterms:modified xsi:type="dcterms:W3CDTF">2021-09-16T05:26:13Z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2018-06-04T00:00:00Z</vt:filetime>
  </property>
  <property fmtid="{D5CDD505-2E9C-101B-9397-08002B2CF9AE}" pid="3" name="Creator">
    <vt:lpwstr>Adobe Illustrator CC 22.1 (Macintosh)</vt:lpwstr>
  </property>
  <property fmtid="{D5CDD505-2E9C-101B-9397-08002B2CF9AE}" pid="4" name="LastSaved">
    <vt:filetime>2018-06-04T00:00:00Z</vt:filetime>
  </property>
</Properties>
</file>