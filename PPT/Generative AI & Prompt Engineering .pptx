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8" r:id="rId2"/>
    <p:sldId id="269" r:id="rId3"/>
    <p:sldId id="256" r:id="rId4"/>
    <p:sldId id="257" r:id="rId5"/>
    <p:sldId id="259" r:id="rId6"/>
    <p:sldId id="260" r:id="rId7"/>
    <p:sldId id="261" r:id="rId8"/>
    <p:sldId id="262" r:id="rId9"/>
    <p:sldId id="263" r:id="rId10"/>
    <p:sldId id="264" r:id="rId11"/>
    <p:sldId id="266" r:id="rId12"/>
    <p:sldId id="265" r:id="rId13"/>
    <p:sldId id="267" r:id="rId14"/>
    <p:sldId id="268" r:id="rId15"/>
    <p:sldId id="271" r:id="rId16"/>
    <p:sldId id="272" r:id="rId17"/>
    <p:sldId id="273" r:id="rId18"/>
    <p:sldId id="274" r:id="rId19"/>
    <p:sldId id="270"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6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81"/>
    <p:restoredTop sz="87776"/>
  </p:normalViewPr>
  <p:slideViewPr>
    <p:cSldViewPr snapToGrid="0">
      <p:cViewPr varScale="1">
        <p:scale>
          <a:sx n="117" d="100"/>
          <a:sy n="117" d="100"/>
        </p:scale>
        <p:origin x="864" y="176"/>
      </p:cViewPr>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62C58-48F0-7648-A941-D4051F89E3CD}" type="datetimeFigureOut">
              <a:rPr lang="en-US" smtClean="0"/>
              <a:t>7/23/24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F285F7-750F-684C-9B39-7077A46B5CDE}" type="slidenum">
              <a:rPr lang="en-US" smtClean="0"/>
              <a:t>‹#›</a:t>
            </a:fld>
            <a:endParaRPr lang="en-US"/>
          </a:p>
        </p:txBody>
      </p:sp>
    </p:spTree>
    <p:extLst>
      <p:ext uri="{BB962C8B-B14F-4D97-AF65-F5344CB8AC3E}">
        <p14:creationId xmlns:p14="http://schemas.microsoft.com/office/powerpoint/2010/main" val="2179202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6ee5efcbb4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 name="Google Shape;70;g26ee5efcbb4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71" name="Google Shape;71;g26ee5efcbb4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3</a:t>
            </a:fld>
            <a:endParaRPr lang="en-US"/>
          </a:p>
        </p:txBody>
      </p:sp>
    </p:spTree>
    <p:extLst>
      <p:ext uri="{BB962C8B-B14F-4D97-AF65-F5344CB8AC3E}">
        <p14:creationId xmlns:p14="http://schemas.microsoft.com/office/powerpoint/2010/main" val="499705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4</a:t>
            </a:fld>
            <a:endParaRPr lang="en-US"/>
          </a:p>
        </p:txBody>
      </p:sp>
    </p:spTree>
    <p:extLst>
      <p:ext uri="{BB962C8B-B14F-4D97-AF65-F5344CB8AC3E}">
        <p14:creationId xmlns:p14="http://schemas.microsoft.com/office/powerpoint/2010/main" val="3106291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5</a:t>
            </a:fld>
            <a:endParaRPr lang="en-US"/>
          </a:p>
        </p:txBody>
      </p:sp>
    </p:spTree>
    <p:extLst>
      <p:ext uri="{BB962C8B-B14F-4D97-AF65-F5344CB8AC3E}">
        <p14:creationId xmlns:p14="http://schemas.microsoft.com/office/powerpoint/2010/main" val="2919763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6</a:t>
            </a:fld>
            <a:endParaRPr lang="en-US"/>
          </a:p>
        </p:txBody>
      </p:sp>
    </p:spTree>
    <p:extLst>
      <p:ext uri="{BB962C8B-B14F-4D97-AF65-F5344CB8AC3E}">
        <p14:creationId xmlns:p14="http://schemas.microsoft.com/office/powerpoint/2010/main" val="1472194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7</a:t>
            </a:fld>
            <a:endParaRPr lang="en-US"/>
          </a:p>
        </p:txBody>
      </p:sp>
    </p:spTree>
    <p:extLst>
      <p:ext uri="{BB962C8B-B14F-4D97-AF65-F5344CB8AC3E}">
        <p14:creationId xmlns:p14="http://schemas.microsoft.com/office/powerpoint/2010/main" val="2838200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8</a:t>
            </a:fld>
            <a:endParaRPr lang="en-US"/>
          </a:p>
        </p:txBody>
      </p:sp>
    </p:spTree>
    <p:extLst>
      <p:ext uri="{BB962C8B-B14F-4D97-AF65-F5344CB8AC3E}">
        <p14:creationId xmlns:p14="http://schemas.microsoft.com/office/powerpoint/2010/main" val="560275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12</a:t>
            </a:fld>
            <a:endParaRPr lang="en-US"/>
          </a:p>
        </p:txBody>
      </p:sp>
    </p:spTree>
    <p:extLst>
      <p:ext uri="{BB962C8B-B14F-4D97-AF65-F5344CB8AC3E}">
        <p14:creationId xmlns:p14="http://schemas.microsoft.com/office/powerpoint/2010/main" val="2174288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14</a:t>
            </a:fld>
            <a:endParaRPr lang="en-US"/>
          </a:p>
        </p:txBody>
      </p:sp>
    </p:spTree>
    <p:extLst>
      <p:ext uri="{BB962C8B-B14F-4D97-AF65-F5344CB8AC3E}">
        <p14:creationId xmlns:p14="http://schemas.microsoft.com/office/powerpoint/2010/main" val="1940931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15</a:t>
            </a:fld>
            <a:endParaRPr lang="en-US"/>
          </a:p>
        </p:txBody>
      </p:sp>
    </p:spTree>
    <p:extLst>
      <p:ext uri="{BB962C8B-B14F-4D97-AF65-F5344CB8AC3E}">
        <p14:creationId xmlns:p14="http://schemas.microsoft.com/office/powerpoint/2010/main" val="1783442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16</a:t>
            </a:fld>
            <a:endParaRPr lang="en-US"/>
          </a:p>
        </p:txBody>
      </p:sp>
    </p:spTree>
    <p:extLst>
      <p:ext uri="{BB962C8B-B14F-4D97-AF65-F5344CB8AC3E}">
        <p14:creationId xmlns:p14="http://schemas.microsoft.com/office/powerpoint/2010/main" val="754827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17</a:t>
            </a:fld>
            <a:endParaRPr lang="en-US"/>
          </a:p>
        </p:txBody>
      </p:sp>
    </p:spTree>
    <p:extLst>
      <p:ext uri="{BB962C8B-B14F-4D97-AF65-F5344CB8AC3E}">
        <p14:creationId xmlns:p14="http://schemas.microsoft.com/office/powerpoint/2010/main" val="4019310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18</a:t>
            </a:fld>
            <a:endParaRPr lang="en-US"/>
          </a:p>
        </p:txBody>
      </p:sp>
    </p:spTree>
    <p:extLst>
      <p:ext uri="{BB962C8B-B14F-4D97-AF65-F5344CB8AC3E}">
        <p14:creationId xmlns:p14="http://schemas.microsoft.com/office/powerpoint/2010/main" val="12780630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19</a:t>
            </a:fld>
            <a:endParaRPr lang="en-US"/>
          </a:p>
        </p:txBody>
      </p:sp>
    </p:spTree>
    <p:extLst>
      <p:ext uri="{BB962C8B-B14F-4D97-AF65-F5344CB8AC3E}">
        <p14:creationId xmlns:p14="http://schemas.microsoft.com/office/powerpoint/2010/main" val="29657422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20</a:t>
            </a:fld>
            <a:endParaRPr lang="en-US"/>
          </a:p>
        </p:txBody>
      </p:sp>
    </p:spTree>
    <p:extLst>
      <p:ext uri="{BB962C8B-B14F-4D97-AF65-F5344CB8AC3E}">
        <p14:creationId xmlns:p14="http://schemas.microsoft.com/office/powerpoint/2010/main" val="4010427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21</a:t>
            </a:fld>
            <a:endParaRPr lang="en-US"/>
          </a:p>
        </p:txBody>
      </p:sp>
    </p:spTree>
    <p:extLst>
      <p:ext uri="{BB962C8B-B14F-4D97-AF65-F5344CB8AC3E}">
        <p14:creationId xmlns:p14="http://schemas.microsoft.com/office/powerpoint/2010/main" val="2761230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22</a:t>
            </a:fld>
            <a:endParaRPr lang="en-US"/>
          </a:p>
        </p:txBody>
      </p:sp>
    </p:spTree>
    <p:extLst>
      <p:ext uri="{BB962C8B-B14F-4D97-AF65-F5344CB8AC3E}">
        <p14:creationId xmlns:p14="http://schemas.microsoft.com/office/powerpoint/2010/main" val="3036326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23</a:t>
            </a:fld>
            <a:endParaRPr lang="en-US"/>
          </a:p>
        </p:txBody>
      </p:sp>
    </p:spTree>
    <p:extLst>
      <p:ext uri="{BB962C8B-B14F-4D97-AF65-F5344CB8AC3E}">
        <p14:creationId xmlns:p14="http://schemas.microsoft.com/office/powerpoint/2010/main" val="474329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840BF-97DE-3A73-8992-16E457797E8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7065F12-C776-990C-4C27-645AD17C17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3F65F77-85B8-BF10-F338-448648ECB736}"/>
              </a:ext>
            </a:extLst>
          </p:cNvPr>
          <p:cNvSpPr>
            <a:spLocks noGrp="1"/>
          </p:cNvSpPr>
          <p:nvPr>
            <p:ph type="dt" sz="half" idx="10"/>
          </p:nvPr>
        </p:nvSpPr>
        <p:spPr/>
        <p:txBody>
          <a:bodyPr/>
          <a:lstStyle/>
          <a:p>
            <a:fld id="{E21800F5-7B5A-4F4D-876D-3B8175E9E9C5}" type="datetimeFigureOut">
              <a:rPr lang="en-US" smtClean="0"/>
              <a:t>7/23/24</a:t>
            </a:fld>
            <a:endParaRPr lang="en-US"/>
          </a:p>
        </p:txBody>
      </p:sp>
      <p:sp>
        <p:nvSpPr>
          <p:cNvPr id="5" name="Footer Placeholder 4">
            <a:extLst>
              <a:ext uri="{FF2B5EF4-FFF2-40B4-BE49-F238E27FC236}">
                <a16:creationId xmlns:a16="http://schemas.microsoft.com/office/drawing/2014/main" id="{325686C2-B450-2D45-390D-175BC48E69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58BA2A-F612-5BEA-6DC9-784C6502EFCD}"/>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1612228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33AD9-2BC3-3E36-4810-B94BFE28E8C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B22A0BF-6E30-9BF8-A0AD-C9755C36477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4016EEC-601F-579F-81C9-8CD09FBDB9CB}"/>
              </a:ext>
            </a:extLst>
          </p:cNvPr>
          <p:cNvSpPr>
            <a:spLocks noGrp="1"/>
          </p:cNvSpPr>
          <p:nvPr>
            <p:ph type="dt" sz="half" idx="10"/>
          </p:nvPr>
        </p:nvSpPr>
        <p:spPr/>
        <p:txBody>
          <a:bodyPr/>
          <a:lstStyle/>
          <a:p>
            <a:fld id="{E21800F5-7B5A-4F4D-876D-3B8175E9E9C5}" type="datetimeFigureOut">
              <a:rPr lang="en-US" smtClean="0"/>
              <a:t>7/23/24</a:t>
            </a:fld>
            <a:endParaRPr lang="en-US"/>
          </a:p>
        </p:txBody>
      </p:sp>
      <p:sp>
        <p:nvSpPr>
          <p:cNvPr id="5" name="Footer Placeholder 4">
            <a:extLst>
              <a:ext uri="{FF2B5EF4-FFF2-40B4-BE49-F238E27FC236}">
                <a16:creationId xmlns:a16="http://schemas.microsoft.com/office/drawing/2014/main" id="{6AFDC9AB-402B-AC6F-6DC9-C8D146A735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FEAD9F-30F4-DBBE-B31B-5DEB8823B380}"/>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1865213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73E-3DA6-C25B-1E9A-F719C9561EA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9D83BDC-7F9F-3594-704B-F34AB42CD7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856B8A5-7C60-6B89-EF52-56B80F6E43DB}"/>
              </a:ext>
            </a:extLst>
          </p:cNvPr>
          <p:cNvSpPr>
            <a:spLocks noGrp="1"/>
          </p:cNvSpPr>
          <p:nvPr>
            <p:ph type="dt" sz="half" idx="10"/>
          </p:nvPr>
        </p:nvSpPr>
        <p:spPr/>
        <p:txBody>
          <a:bodyPr/>
          <a:lstStyle/>
          <a:p>
            <a:fld id="{E21800F5-7B5A-4F4D-876D-3B8175E9E9C5}" type="datetimeFigureOut">
              <a:rPr lang="en-US" smtClean="0"/>
              <a:t>7/23/24</a:t>
            </a:fld>
            <a:endParaRPr lang="en-US"/>
          </a:p>
        </p:txBody>
      </p:sp>
      <p:sp>
        <p:nvSpPr>
          <p:cNvPr id="5" name="Footer Placeholder 4">
            <a:extLst>
              <a:ext uri="{FF2B5EF4-FFF2-40B4-BE49-F238E27FC236}">
                <a16:creationId xmlns:a16="http://schemas.microsoft.com/office/drawing/2014/main" id="{8D34CA74-7865-4242-0FD2-8B7532FA7D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0F05C3-52AD-D1A4-BB99-4A4A7E2E51A4}"/>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3208824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A7D6-69EF-73D9-D428-7A66C53542B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BE6C0B5-55AC-262B-49FC-7DEB09E93BA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DF83E60-4EFB-7977-C700-F64E79141A1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90EB522-0282-2292-D670-9FE1E5F6543A}"/>
              </a:ext>
            </a:extLst>
          </p:cNvPr>
          <p:cNvSpPr>
            <a:spLocks noGrp="1"/>
          </p:cNvSpPr>
          <p:nvPr>
            <p:ph type="dt" sz="half" idx="10"/>
          </p:nvPr>
        </p:nvSpPr>
        <p:spPr/>
        <p:txBody>
          <a:bodyPr/>
          <a:lstStyle/>
          <a:p>
            <a:fld id="{E21800F5-7B5A-4F4D-876D-3B8175E9E9C5}" type="datetimeFigureOut">
              <a:rPr lang="en-US" smtClean="0"/>
              <a:t>7/23/24</a:t>
            </a:fld>
            <a:endParaRPr lang="en-US"/>
          </a:p>
        </p:txBody>
      </p:sp>
      <p:sp>
        <p:nvSpPr>
          <p:cNvPr id="6" name="Footer Placeholder 5">
            <a:extLst>
              <a:ext uri="{FF2B5EF4-FFF2-40B4-BE49-F238E27FC236}">
                <a16:creationId xmlns:a16="http://schemas.microsoft.com/office/drawing/2014/main" id="{20262924-ECBC-5DD0-F92F-C112A806C8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CFB800-96CE-0692-E2D8-327DFDD4C66F}"/>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1762954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64FDC-B214-E39B-29FC-D2D992E1E85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EA4F230-6916-2F2C-6431-BF5E698EEB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09F9D9D-D5CF-5CAB-F5C5-7103486D3CD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56E43F5-8E64-E017-A93E-69C5B4501B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BDD4C81-4722-8CD5-C5DC-20638E430DA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821297E-DC42-3C26-3D68-A54F54DE7A9E}"/>
              </a:ext>
            </a:extLst>
          </p:cNvPr>
          <p:cNvSpPr>
            <a:spLocks noGrp="1"/>
          </p:cNvSpPr>
          <p:nvPr>
            <p:ph type="dt" sz="half" idx="10"/>
          </p:nvPr>
        </p:nvSpPr>
        <p:spPr/>
        <p:txBody>
          <a:bodyPr/>
          <a:lstStyle/>
          <a:p>
            <a:fld id="{E21800F5-7B5A-4F4D-876D-3B8175E9E9C5}" type="datetimeFigureOut">
              <a:rPr lang="en-US" smtClean="0"/>
              <a:t>7/23/24</a:t>
            </a:fld>
            <a:endParaRPr lang="en-US"/>
          </a:p>
        </p:txBody>
      </p:sp>
      <p:sp>
        <p:nvSpPr>
          <p:cNvPr id="8" name="Footer Placeholder 7">
            <a:extLst>
              <a:ext uri="{FF2B5EF4-FFF2-40B4-BE49-F238E27FC236}">
                <a16:creationId xmlns:a16="http://schemas.microsoft.com/office/drawing/2014/main" id="{B9F5F0FA-DB7E-B2C4-6AFE-5A66964ADA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6ED072-8817-8187-397B-CAFDF22980E0}"/>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1112308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C6B94-A083-030F-6367-59A2DC51A11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0E17A5-8149-3144-0A39-A057D810AE3D}"/>
              </a:ext>
            </a:extLst>
          </p:cNvPr>
          <p:cNvSpPr>
            <a:spLocks noGrp="1"/>
          </p:cNvSpPr>
          <p:nvPr>
            <p:ph type="dt" sz="half" idx="10"/>
          </p:nvPr>
        </p:nvSpPr>
        <p:spPr/>
        <p:txBody>
          <a:bodyPr/>
          <a:lstStyle/>
          <a:p>
            <a:fld id="{E21800F5-7B5A-4F4D-876D-3B8175E9E9C5}" type="datetimeFigureOut">
              <a:rPr lang="en-US" smtClean="0"/>
              <a:t>7/23/24</a:t>
            </a:fld>
            <a:endParaRPr lang="en-US"/>
          </a:p>
        </p:txBody>
      </p:sp>
      <p:sp>
        <p:nvSpPr>
          <p:cNvPr id="4" name="Footer Placeholder 3">
            <a:extLst>
              <a:ext uri="{FF2B5EF4-FFF2-40B4-BE49-F238E27FC236}">
                <a16:creationId xmlns:a16="http://schemas.microsoft.com/office/drawing/2014/main" id="{34B92523-7904-CF0B-825B-C8A0BF049B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47A823-00EA-0DD3-0E51-8FDF7BDAC41E}"/>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634303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DE9609-1BBA-8AC5-69BA-D0E0EC384508}"/>
              </a:ext>
            </a:extLst>
          </p:cNvPr>
          <p:cNvSpPr>
            <a:spLocks noGrp="1"/>
          </p:cNvSpPr>
          <p:nvPr>
            <p:ph type="dt" sz="half" idx="10"/>
          </p:nvPr>
        </p:nvSpPr>
        <p:spPr/>
        <p:txBody>
          <a:bodyPr/>
          <a:lstStyle/>
          <a:p>
            <a:fld id="{E21800F5-7B5A-4F4D-876D-3B8175E9E9C5}" type="datetimeFigureOut">
              <a:rPr lang="en-US" smtClean="0"/>
              <a:t>7/23/24</a:t>
            </a:fld>
            <a:endParaRPr lang="en-US"/>
          </a:p>
        </p:txBody>
      </p:sp>
      <p:sp>
        <p:nvSpPr>
          <p:cNvPr id="3" name="Footer Placeholder 2">
            <a:extLst>
              <a:ext uri="{FF2B5EF4-FFF2-40B4-BE49-F238E27FC236}">
                <a16:creationId xmlns:a16="http://schemas.microsoft.com/office/drawing/2014/main" id="{E518F12D-9716-A7F1-9250-F5CEB5443C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8C1FDE-A341-CF9D-BBE4-1C1941EA3B81}"/>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1833115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4D9B3-9164-B647-E464-5A3C06AF8BE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565C53D-3F62-2C76-A50C-41DBEF5551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105145D-7ADD-D1D5-9CB6-6A35478FF2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3E8BA78-0422-FF74-1C3A-F2F27EDB3033}"/>
              </a:ext>
            </a:extLst>
          </p:cNvPr>
          <p:cNvSpPr>
            <a:spLocks noGrp="1"/>
          </p:cNvSpPr>
          <p:nvPr>
            <p:ph type="dt" sz="half" idx="10"/>
          </p:nvPr>
        </p:nvSpPr>
        <p:spPr/>
        <p:txBody>
          <a:bodyPr/>
          <a:lstStyle/>
          <a:p>
            <a:fld id="{E21800F5-7B5A-4F4D-876D-3B8175E9E9C5}" type="datetimeFigureOut">
              <a:rPr lang="en-US" smtClean="0"/>
              <a:t>7/23/24</a:t>
            </a:fld>
            <a:endParaRPr lang="en-US"/>
          </a:p>
        </p:txBody>
      </p:sp>
      <p:sp>
        <p:nvSpPr>
          <p:cNvPr id="6" name="Footer Placeholder 5">
            <a:extLst>
              <a:ext uri="{FF2B5EF4-FFF2-40B4-BE49-F238E27FC236}">
                <a16:creationId xmlns:a16="http://schemas.microsoft.com/office/drawing/2014/main" id="{9692D7D4-FC5C-4D95-3E05-503CB8C967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F094EC-F105-A6D5-44A9-59841C60E4C3}"/>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3942189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EC60-AFD8-6B99-C8FF-34E19A70A9E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D8F184E-8B9C-E3A0-CFD2-6A0A50D2F5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96284F-0CC5-434A-57B1-158FAB4164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EF287B5-3BC9-7BB6-568C-FA732C8CAD8F}"/>
              </a:ext>
            </a:extLst>
          </p:cNvPr>
          <p:cNvSpPr>
            <a:spLocks noGrp="1"/>
          </p:cNvSpPr>
          <p:nvPr>
            <p:ph type="dt" sz="half" idx="10"/>
          </p:nvPr>
        </p:nvSpPr>
        <p:spPr/>
        <p:txBody>
          <a:bodyPr/>
          <a:lstStyle/>
          <a:p>
            <a:fld id="{E21800F5-7B5A-4F4D-876D-3B8175E9E9C5}" type="datetimeFigureOut">
              <a:rPr lang="en-US" smtClean="0"/>
              <a:t>7/23/24</a:t>
            </a:fld>
            <a:endParaRPr lang="en-US"/>
          </a:p>
        </p:txBody>
      </p:sp>
      <p:sp>
        <p:nvSpPr>
          <p:cNvPr id="6" name="Footer Placeholder 5">
            <a:extLst>
              <a:ext uri="{FF2B5EF4-FFF2-40B4-BE49-F238E27FC236}">
                <a16:creationId xmlns:a16="http://schemas.microsoft.com/office/drawing/2014/main" id="{306598B3-A86F-F7B2-C164-6066CFF79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C6D71E-47DC-033E-4765-C79A36F65EEF}"/>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1181145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3FA87-D0E1-8F59-030C-07E9FCF1997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FD360FB-D70E-FC46-6525-26E27B088FD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A46D314-C6A9-83DA-BF28-D6E817842FBF}"/>
              </a:ext>
            </a:extLst>
          </p:cNvPr>
          <p:cNvSpPr>
            <a:spLocks noGrp="1"/>
          </p:cNvSpPr>
          <p:nvPr>
            <p:ph type="dt" sz="half" idx="10"/>
          </p:nvPr>
        </p:nvSpPr>
        <p:spPr/>
        <p:txBody>
          <a:bodyPr/>
          <a:lstStyle/>
          <a:p>
            <a:fld id="{E21800F5-7B5A-4F4D-876D-3B8175E9E9C5}" type="datetimeFigureOut">
              <a:rPr lang="en-US" smtClean="0"/>
              <a:t>7/23/24</a:t>
            </a:fld>
            <a:endParaRPr lang="en-US"/>
          </a:p>
        </p:txBody>
      </p:sp>
      <p:sp>
        <p:nvSpPr>
          <p:cNvPr id="5" name="Footer Placeholder 4">
            <a:extLst>
              <a:ext uri="{FF2B5EF4-FFF2-40B4-BE49-F238E27FC236}">
                <a16:creationId xmlns:a16="http://schemas.microsoft.com/office/drawing/2014/main" id="{7D366F2E-23D8-EEC2-764C-3F2BA76DEF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39CAE1-070C-2FE1-FF03-5CB05EB5102E}"/>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4154208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63C39A-5F5C-8DA4-B9E4-380178CF74F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3F6CED6-9EF2-968E-9E17-A3C1364B14C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805DF59-50D4-DF39-7F0A-B9FE416A2E0F}"/>
              </a:ext>
            </a:extLst>
          </p:cNvPr>
          <p:cNvSpPr>
            <a:spLocks noGrp="1"/>
          </p:cNvSpPr>
          <p:nvPr>
            <p:ph type="dt" sz="half" idx="10"/>
          </p:nvPr>
        </p:nvSpPr>
        <p:spPr/>
        <p:txBody>
          <a:bodyPr/>
          <a:lstStyle/>
          <a:p>
            <a:fld id="{E21800F5-7B5A-4F4D-876D-3B8175E9E9C5}" type="datetimeFigureOut">
              <a:rPr lang="en-US" smtClean="0"/>
              <a:t>7/23/24</a:t>
            </a:fld>
            <a:endParaRPr lang="en-US"/>
          </a:p>
        </p:txBody>
      </p:sp>
      <p:sp>
        <p:nvSpPr>
          <p:cNvPr id="5" name="Footer Placeholder 4">
            <a:extLst>
              <a:ext uri="{FF2B5EF4-FFF2-40B4-BE49-F238E27FC236}">
                <a16:creationId xmlns:a16="http://schemas.microsoft.com/office/drawing/2014/main" id="{3D39A24D-B7FC-7EDC-4783-A05AACCA1E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ACAC89-737C-D1EE-A502-E8CDD5AD42FB}"/>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2648035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8"/>
        <p:cNvGrpSpPr/>
        <p:nvPr/>
      </p:nvGrpSpPr>
      <p:grpSpPr>
        <a:xfrm>
          <a:off x="0" y="0"/>
          <a:ext cx="0" cy="0"/>
          <a:chOff x="0" y="0"/>
          <a:chExt cx="0" cy="0"/>
        </a:xfrm>
      </p:grpSpPr>
      <p:sp>
        <p:nvSpPr>
          <p:cNvPr id="40" name="Google Shape;40;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41" name="Google Shape;41;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2" name="Google Shape;42;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3" name="Google Shape;43;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13681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BE4861-1BD5-3D7A-8DA7-7A1342397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E53AEE6-F6AC-5DD8-9404-35351BEE6C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89AFEBF-7C42-29B4-336D-54C83C9D64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1800F5-7B5A-4F4D-876D-3B8175E9E9C5}" type="datetimeFigureOut">
              <a:rPr lang="en-US" smtClean="0"/>
              <a:t>7/23/24</a:t>
            </a:fld>
            <a:endParaRPr lang="en-US"/>
          </a:p>
        </p:txBody>
      </p:sp>
      <p:sp>
        <p:nvSpPr>
          <p:cNvPr id="5" name="Footer Placeholder 4">
            <a:extLst>
              <a:ext uri="{FF2B5EF4-FFF2-40B4-BE49-F238E27FC236}">
                <a16:creationId xmlns:a16="http://schemas.microsoft.com/office/drawing/2014/main" id="{FABA8EA9-B915-7C11-C052-ABCFB34B49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07EDAEF-924C-8862-4A85-7D51A70374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E4A4F4-CEBC-8E48-9436-D8683B24354D}" type="slidenum">
              <a:rPr lang="en-US" smtClean="0"/>
              <a:t>‹#›</a:t>
            </a:fld>
            <a:endParaRPr lang="en-US"/>
          </a:p>
        </p:txBody>
      </p:sp>
    </p:spTree>
    <p:extLst>
      <p:ext uri="{BB962C8B-B14F-4D97-AF65-F5344CB8AC3E}">
        <p14:creationId xmlns:p14="http://schemas.microsoft.com/office/powerpoint/2010/main" val="23205731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1217EBE-27DA-894F-C58D-4254770B94F6}"/>
              </a:ext>
            </a:extLst>
          </p:cNvPr>
          <p:cNvSpPr>
            <a:spLocks noGrp="1"/>
          </p:cNvSpPr>
          <p:nvPr>
            <p:ph type="title"/>
          </p:nvPr>
        </p:nvSpPr>
        <p:spPr>
          <a:xfrm>
            <a:off x="2555631" y="1441938"/>
            <a:ext cx="7080738" cy="3974124"/>
          </a:xfrm>
        </p:spPr>
        <p:txBody>
          <a:bodyPr vert="horz" lIns="91440" tIns="45720" rIns="91440" bIns="45720" rtlCol="0" anchor="ctr">
            <a:normAutofit/>
          </a:bodyPr>
          <a:lstStyle/>
          <a:p>
            <a:pPr algn="ctr"/>
            <a:r>
              <a:rPr lang="en-US" sz="5400" dirty="0">
                <a:solidFill>
                  <a:schemeClr val="bg1">
                    <a:lumMod val="95000"/>
                    <a:lumOff val="5000"/>
                  </a:schemeClr>
                </a:solidFill>
                <a:effectLst/>
                <a:highlight>
                  <a:srgbClr val="FFFFFF"/>
                </a:highlight>
              </a:rPr>
              <a:t>Generative AI &amp; Prompt Engineering - An Introduction</a:t>
            </a:r>
            <a:endParaRPr lang="en-US" sz="5400" dirty="0">
              <a:solidFill>
                <a:schemeClr val="bg1">
                  <a:lumMod val="95000"/>
                  <a:lumOff val="5000"/>
                </a:schemeClr>
              </a:solidFill>
            </a:endParaRPr>
          </a:p>
        </p:txBody>
      </p:sp>
    </p:spTree>
    <p:extLst>
      <p:ext uri="{BB962C8B-B14F-4D97-AF65-F5344CB8AC3E}">
        <p14:creationId xmlns:p14="http://schemas.microsoft.com/office/powerpoint/2010/main" val="392493666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7"/>
          <p:cNvSpPr txBox="1"/>
          <p:nvPr/>
        </p:nvSpPr>
        <p:spPr>
          <a:xfrm>
            <a:off x="354000" y="1644233"/>
            <a:ext cx="5393600" cy="1976400"/>
          </a:xfrm>
          <a:prstGeom prst="rect">
            <a:avLst/>
          </a:prstGeom>
          <a:noFill/>
          <a:ln>
            <a:noFill/>
          </a:ln>
        </p:spPr>
        <p:txBody>
          <a:bodyPr spcFirstLastPara="1" wrap="square" lIns="121900" tIns="121900" rIns="121900" bIns="121900" anchor="b" anchorCtr="0">
            <a:normAutofit/>
          </a:bodyPr>
          <a:lstStyle/>
          <a:p>
            <a:pPr algn="ctr">
              <a:spcAft>
                <a:spcPts val="800"/>
              </a:spcAft>
              <a:buClr>
                <a:schemeClr val="dk1"/>
              </a:buClr>
              <a:buSzPts val="4200"/>
            </a:pPr>
            <a:r>
              <a:rPr lang="en-US" sz="5600">
                <a:solidFill>
                  <a:schemeClr val="dk1"/>
                </a:solidFill>
                <a:latin typeface="Arial"/>
                <a:ea typeface="Arial"/>
                <a:cs typeface="Arial"/>
                <a:sym typeface="Arial"/>
              </a:rPr>
              <a:t>Agenda</a:t>
            </a:r>
          </a:p>
          <a:p>
            <a:pPr algn="ctr">
              <a:spcAft>
                <a:spcPts val="800"/>
              </a:spcAft>
              <a:buClr>
                <a:schemeClr val="dk1"/>
              </a:buClr>
              <a:buSzPts val="4200"/>
            </a:pPr>
            <a:endParaRPr lang="en-US" sz="5600">
              <a:solidFill>
                <a:schemeClr val="dk1"/>
              </a:solidFill>
              <a:latin typeface="Arial"/>
              <a:ea typeface="Arial"/>
              <a:cs typeface="Arial"/>
              <a:sym typeface="Arial"/>
            </a:endParaRPr>
          </a:p>
        </p:txBody>
      </p:sp>
      <p:sp>
        <p:nvSpPr>
          <p:cNvPr id="79" name="Subtitle 2">
            <a:extLst>
              <a:ext uri="{FF2B5EF4-FFF2-40B4-BE49-F238E27FC236}">
                <a16:creationId xmlns:a16="http://schemas.microsoft.com/office/drawing/2014/main" id="{5FF8F1B0-827F-127B-2837-8B092B728F62}"/>
              </a:ext>
            </a:extLst>
          </p:cNvPr>
          <p:cNvSpPr>
            <a:spLocks noGrp="1"/>
          </p:cNvSpPr>
          <p:nvPr>
            <p:ph type="subTitle" idx="1"/>
          </p:nvPr>
        </p:nvSpPr>
        <p:spPr/>
        <p:txBody>
          <a:bodyPr/>
          <a:lstStyle/>
          <a:p>
            <a:r>
              <a:rPr lang="en-US" dirty="0"/>
              <a:t>Introduction to Generative AI and Prompt Engineering</a:t>
            </a:r>
          </a:p>
        </p:txBody>
      </p:sp>
      <p:sp>
        <p:nvSpPr>
          <p:cNvPr id="3" name="TextBox 2">
            <a:extLst>
              <a:ext uri="{FF2B5EF4-FFF2-40B4-BE49-F238E27FC236}">
                <a16:creationId xmlns:a16="http://schemas.microsoft.com/office/drawing/2014/main" id="{7096C6E4-B13B-C866-2462-72F5504F4746}"/>
              </a:ext>
            </a:extLst>
          </p:cNvPr>
          <p:cNvSpPr txBox="1"/>
          <p:nvPr/>
        </p:nvSpPr>
        <p:spPr>
          <a:xfrm>
            <a:off x="5747600" y="1185572"/>
            <a:ext cx="6098720" cy="4486856"/>
          </a:xfrm>
          <a:prstGeom prst="rect">
            <a:avLst/>
          </a:prstGeom>
          <a:noFill/>
          <a:ln>
            <a:noFill/>
          </a:ln>
        </p:spPr>
        <p:txBody>
          <a:bodyPr spcFirstLastPara="1" wrap="square" lIns="121900" tIns="121900" rIns="121900" bIns="121900" anchor="ctr" anchorCtr="0">
            <a:normAutofit/>
          </a:bodyPr>
          <a:lstStyle>
            <a:defPPr>
              <a:defRPr lang="en-US"/>
            </a:defPPr>
            <a:lvl1pPr marL="609585" indent="-457189">
              <a:lnSpc>
                <a:spcPct val="115000"/>
              </a:lnSpc>
              <a:spcAft>
                <a:spcPts val="800"/>
              </a:spcAft>
              <a:buClr>
                <a:schemeClr val="dk2"/>
              </a:buClr>
              <a:buSzPts val="1800"/>
              <a:buFont typeface="Arial"/>
              <a:buChar char="●"/>
              <a:defRPr sz="2400">
                <a:solidFill>
                  <a:schemeClr val="dk2"/>
                </a:solidFill>
                <a:latin typeface="Arial"/>
                <a:ea typeface="Arial"/>
                <a:cs typeface="Arial"/>
              </a:defRPr>
            </a:lvl1pPr>
          </a:lstStyle>
          <a:p>
            <a:pPr marL="152396" indent="0">
              <a:buNone/>
            </a:pPr>
            <a:r>
              <a:rPr lang="en-US" sz="2400" dirty="0">
                <a:solidFill>
                  <a:schemeClr val="dk2"/>
                </a:solidFill>
                <a:latin typeface="Arial"/>
                <a:ea typeface="Arial"/>
                <a:cs typeface="Arial"/>
                <a:sym typeface="Arial"/>
              </a:rPr>
              <a:t>In this video, we will discuss:</a:t>
            </a:r>
            <a:endParaRPr lang="en-HK" dirty="0"/>
          </a:p>
          <a:p>
            <a:r>
              <a:rPr lang="en-HK" dirty="0"/>
              <a:t>Introduction to Generative AI </a:t>
            </a:r>
          </a:p>
          <a:p>
            <a:r>
              <a:rPr lang="en-HK" dirty="0"/>
              <a:t>LLMs: A Deep Dive </a:t>
            </a:r>
          </a:p>
          <a:p>
            <a:r>
              <a:rPr lang="en-HK" dirty="0"/>
              <a:t>Using LLMs with </a:t>
            </a:r>
            <a:r>
              <a:rPr lang="en-HK" dirty="0" err="1"/>
              <a:t>Anyscale</a:t>
            </a:r>
            <a:r>
              <a:rPr lang="en-HK" dirty="0"/>
              <a:t> APIs </a:t>
            </a:r>
          </a:p>
          <a:p>
            <a:r>
              <a:rPr lang="en-HK" dirty="0"/>
              <a:t>Prompt Engineering Fundamentals </a:t>
            </a:r>
          </a:p>
          <a:p>
            <a:r>
              <a:rPr lang="en-HK" dirty="0"/>
              <a:t>Using LLMs for classification and summarization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91D64830-2A02-F30A-5960-650729A8701E}"/>
              </a:ext>
            </a:extLst>
          </p:cNvPr>
          <p:cNvSpPr/>
          <p:nvPr/>
        </p:nvSpPr>
        <p:spPr>
          <a:xfrm>
            <a:off x="1388679" y="643467"/>
            <a:ext cx="4268355" cy="55710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62C4142-D5D7-E590-DE9D-29CB13699549}"/>
              </a:ext>
            </a:extLst>
          </p:cNvPr>
          <p:cNvSpPr/>
          <p:nvPr/>
        </p:nvSpPr>
        <p:spPr>
          <a:xfrm>
            <a:off x="1641105" y="1486005"/>
            <a:ext cx="3731254" cy="4608167"/>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32C4652A-3BA2-2435-5B09-DE382AF9C497}"/>
              </a:ext>
            </a:extLst>
          </p:cNvPr>
          <p:cNvSpPr/>
          <p:nvPr/>
        </p:nvSpPr>
        <p:spPr>
          <a:xfrm>
            <a:off x="1906225" y="3005581"/>
            <a:ext cx="3201267" cy="299322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25BABDEC-641E-C9E4-D1F9-91446F044946}"/>
              </a:ext>
            </a:extLst>
          </p:cNvPr>
          <p:cNvSpPr/>
          <p:nvPr/>
        </p:nvSpPr>
        <p:spPr>
          <a:xfrm>
            <a:off x="2375964" y="4513722"/>
            <a:ext cx="2189595" cy="1253165"/>
          </a:xfrm>
          <a:prstGeom prst="ellipse">
            <a:avLst/>
          </a:prstGeom>
          <a:solidFill>
            <a:schemeClr val="accent2">
              <a:lumMod val="7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84AB72ED-D52D-76C4-EED3-9DB939E86B39}"/>
              </a:ext>
            </a:extLst>
          </p:cNvPr>
          <p:cNvSpPr txBox="1"/>
          <p:nvPr/>
        </p:nvSpPr>
        <p:spPr>
          <a:xfrm>
            <a:off x="2615720" y="859195"/>
            <a:ext cx="2270631" cy="316690"/>
          </a:xfrm>
          <a:prstGeom prst="rect">
            <a:avLst/>
          </a:prstGeom>
          <a:noFill/>
        </p:spPr>
        <p:txBody>
          <a:bodyPr wrap="square">
            <a:spAutoFit/>
          </a:bodyPr>
          <a:lstStyle/>
          <a:p>
            <a:pPr defTabSz="740664">
              <a:spcAft>
                <a:spcPts val="600"/>
              </a:spcAft>
            </a:pPr>
            <a:r>
              <a:rPr lang="en-US" sz="1458" b="1" kern="1200" dirty="0">
                <a:solidFill>
                  <a:schemeClr val="bg1"/>
                </a:solidFill>
                <a:latin typeface="+mn-lt"/>
                <a:ea typeface="+mn-ea"/>
                <a:cs typeface="+mn-cs"/>
              </a:rPr>
              <a:t>Artificial Intelligence </a:t>
            </a:r>
            <a:endParaRPr lang="en-US" b="1" dirty="0">
              <a:solidFill>
                <a:schemeClr val="bg1"/>
              </a:solidFill>
            </a:endParaRPr>
          </a:p>
        </p:txBody>
      </p:sp>
      <p:sp>
        <p:nvSpPr>
          <p:cNvPr id="13" name="TextBox 12">
            <a:extLst>
              <a:ext uri="{FF2B5EF4-FFF2-40B4-BE49-F238E27FC236}">
                <a16:creationId xmlns:a16="http://schemas.microsoft.com/office/drawing/2014/main" id="{00B50C97-FD8C-DC24-87B2-728902F7334B}"/>
              </a:ext>
            </a:extLst>
          </p:cNvPr>
          <p:cNvSpPr txBox="1"/>
          <p:nvPr/>
        </p:nvSpPr>
        <p:spPr>
          <a:xfrm>
            <a:off x="2615720" y="2193612"/>
            <a:ext cx="1710082" cy="316690"/>
          </a:xfrm>
          <a:prstGeom prst="rect">
            <a:avLst/>
          </a:prstGeom>
          <a:noFill/>
        </p:spPr>
        <p:txBody>
          <a:bodyPr wrap="square">
            <a:spAutoFit/>
          </a:bodyPr>
          <a:lstStyle/>
          <a:p>
            <a:pPr defTabSz="740664">
              <a:spcAft>
                <a:spcPts val="600"/>
              </a:spcAft>
            </a:pPr>
            <a:r>
              <a:rPr lang="en-US" sz="1458" b="1" kern="1200" dirty="0">
                <a:solidFill>
                  <a:schemeClr val="bg1"/>
                </a:solidFill>
                <a:latin typeface="+mn-lt"/>
                <a:ea typeface="+mn-ea"/>
                <a:cs typeface="+mn-cs"/>
              </a:rPr>
              <a:t>Machine Learning</a:t>
            </a:r>
            <a:endParaRPr lang="en-US" b="1" dirty="0">
              <a:solidFill>
                <a:schemeClr val="bg1"/>
              </a:solidFill>
            </a:endParaRPr>
          </a:p>
        </p:txBody>
      </p:sp>
      <p:sp>
        <p:nvSpPr>
          <p:cNvPr id="15" name="TextBox 14">
            <a:extLst>
              <a:ext uri="{FF2B5EF4-FFF2-40B4-BE49-F238E27FC236}">
                <a16:creationId xmlns:a16="http://schemas.microsoft.com/office/drawing/2014/main" id="{FE71CE1C-C903-3785-FD0A-9B4F69AB50AA}"/>
              </a:ext>
            </a:extLst>
          </p:cNvPr>
          <p:cNvSpPr txBox="1"/>
          <p:nvPr/>
        </p:nvSpPr>
        <p:spPr>
          <a:xfrm>
            <a:off x="2766202" y="3490294"/>
            <a:ext cx="1409119" cy="316690"/>
          </a:xfrm>
          <a:prstGeom prst="rect">
            <a:avLst/>
          </a:prstGeom>
          <a:noFill/>
        </p:spPr>
        <p:txBody>
          <a:bodyPr wrap="square">
            <a:spAutoFit/>
          </a:bodyPr>
          <a:lstStyle>
            <a:defPPr>
              <a:defRPr lang="en-US"/>
            </a:defPPr>
            <a:lvl1pPr>
              <a:defRPr b="1">
                <a:solidFill>
                  <a:schemeClr val="bg1"/>
                </a:solidFill>
              </a:defRPr>
            </a:lvl1pPr>
          </a:lstStyle>
          <a:p>
            <a:pPr defTabSz="740664">
              <a:spcAft>
                <a:spcPts val="600"/>
              </a:spcAft>
            </a:pPr>
            <a:r>
              <a:rPr lang="en-HK" sz="1458" b="1" kern="1200" dirty="0">
                <a:latin typeface="+mn-lt"/>
                <a:ea typeface="+mn-ea"/>
                <a:cs typeface="+mn-cs"/>
              </a:rPr>
              <a:t>Deep Learning </a:t>
            </a:r>
            <a:endParaRPr lang="en-HK" dirty="0"/>
          </a:p>
        </p:txBody>
      </p:sp>
      <p:sp>
        <p:nvSpPr>
          <p:cNvPr id="17" name="TextBox 16">
            <a:extLst>
              <a:ext uri="{FF2B5EF4-FFF2-40B4-BE49-F238E27FC236}">
                <a16:creationId xmlns:a16="http://schemas.microsoft.com/office/drawing/2014/main" id="{A354EFB1-64E1-92A9-91F2-23F79DE4046F}"/>
              </a:ext>
            </a:extLst>
          </p:cNvPr>
          <p:cNvSpPr txBox="1"/>
          <p:nvPr/>
        </p:nvSpPr>
        <p:spPr>
          <a:xfrm>
            <a:off x="2809599" y="5034734"/>
            <a:ext cx="1365722" cy="316690"/>
          </a:xfrm>
          <a:prstGeom prst="rect">
            <a:avLst/>
          </a:prstGeom>
          <a:noFill/>
        </p:spPr>
        <p:txBody>
          <a:bodyPr wrap="square">
            <a:spAutoFit/>
          </a:bodyPr>
          <a:lstStyle>
            <a:defPPr>
              <a:defRPr lang="en-US"/>
            </a:defPPr>
            <a:lvl1pPr>
              <a:defRPr b="1">
                <a:solidFill>
                  <a:schemeClr val="bg1"/>
                </a:solidFill>
              </a:defRPr>
            </a:lvl1pPr>
          </a:lstStyle>
          <a:p>
            <a:pPr defTabSz="740664">
              <a:spcAft>
                <a:spcPts val="600"/>
              </a:spcAft>
            </a:pPr>
            <a:r>
              <a:rPr lang="en-HK" sz="1458" b="1" kern="1200" dirty="0">
                <a:latin typeface="+mn-lt"/>
                <a:ea typeface="+mn-ea"/>
                <a:cs typeface="+mn-cs"/>
              </a:rPr>
              <a:t>Generative AI </a:t>
            </a:r>
            <a:endParaRPr lang="en-HK" dirty="0"/>
          </a:p>
        </p:txBody>
      </p:sp>
      <p:sp>
        <p:nvSpPr>
          <p:cNvPr id="19" name="TextBox 18">
            <a:extLst>
              <a:ext uri="{FF2B5EF4-FFF2-40B4-BE49-F238E27FC236}">
                <a16:creationId xmlns:a16="http://schemas.microsoft.com/office/drawing/2014/main" id="{FE3FDB1D-5843-42F4-21AA-325A41C4F434}"/>
              </a:ext>
            </a:extLst>
          </p:cNvPr>
          <p:cNvSpPr txBox="1"/>
          <p:nvPr/>
        </p:nvSpPr>
        <p:spPr>
          <a:xfrm>
            <a:off x="5848899" y="714220"/>
            <a:ext cx="4954421" cy="923330"/>
          </a:xfrm>
          <a:prstGeom prst="rect">
            <a:avLst/>
          </a:prstGeom>
          <a:noFill/>
        </p:spPr>
        <p:txBody>
          <a:bodyPr wrap="square">
            <a:spAutoFit/>
          </a:bodyPr>
          <a:lstStyle>
            <a:defPPr>
              <a:defRPr lang="en-US"/>
            </a:defPPr>
            <a:lvl1pPr>
              <a:defRPr b="1">
                <a:solidFill>
                  <a:schemeClr val="bg1"/>
                </a:solidFill>
              </a:defRPr>
            </a:lvl1pPr>
          </a:lstStyle>
          <a:p>
            <a:pPr defTabSz="740664">
              <a:spcAft>
                <a:spcPts val="600"/>
              </a:spcAft>
            </a:pPr>
            <a:r>
              <a:rPr lang="en-HK" b="1" kern="1200" dirty="0">
                <a:solidFill>
                  <a:schemeClr val="tx1"/>
                </a:solidFill>
                <a:latin typeface="+mn-lt"/>
                <a:ea typeface="+mn-ea"/>
                <a:cs typeface="+mn-cs"/>
              </a:rPr>
              <a:t>Design and implement computer programs that can reason, learn and act in complex environments. </a:t>
            </a:r>
            <a:endParaRPr lang="en-HK" dirty="0">
              <a:solidFill>
                <a:schemeClr val="tx1"/>
              </a:solidFill>
            </a:endParaRPr>
          </a:p>
        </p:txBody>
      </p:sp>
      <p:sp>
        <p:nvSpPr>
          <p:cNvPr id="21" name="TextBox 20">
            <a:extLst>
              <a:ext uri="{FF2B5EF4-FFF2-40B4-BE49-F238E27FC236}">
                <a16:creationId xmlns:a16="http://schemas.microsoft.com/office/drawing/2014/main" id="{5860A3F3-8CE6-6FCA-6999-CC53CD440E38}"/>
              </a:ext>
            </a:extLst>
          </p:cNvPr>
          <p:cNvSpPr txBox="1"/>
          <p:nvPr/>
        </p:nvSpPr>
        <p:spPr>
          <a:xfrm>
            <a:off x="5848898" y="1945906"/>
            <a:ext cx="4954421" cy="646331"/>
          </a:xfrm>
          <a:prstGeom prst="rect">
            <a:avLst/>
          </a:prstGeom>
          <a:noFill/>
        </p:spPr>
        <p:txBody>
          <a:bodyPr wrap="square">
            <a:spAutoFit/>
          </a:bodyPr>
          <a:lstStyle>
            <a:defPPr>
              <a:defRPr lang="en-US"/>
            </a:defPPr>
            <a:lvl1pPr>
              <a:defRPr b="1"/>
            </a:lvl1pPr>
          </a:lstStyle>
          <a:p>
            <a:pPr defTabSz="740664">
              <a:spcAft>
                <a:spcPts val="600"/>
              </a:spcAft>
            </a:pPr>
            <a:r>
              <a:rPr lang="en-HK" b="1" kern="1200" dirty="0">
                <a:solidFill>
                  <a:schemeClr val="tx1"/>
                </a:solidFill>
                <a:latin typeface="+mn-lt"/>
                <a:ea typeface="+mn-ea"/>
                <a:cs typeface="+mn-cs"/>
              </a:rPr>
              <a:t>Design of algorithms that enable computer systems to learn from data efficiently. </a:t>
            </a:r>
            <a:endParaRPr lang="en-HK" dirty="0"/>
          </a:p>
        </p:txBody>
      </p:sp>
      <p:sp>
        <p:nvSpPr>
          <p:cNvPr id="23" name="TextBox 22">
            <a:extLst>
              <a:ext uri="{FF2B5EF4-FFF2-40B4-BE49-F238E27FC236}">
                <a16:creationId xmlns:a16="http://schemas.microsoft.com/office/drawing/2014/main" id="{9C44A477-0BFA-8D35-BA25-3B5A795D9E56}"/>
              </a:ext>
            </a:extLst>
          </p:cNvPr>
          <p:cNvSpPr txBox="1"/>
          <p:nvPr/>
        </p:nvSpPr>
        <p:spPr>
          <a:xfrm>
            <a:off x="5848898" y="3208372"/>
            <a:ext cx="4954421" cy="646331"/>
          </a:xfrm>
          <a:prstGeom prst="rect">
            <a:avLst/>
          </a:prstGeom>
          <a:noFill/>
        </p:spPr>
        <p:txBody>
          <a:bodyPr wrap="square">
            <a:spAutoFit/>
          </a:bodyPr>
          <a:lstStyle>
            <a:defPPr>
              <a:defRPr lang="en-US"/>
            </a:defPPr>
            <a:lvl1pPr>
              <a:defRPr b="1"/>
            </a:lvl1pPr>
          </a:lstStyle>
          <a:p>
            <a:pPr defTabSz="740664">
              <a:spcAft>
                <a:spcPts val="600"/>
              </a:spcAft>
            </a:pPr>
            <a:r>
              <a:rPr lang="en-HK" b="1" kern="1200" dirty="0">
                <a:solidFill>
                  <a:schemeClr val="tx1"/>
                </a:solidFill>
                <a:latin typeface="+mn-lt"/>
                <a:ea typeface="+mn-ea"/>
                <a:cs typeface="+mn-cs"/>
              </a:rPr>
              <a:t>A subset of ML that uses neural network algorithms for predictive applications. </a:t>
            </a:r>
            <a:endParaRPr lang="en-HK" dirty="0"/>
          </a:p>
        </p:txBody>
      </p:sp>
      <p:sp>
        <p:nvSpPr>
          <p:cNvPr id="25" name="TextBox 24">
            <a:extLst>
              <a:ext uri="{FF2B5EF4-FFF2-40B4-BE49-F238E27FC236}">
                <a16:creationId xmlns:a16="http://schemas.microsoft.com/office/drawing/2014/main" id="{AEE153CC-6B8E-6E17-4770-9C70E23FAF31}"/>
              </a:ext>
            </a:extLst>
          </p:cNvPr>
          <p:cNvSpPr txBox="1"/>
          <p:nvPr/>
        </p:nvSpPr>
        <p:spPr>
          <a:xfrm>
            <a:off x="5842098" y="4513722"/>
            <a:ext cx="4954421" cy="923330"/>
          </a:xfrm>
          <a:prstGeom prst="rect">
            <a:avLst/>
          </a:prstGeom>
          <a:noFill/>
        </p:spPr>
        <p:txBody>
          <a:bodyPr wrap="square">
            <a:spAutoFit/>
          </a:bodyPr>
          <a:lstStyle>
            <a:defPPr>
              <a:defRPr lang="en-US"/>
            </a:defPPr>
            <a:lvl1pPr>
              <a:defRPr b="1"/>
            </a:lvl1pPr>
          </a:lstStyle>
          <a:p>
            <a:pPr defTabSz="740664">
              <a:spcAft>
                <a:spcPts val="600"/>
              </a:spcAft>
            </a:pPr>
            <a:r>
              <a:rPr lang="en-HK" b="1" kern="1200" dirty="0">
                <a:solidFill>
                  <a:schemeClr val="tx1"/>
                </a:solidFill>
                <a:latin typeface="+mn-lt"/>
                <a:ea typeface="+mn-ea"/>
                <a:cs typeface="+mn-cs"/>
              </a:rPr>
              <a:t>Algorithms that generate original content, such as images, text, voice, or music, by learning patterns from a dataset. </a:t>
            </a:r>
            <a:endParaRPr lang="en-HK" dirty="0"/>
          </a:p>
        </p:txBody>
      </p:sp>
      <p:sp>
        <p:nvSpPr>
          <p:cNvPr id="27" name="TextBox 26">
            <a:extLst>
              <a:ext uri="{FF2B5EF4-FFF2-40B4-BE49-F238E27FC236}">
                <a16:creationId xmlns:a16="http://schemas.microsoft.com/office/drawing/2014/main" id="{FDF0C8BF-6080-E023-ABAC-4598581B4B32}"/>
              </a:ext>
            </a:extLst>
          </p:cNvPr>
          <p:cNvSpPr txBox="1"/>
          <p:nvPr/>
        </p:nvSpPr>
        <p:spPr>
          <a:xfrm>
            <a:off x="2881647" y="1215746"/>
            <a:ext cx="1178227" cy="316690"/>
          </a:xfrm>
          <a:prstGeom prst="rect">
            <a:avLst/>
          </a:prstGeom>
          <a:noFill/>
        </p:spPr>
        <p:txBody>
          <a:bodyPr wrap="square">
            <a:spAutoFit/>
          </a:bodyPr>
          <a:lstStyle>
            <a:defPPr>
              <a:defRPr lang="en-US"/>
            </a:defPPr>
            <a:lvl1pPr>
              <a:defRPr b="1">
                <a:solidFill>
                  <a:schemeClr val="bg1"/>
                </a:solidFill>
              </a:defRPr>
            </a:lvl1pPr>
          </a:lstStyle>
          <a:p>
            <a:pPr defTabSz="740664">
              <a:spcAft>
                <a:spcPts val="600"/>
              </a:spcAft>
            </a:pPr>
            <a:r>
              <a:rPr lang="en-HK" sz="1458" b="1" kern="1200" dirty="0">
                <a:latin typeface="+mn-lt"/>
                <a:ea typeface="+mn-ea"/>
                <a:cs typeface="+mn-cs"/>
              </a:rPr>
              <a:t>Superset</a:t>
            </a:r>
            <a:r>
              <a:rPr lang="en-HK" sz="1458" b="1" kern="1200" dirty="0">
                <a:solidFill>
                  <a:srgbClr val="555555"/>
                </a:solidFill>
                <a:latin typeface="+mn-lt"/>
                <a:ea typeface="+mn-ea"/>
                <a:cs typeface="+mn-cs"/>
              </a:rPr>
              <a:t> of </a:t>
            </a:r>
            <a:endParaRPr lang="en-HK" dirty="0"/>
          </a:p>
        </p:txBody>
      </p:sp>
      <p:cxnSp>
        <p:nvCxnSpPr>
          <p:cNvPr id="29" name="Straight Arrow Connector 28">
            <a:extLst>
              <a:ext uri="{FF2B5EF4-FFF2-40B4-BE49-F238E27FC236}">
                <a16:creationId xmlns:a16="http://schemas.microsoft.com/office/drawing/2014/main" id="{256B9DD4-48E4-497E-2286-7304D5519625}"/>
              </a:ext>
            </a:extLst>
          </p:cNvPr>
          <p:cNvCxnSpPr>
            <a:cxnSpLocks/>
            <a:endCxn id="13" idx="0"/>
          </p:cNvCxnSpPr>
          <p:nvPr/>
        </p:nvCxnSpPr>
        <p:spPr>
          <a:xfrm>
            <a:off x="3470760" y="1429247"/>
            <a:ext cx="1" cy="764365"/>
          </a:xfrm>
          <a:prstGeom prst="straightConnector1">
            <a:avLst/>
          </a:prstGeom>
          <a:ln w="3810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Straight Arrow Connector 32">
            <a:extLst>
              <a:ext uri="{FF2B5EF4-FFF2-40B4-BE49-F238E27FC236}">
                <a16:creationId xmlns:a16="http://schemas.microsoft.com/office/drawing/2014/main" id="{7B041B0B-896F-AA2C-B897-4C2C18A5C9E8}"/>
              </a:ext>
            </a:extLst>
          </p:cNvPr>
          <p:cNvCxnSpPr>
            <a:cxnSpLocks/>
            <a:stCxn id="13" idx="2"/>
            <a:endCxn id="15" idx="0"/>
          </p:cNvCxnSpPr>
          <p:nvPr/>
        </p:nvCxnSpPr>
        <p:spPr>
          <a:xfrm>
            <a:off x="3470761" y="2493406"/>
            <a:ext cx="1" cy="996888"/>
          </a:xfrm>
          <a:prstGeom prst="straightConnector1">
            <a:avLst/>
          </a:prstGeom>
          <a:ln w="3810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Straight Arrow Connector 36">
            <a:extLst>
              <a:ext uri="{FF2B5EF4-FFF2-40B4-BE49-F238E27FC236}">
                <a16:creationId xmlns:a16="http://schemas.microsoft.com/office/drawing/2014/main" id="{5F114A0F-8B64-F90B-BB6F-057F45CE4059}"/>
              </a:ext>
            </a:extLst>
          </p:cNvPr>
          <p:cNvCxnSpPr>
            <a:cxnSpLocks/>
            <a:stCxn id="15" idx="2"/>
            <a:endCxn id="17" idx="0"/>
          </p:cNvCxnSpPr>
          <p:nvPr/>
        </p:nvCxnSpPr>
        <p:spPr>
          <a:xfrm>
            <a:off x="3470762" y="3806984"/>
            <a:ext cx="21698" cy="1227750"/>
          </a:xfrm>
          <a:prstGeom prst="straightConnector1">
            <a:avLst/>
          </a:prstGeom>
          <a:ln w="3810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60985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A474011-A49D-4C7A-BF41-0ACD0A2693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6D72081E-AD41-4FBB-B02B-698A68DBCA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421890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ounded Rectangle 3">
            <a:extLst>
              <a:ext uri="{FF2B5EF4-FFF2-40B4-BE49-F238E27FC236}">
                <a16:creationId xmlns:a16="http://schemas.microsoft.com/office/drawing/2014/main" id="{41D4D471-7F5E-B873-A2F7-0E83E9616952}"/>
              </a:ext>
            </a:extLst>
          </p:cNvPr>
          <p:cNvSpPr/>
          <p:nvPr/>
        </p:nvSpPr>
        <p:spPr>
          <a:xfrm>
            <a:off x="1051560" y="4444332"/>
            <a:ext cx="3558466" cy="1645920"/>
          </a:xfrm>
          <a:prstGeom prst="roundRect">
            <a:avLst/>
          </a:prstGeom>
        </p:spPr>
        <p:txBody>
          <a:bodyPr vert="horz" lIns="91440" tIns="45720" rIns="91440" bIns="45720" rtlCol="0" anchor="ctr">
            <a:normAutofit/>
          </a:bodyPr>
          <a:lstStyle/>
          <a:p>
            <a:pPr>
              <a:lnSpc>
                <a:spcPct val="90000"/>
              </a:lnSpc>
              <a:spcBef>
                <a:spcPct val="0"/>
              </a:spcBef>
              <a:spcAft>
                <a:spcPts val="600"/>
              </a:spcAft>
            </a:pPr>
            <a:r>
              <a:rPr lang="en-US" sz="3200" kern="1200">
                <a:solidFill>
                  <a:schemeClr val="tx1"/>
                </a:solidFill>
                <a:highlight>
                  <a:srgbClr val="FFFFFF"/>
                </a:highlight>
                <a:latin typeface="+mj-lt"/>
                <a:ea typeface="+mj-ea"/>
                <a:cs typeface="+mj-cs"/>
              </a:rPr>
              <a:t>Generative AI</a:t>
            </a:r>
          </a:p>
        </p:txBody>
      </p:sp>
      <p:sp>
        <p:nvSpPr>
          <p:cNvPr id="25" name="Rectangle 24">
            <a:extLst>
              <a:ext uri="{FF2B5EF4-FFF2-40B4-BE49-F238E27FC236}">
                <a16:creationId xmlns:a16="http://schemas.microsoft.com/office/drawing/2014/main" id="{716248AD-805F-41BF-9B57-FC53E5B32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491151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7" name="Rectangle 26">
            <a:extLst>
              <a:ext uri="{FF2B5EF4-FFF2-40B4-BE49-F238E27FC236}">
                <a16:creationId xmlns:a16="http://schemas.microsoft.com/office/drawing/2014/main" id="{1F82758F-B2B3-4F0A-BB90-4BFFEDD16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525441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ounded Rectangle 6">
            <a:extLst>
              <a:ext uri="{FF2B5EF4-FFF2-40B4-BE49-F238E27FC236}">
                <a16:creationId xmlns:a16="http://schemas.microsoft.com/office/drawing/2014/main" id="{0853A395-F7F3-49F1-13FF-070DF65E9015}"/>
              </a:ext>
            </a:extLst>
          </p:cNvPr>
          <p:cNvSpPr/>
          <p:nvPr/>
        </p:nvSpPr>
        <p:spPr>
          <a:xfrm>
            <a:off x="1974832" y="374904"/>
            <a:ext cx="4072798" cy="3609664"/>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8" name="Rounded Rectangle 7">
            <a:extLst>
              <a:ext uri="{FF2B5EF4-FFF2-40B4-BE49-F238E27FC236}">
                <a16:creationId xmlns:a16="http://schemas.microsoft.com/office/drawing/2014/main" id="{78929B06-8189-F715-7DD0-348B90F5174A}"/>
              </a:ext>
            </a:extLst>
          </p:cNvPr>
          <p:cNvSpPr/>
          <p:nvPr/>
        </p:nvSpPr>
        <p:spPr>
          <a:xfrm>
            <a:off x="6076981" y="374905"/>
            <a:ext cx="4228579" cy="3609663"/>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0" name="TextBox 9">
            <a:extLst>
              <a:ext uri="{FF2B5EF4-FFF2-40B4-BE49-F238E27FC236}">
                <a16:creationId xmlns:a16="http://schemas.microsoft.com/office/drawing/2014/main" id="{16CED592-3399-299C-05FD-7FD4CE967247}"/>
              </a:ext>
            </a:extLst>
          </p:cNvPr>
          <p:cNvSpPr txBox="1"/>
          <p:nvPr/>
        </p:nvSpPr>
        <p:spPr>
          <a:xfrm>
            <a:off x="2266068" y="1252973"/>
            <a:ext cx="3490327" cy="2556110"/>
          </a:xfrm>
          <a:prstGeom prst="rect">
            <a:avLst/>
          </a:prstGeom>
          <a:noFill/>
        </p:spPr>
        <p:txBody>
          <a:bodyPr wrap="square">
            <a:spAutoFit/>
          </a:bodyPr>
          <a:lstStyle/>
          <a:p>
            <a:pPr algn="just" defTabSz="658368">
              <a:spcAft>
                <a:spcPts val="600"/>
              </a:spcAft>
            </a:pPr>
            <a:r>
              <a:rPr lang="en-HK" sz="2016" kern="1200" dirty="0">
                <a:solidFill>
                  <a:srgbClr val="7C7C7C"/>
                </a:solidFill>
                <a:highlight>
                  <a:srgbClr val="FFFFFF"/>
                </a:highlight>
                <a:latin typeface="69"/>
                <a:ea typeface="+mn-ea"/>
                <a:cs typeface="+mn-cs"/>
              </a:rPr>
              <a:t>LLMs are trained using language modelling, which involves predicting the next word in a sentence. They have excellent reasoning capabilities and can be used for several natural language tasks (e.g., summarisation). </a:t>
            </a:r>
            <a:endParaRPr lang="en-HK" sz="2800" dirty="0">
              <a:effectLst/>
              <a:highlight>
                <a:srgbClr val="FFFFFF"/>
              </a:highlight>
            </a:endParaRPr>
          </a:p>
        </p:txBody>
      </p:sp>
      <p:sp>
        <p:nvSpPr>
          <p:cNvPr id="12" name="TextBox 11">
            <a:extLst>
              <a:ext uri="{FF2B5EF4-FFF2-40B4-BE49-F238E27FC236}">
                <a16:creationId xmlns:a16="http://schemas.microsoft.com/office/drawing/2014/main" id="{D82C8324-4AFE-B15E-FDA0-C5A13E2CD3BC}"/>
              </a:ext>
            </a:extLst>
          </p:cNvPr>
          <p:cNvSpPr txBox="1"/>
          <p:nvPr/>
        </p:nvSpPr>
        <p:spPr>
          <a:xfrm>
            <a:off x="6354672" y="1252973"/>
            <a:ext cx="3673196" cy="2244932"/>
          </a:xfrm>
          <a:prstGeom prst="rect">
            <a:avLst/>
          </a:prstGeom>
          <a:noFill/>
        </p:spPr>
        <p:txBody>
          <a:bodyPr wrap="square">
            <a:spAutoFit/>
          </a:bodyPr>
          <a:lstStyle>
            <a:defPPr>
              <a:defRPr lang="en-US"/>
            </a:defPPr>
            <a:lvl1pPr algn="just">
              <a:defRPr sz="2800">
                <a:solidFill>
                  <a:srgbClr val="7C7C7C"/>
                </a:solidFill>
                <a:effectLst/>
                <a:highlight>
                  <a:srgbClr val="FFFFFF"/>
                </a:highlight>
                <a:latin typeface="69"/>
              </a:defRPr>
            </a:lvl1pPr>
          </a:lstStyle>
          <a:p>
            <a:pPr defTabSz="658368">
              <a:spcAft>
                <a:spcPts val="600"/>
              </a:spcAft>
            </a:pPr>
            <a:r>
              <a:rPr lang="en-HK" sz="2016" kern="1200">
                <a:solidFill>
                  <a:srgbClr val="7C7C7C"/>
                </a:solidFill>
                <a:effectLst/>
                <a:highlight>
                  <a:srgbClr val="FFFFFF"/>
                </a:highlight>
                <a:latin typeface="69"/>
                <a:ea typeface="+mn-ea"/>
                <a:cs typeface="+mn-cs"/>
              </a:rPr>
              <a:t>Trained using a mixture of images, video and text. LMMs demonstrate a nuanced understanding of multimodal inputs and can be used for several mixed-input tasks (e.g., video summarization) </a:t>
            </a:r>
            <a:endParaRPr lang="en-HK"/>
          </a:p>
        </p:txBody>
      </p:sp>
      <p:sp>
        <p:nvSpPr>
          <p:cNvPr id="14" name="TextBox 13">
            <a:extLst>
              <a:ext uri="{FF2B5EF4-FFF2-40B4-BE49-F238E27FC236}">
                <a16:creationId xmlns:a16="http://schemas.microsoft.com/office/drawing/2014/main" id="{C557E871-E2B5-F35B-FC7F-0F4F27A3E489}"/>
              </a:ext>
            </a:extLst>
          </p:cNvPr>
          <p:cNvSpPr txBox="1"/>
          <p:nvPr/>
        </p:nvSpPr>
        <p:spPr>
          <a:xfrm>
            <a:off x="6507065" y="454811"/>
            <a:ext cx="3363602" cy="712759"/>
          </a:xfrm>
          <a:prstGeom prst="rect">
            <a:avLst/>
          </a:prstGeom>
          <a:noFill/>
        </p:spPr>
        <p:txBody>
          <a:bodyPr wrap="square">
            <a:spAutoFit/>
          </a:bodyPr>
          <a:lstStyle/>
          <a:p>
            <a:pPr algn="ctr" defTabSz="658368">
              <a:spcAft>
                <a:spcPts val="600"/>
              </a:spcAft>
            </a:pPr>
            <a:r>
              <a:rPr lang="en-HK" sz="2016" kern="1200">
                <a:solidFill>
                  <a:schemeClr val="bg1"/>
                </a:solidFill>
                <a:latin typeface="+mn-lt"/>
                <a:ea typeface="+mn-ea"/>
                <a:cs typeface="+mn-cs"/>
              </a:rPr>
              <a:t>Large Multimodal Models (LMMs) </a:t>
            </a:r>
            <a:endParaRPr lang="en-HK" sz="2800">
              <a:solidFill>
                <a:schemeClr val="bg1"/>
              </a:solidFill>
            </a:endParaRPr>
          </a:p>
        </p:txBody>
      </p:sp>
      <p:sp>
        <p:nvSpPr>
          <p:cNvPr id="16" name="TextBox 15">
            <a:extLst>
              <a:ext uri="{FF2B5EF4-FFF2-40B4-BE49-F238E27FC236}">
                <a16:creationId xmlns:a16="http://schemas.microsoft.com/office/drawing/2014/main" id="{EF8F66FD-23D2-BD51-AA5B-4395D1401937}"/>
              </a:ext>
            </a:extLst>
          </p:cNvPr>
          <p:cNvSpPr txBox="1"/>
          <p:nvPr/>
        </p:nvSpPr>
        <p:spPr>
          <a:xfrm>
            <a:off x="2273414" y="445497"/>
            <a:ext cx="3140956" cy="712759"/>
          </a:xfrm>
          <a:prstGeom prst="rect">
            <a:avLst/>
          </a:prstGeom>
          <a:noFill/>
        </p:spPr>
        <p:txBody>
          <a:bodyPr wrap="square">
            <a:spAutoFit/>
          </a:bodyPr>
          <a:lstStyle/>
          <a:p>
            <a:pPr algn="ctr" defTabSz="658368">
              <a:spcAft>
                <a:spcPts val="600"/>
              </a:spcAft>
            </a:pPr>
            <a:r>
              <a:rPr lang="en-HK" sz="2016" kern="1200">
                <a:solidFill>
                  <a:schemeClr val="bg1"/>
                </a:solidFill>
                <a:latin typeface="+mn-lt"/>
                <a:ea typeface="+mn-ea"/>
                <a:cs typeface="+mn-cs"/>
              </a:rPr>
              <a:t>Large Language Models (LLMs) </a:t>
            </a:r>
            <a:endParaRPr lang="en-HK" sz="2800">
              <a:solidFill>
                <a:schemeClr val="bg1"/>
              </a:solidFill>
            </a:endParaRPr>
          </a:p>
        </p:txBody>
      </p:sp>
    </p:spTree>
    <p:extLst>
      <p:ext uri="{BB962C8B-B14F-4D97-AF65-F5344CB8AC3E}">
        <p14:creationId xmlns:p14="http://schemas.microsoft.com/office/powerpoint/2010/main" val="1032827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35ABEA-854D-83DE-51F2-DADF3C02FAC8}"/>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Large Language Models (LLMs)</a:t>
            </a:r>
          </a:p>
        </p:txBody>
      </p:sp>
      <p:sp>
        <p:nvSpPr>
          <p:cNvPr id="3" name="Content Placeholder 2">
            <a:extLst>
              <a:ext uri="{FF2B5EF4-FFF2-40B4-BE49-F238E27FC236}">
                <a16:creationId xmlns:a16="http://schemas.microsoft.com/office/drawing/2014/main" id="{77422B09-F0B6-BAF6-E73F-245F9AE54F58}"/>
              </a:ext>
            </a:extLst>
          </p:cNvPr>
          <p:cNvSpPr>
            <a:spLocks/>
          </p:cNvSpPr>
          <p:nvPr/>
        </p:nvSpPr>
        <p:spPr>
          <a:xfrm>
            <a:off x="644056" y="2202171"/>
            <a:ext cx="10762778" cy="859869"/>
          </a:xfrm>
          <a:prstGeom prst="rect">
            <a:avLst/>
          </a:prstGeom>
        </p:spPr>
        <p:txBody>
          <a:bodyPr>
            <a:normAutofit/>
          </a:bodyPr>
          <a:lstStyle/>
          <a:p>
            <a:pPr defTabSz="932688">
              <a:spcAft>
                <a:spcPts val="600"/>
              </a:spcAft>
            </a:pPr>
            <a:r>
              <a:rPr lang="en-HK" sz="2448" kern="1200">
                <a:solidFill>
                  <a:schemeClr val="tx1"/>
                </a:solidFill>
                <a:highlight>
                  <a:srgbClr val="FFFFFF"/>
                </a:highlight>
                <a:latin typeface="75,Italic"/>
                <a:ea typeface="+mn-ea"/>
                <a:cs typeface="+mn-cs"/>
              </a:rPr>
              <a:t>LLMs are trained using language modeling, that is, predicting the next word in a sequence. They do so by assigning probabilities to a fixed vocabulary. </a:t>
            </a:r>
            <a:endParaRPr lang="en-HK" sz="2400">
              <a:effectLst/>
              <a:highlight>
                <a:srgbClr val="FFFFFF"/>
              </a:highlight>
            </a:endParaRPr>
          </a:p>
        </p:txBody>
      </p:sp>
      <p:sp>
        <p:nvSpPr>
          <p:cNvPr id="6" name="Content Placeholder 2">
            <a:extLst>
              <a:ext uri="{FF2B5EF4-FFF2-40B4-BE49-F238E27FC236}">
                <a16:creationId xmlns:a16="http://schemas.microsoft.com/office/drawing/2014/main" id="{82BB36AA-E65B-27A0-DD1F-E047CD3635B7}"/>
              </a:ext>
            </a:extLst>
          </p:cNvPr>
          <p:cNvSpPr txBox="1">
            <a:spLocks/>
          </p:cNvSpPr>
          <p:nvPr/>
        </p:nvSpPr>
        <p:spPr>
          <a:xfrm>
            <a:off x="644056" y="3988826"/>
            <a:ext cx="7220339" cy="16592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32688">
              <a:spcBef>
                <a:spcPts val="1020"/>
              </a:spcBef>
              <a:buNone/>
            </a:pPr>
            <a:r>
              <a:rPr lang="en-HK" sz="2448" kern="1200" dirty="0">
                <a:solidFill>
                  <a:schemeClr val="tx1"/>
                </a:solidFill>
                <a:highlight>
                  <a:srgbClr val="FFFFFF"/>
                </a:highlight>
                <a:latin typeface="75,Italic"/>
                <a:ea typeface="+mn-ea"/>
                <a:cs typeface="+mn-cs"/>
              </a:rPr>
              <a:t>The movie is a </a:t>
            </a:r>
            <a:r>
              <a:rPr lang="en-HK" sz="2448" kern="1200" dirty="0">
                <a:solidFill>
                  <a:schemeClr val="tx1"/>
                </a:solidFill>
                <a:highlight>
                  <a:srgbClr val="FFFF00"/>
                </a:highlight>
                <a:latin typeface="75,Italic"/>
                <a:ea typeface="+mn-ea"/>
                <a:cs typeface="+mn-cs"/>
              </a:rPr>
              <a:t>visually</a:t>
            </a:r>
            <a:r>
              <a:rPr lang="en-HK" sz="2448" kern="1200" dirty="0">
                <a:solidFill>
                  <a:schemeClr val="tx1"/>
                </a:solidFill>
                <a:highlight>
                  <a:srgbClr val="FFFFFF"/>
                </a:highlight>
                <a:latin typeface="75,Italic"/>
                <a:ea typeface="+mn-ea"/>
                <a:cs typeface="+mn-cs"/>
              </a:rPr>
              <a:t> </a:t>
            </a:r>
            <a:r>
              <a:rPr lang="en-HK" sz="2448" kern="1200" dirty="0">
                <a:solidFill>
                  <a:schemeClr val="tx1"/>
                </a:solidFill>
                <a:highlight>
                  <a:srgbClr val="FFFF00"/>
                </a:highlight>
                <a:latin typeface="75,Italic"/>
                <a:ea typeface="+mn-ea"/>
                <a:cs typeface="+mn-cs"/>
              </a:rPr>
              <a:t>stunning</a:t>
            </a:r>
            <a:r>
              <a:rPr lang="en-HK" sz="2448" kern="1200" dirty="0">
                <a:solidFill>
                  <a:schemeClr val="tx1"/>
                </a:solidFill>
                <a:highlight>
                  <a:srgbClr val="FFFFFF"/>
                </a:highlight>
                <a:latin typeface="75,Italic"/>
                <a:ea typeface="+mn-ea"/>
                <a:cs typeface="+mn-cs"/>
              </a:rPr>
              <a:t>, action-packed, and </a:t>
            </a:r>
            <a:r>
              <a:rPr lang="en-HK" sz="2448" kern="1200" dirty="0">
                <a:solidFill>
                  <a:schemeClr val="tx1"/>
                </a:solidFill>
                <a:highlight>
                  <a:srgbClr val="FFFF00"/>
                </a:highlight>
                <a:latin typeface="75,Italic"/>
                <a:ea typeface="+mn-ea"/>
                <a:cs typeface="+mn-cs"/>
              </a:rPr>
              <a:t>emotionally</a:t>
            </a:r>
            <a:r>
              <a:rPr lang="en-HK" sz="2448" kern="1200" dirty="0">
                <a:solidFill>
                  <a:schemeClr val="tx1"/>
                </a:solidFill>
                <a:highlight>
                  <a:srgbClr val="FFFFFF"/>
                </a:highlight>
                <a:latin typeface="75,Italic"/>
                <a:ea typeface="+mn-ea"/>
                <a:cs typeface="+mn-cs"/>
              </a:rPr>
              <a:t> resonant </a:t>
            </a:r>
            <a:r>
              <a:rPr lang="en-HK" sz="2448" kern="1200" dirty="0">
                <a:solidFill>
                  <a:schemeClr val="tx1"/>
                </a:solidFill>
                <a:highlight>
                  <a:srgbClr val="FFFF00"/>
                </a:highlight>
                <a:latin typeface="75,Italic"/>
                <a:ea typeface="+mn-ea"/>
                <a:cs typeface="+mn-cs"/>
              </a:rPr>
              <a:t>thrill ride </a:t>
            </a:r>
            <a:r>
              <a:rPr lang="en-HK" sz="2448" kern="1200" dirty="0">
                <a:solidFill>
                  <a:schemeClr val="tx1"/>
                </a:solidFill>
                <a:highlight>
                  <a:srgbClr val="FFFFFF"/>
                </a:highlight>
                <a:latin typeface="75,Italic"/>
                <a:ea typeface="+mn-ea"/>
                <a:cs typeface="+mn-cs"/>
              </a:rPr>
              <a:t>that will leave you on the </a:t>
            </a:r>
            <a:r>
              <a:rPr lang="en-HK" sz="2448" kern="1200" dirty="0">
                <a:solidFill>
                  <a:schemeClr val="tx1"/>
                </a:solidFill>
                <a:highlight>
                  <a:srgbClr val="FFFF00"/>
                </a:highlight>
                <a:latin typeface="75,Italic"/>
                <a:ea typeface="+mn-ea"/>
                <a:cs typeface="+mn-cs"/>
              </a:rPr>
              <a:t>edge of your seat </a:t>
            </a:r>
            <a:r>
              <a:rPr lang="en-HK" sz="2448" kern="1200" dirty="0">
                <a:solidFill>
                  <a:schemeClr val="tx1"/>
                </a:solidFill>
                <a:highlight>
                  <a:srgbClr val="FFFFFF"/>
                </a:highlight>
                <a:latin typeface="75,Italic"/>
                <a:ea typeface="+mn-ea"/>
                <a:cs typeface="+mn-cs"/>
              </a:rPr>
              <a:t>from beginning to end. Overall, the experience was </a:t>
            </a:r>
            <a:r>
              <a:rPr lang="en-HK" sz="2448" dirty="0">
                <a:solidFill>
                  <a:schemeClr val="bg1">
                    <a:lumMod val="95000"/>
                  </a:schemeClr>
                </a:solidFill>
                <a:highlight>
                  <a:srgbClr val="FFFFFF"/>
                </a:highlight>
                <a:latin typeface="75,Italic"/>
              </a:rPr>
              <a:t>magical.</a:t>
            </a:r>
          </a:p>
        </p:txBody>
      </p:sp>
      <p:graphicFrame>
        <p:nvGraphicFramePr>
          <p:cNvPr id="7" name="Table 6">
            <a:extLst>
              <a:ext uri="{FF2B5EF4-FFF2-40B4-BE49-F238E27FC236}">
                <a16:creationId xmlns:a16="http://schemas.microsoft.com/office/drawing/2014/main" id="{8F3498E3-BC59-0F1A-B562-95BD4AA5C3AC}"/>
              </a:ext>
            </a:extLst>
          </p:cNvPr>
          <p:cNvGraphicFramePr>
            <a:graphicFrameLocks noGrp="1"/>
          </p:cNvGraphicFramePr>
          <p:nvPr>
            <p:extLst>
              <p:ext uri="{D42A27DB-BD31-4B8C-83A1-F6EECF244321}">
                <p14:modId xmlns:p14="http://schemas.microsoft.com/office/powerpoint/2010/main" val="2960848465"/>
              </p:ext>
            </p:extLst>
          </p:nvPr>
        </p:nvGraphicFramePr>
        <p:xfrm>
          <a:off x="8513907" y="3558893"/>
          <a:ext cx="2987748" cy="2595880"/>
        </p:xfrm>
        <a:graphic>
          <a:graphicData uri="http://schemas.openxmlformats.org/drawingml/2006/table">
            <a:tbl>
              <a:tblPr firstRow="1" bandRow="1">
                <a:tableStyleId>{2D5ABB26-0587-4C30-8999-92F81FD0307C}</a:tableStyleId>
              </a:tblPr>
              <a:tblGrid>
                <a:gridCol w="1493874">
                  <a:extLst>
                    <a:ext uri="{9D8B030D-6E8A-4147-A177-3AD203B41FA5}">
                      <a16:colId xmlns:a16="http://schemas.microsoft.com/office/drawing/2014/main" val="1416294304"/>
                    </a:ext>
                  </a:extLst>
                </a:gridCol>
                <a:gridCol w="1493874">
                  <a:extLst>
                    <a:ext uri="{9D8B030D-6E8A-4147-A177-3AD203B41FA5}">
                      <a16:colId xmlns:a16="http://schemas.microsoft.com/office/drawing/2014/main" val="1070209701"/>
                    </a:ext>
                  </a:extLst>
                </a:gridCol>
              </a:tblGrid>
              <a:tr h="370840">
                <a:tc>
                  <a:txBody>
                    <a:bodyPr/>
                    <a:lstStyle/>
                    <a:p>
                      <a:r>
                        <a:rPr lang="en-US" dirty="0"/>
                        <a:t>Vocabulary</a:t>
                      </a:r>
                    </a:p>
                  </a:txBody>
                  <a:tcPr/>
                </a:tc>
                <a:tc>
                  <a:txBody>
                    <a:bodyPr/>
                    <a:lstStyle/>
                    <a:p>
                      <a:endParaRPr lang="en-US" dirty="0"/>
                    </a:p>
                  </a:txBody>
                  <a:tcPr/>
                </a:tc>
                <a:extLst>
                  <a:ext uri="{0D108BD9-81ED-4DB2-BD59-A6C34878D82A}">
                    <a16:rowId xmlns:a16="http://schemas.microsoft.com/office/drawing/2014/main" val="3690308509"/>
                  </a:ext>
                </a:extLst>
              </a:tr>
              <a:tr h="370840">
                <a:tc>
                  <a:txBody>
                    <a:bodyPr/>
                    <a:lstStyle/>
                    <a:p>
                      <a:pPr algn="ctr"/>
                      <a:r>
                        <a:rPr lang="en-US" dirty="0">
                          <a:highlight>
                            <a:srgbClr val="00FFFF"/>
                          </a:highlight>
                        </a:rPr>
                        <a:t>positive</a:t>
                      </a:r>
                    </a:p>
                  </a:txBody>
                  <a:tcPr/>
                </a:tc>
                <a:tc>
                  <a:txBody>
                    <a:bodyPr/>
                    <a:lstStyle/>
                    <a:p>
                      <a:r>
                        <a:rPr lang="en-US" dirty="0"/>
                        <a:t>p = .03</a:t>
                      </a:r>
                    </a:p>
                  </a:txBody>
                  <a:tcPr/>
                </a:tc>
                <a:extLst>
                  <a:ext uri="{0D108BD9-81ED-4DB2-BD59-A6C34878D82A}">
                    <a16:rowId xmlns:a16="http://schemas.microsoft.com/office/drawing/2014/main" val="4241478950"/>
                  </a:ext>
                </a:extLst>
              </a:tr>
              <a:tr h="370840">
                <a:tc>
                  <a:txBody>
                    <a:bodyPr/>
                    <a:lstStyle/>
                    <a:p>
                      <a:pPr algn="ctr"/>
                      <a:r>
                        <a:rPr lang="en-US" sz="1800" kern="1200" dirty="0">
                          <a:solidFill>
                            <a:schemeClr val="dk1"/>
                          </a:solidFill>
                          <a:highlight>
                            <a:srgbClr val="FF00FF"/>
                          </a:highlight>
                        </a:rPr>
                        <a:t>negative</a:t>
                      </a:r>
                      <a:endParaRPr lang="en-US" sz="1800" kern="1200" dirty="0">
                        <a:solidFill>
                          <a:schemeClr val="dk1"/>
                        </a:solidFill>
                        <a:highlight>
                          <a:srgbClr val="FF00FF"/>
                        </a:highlight>
                        <a:latin typeface="+mn-lt"/>
                        <a:ea typeface="+mn-ea"/>
                        <a:cs typeface="+mn-cs"/>
                      </a:endParaRPr>
                    </a:p>
                  </a:txBody>
                  <a:tcPr/>
                </a:tc>
                <a:tc>
                  <a:txBody>
                    <a:bodyPr/>
                    <a:lstStyle/>
                    <a:p>
                      <a:r>
                        <a:rPr lang="en-US" dirty="0"/>
                        <a:t>p = .00001</a:t>
                      </a:r>
                    </a:p>
                  </a:txBody>
                  <a:tcPr/>
                </a:tc>
                <a:extLst>
                  <a:ext uri="{0D108BD9-81ED-4DB2-BD59-A6C34878D82A}">
                    <a16:rowId xmlns:a16="http://schemas.microsoft.com/office/drawing/2014/main" val="3687603311"/>
                  </a:ext>
                </a:extLst>
              </a:tr>
              <a:tr h="370840">
                <a:tc>
                  <a:txBody>
                    <a:bodyPr/>
                    <a:lstStyle/>
                    <a:p>
                      <a:pPr algn="ctr"/>
                      <a:endParaRPr lang="en-US" dirty="0"/>
                    </a:p>
                  </a:txBody>
                  <a:tcPr/>
                </a:tc>
                <a:tc>
                  <a:txBody>
                    <a:bodyPr/>
                    <a:lstStyle/>
                    <a:p>
                      <a:endParaRPr lang="en-US" dirty="0"/>
                    </a:p>
                  </a:txBody>
                  <a:tcPr/>
                </a:tc>
                <a:extLst>
                  <a:ext uri="{0D108BD9-81ED-4DB2-BD59-A6C34878D82A}">
                    <a16:rowId xmlns:a16="http://schemas.microsoft.com/office/drawing/2014/main" val="1675224907"/>
                  </a:ext>
                </a:extLst>
              </a:tr>
              <a:tr h="370840">
                <a:tc>
                  <a:txBody>
                    <a:bodyPr/>
                    <a:lstStyle/>
                    <a:p>
                      <a:pPr algn="ctr"/>
                      <a:r>
                        <a:rPr lang="en-US" dirty="0"/>
                        <a:t>…</a:t>
                      </a:r>
                    </a:p>
                  </a:txBody>
                  <a:tcPr/>
                </a:tc>
                <a:tc>
                  <a:txBody>
                    <a:bodyPr/>
                    <a:lstStyle/>
                    <a:p>
                      <a:endParaRPr lang="en-US" dirty="0"/>
                    </a:p>
                  </a:txBody>
                  <a:tcPr/>
                </a:tc>
                <a:extLst>
                  <a:ext uri="{0D108BD9-81ED-4DB2-BD59-A6C34878D82A}">
                    <a16:rowId xmlns:a16="http://schemas.microsoft.com/office/drawing/2014/main" val="3046032757"/>
                  </a:ext>
                </a:extLst>
              </a:tr>
              <a:tr h="370840">
                <a:tc>
                  <a:txBody>
                    <a:bodyPr/>
                    <a:lstStyle/>
                    <a:p>
                      <a:pPr algn="ctr"/>
                      <a:endParaRPr lang="en-US" dirty="0"/>
                    </a:p>
                  </a:txBody>
                  <a:tcPr/>
                </a:tc>
                <a:tc>
                  <a:txBody>
                    <a:bodyPr/>
                    <a:lstStyle/>
                    <a:p>
                      <a:endParaRPr lang="en-US" dirty="0"/>
                    </a:p>
                  </a:txBody>
                  <a:tcPr/>
                </a:tc>
                <a:extLst>
                  <a:ext uri="{0D108BD9-81ED-4DB2-BD59-A6C34878D82A}">
                    <a16:rowId xmlns:a16="http://schemas.microsoft.com/office/drawing/2014/main" val="304901379"/>
                  </a:ext>
                </a:extLst>
              </a:tr>
              <a:tr h="370840">
                <a:tc>
                  <a:txBody>
                    <a:bodyPr/>
                    <a:lstStyle/>
                    <a:p>
                      <a:pPr algn="ctr"/>
                      <a:r>
                        <a:rPr lang="en-US" dirty="0">
                          <a:highlight>
                            <a:srgbClr val="00FF00"/>
                          </a:highlight>
                        </a:rPr>
                        <a:t>magical</a:t>
                      </a:r>
                    </a:p>
                  </a:txBody>
                  <a:tcPr/>
                </a:tc>
                <a:tc>
                  <a:txBody>
                    <a:bodyPr/>
                    <a:lstStyle/>
                    <a:p>
                      <a:r>
                        <a:rPr lang="en-US" dirty="0"/>
                        <a:t>p = .83</a:t>
                      </a:r>
                    </a:p>
                  </a:txBody>
                  <a:tcPr/>
                </a:tc>
                <a:extLst>
                  <a:ext uri="{0D108BD9-81ED-4DB2-BD59-A6C34878D82A}">
                    <a16:rowId xmlns:a16="http://schemas.microsoft.com/office/drawing/2014/main" val="3080986445"/>
                  </a:ext>
                </a:extLst>
              </a:tr>
            </a:tbl>
          </a:graphicData>
        </a:graphic>
      </p:graphicFrame>
    </p:spTree>
    <p:extLst>
      <p:ext uri="{BB962C8B-B14F-4D97-AF65-F5344CB8AC3E}">
        <p14:creationId xmlns:p14="http://schemas.microsoft.com/office/powerpoint/2010/main" val="1816992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35ABEA-854D-83DE-51F2-DADF3C02FAC8}"/>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Large Language Models (LLMs)</a:t>
            </a:r>
          </a:p>
        </p:txBody>
      </p:sp>
      <p:sp>
        <p:nvSpPr>
          <p:cNvPr id="3" name="Content Placeholder 2">
            <a:extLst>
              <a:ext uri="{FF2B5EF4-FFF2-40B4-BE49-F238E27FC236}">
                <a16:creationId xmlns:a16="http://schemas.microsoft.com/office/drawing/2014/main" id="{77422B09-F0B6-BAF6-E73F-245F9AE54F58}"/>
              </a:ext>
            </a:extLst>
          </p:cNvPr>
          <p:cNvSpPr>
            <a:spLocks/>
          </p:cNvSpPr>
          <p:nvPr/>
        </p:nvSpPr>
        <p:spPr>
          <a:xfrm>
            <a:off x="644056" y="2157976"/>
            <a:ext cx="10762778" cy="859869"/>
          </a:xfrm>
          <a:prstGeom prst="rect">
            <a:avLst/>
          </a:prstGeom>
        </p:spPr>
        <p:txBody>
          <a:bodyPr>
            <a:normAutofit/>
          </a:bodyPr>
          <a:lstStyle/>
          <a:p>
            <a:pPr defTabSz="932688">
              <a:spcAft>
                <a:spcPts val="600"/>
              </a:spcAft>
            </a:pPr>
            <a:r>
              <a:rPr lang="en-HK" sz="2448" kern="1200">
                <a:solidFill>
                  <a:schemeClr val="tx1"/>
                </a:solidFill>
                <a:highlight>
                  <a:srgbClr val="FFFFFF"/>
                </a:highlight>
                <a:latin typeface="75,Italic"/>
                <a:ea typeface="+mn-ea"/>
                <a:cs typeface="+mn-cs"/>
              </a:rPr>
              <a:t>LLMs are trained using language </a:t>
            </a:r>
            <a:r>
              <a:rPr lang="en-HK" sz="2448" kern="1200" err="1">
                <a:solidFill>
                  <a:schemeClr val="tx1"/>
                </a:solidFill>
                <a:highlight>
                  <a:srgbClr val="FFFFFF"/>
                </a:highlight>
                <a:latin typeface="75,Italic"/>
                <a:ea typeface="+mn-ea"/>
                <a:cs typeface="+mn-cs"/>
              </a:rPr>
              <a:t>modeling</a:t>
            </a:r>
            <a:r>
              <a:rPr lang="en-HK" sz="2448" kern="1200">
                <a:solidFill>
                  <a:schemeClr val="tx1"/>
                </a:solidFill>
                <a:highlight>
                  <a:srgbClr val="FFFFFF"/>
                </a:highlight>
                <a:latin typeface="75,Italic"/>
                <a:ea typeface="+mn-ea"/>
                <a:cs typeface="+mn-cs"/>
              </a:rPr>
              <a:t>, that is, predicting the next word in a sequence. They do so by assigning probabilities to a fixed vocabulary. </a:t>
            </a:r>
            <a:endParaRPr lang="en-HK" sz="2400">
              <a:effectLst/>
              <a:highlight>
                <a:srgbClr val="FFFFFF"/>
              </a:highlight>
            </a:endParaRPr>
          </a:p>
        </p:txBody>
      </p:sp>
      <p:sp>
        <p:nvSpPr>
          <p:cNvPr id="6" name="Content Placeholder 2">
            <a:extLst>
              <a:ext uri="{FF2B5EF4-FFF2-40B4-BE49-F238E27FC236}">
                <a16:creationId xmlns:a16="http://schemas.microsoft.com/office/drawing/2014/main" id="{82BB36AA-E65B-27A0-DD1F-E047CD3635B7}"/>
              </a:ext>
            </a:extLst>
          </p:cNvPr>
          <p:cNvSpPr txBox="1">
            <a:spLocks/>
          </p:cNvSpPr>
          <p:nvPr/>
        </p:nvSpPr>
        <p:spPr>
          <a:xfrm>
            <a:off x="644056" y="3944631"/>
            <a:ext cx="7220339" cy="16592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32688">
              <a:spcBef>
                <a:spcPts val="1020"/>
              </a:spcBef>
              <a:buNone/>
            </a:pPr>
            <a:r>
              <a:rPr lang="en-HK" sz="2448" kern="1200" dirty="0">
                <a:solidFill>
                  <a:schemeClr val="tx1"/>
                </a:solidFill>
                <a:highlight>
                  <a:srgbClr val="FFFFFF"/>
                </a:highlight>
                <a:latin typeface="75,Italic"/>
                <a:ea typeface="+mn-ea"/>
                <a:cs typeface="+mn-cs"/>
              </a:rPr>
              <a:t>The movie is a </a:t>
            </a:r>
            <a:r>
              <a:rPr lang="en-HK" sz="2448" kern="1200" dirty="0">
                <a:solidFill>
                  <a:schemeClr val="tx1"/>
                </a:solidFill>
                <a:highlight>
                  <a:srgbClr val="FFFF00"/>
                </a:highlight>
                <a:latin typeface="75,Italic"/>
                <a:ea typeface="+mn-ea"/>
                <a:cs typeface="+mn-cs"/>
              </a:rPr>
              <a:t>visually</a:t>
            </a:r>
            <a:r>
              <a:rPr lang="en-HK" sz="2448" kern="1200" dirty="0">
                <a:solidFill>
                  <a:schemeClr val="tx1"/>
                </a:solidFill>
                <a:highlight>
                  <a:srgbClr val="FFFFFF"/>
                </a:highlight>
                <a:latin typeface="75,Italic"/>
                <a:ea typeface="+mn-ea"/>
                <a:cs typeface="+mn-cs"/>
              </a:rPr>
              <a:t> </a:t>
            </a:r>
            <a:r>
              <a:rPr lang="en-HK" sz="2448" kern="1200" dirty="0">
                <a:solidFill>
                  <a:schemeClr val="tx1"/>
                </a:solidFill>
                <a:highlight>
                  <a:srgbClr val="FFFF00"/>
                </a:highlight>
                <a:latin typeface="75,Italic"/>
                <a:ea typeface="+mn-ea"/>
                <a:cs typeface="+mn-cs"/>
              </a:rPr>
              <a:t>stunning</a:t>
            </a:r>
            <a:r>
              <a:rPr lang="en-HK" sz="2448" kern="1200" dirty="0">
                <a:solidFill>
                  <a:schemeClr val="tx1"/>
                </a:solidFill>
                <a:highlight>
                  <a:srgbClr val="FFFFFF"/>
                </a:highlight>
                <a:latin typeface="75,Italic"/>
                <a:ea typeface="+mn-ea"/>
                <a:cs typeface="+mn-cs"/>
              </a:rPr>
              <a:t>, action-packed, and </a:t>
            </a:r>
            <a:r>
              <a:rPr lang="en-HK" sz="2448" kern="1200" dirty="0">
                <a:solidFill>
                  <a:schemeClr val="tx1"/>
                </a:solidFill>
                <a:highlight>
                  <a:srgbClr val="FFFF00"/>
                </a:highlight>
                <a:latin typeface="75,Italic"/>
                <a:ea typeface="+mn-ea"/>
                <a:cs typeface="+mn-cs"/>
              </a:rPr>
              <a:t>emotionally</a:t>
            </a:r>
            <a:r>
              <a:rPr lang="en-HK" sz="2448" kern="1200" dirty="0">
                <a:solidFill>
                  <a:schemeClr val="tx1"/>
                </a:solidFill>
                <a:highlight>
                  <a:srgbClr val="FFFFFF"/>
                </a:highlight>
                <a:latin typeface="75,Italic"/>
                <a:ea typeface="+mn-ea"/>
                <a:cs typeface="+mn-cs"/>
              </a:rPr>
              <a:t> resonant </a:t>
            </a:r>
            <a:r>
              <a:rPr lang="en-HK" sz="2448" kern="1200" dirty="0">
                <a:solidFill>
                  <a:schemeClr val="tx1"/>
                </a:solidFill>
                <a:highlight>
                  <a:srgbClr val="FFFF00"/>
                </a:highlight>
                <a:latin typeface="75,Italic"/>
                <a:ea typeface="+mn-ea"/>
                <a:cs typeface="+mn-cs"/>
              </a:rPr>
              <a:t>thrill ride </a:t>
            </a:r>
            <a:r>
              <a:rPr lang="en-HK" sz="2448" kern="1200" dirty="0">
                <a:solidFill>
                  <a:schemeClr val="tx1"/>
                </a:solidFill>
                <a:highlight>
                  <a:srgbClr val="FFFFFF"/>
                </a:highlight>
                <a:latin typeface="75,Italic"/>
                <a:ea typeface="+mn-ea"/>
                <a:cs typeface="+mn-cs"/>
              </a:rPr>
              <a:t>that will leave you on the </a:t>
            </a:r>
            <a:r>
              <a:rPr lang="en-HK" sz="2448" kern="1200" dirty="0">
                <a:solidFill>
                  <a:schemeClr val="tx1"/>
                </a:solidFill>
                <a:highlight>
                  <a:srgbClr val="FFFF00"/>
                </a:highlight>
                <a:latin typeface="75,Italic"/>
                <a:ea typeface="+mn-ea"/>
                <a:cs typeface="+mn-cs"/>
              </a:rPr>
              <a:t>edge of your seat </a:t>
            </a:r>
            <a:r>
              <a:rPr lang="en-HK" sz="2448" kern="1200" dirty="0">
                <a:solidFill>
                  <a:schemeClr val="tx1"/>
                </a:solidFill>
                <a:highlight>
                  <a:srgbClr val="FFFFFF"/>
                </a:highlight>
                <a:latin typeface="75,Italic"/>
                <a:ea typeface="+mn-ea"/>
                <a:cs typeface="+mn-cs"/>
              </a:rPr>
              <a:t>from beginning to end. Overall, the experience was magical.</a:t>
            </a:r>
            <a:endParaRPr lang="en-HK" sz="2400" dirty="0">
              <a:highlight>
                <a:srgbClr val="FFFFFF"/>
              </a:highlight>
            </a:endParaRPr>
          </a:p>
        </p:txBody>
      </p:sp>
      <p:graphicFrame>
        <p:nvGraphicFramePr>
          <p:cNvPr id="7" name="Table 6">
            <a:extLst>
              <a:ext uri="{FF2B5EF4-FFF2-40B4-BE49-F238E27FC236}">
                <a16:creationId xmlns:a16="http://schemas.microsoft.com/office/drawing/2014/main" id="{8F3498E3-BC59-0F1A-B562-95BD4AA5C3AC}"/>
              </a:ext>
            </a:extLst>
          </p:cNvPr>
          <p:cNvGraphicFramePr>
            <a:graphicFrameLocks noGrp="1"/>
          </p:cNvGraphicFramePr>
          <p:nvPr>
            <p:extLst>
              <p:ext uri="{D42A27DB-BD31-4B8C-83A1-F6EECF244321}">
                <p14:modId xmlns:p14="http://schemas.microsoft.com/office/powerpoint/2010/main" val="2129875657"/>
              </p:ext>
            </p:extLst>
          </p:nvPr>
        </p:nvGraphicFramePr>
        <p:xfrm>
          <a:off x="8513907" y="3514698"/>
          <a:ext cx="2987748" cy="2682240"/>
        </p:xfrm>
        <a:graphic>
          <a:graphicData uri="http://schemas.openxmlformats.org/drawingml/2006/table">
            <a:tbl>
              <a:tblPr firstRow="1" bandRow="1">
                <a:tableStyleId>{2D5ABB26-0587-4C30-8999-92F81FD0307C}</a:tableStyleId>
              </a:tblPr>
              <a:tblGrid>
                <a:gridCol w="1493874">
                  <a:extLst>
                    <a:ext uri="{9D8B030D-6E8A-4147-A177-3AD203B41FA5}">
                      <a16:colId xmlns:a16="http://schemas.microsoft.com/office/drawing/2014/main" val="1416294304"/>
                    </a:ext>
                  </a:extLst>
                </a:gridCol>
                <a:gridCol w="1493874">
                  <a:extLst>
                    <a:ext uri="{9D8B030D-6E8A-4147-A177-3AD203B41FA5}">
                      <a16:colId xmlns:a16="http://schemas.microsoft.com/office/drawing/2014/main" val="1070209701"/>
                    </a:ext>
                  </a:extLst>
                </a:gridCol>
              </a:tblGrid>
              <a:tr h="370840">
                <a:tc>
                  <a:txBody>
                    <a:bodyPr/>
                    <a:lstStyle/>
                    <a:p>
                      <a:pPr algn="ctr"/>
                      <a:r>
                        <a:rPr lang="en-US" sz="1600" b="1" dirty="0"/>
                        <a:t>Vocabulary</a:t>
                      </a:r>
                    </a:p>
                  </a:txBody>
                  <a:tcPr/>
                </a:tc>
                <a:tc>
                  <a:txBody>
                    <a:bodyPr/>
                    <a:lstStyle/>
                    <a:p>
                      <a:endParaRPr lang="en-US" dirty="0"/>
                    </a:p>
                  </a:txBody>
                  <a:tcPr/>
                </a:tc>
                <a:extLst>
                  <a:ext uri="{0D108BD9-81ED-4DB2-BD59-A6C34878D82A}">
                    <a16:rowId xmlns:a16="http://schemas.microsoft.com/office/drawing/2014/main" val="3690308509"/>
                  </a:ext>
                </a:extLst>
              </a:tr>
              <a:tr h="370840">
                <a:tc>
                  <a:txBody>
                    <a:bodyPr/>
                    <a:lstStyle/>
                    <a:p>
                      <a:pPr algn="ctr"/>
                      <a:r>
                        <a:rPr lang="en-US" dirty="0">
                          <a:highlight>
                            <a:srgbClr val="00FFFF"/>
                          </a:highlight>
                        </a:rPr>
                        <a:t>positive</a:t>
                      </a:r>
                    </a:p>
                  </a:txBody>
                  <a:tcPr/>
                </a:tc>
                <a:tc>
                  <a:txBody>
                    <a:bodyPr/>
                    <a:lstStyle/>
                    <a:p>
                      <a:r>
                        <a:rPr lang="en-US" dirty="0"/>
                        <a:t>p = .03</a:t>
                      </a:r>
                    </a:p>
                  </a:txBody>
                  <a:tcPr/>
                </a:tc>
                <a:extLst>
                  <a:ext uri="{0D108BD9-81ED-4DB2-BD59-A6C34878D82A}">
                    <a16:rowId xmlns:a16="http://schemas.microsoft.com/office/drawing/2014/main" val="4241478950"/>
                  </a:ext>
                </a:extLst>
              </a:tr>
              <a:tr h="370840">
                <a:tc>
                  <a:txBody>
                    <a:bodyPr/>
                    <a:lstStyle/>
                    <a:p>
                      <a:pPr algn="ctr"/>
                      <a:r>
                        <a:rPr lang="en-US" sz="1800" kern="1200" dirty="0">
                          <a:solidFill>
                            <a:schemeClr val="dk1"/>
                          </a:solidFill>
                          <a:highlight>
                            <a:srgbClr val="FF00FF"/>
                          </a:highlight>
                        </a:rPr>
                        <a:t>negative</a:t>
                      </a:r>
                      <a:endParaRPr lang="en-US" sz="1800" kern="1200" dirty="0">
                        <a:solidFill>
                          <a:schemeClr val="dk1"/>
                        </a:solidFill>
                        <a:highlight>
                          <a:srgbClr val="FF00FF"/>
                        </a:highlight>
                        <a:latin typeface="+mn-lt"/>
                        <a:ea typeface="+mn-ea"/>
                        <a:cs typeface="+mn-cs"/>
                      </a:endParaRPr>
                    </a:p>
                  </a:txBody>
                  <a:tcPr/>
                </a:tc>
                <a:tc>
                  <a:txBody>
                    <a:bodyPr/>
                    <a:lstStyle/>
                    <a:p>
                      <a:r>
                        <a:rPr lang="en-US" dirty="0"/>
                        <a:t>p = .00001</a:t>
                      </a:r>
                    </a:p>
                  </a:txBody>
                  <a:tcPr/>
                </a:tc>
                <a:extLst>
                  <a:ext uri="{0D108BD9-81ED-4DB2-BD59-A6C34878D82A}">
                    <a16:rowId xmlns:a16="http://schemas.microsoft.com/office/drawing/2014/main" val="3687603311"/>
                  </a:ext>
                </a:extLst>
              </a:tr>
              <a:tr h="370840">
                <a:tc>
                  <a:txBody>
                    <a:bodyPr/>
                    <a:lstStyle/>
                    <a:p>
                      <a:pPr algn="ctr"/>
                      <a:endParaRPr lang="en-US" dirty="0"/>
                    </a:p>
                  </a:txBody>
                  <a:tcPr/>
                </a:tc>
                <a:tc>
                  <a:txBody>
                    <a:bodyPr/>
                    <a:lstStyle/>
                    <a:p>
                      <a:endParaRPr lang="en-US" dirty="0"/>
                    </a:p>
                  </a:txBody>
                  <a:tcPr/>
                </a:tc>
                <a:extLst>
                  <a:ext uri="{0D108BD9-81ED-4DB2-BD59-A6C34878D82A}">
                    <a16:rowId xmlns:a16="http://schemas.microsoft.com/office/drawing/2014/main" val="1675224907"/>
                  </a:ext>
                </a:extLst>
              </a:tr>
              <a:tr h="370840">
                <a:tc>
                  <a:txBody>
                    <a:bodyPr/>
                    <a:lstStyle/>
                    <a:p>
                      <a:pPr algn="ctr"/>
                      <a:r>
                        <a:rPr lang="en-US" sz="2400" b="1" dirty="0"/>
                        <a:t>…</a:t>
                      </a:r>
                    </a:p>
                  </a:txBody>
                  <a:tcPr/>
                </a:tc>
                <a:tc>
                  <a:txBody>
                    <a:bodyPr/>
                    <a:lstStyle/>
                    <a:p>
                      <a:endParaRPr lang="en-US" dirty="0"/>
                    </a:p>
                  </a:txBody>
                  <a:tcPr/>
                </a:tc>
                <a:extLst>
                  <a:ext uri="{0D108BD9-81ED-4DB2-BD59-A6C34878D82A}">
                    <a16:rowId xmlns:a16="http://schemas.microsoft.com/office/drawing/2014/main" val="3046032757"/>
                  </a:ext>
                </a:extLst>
              </a:tr>
              <a:tr h="370840">
                <a:tc>
                  <a:txBody>
                    <a:bodyPr/>
                    <a:lstStyle/>
                    <a:p>
                      <a:pPr algn="ctr"/>
                      <a:endParaRPr lang="en-US" dirty="0"/>
                    </a:p>
                  </a:txBody>
                  <a:tcPr/>
                </a:tc>
                <a:tc>
                  <a:txBody>
                    <a:bodyPr/>
                    <a:lstStyle/>
                    <a:p>
                      <a:endParaRPr lang="en-US" dirty="0"/>
                    </a:p>
                  </a:txBody>
                  <a:tcPr/>
                </a:tc>
                <a:extLst>
                  <a:ext uri="{0D108BD9-81ED-4DB2-BD59-A6C34878D82A}">
                    <a16:rowId xmlns:a16="http://schemas.microsoft.com/office/drawing/2014/main" val="304901379"/>
                  </a:ext>
                </a:extLst>
              </a:tr>
              <a:tr h="370840">
                <a:tc>
                  <a:txBody>
                    <a:bodyPr/>
                    <a:lstStyle/>
                    <a:p>
                      <a:pPr algn="ctr"/>
                      <a:r>
                        <a:rPr lang="en-US" dirty="0">
                          <a:highlight>
                            <a:srgbClr val="00FF00"/>
                          </a:highlight>
                        </a:rPr>
                        <a:t>magical</a:t>
                      </a:r>
                    </a:p>
                  </a:txBody>
                  <a:tcPr/>
                </a:tc>
                <a:tc>
                  <a:txBody>
                    <a:bodyPr/>
                    <a:lstStyle/>
                    <a:p>
                      <a:r>
                        <a:rPr lang="en-US" dirty="0"/>
                        <a:t>p = .83</a:t>
                      </a:r>
                    </a:p>
                  </a:txBody>
                  <a:tcPr/>
                </a:tc>
                <a:extLst>
                  <a:ext uri="{0D108BD9-81ED-4DB2-BD59-A6C34878D82A}">
                    <a16:rowId xmlns:a16="http://schemas.microsoft.com/office/drawing/2014/main" val="3080986445"/>
                  </a:ext>
                </a:extLst>
              </a:tr>
            </a:tbl>
          </a:graphicData>
        </a:graphic>
      </p:graphicFrame>
      <p:sp>
        <p:nvSpPr>
          <p:cNvPr id="4" name="Rectangle 3">
            <a:extLst>
              <a:ext uri="{FF2B5EF4-FFF2-40B4-BE49-F238E27FC236}">
                <a16:creationId xmlns:a16="http://schemas.microsoft.com/office/drawing/2014/main" id="{E4E85C6D-AF33-B3CA-C0B4-4B23062A13A0}"/>
              </a:ext>
            </a:extLst>
          </p:cNvPr>
          <p:cNvSpPr/>
          <p:nvPr/>
        </p:nvSpPr>
        <p:spPr>
          <a:xfrm>
            <a:off x="4440327" y="5227779"/>
            <a:ext cx="1585118" cy="376089"/>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507CB81A-6CA7-C2CC-DFBA-1DBB71543989}"/>
              </a:ext>
            </a:extLst>
          </p:cNvPr>
          <p:cNvCxnSpPr>
            <a:cxnSpLocks/>
            <a:stCxn id="4" idx="3"/>
          </p:cNvCxnSpPr>
          <p:nvPr/>
        </p:nvCxnSpPr>
        <p:spPr>
          <a:xfrm>
            <a:off x="6025445" y="5415824"/>
            <a:ext cx="2866702" cy="583435"/>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83B98B89-FBD7-9704-267D-CBC3F0694795}"/>
              </a:ext>
            </a:extLst>
          </p:cNvPr>
          <p:cNvSpPr txBox="1"/>
          <p:nvPr/>
        </p:nvSpPr>
        <p:spPr>
          <a:xfrm>
            <a:off x="6862248" y="5496290"/>
            <a:ext cx="884602" cy="378013"/>
          </a:xfrm>
          <a:prstGeom prst="rect">
            <a:avLst/>
          </a:prstGeom>
          <a:noFill/>
        </p:spPr>
        <p:txBody>
          <a:bodyPr wrap="square" rtlCol="0">
            <a:spAutoFit/>
          </a:bodyPr>
          <a:lstStyle/>
          <a:p>
            <a:pPr defTabSz="932688">
              <a:spcAft>
                <a:spcPts val="600"/>
              </a:spcAft>
            </a:pPr>
            <a:r>
              <a:rPr lang="en-US" sz="1836" kern="1200">
                <a:solidFill>
                  <a:schemeClr val="tx1"/>
                </a:solidFill>
                <a:highlight>
                  <a:srgbClr val="C0C0C0"/>
                </a:highlight>
                <a:latin typeface="+mn-lt"/>
                <a:ea typeface="+mn-ea"/>
                <a:cs typeface="+mn-cs"/>
              </a:rPr>
              <a:t>match</a:t>
            </a:r>
            <a:endParaRPr lang="en-US">
              <a:highlight>
                <a:srgbClr val="C0C0C0"/>
              </a:highlight>
            </a:endParaRPr>
          </a:p>
        </p:txBody>
      </p:sp>
    </p:spTree>
    <p:extLst>
      <p:ext uri="{BB962C8B-B14F-4D97-AF65-F5344CB8AC3E}">
        <p14:creationId xmlns:p14="http://schemas.microsoft.com/office/powerpoint/2010/main" val="525633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DF33BB5-6067-4EE4-83BA-5D56B8F7690B}"/>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latin typeface=""/>
                <a:cs typeface="Arial" panose="020B0604020202020204" pitchFamily="34" charset="0"/>
              </a:rPr>
              <a:t>Large Language Models (LLMs)</a:t>
            </a:r>
          </a:p>
        </p:txBody>
      </p:sp>
      <p:sp>
        <p:nvSpPr>
          <p:cNvPr id="6" name="TextBox 5">
            <a:extLst>
              <a:ext uri="{FF2B5EF4-FFF2-40B4-BE49-F238E27FC236}">
                <a16:creationId xmlns:a16="http://schemas.microsoft.com/office/drawing/2014/main" id="{26AEDC79-C758-77DE-3829-C0D44B2BBA14}"/>
              </a:ext>
            </a:extLst>
          </p:cNvPr>
          <p:cNvSpPr txBox="1"/>
          <p:nvPr/>
        </p:nvSpPr>
        <p:spPr>
          <a:xfrm>
            <a:off x="1341421" y="2273574"/>
            <a:ext cx="6652500" cy="1640577"/>
          </a:xfrm>
          <a:prstGeom prst="rect">
            <a:avLst/>
          </a:prstGeom>
          <a:noFill/>
        </p:spPr>
        <p:txBody>
          <a:bodyPr wrap="square">
            <a:spAutoFit/>
          </a:bodyPr>
          <a:lstStyle/>
          <a:p>
            <a:pPr defTabSz="576072">
              <a:spcAft>
                <a:spcPts val="600"/>
              </a:spcAft>
            </a:pPr>
            <a:r>
              <a:rPr lang="en-HK" sz="1512" kern="1200" dirty="0">
                <a:solidFill>
                  <a:schemeClr val="tx1"/>
                </a:solidFill>
                <a:highlight>
                  <a:srgbClr val="FFFFFF"/>
                </a:highlight>
                <a:latin typeface=""/>
                <a:ea typeface="+mn-ea"/>
                <a:cs typeface="Arial" panose="020B0604020202020204" pitchFamily="34" charset="0"/>
              </a:rPr>
              <a:t>During inference, the LLM predicts the next word in the input sequence.</a:t>
            </a:r>
          </a:p>
          <a:p>
            <a:pPr defTabSz="576072">
              <a:spcAft>
                <a:spcPts val="600"/>
              </a:spcAft>
            </a:pPr>
            <a:endParaRPr lang="en-HK" sz="1512" kern="1200" dirty="0">
              <a:solidFill>
                <a:schemeClr val="tx1"/>
              </a:solidFill>
              <a:highlight>
                <a:srgbClr val="FFFFFF"/>
              </a:highlight>
              <a:latin typeface=""/>
              <a:ea typeface="+mn-ea"/>
              <a:cs typeface="Arial" panose="020B0604020202020204" pitchFamily="34" charset="0"/>
            </a:endParaRPr>
          </a:p>
          <a:p>
            <a:pPr defTabSz="576072">
              <a:spcAft>
                <a:spcPts val="600"/>
              </a:spcAft>
            </a:pPr>
            <a:r>
              <a:rPr lang="en-HK" sz="1134" kern="1200" dirty="0">
                <a:solidFill>
                  <a:srgbClr val="005E6C"/>
                </a:solidFill>
                <a:highlight>
                  <a:srgbClr val="FFFFFF"/>
                </a:highlight>
                <a:latin typeface=""/>
                <a:ea typeface="+mn-ea"/>
                <a:cs typeface="Arial" panose="020B0604020202020204" pitchFamily="34" charset="0"/>
              </a:rPr>
              <a:t>Input word = prompt </a:t>
            </a:r>
            <a:endParaRPr lang="en-HK" sz="1134" kern="1200" dirty="0">
              <a:solidFill>
                <a:schemeClr val="tx1"/>
              </a:solidFill>
              <a:highlight>
                <a:srgbClr val="FFFFFF"/>
              </a:highlight>
              <a:latin typeface=""/>
              <a:ea typeface="+mn-ea"/>
              <a:cs typeface="Arial" panose="020B0604020202020204" pitchFamily="34" charset="0"/>
            </a:endParaRPr>
          </a:p>
          <a:p>
            <a:pPr defTabSz="576072">
              <a:spcAft>
                <a:spcPts val="600"/>
              </a:spcAft>
            </a:pPr>
            <a:r>
              <a:rPr lang="en-HK" sz="1134" kern="1200" dirty="0">
                <a:solidFill>
                  <a:schemeClr val="tx1"/>
                </a:solidFill>
                <a:highlight>
                  <a:srgbClr val="FFFFFF"/>
                </a:highlight>
                <a:latin typeface=""/>
                <a:ea typeface="+mn-ea"/>
                <a:cs typeface="Arial" panose="020B0604020202020204" pitchFamily="34" charset="0"/>
              </a:rPr>
              <a:t>The </a:t>
            </a:r>
          </a:p>
          <a:p>
            <a:pPr defTabSz="576072">
              <a:spcAft>
                <a:spcPts val="600"/>
              </a:spcAft>
            </a:pPr>
            <a:endParaRPr lang="en-HK" sz="1134" kern="1200" dirty="0">
              <a:solidFill>
                <a:schemeClr val="tx1"/>
              </a:solidFill>
              <a:highlight>
                <a:srgbClr val="FFFFFF"/>
              </a:highlight>
              <a:latin typeface=""/>
              <a:ea typeface="+mn-ea"/>
              <a:cs typeface="Arial" panose="020B0604020202020204" pitchFamily="34" charset="0"/>
            </a:endParaRPr>
          </a:p>
          <a:p>
            <a:pPr defTabSz="576072">
              <a:spcAft>
                <a:spcPts val="600"/>
              </a:spcAft>
            </a:pPr>
            <a:r>
              <a:rPr lang="en-HK" sz="1134" kern="1200" dirty="0">
                <a:solidFill>
                  <a:srgbClr val="005E6C"/>
                </a:solidFill>
                <a:highlight>
                  <a:srgbClr val="FFFFFF"/>
                </a:highlight>
                <a:latin typeface=""/>
                <a:ea typeface="+mn-ea"/>
                <a:cs typeface="Arial" panose="020B0604020202020204" pitchFamily="34" charset="0"/>
              </a:rPr>
              <a:t>Output, word-by-word </a:t>
            </a:r>
            <a:r>
              <a:rPr lang="en-HK" sz="1134" kern="1200" dirty="0">
                <a:solidFill>
                  <a:srgbClr val="555555"/>
                </a:solidFill>
                <a:highlight>
                  <a:srgbClr val="FFFFFF"/>
                </a:highlight>
                <a:latin typeface=""/>
                <a:ea typeface="+mn-ea"/>
                <a:cs typeface="Arial" panose="020B0604020202020204" pitchFamily="34" charset="0"/>
              </a:rPr>
              <a:t>awesome. Overall, the experience was positive. </a:t>
            </a:r>
            <a:endParaRPr lang="en-HK" dirty="0">
              <a:effectLst/>
              <a:highlight>
                <a:srgbClr val="FFFFFF"/>
              </a:highlight>
              <a:latin typeface=""/>
              <a:cs typeface="Arial" panose="020B0604020202020204" pitchFamily="34" charset="0"/>
            </a:endParaRPr>
          </a:p>
        </p:txBody>
      </p:sp>
      <p:sp>
        <p:nvSpPr>
          <p:cNvPr id="10" name="TextBox 9">
            <a:extLst>
              <a:ext uri="{FF2B5EF4-FFF2-40B4-BE49-F238E27FC236}">
                <a16:creationId xmlns:a16="http://schemas.microsoft.com/office/drawing/2014/main" id="{A1CB83CC-91F3-CAC3-CEFC-6F3D66DEB329}"/>
              </a:ext>
            </a:extLst>
          </p:cNvPr>
          <p:cNvSpPr txBox="1"/>
          <p:nvPr/>
        </p:nvSpPr>
        <p:spPr>
          <a:xfrm>
            <a:off x="1361904" y="5576850"/>
            <a:ext cx="3852566" cy="266868"/>
          </a:xfrm>
          <a:prstGeom prst="rect">
            <a:avLst/>
          </a:prstGeom>
          <a:noFill/>
        </p:spPr>
        <p:txBody>
          <a:bodyPr wrap="square">
            <a:spAutoFit/>
          </a:bodyPr>
          <a:lstStyle/>
          <a:p>
            <a:pPr defTabSz="576072">
              <a:spcAft>
                <a:spcPts val="600"/>
              </a:spcAft>
            </a:pPr>
            <a:r>
              <a:rPr lang="en-HK" sz="1134" kern="1200">
                <a:solidFill>
                  <a:schemeClr val="tx1"/>
                </a:solidFill>
                <a:highlight>
                  <a:srgbClr val="FFFFFF"/>
                </a:highlight>
                <a:latin typeface=""/>
                <a:ea typeface="+mn-ea"/>
                <a:cs typeface="Arial" panose="020B0604020202020204" pitchFamily="34" charset="0"/>
              </a:rPr>
              <a:t>The movie was awesome. Overall, the </a:t>
            </a:r>
            <a:endParaRPr lang="en-HK">
              <a:effectLst/>
              <a:highlight>
                <a:srgbClr val="FFFFFF"/>
              </a:highlight>
              <a:latin typeface=""/>
              <a:cs typeface="Arial" panose="020B0604020202020204" pitchFamily="34" charset="0"/>
            </a:endParaRPr>
          </a:p>
        </p:txBody>
      </p:sp>
      <p:sp>
        <p:nvSpPr>
          <p:cNvPr id="12" name="TextBox 11">
            <a:extLst>
              <a:ext uri="{FF2B5EF4-FFF2-40B4-BE49-F238E27FC236}">
                <a16:creationId xmlns:a16="http://schemas.microsoft.com/office/drawing/2014/main" id="{A120E025-6535-2213-A1DC-73B5CBE8B4BA}"/>
              </a:ext>
            </a:extLst>
          </p:cNvPr>
          <p:cNvSpPr txBox="1"/>
          <p:nvPr/>
        </p:nvSpPr>
        <p:spPr>
          <a:xfrm>
            <a:off x="1347362" y="5256836"/>
            <a:ext cx="3852566" cy="266868"/>
          </a:xfrm>
          <a:prstGeom prst="rect">
            <a:avLst/>
          </a:prstGeom>
          <a:noFill/>
        </p:spPr>
        <p:txBody>
          <a:bodyPr wrap="square">
            <a:spAutoFit/>
          </a:bodyPr>
          <a:lstStyle/>
          <a:p>
            <a:pPr defTabSz="576072">
              <a:spcAft>
                <a:spcPts val="600"/>
              </a:spcAft>
            </a:pPr>
            <a:r>
              <a:rPr lang="en-HK" sz="1134" kern="1200">
                <a:solidFill>
                  <a:schemeClr val="tx1"/>
                </a:solidFill>
                <a:highlight>
                  <a:srgbClr val="FFFFFF"/>
                </a:highlight>
                <a:latin typeface=""/>
                <a:ea typeface="+mn-ea"/>
                <a:cs typeface="Arial" panose="020B0604020202020204" pitchFamily="34" charset="0"/>
              </a:rPr>
              <a:t>The movie was awesome. Overall, </a:t>
            </a:r>
            <a:endParaRPr lang="en-HK">
              <a:effectLst/>
              <a:highlight>
                <a:srgbClr val="FFFFFF"/>
              </a:highlight>
              <a:latin typeface=""/>
              <a:cs typeface="Arial" panose="020B0604020202020204" pitchFamily="34" charset="0"/>
            </a:endParaRPr>
          </a:p>
        </p:txBody>
      </p:sp>
      <p:sp>
        <p:nvSpPr>
          <p:cNvPr id="14" name="TextBox 13">
            <a:extLst>
              <a:ext uri="{FF2B5EF4-FFF2-40B4-BE49-F238E27FC236}">
                <a16:creationId xmlns:a16="http://schemas.microsoft.com/office/drawing/2014/main" id="{3DEEB817-B72E-7D66-D9BA-D7F388640BA2}"/>
              </a:ext>
            </a:extLst>
          </p:cNvPr>
          <p:cNvSpPr txBox="1"/>
          <p:nvPr/>
        </p:nvSpPr>
        <p:spPr>
          <a:xfrm>
            <a:off x="1361904" y="4936293"/>
            <a:ext cx="3852566" cy="266868"/>
          </a:xfrm>
          <a:prstGeom prst="rect">
            <a:avLst/>
          </a:prstGeom>
          <a:noFill/>
        </p:spPr>
        <p:txBody>
          <a:bodyPr wrap="square">
            <a:spAutoFit/>
          </a:bodyPr>
          <a:lstStyle/>
          <a:p>
            <a:pPr defTabSz="576072">
              <a:spcAft>
                <a:spcPts val="600"/>
              </a:spcAft>
            </a:pPr>
            <a:r>
              <a:rPr lang="en-HK" sz="1134" kern="1200">
                <a:solidFill>
                  <a:schemeClr val="tx1"/>
                </a:solidFill>
                <a:highlight>
                  <a:srgbClr val="FFFFFF"/>
                </a:highlight>
                <a:latin typeface=""/>
                <a:ea typeface="+mn-ea"/>
                <a:cs typeface="Arial" panose="020B0604020202020204" pitchFamily="34" charset="0"/>
              </a:rPr>
              <a:t>The movie was awesome. </a:t>
            </a:r>
            <a:endParaRPr lang="en-HK">
              <a:effectLst/>
              <a:highlight>
                <a:srgbClr val="FFFFFF"/>
              </a:highlight>
              <a:latin typeface=""/>
              <a:cs typeface="Arial" panose="020B0604020202020204" pitchFamily="34" charset="0"/>
            </a:endParaRPr>
          </a:p>
        </p:txBody>
      </p:sp>
      <p:sp>
        <p:nvSpPr>
          <p:cNvPr id="16" name="TextBox 15">
            <a:extLst>
              <a:ext uri="{FF2B5EF4-FFF2-40B4-BE49-F238E27FC236}">
                <a16:creationId xmlns:a16="http://schemas.microsoft.com/office/drawing/2014/main" id="{25DA826B-8DCF-AA45-7BF1-36A593E6FAD4}"/>
              </a:ext>
            </a:extLst>
          </p:cNvPr>
          <p:cNvSpPr txBox="1"/>
          <p:nvPr/>
        </p:nvSpPr>
        <p:spPr>
          <a:xfrm>
            <a:off x="1361904" y="4615750"/>
            <a:ext cx="3852566" cy="266868"/>
          </a:xfrm>
          <a:prstGeom prst="rect">
            <a:avLst/>
          </a:prstGeom>
          <a:noFill/>
        </p:spPr>
        <p:txBody>
          <a:bodyPr wrap="square">
            <a:spAutoFit/>
          </a:bodyPr>
          <a:lstStyle/>
          <a:p>
            <a:pPr defTabSz="576072">
              <a:spcAft>
                <a:spcPts val="600"/>
              </a:spcAft>
            </a:pPr>
            <a:r>
              <a:rPr lang="en-HK" sz="1134" kern="1200">
                <a:solidFill>
                  <a:schemeClr val="tx1"/>
                </a:solidFill>
                <a:highlight>
                  <a:srgbClr val="FFFFFF"/>
                </a:highlight>
                <a:latin typeface=""/>
                <a:ea typeface="+mn-ea"/>
                <a:cs typeface="Arial" panose="020B0604020202020204" pitchFamily="34" charset="0"/>
              </a:rPr>
              <a:t>The movie was</a:t>
            </a:r>
            <a:endParaRPr lang="en-HK">
              <a:effectLst/>
              <a:highlight>
                <a:srgbClr val="FFFFFF"/>
              </a:highlight>
              <a:latin typeface=""/>
              <a:cs typeface="Arial" panose="020B0604020202020204" pitchFamily="34" charset="0"/>
            </a:endParaRPr>
          </a:p>
        </p:txBody>
      </p:sp>
      <p:sp>
        <p:nvSpPr>
          <p:cNvPr id="18" name="TextBox 17">
            <a:extLst>
              <a:ext uri="{FF2B5EF4-FFF2-40B4-BE49-F238E27FC236}">
                <a16:creationId xmlns:a16="http://schemas.microsoft.com/office/drawing/2014/main" id="{35A48374-0798-D578-4AD9-CA5F4FA3AD55}"/>
              </a:ext>
            </a:extLst>
          </p:cNvPr>
          <p:cNvSpPr txBox="1"/>
          <p:nvPr/>
        </p:nvSpPr>
        <p:spPr>
          <a:xfrm>
            <a:off x="1361904" y="4247059"/>
            <a:ext cx="3852566" cy="266868"/>
          </a:xfrm>
          <a:prstGeom prst="rect">
            <a:avLst/>
          </a:prstGeom>
          <a:noFill/>
        </p:spPr>
        <p:txBody>
          <a:bodyPr wrap="square">
            <a:spAutoFit/>
          </a:bodyPr>
          <a:lstStyle/>
          <a:p>
            <a:pPr defTabSz="576072">
              <a:spcAft>
                <a:spcPts val="600"/>
              </a:spcAft>
            </a:pPr>
            <a:r>
              <a:rPr lang="en-HK" sz="1134" kern="1200">
                <a:solidFill>
                  <a:schemeClr val="tx1"/>
                </a:solidFill>
                <a:highlight>
                  <a:srgbClr val="FFFFFF"/>
                </a:highlight>
                <a:latin typeface=""/>
                <a:ea typeface="+mn-ea"/>
                <a:cs typeface="Arial" panose="020B0604020202020204" pitchFamily="34" charset="0"/>
              </a:rPr>
              <a:t>The movie</a:t>
            </a:r>
            <a:endParaRPr lang="en-HK">
              <a:effectLst/>
              <a:highlight>
                <a:srgbClr val="FFFFFF"/>
              </a:highlight>
              <a:latin typeface=""/>
              <a:cs typeface="Arial" panose="020B0604020202020204" pitchFamily="34" charset="0"/>
            </a:endParaRPr>
          </a:p>
        </p:txBody>
      </p:sp>
      <p:sp>
        <p:nvSpPr>
          <p:cNvPr id="20" name="TextBox 19">
            <a:extLst>
              <a:ext uri="{FF2B5EF4-FFF2-40B4-BE49-F238E27FC236}">
                <a16:creationId xmlns:a16="http://schemas.microsoft.com/office/drawing/2014/main" id="{C3C6976F-447A-F3D9-E81D-C5BF50C4186F}"/>
              </a:ext>
            </a:extLst>
          </p:cNvPr>
          <p:cNvSpPr txBox="1"/>
          <p:nvPr/>
        </p:nvSpPr>
        <p:spPr>
          <a:xfrm>
            <a:off x="1361904" y="3878003"/>
            <a:ext cx="3852566" cy="266868"/>
          </a:xfrm>
          <a:prstGeom prst="rect">
            <a:avLst/>
          </a:prstGeom>
          <a:noFill/>
        </p:spPr>
        <p:txBody>
          <a:bodyPr wrap="square">
            <a:spAutoFit/>
          </a:bodyPr>
          <a:lstStyle/>
          <a:p>
            <a:pPr defTabSz="576072">
              <a:spcAft>
                <a:spcPts val="600"/>
              </a:spcAft>
            </a:pPr>
            <a:r>
              <a:rPr lang="en-HK" sz="1134" kern="1200" dirty="0">
                <a:solidFill>
                  <a:schemeClr val="tx1"/>
                </a:solidFill>
                <a:highlight>
                  <a:srgbClr val="FFFFFF"/>
                </a:highlight>
                <a:latin typeface=""/>
                <a:ea typeface="+mn-ea"/>
                <a:cs typeface="Arial" panose="020B0604020202020204" pitchFamily="34" charset="0"/>
              </a:rPr>
              <a:t>The</a:t>
            </a:r>
            <a:endParaRPr lang="en-HK" dirty="0">
              <a:effectLst/>
              <a:highlight>
                <a:srgbClr val="FFFFFF"/>
              </a:highlight>
              <a:latin typeface=""/>
              <a:cs typeface="Arial" panose="020B0604020202020204" pitchFamily="34" charset="0"/>
            </a:endParaRPr>
          </a:p>
        </p:txBody>
      </p:sp>
      <p:sp>
        <p:nvSpPr>
          <p:cNvPr id="21" name="Rectangle 20">
            <a:extLst>
              <a:ext uri="{FF2B5EF4-FFF2-40B4-BE49-F238E27FC236}">
                <a16:creationId xmlns:a16="http://schemas.microsoft.com/office/drawing/2014/main" id="{DEBD23B8-FB1F-086C-A631-E3795205D0F2}"/>
              </a:ext>
            </a:extLst>
          </p:cNvPr>
          <p:cNvSpPr/>
          <p:nvPr/>
        </p:nvSpPr>
        <p:spPr>
          <a:xfrm>
            <a:off x="1740575" y="3905103"/>
            <a:ext cx="469825" cy="18019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
              <a:cs typeface="Arial" panose="020B0604020202020204" pitchFamily="34" charset="0"/>
            </a:endParaRPr>
          </a:p>
        </p:txBody>
      </p:sp>
      <p:sp>
        <p:nvSpPr>
          <p:cNvPr id="22" name="Rectangle 21">
            <a:extLst>
              <a:ext uri="{FF2B5EF4-FFF2-40B4-BE49-F238E27FC236}">
                <a16:creationId xmlns:a16="http://schemas.microsoft.com/office/drawing/2014/main" id="{1B0B9D48-7CC3-C5E9-4FB2-8AB15CAF7477}"/>
              </a:ext>
            </a:extLst>
          </p:cNvPr>
          <p:cNvSpPr/>
          <p:nvPr/>
        </p:nvSpPr>
        <p:spPr>
          <a:xfrm>
            <a:off x="2158941" y="4269776"/>
            <a:ext cx="469825" cy="18019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a:latin typeface=""/>
              <a:cs typeface="Arial" panose="020B0604020202020204" pitchFamily="34" charset="0"/>
            </a:endParaRPr>
          </a:p>
        </p:txBody>
      </p:sp>
      <p:sp>
        <p:nvSpPr>
          <p:cNvPr id="23" name="Rectangle 22">
            <a:extLst>
              <a:ext uri="{FF2B5EF4-FFF2-40B4-BE49-F238E27FC236}">
                <a16:creationId xmlns:a16="http://schemas.microsoft.com/office/drawing/2014/main" id="{82161C9D-5853-5E4A-7140-3F1E9C8125D3}"/>
              </a:ext>
            </a:extLst>
          </p:cNvPr>
          <p:cNvSpPr/>
          <p:nvPr/>
        </p:nvSpPr>
        <p:spPr>
          <a:xfrm>
            <a:off x="2464054" y="4642221"/>
            <a:ext cx="469825" cy="18019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b="1" dirty="0">
              <a:latin typeface=""/>
              <a:cs typeface="Arial" panose="020B0604020202020204" pitchFamily="34" charset="0"/>
            </a:endParaRPr>
          </a:p>
        </p:txBody>
      </p:sp>
      <p:sp>
        <p:nvSpPr>
          <p:cNvPr id="24" name="Rectangle 23">
            <a:extLst>
              <a:ext uri="{FF2B5EF4-FFF2-40B4-BE49-F238E27FC236}">
                <a16:creationId xmlns:a16="http://schemas.microsoft.com/office/drawing/2014/main" id="{B032721F-F873-A440-7941-A525F2F5387F}"/>
              </a:ext>
            </a:extLst>
          </p:cNvPr>
          <p:cNvSpPr/>
          <p:nvPr/>
        </p:nvSpPr>
        <p:spPr>
          <a:xfrm>
            <a:off x="3128522" y="4942572"/>
            <a:ext cx="469825" cy="18019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b="1" dirty="0">
              <a:latin typeface=""/>
              <a:cs typeface="Arial" panose="020B0604020202020204" pitchFamily="34" charset="0"/>
            </a:endParaRPr>
          </a:p>
        </p:txBody>
      </p:sp>
      <p:sp>
        <p:nvSpPr>
          <p:cNvPr id="25" name="Rectangle 24">
            <a:extLst>
              <a:ext uri="{FF2B5EF4-FFF2-40B4-BE49-F238E27FC236}">
                <a16:creationId xmlns:a16="http://schemas.microsoft.com/office/drawing/2014/main" id="{578D5087-AAA3-4E77-9A11-2F83AA638DB1}"/>
              </a:ext>
            </a:extLst>
          </p:cNvPr>
          <p:cNvSpPr/>
          <p:nvPr/>
        </p:nvSpPr>
        <p:spPr>
          <a:xfrm>
            <a:off x="3680278" y="5266370"/>
            <a:ext cx="469825" cy="18019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b="1" dirty="0">
              <a:latin typeface=""/>
              <a:cs typeface="Arial" panose="020B0604020202020204" pitchFamily="34" charset="0"/>
            </a:endParaRPr>
          </a:p>
        </p:txBody>
      </p:sp>
      <p:sp>
        <p:nvSpPr>
          <p:cNvPr id="26" name="Rectangle 25">
            <a:extLst>
              <a:ext uri="{FF2B5EF4-FFF2-40B4-BE49-F238E27FC236}">
                <a16:creationId xmlns:a16="http://schemas.microsoft.com/office/drawing/2014/main" id="{073917DB-61FD-313A-9A8B-2C5B4C113A76}"/>
              </a:ext>
            </a:extLst>
          </p:cNvPr>
          <p:cNvSpPr/>
          <p:nvPr/>
        </p:nvSpPr>
        <p:spPr>
          <a:xfrm>
            <a:off x="3935607" y="5601711"/>
            <a:ext cx="469825" cy="18019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b="1" dirty="0">
              <a:latin typeface=""/>
              <a:cs typeface="Arial" panose="020B0604020202020204" pitchFamily="34" charset="0"/>
            </a:endParaRPr>
          </a:p>
        </p:txBody>
      </p:sp>
      <p:sp>
        <p:nvSpPr>
          <p:cNvPr id="27" name="Oval 26">
            <a:extLst>
              <a:ext uri="{FF2B5EF4-FFF2-40B4-BE49-F238E27FC236}">
                <a16:creationId xmlns:a16="http://schemas.microsoft.com/office/drawing/2014/main" id="{D97CA314-D558-CE45-FCFA-3238CCBEA484}"/>
              </a:ext>
            </a:extLst>
          </p:cNvPr>
          <p:cNvSpPr/>
          <p:nvPr/>
        </p:nvSpPr>
        <p:spPr>
          <a:xfrm>
            <a:off x="7315531" y="3532068"/>
            <a:ext cx="2242857" cy="2016336"/>
          </a:xfrm>
          <a:prstGeom prst="ellipse">
            <a:avLst/>
          </a:prstGeom>
          <a:ln>
            <a:solidFill>
              <a:schemeClr val="tx1"/>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
              <a:cs typeface="Arial" panose="020B0604020202020204" pitchFamily="34" charset="0"/>
            </a:endParaRPr>
          </a:p>
        </p:txBody>
      </p:sp>
      <p:sp>
        <p:nvSpPr>
          <p:cNvPr id="29" name="TextBox 28">
            <a:extLst>
              <a:ext uri="{FF2B5EF4-FFF2-40B4-BE49-F238E27FC236}">
                <a16:creationId xmlns:a16="http://schemas.microsoft.com/office/drawing/2014/main" id="{FBF7A473-F917-55D6-5183-37815D1487A6}"/>
              </a:ext>
            </a:extLst>
          </p:cNvPr>
          <p:cNvSpPr txBox="1"/>
          <p:nvPr/>
        </p:nvSpPr>
        <p:spPr>
          <a:xfrm>
            <a:off x="8325105" y="3697521"/>
            <a:ext cx="796472" cy="286232"/>
          </a:xfrm>
          <a:prstGeom prst="rect">
            <a:avLst/>
          </a:prstGeom>
          <a:noFill/>
        </p:spPr>
        <p:txBody>
          <a:bodyPr wrap="square">
            <a:spAutoFit/>
          </a:bodyPr>
          <a:lstStyle/>
          <a:p>
            <a:pPr defTabSz="576072">
              <a:spcAft>
                <a:spcPts val="600"/>
              </a:spcAft>
            </a:pPr>
            <a:r>
              <a:rPr lang="en-HK" sz="1260" kern="1200" dirty="0">
                <a:solidFill>
                  <a:schemeClr val="tx1"/>
                </a:solidFill>
                <a:highlight>
                  <a:srgbClr val="FFFFFF"/>
                </a:highlight>
                <a:latin typeface=""/>
                <a:ea typeface="+mn-ea"/>
                <a:cs typeface="Arial" panose="020B0604020202020204" pitchFamily="34" charset="0"/>
              </a:rPr>
              <a:t>positive</a:t>
            </a:r>
            <a:r>
              <a:rPr lang="en-HK" sz="1134" kern="1200" dirty="0">
                <a:solidFill>
                  <a:schemeClr val="tx1"/>
                </a:solidFill>
                <a:highlight>
                  <a:srgbClr val="FFFFFF"/>
                </a:highlight>
                <a:latin typeface=""/>
                <a:ea typeface="+mn-ea"/>
                <a:cs typeface="Arial" panose="020B0604020202020204" pitchFamily="34" charset="0"/>
              </a:rPr>
              <a:t> </a:t>
            </a:r>
            <a:endParaRPr lang="en-HK" dirty="0">
              <a:effectLst/>
              <a:highlight>
                <a:srgbClr val="FFFFFF"/>
              </a:highlight>
              <a:latin typeface=""/>
              <a:cs typeface="Arial" panose="020B0604020202020204" pitchFamily="34" charset="0"/>
            </a:endParaRPr>
          </a:p>
        </p:txBody>
      </p:sp>
      <p:sp>
        <p:nvSpPr>
          <p:cNvPr id="31" name="TextBox 30">
            <a:extLst>
              <a:ext uri="{FF2B5EF4-FFF2-40B4-BE49-F238E27FC236}">
                <a16:creationId xmlns:a16="http://schemas.microsoft.com/office/drawing/2014/main" id="{AACCF7E4-61FF-5D2F-E9BF-927B9E8EEADD}"/>
              </a:ext>
            </a:extLst>
          </p:cNvPr>
          <p:cNvSpPr txBox="1"/>
          <p:nvPr/>
        </p:nvSpPr>
        <p:spPr>
          <a:xfrm>
            <a:off x="7528633" y="4178503"/>
            <a:ext cx="796472" cy="286232"/>
          </a:xfrm>
          <a:prstGeom prst="rect">
            <a:avLst/>
          </a:prstGeom>
          <a:noFill/>
        </p:spPr>
        <p:txBody>
          <a:bodyPr wrap="square">
            <a:spAutoFit/>
          </a:bodyPr>
          <a:lstStyle/>
          <a:p>
            <a:pPr defTabSz="576072">
              <a:spcAft>
                <a:spcPts val="600"/>
              </a:spcAft>
            </a:pPr>
            <a:r>
              <a:rPr lang="en-HK" sz="1260" kern="1200">
                <a:solidFill>
                  <a:schemeClr val="tx1"/>
                </a:solidFill>
                <a:highlight>
                  <a:srgbClr val="FFFFFF"/>
                </a:highlight>
                <a:latin typeface=""/>
                <a:ea typeface="+mn-ea"/>
                <a:cs typeface="Arial" panose="020B0604020202020204" pitchFamily="34" charset="0"/>
              </a:rPr>
              <a:t>negative</a:t>
            </a:r>
            <a:r>
              <a:rPr lang="en-HK" sz="1134" kern="1200">
                <a:solidFill>
                  <a:schemeClr val="tx1"/>
                </a:solidFill>
                <a:highlight>
                  <a:srgbClr val="FFFFFF"/>
                </a:highlight>
                <a:latin typeface=""/>
                <a:ea typeface="+mn-ea"/>
                <a:cs typeface="Arial" panose="020B0604020202020204" pitchFamily="34" charset="0"/>
              </a:rPr>
              <a:t> </a:t>
            </a:r>
            <a:endParaRPr lang="en-HK">
              <a:effectLst/>
              <a:highlight>
                <a:srgbClr val="FFFFFF"/>
              </a:highlight>
              <a:latin typeface=""/>
              <a:cs typeface="Arial" panose="020B0604020202020204" pitchFamily="34" charset="0"/>
            </a:endParaRPr>
          </a:p>
        </p:txBody>
      </p:sp>
      <p:sp>
        <p:nvSpPr>
          <p:cNvPr id="33" name="TextBox 32">
            <a:extLst>
              <a:ext uri="{FF2B5EF4-FFF2-40B4-BE49-F238E27FC236}">
                <a16:creationId xmlns:a16="http://schemas.microsoft.com/office/drawing/2014/main" id="{AF2A7EB4-E767-25B8-8D13-2A31275A2F74}"/>
              </a:ext>
            </a:extLst>
          </p:cNvPr>
          <p:cNvSpPr txBox="1"/>
          <p:nvPr/>
        </p:nvSpPr>
        <p:spPr>
          <a:xfrm>
            <a:off x="8708791" y="4231445"/>
            <a:ext cx="457518" cy="363818"/>
          </a:xfrm>
          <a:prstGeom prst="rect">
            <a:avLst/>
          </a:prstGeom>
          <a:noFill/>
        </p:spPr>
        <p:txBody>
          <a:bodyPr wrap="square">
            <a:spAutoFit/>
          </a:bodyPr>
          <a:lstStyle/>
          <a:p>
            <a:pPr algn="ctr" defTabSz="576072">
              <a:spcAft>
                <a:spcPts val="600"/>
              </a:spcAft>
            </a:pPr>
            <a:r>
              <a:rPr lang="en-HK" sz="1764" b="1" kern="1200">
                <a:solidFill>
                  <a:schemeClr val="tx1"/>
                </a:solidFill>
                <a:highlight>
                  <a:srgbClr val="FFFFFF"/>
                </a:highlight>
                <a:latin typeface=""/>
                <a:ea typeface="+mn-ea"/>
                <a:cs typeface="Arial" panose="020B0604020202020204" pitchFamily="34" charset="0"/>
              </a:rPr>
              <a:t>...</a:t>
            </a:r>
            <a:r>
              <a:rPr lang="en-HK" sz="1134" kern="1200">
                <a:solidFill>
                  <a:schemeClr val="tx1"/>
                </a:solidFill>
                <a:highlight>
                  <a:srgbClr val="FFFFFF"/>
                </a:highlight>
                <a:latin typeface=""/>
                <a:ea typeface="+mn-ea"/>
                <a:cs typeface="Arial" panose="020B0604020202020204" pitchFamily="34" charset="0"/>
              </a:rPr>
              <a:t> </a:t>
            </a:r>
            <a:endParaRPr lang="en-HK">
              <a:effectLst/>
              <a:highlight>
                <a:srgbClr val="FFFFFF"/>
              </a:highlight>
              <a:latin typeface=""/>
              <a:cs typeface="Arial" panose="020B0604020202020204" pitchFamily="34" charset="0"/>
            </a:endParaRPr>
          </a:p>
        </p:txBody>
      </p:sp>
      <p:sp>
        <p:nvSpPr>
          <p:cNvPr id="35" name="TextBox 34">
            <a:extLst>
              <a:ext uri="{FF2B5EF4-FFF2-40B4-BE49-F238E27FC236}">
                <a16:creationId xmlns:a16="http://schemas.microsoft.com/office/drawing/2014/main" id="{52871773-7927-8862-EC17-7A2362DC6DC8}"/>
              </a:ext>
            </a:extLst>
          </p:cNvPr>
          <p:cNvSpPr txBox="1"/>
          <p:nvPr/>
        </p:nvSpPr>
        <p:spPr>
          <a:xfrm>
            <a:off x="8655652" y="4726511"/>
            <a:ext cx="897140" cy="286232"/>
          </a:xfrm>
          <a:prstGeom prst="rect">
            <a:avLst/>
          </a:prstGeom>
          <a:noFill/>
        </p:spPr>
        <p:txBody>
          <a:bodyPr wrap="square">
            <a:spAutoFit/>
          </a:bodyPr>
          <a:lstStyle/>
          <a:p>
            <a:pPr defTabSz="576072">
              <a:spcAft>
                <a:spcPts val="600"/>
              </a:spcAft>
            </a:pPr>
            <a:r>
              <a:rPr lang="en-HK" sz="1260" kern="1200">
                <a:solidFill>
                  <a:schemeClr val="tx1"/>
                </a:solidFill>
                <a:highlight>
                  <a:srgbClr val="FFFFFF"/>
                </a:highlight>
                <a:latin typeface="73"/>
                <a:ea typeface="+mn-ea"/>
                <a:cs typeface="+mn-cs"/>
              </a:rPr>
              <a:t>movie</a:t>
            </a:r>
            <a:r>
              <a:rPr lang="en-HK" sz="1134" kern="1200">
                <a:solidFill>
                  <a:schemeClr val="tx1"/>
                </a:solidFill>
                <a:highlight>
                  <a:srgbClr val="FFFFFF"/>
                </a:highlight>
                <a:latin typeface="73"/>
                <a:ea typeface="+mn-ea"/>
                <a:cs typeface="+mn-cs"/>
              </a:rPr>
              <a:t> </a:t>
            </a:r>
            <a:endParaRPr lang="en-HK">
              <a:effectLst/>
              <a:highlight>
                <a:srgbClr val="FFFFFF"/>
              </a:highlight>
            </a:endParaRPr>
          </a:p>
        </p:txBody>
      </p:sp>
      <p:sp>
        <p:nvSpPr>
          <p:cNvPr id="37" name="TextBox 36">
            <a:extLst>
              <a:ext uri="{FF2B5EF4-FFF2-40B4-BE49-F238E27FC236}">
                <a16:creationId xmlns:a16="http://schemas.microsoft.com/office/drawing/2014/main" id="{E9F5F207-5C40-C01C-6104-E2832CB00FEA}"/>
              </a:ext>
            </a:extLst>
          </p:cNvPr>
          <p:cNvSpPr txBox="1"/>
          <p:nvPr/>
        </p:nvSpPr>
        <p:spPr>
          <a:xfrm>
            <a:off x="8057752" y="5250520"/>
            <a:ext cx="682362" cy="286232"/>
          </a:xfrm>
          <a:prstGeom prst="rect">
            <a:avLst/>
          </a:prstGeom>
          <a:noFill/>
        </p:spPr>
        <p:txBody>
          <a:bodyPr wrap="square">
            <a:spAutoFit/>
          </a:bodyPr>
          <a:lstStyle/>
          <a:p>
            <a:pPr defTabSz="576072">
              <a:spcAft>
                <a:spcPts val="600"/>
              </a:spcAft>
            </a:pPr>
            <a:r>
              <a:rPr lang="en-HK" sz="1260" kern="1200" dirty="0">
                <a:solidFill>
                  <a:schemeClr val="tx1"/>
                </a:solidFill>
                <a:highlight>
                  <a:srgbClr val="FFFFFF"/>
                </a:highlight>
                <a:latin typeface="73"/>
                <a:ea typeface="+mn-ea"/>
                <a:cs typeface="+mn-cs"/>
              </a:rPr>
              <a:t>magical</a:t>
            </a:r>
            <a:r>
              <a:rPr lang="en-HK" sz="1134" kern="1200" dirty="0">
                <a:solidFill>
                  <a:schemeClr val="tx1"/>
                </a:solidFill>
                <a:highlight>
                  <a:srgbClr val="FFFFFF"/>
                </a:highlight>
                <a:latin typeface="73"/>
                <a:ea typeface="+mn-ea"/>
                <a:cs typeface="+mn-cs"/>
              </a:rPr>
              <a:t> </a:t>
            </a:r>
            <a:endParaRPr lang="en-HK" dirty="0">
              <a:effectLst/>
              <a:highlight>
                <a:srgbClr val="FFFFFF"/>
              </a:highlight>
            </a:endParaRPr>
          </a:p>
        </p:txBody>
      </p:sp>
      <p:sp>
        <p:nvSpPr>
          <p:cNvPr id="39" name="TextBox 38">
            <a:extLst>
              <a:ext uri="{FF2B5EF4-FFF2-40B4-BE49-F238E27FC236}">
                <a16:creationId xmlns:a16="http://schemas.microsoft.com/office/drawing/2014/main" id="{27CB3163-3618-BC2C-4C7F-BC73C96451C7}"/>
              </a:ext>
            </a:extLst>
          </p:cNvPr>
          <p:cNvSpPr txBox="1"/>
          <p:nvPr/>
        </p:nvSpPr>
        <p:spPr>
          <a:xfrm>
            <a:off x="7810808" y="5710284"/>
            <a:ext cx="1252301" cy="325025"/>
          </a:xfrm>
          <a:prstGeom prst="rect">
            <a:avLst/>
          </a:prstGeom>
          <a:noFill/>
        </p:spPr>
        <p:txBody>
          <a:bodyPr wrap="square">
            <a:spAutoFit/>
          </a:bodyPr>
          <a:lstStyle/>
          <a:p>
            <a:pPr defTabSz="576072">
              <a:spcAft>
                <a:spcPts val="600"/>
              </a:spcAft>
            </a:pPr>
            <a:r>
              <a:rPr lang="en-HK" sz="1512" b="1" kern="1200" dirty="0">
                <a:solidFill>
                  <a:schemeClr val="tx1"/>
                </a:solidFill>
                <a:highlight>
                  <a:srgbClr val="FFFFFF"/>
                </a:highlight>
                <a:latin typeface=""/>
                <a:ea typeface="+mn-ea"/>
                <a:cs typeface="+mn-cs"/>
              </a:rPr>
              <a:t>Vocabulary </a:t>
            </a:r>
            <a:endParaRPr lang="en-HK" sz="2400" b="1" dirty="0">
              <a:effectLst/>
              <a:highlight>
                <a:srgbClr val="FFFFFF"/>
              </a:highlight>
              <a:latin typeface=""/>
            </a:endParaRPr>
          </a:p>
        </p:txBody>
      </p:sp>
      <p:sp>
        <p:nvSpPr>
          <p:cNvPr id="41" name="TextBox 40">
            <a:extLst>
              <a:ext uri="{FF2B5EF4-FFF2-40B4-BE49-F238E27FC236}">
                <a16:creationId xmlns:a16="http://schemas.microsoft.com/office/drawing/2014/main" id="{3189333E-7257-533C-FA73-40642E2D6792}"/>
              </a:ext>
            </a:extLst>
          </p:cNvPr>
          <p:cNvSpPr txBox="1"/>
          <p:nvPr/>
        </p:nvSpPr>
        <p:spPr>
          <a:xfrm>
            <a:off x="1531936" y="5896863"/>
            <a:ext cx="369149" cy="480131"/>
          </a:xfrm>
          <a:prstGeom prst="rect">
            <a:avLst/>
          </a:prstGeom>
          <a:noFill/>
        </p:spPr>
        <p:txBody>
          <a:bodyPr wrap="square">
            <a:spAutoFit/>
          </a:bodyPr>
          <a:lstStyle/>
          <a:p>
            <a:pPr algn="ctr" defTabSz="576072">
              <a:spcAft>
                <a:spcPts val="600"/>
              </a:spcAft>
            </a:pPr>
            <a:r>
              <a:rPr lang="en-HK" sz="2520" kern="1200" dirty="0">
                <a:solidFill>
                  <a:schemeClr val="tx1"/>
                </a:solidFill>
                <a:highlight>
                  <a:srgbClr val="FFFFFF"/>
                </a:highlight>
                <a:latin typeface="Times New Roman" panose="02020603050405020304" pitchFamily="18" charset="0"/>
                <a:ea typeface="+mn-ea"/>
                <a:cs typeface="+mn-cs"/>
              </a:rPr>
              <a:t>⁞ </a:t>
            </a:r>
            <a:endParaRPr lang="en-HK" sz="4000" dirty="0">
              <a:effectLst/>
              <a:highlight>
                <a:srgbClr val="FFFFFF"/>
              </a:highlight>
            </a:endParaRPr>
          </a:p>
        </p:txBody>
      </p:sp>
      <p:cxnSp>
        <p:nvCxnSpPr>
          <p:cNvPr id="43" name="Curved Connector 42">
            <a:extLst>
              <a:ext uri="{FF2B5EF4-FFF2-40B4-BE49-F238E27FC236}">
                <a16:creationId xmlns:a16="http://schemas.microsoft.com/office/drawing/2014/main" id="{B939BC24-5E89-CE2F-5C42-42DCFFAACF8E}"/>
              </a:ext>
            </a:extLst>
          </p:cNvPr>
          <p:cNvCxnSpPr>
            <a:stCxn id="27" idx="2"/>
            <a:endCxn id="21" idx="3"/>
          </p:cNvCxnSpPr>
          <p:nvPr/>
        </p:nvCxnSpPr>
        <p:spPr>
          <a:xfrm rot="10800000">
            <a:off x="2210401" y="3995204"/>
            <a:ext cx="5105131" cy="545033"/>
          </a:xfrm>
          <a:prstGeom prst="curvedConnector3">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44" name="Curved Connector 43">
            <a:extLst>
              <a:ext uri="{FF2B5EF4-FFF2-40B4-BE49-F238E27FC236}">
                <a16:creationId xmlns:a16="http://schemas.microsoft.com/office/drawing/2014/main" id="{0B010857-18B2-1042-4332-9A7E9F71B5E5}"/>
              </a:ext>
            </a:extLst>
          </p:cNvPr>
          <p:cNvCxnSpPr>
            <a:cxnSpLocks/>
            <a:stCxn id="27" idx="2"/>
            <a:endCxn id="22" idx="3"/>
          </p:cNvCxnSpPr>
          <p:nvPr/>
        </p:nvCxnSpPr>
        <p:spPr>
          <a:xfrm rot="10800000">
            <a:off x="2628767" y="4359876"/>
            <a:ext cx="4686765" cy="180360"/>
          </a:xfrm>
          <a:prstGeom prst="curvedConnector3">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51" name="Curved Connector 50">
            <a:extLst>
              <a:ext uri="{FF2B5EF4-FFF2-40B4-BE49-F238E27FC236}">
                <a16:creationId xmlns:a16="http://schemas.microsoft.com/office/drawing/2014/main" id="{F0DC4DB9-75A9-8D16-16B8-912FEB89F26D}"/>
              </a:ext>
            </a:extLst>
          </p:cNvPr>
          <p:cNvCxnSpPr>
            <a:cxnSpLocks/>
            <a:stCxn id="27" idx="2"/>
            <a:endCxn id="23" idx="3"/>
          </p:cNvCxnSpPr>
          <p:nvPr/>
        </p:nvCxnSpPr>
        <p:spPr>
          <a:xfrm rot="10800000" flipV="1">
            <a:off x="2933879" y="4540235"/>
            <a:ext cx="4381652" cy="192085"/>
          </a:xfrm>
          <a:prstGeom prst="curvedConnector3">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61" name="Curved Connector 60">
            <a:extLst>
              <a:ext uri="{FF2B5EF4-FFF2-40B4-BE49-F238E27FC236}">
                <a16:creationId xmlns:a16="http://schemas.microsoft.com/office/drawing/2014/main" id="{E0101C3D-A166-2CB4-56CD-D1567860FABC}"/>
              </a:ext>
            </a:extLst>
          </p:cNvPr>
          <p:cNvCxnSpPr>
            <a:cxnSpLocks/>
            <a:stCxn id="27" idx="2"/>
            <a:endCxn id="24" idx="3"/>
          </p:cNvCxnSpPr>
          <p:nvPr/>
        </p:nvCxnSpPr>
        <p:spPr>
          <a:xfrm rot="10800000" flipV="1">
            <a:off x="3598347" y="4540236"/>
            <a:ext cx="3717184" cy="492436"/>
          </a:xfrm>
          <a:prstGeom prst="curvedConnector3">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67" name="Curved Connector 66">
            <a:extLst>
              <a:ext uri="{FF2B5EF4-FFF2-40B4-BE49-F238E27FC236}">
                <a16:creationId xmlns:a16="http://schemas.microsoft.com/office/drawing/2014/main" id="{1D08997A-CF30-2E13-424E-9F6101B1FB8F}"/>
              </a:ext>
            </a:extLst>
          </p:cNvPr>
          <p:cNvCxnSpPr>
            <a:cxnSpLocks/>
            <a:stCxn id="27" idx="2"/>
            <a:endCxn id="25" idx="3"/>
          </p:cNvCxnSpPr>
          <p:nvPr/>
        </p:nvCxnSpPr>
        <p:spPr>
          <a:xfrm rot="10800000" flipV="1">
            <a:off x="4150103" y="4540236"/>
            <a:ext cx="3165428" cy="816234"/>
          </a:xfrm>
          <a:prstGeom prst="curvedConnector3">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70" name="Curved Connector 69">
            <a:extLst>
              <a:ext uri="{FF2B5EF4-FFF2-40B4-BE49-F238E27FC236}">
                <a16:creationId xmlns:a16="http://schemas.microsoft.com/office/drawing/2014/main" id="{7A9FB7D1-85E7-A554-3CFD-BE141FCF1596}"/>
              </a:ext>
            </a:extLst>
          </p:cNvPr>
          <p:cNvCxnSpPr>
            <a:cxnSpLocks/>
            <a:stCxn id="27" idx="2"/>
            <a:endCxn id="26" idx="3"/>
          </p:cNvCxnSpPr>
          <p:nvPr/>
        </p:nvCxnSpPr>
        <p:spPr>
          <a:xfrm rot="10800000" flipV="1">
            <a:off x="4405433" y="4540235"/>
            <a:ext cx="2910099" cy="1151575"/>
          </a:xfrm>
          <a:prstGeom prst="curvedConnector3">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86" name="Curved Connector 85">
            <a:extLst>
              <a:ext uri="{FF2B5EF4-FFF2-40B4-BE49-F238E27FC236}">
                <a16:creationId xmlns:a16="http://schemas.microsoft.com/office/drawing/2014/main" id="{7D8B093A-1246-601A-5517-12111AEA91EC}"/>
              </a:ext>
            </a:extLst>
          </p:cNvPr>
          <p:cNvCxnSpPr>
            <a:stCxn id="20" idx="1"/>
            <a:endCxn id="18" idx="1"/>
          </p:cNvCxnSpPr>
          <p:nvPr/>
        </p:nvCxnSpPr>
        <p:spPr>
          <a:xfrm rot="10800000" flipV="1">
            <a:off x="1361904" y="4011437"/>
            <a:ext cx="12700" cy="369056"/>
          </a:xfrm>
          <a:prstGeom prst="curvedConnector3">
            <a:avLst>
              <a:gd name="adj1" fmla="val 1800000"/>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7" name="Curved Connector 86">
            <a:extLst>
              <a:ext uri="{FF2B5EF4-FFF2-40B4-BE49-F238E27FC236}">
                <a16:creationId xmlns:a16="http://schemas.microsoft.com/office/drawing/2014/main" id="{302789CB-351A-F3D4-DF08-D192944FAC1C}"/>
              </a:ext>
            </a:extLst>
          </p:cNvPr>
          <p:cNvCxnSpPr>
            <a:cxnSpLocks/>
            <a:stCxn id="18" idx="1"/>
            <a:endCxn id="16" idx="1"/>
          </p:cNvCxnSpPr>
          <p:nvPr/>
        </p:nvCxnSpPr>
        <p:spPr>
          <a:xfrm rot="10800000" flipV="1">
            <a:off x="1361904" y="4380492"/>
            <a:ext cx="12700" cy="368691"/>
          </a:xfrm>
          <a:prstGeom prst="curvedConnector3">
            <a:avLst>
              <a:gd name="adj1" fmla="val 1800000"/>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0" name="Curved Connector 89">
            <a:extLst>
              <a:ext uri="{FF2B5EF4-FFF2-40B4-BE49-F238E27FC236}">
                <a16:creationId xmlns:a16="http://schemas.microsoft.com/office/drawing/2014/main" id="{E409AA3A-97B9-190E-AC3B-4EC228A71F80}"/>
              </a:ext>
            </a:extLst>
          </p:cNvPr>
          <p:cNvCxnSpPr>
            <a:cxnSpLocks/>
            <a:stCxn id="16" idx="1"/>
            <a:endCxn id="14" idx="1"/>
          </p:cNvCxnSpPr>
          <p:nvPr/>
        </p:nvCxnSpPr>
        <p:spPr>
          <a:xfrm rot="10800000" flipV="1">
            <a:off x="1361904" y="4749183"/>
            <a:ext cx="12700" cy="320543"/>
          </a:xfrm>
          <a:prstGeom prst="curvedConnector3">
            <a:avLst>
              <a:gd name="adj1" fmla="val 1800000"/>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3" name="Curved Connector 92">
            <a:extLst>
              <a:ext uri="{FF2B5EF4-FFF2-40B4-BE49-F238E27FC236}">
                <a16:creationId xmlns:a16="http://schemas.microsoft.com/office/drawing/2014/main" id="{58885377-A260-2379-22BF-04ADD030B6FC}"/>
              </a:ext>
            </a:extLst>
          </p:cNvPr>
          <p:cNvCxnSpPr>
            <a:cxnSpLocks/>
            <a:stCxn id="14" idx="1"/>
            <a:endCxn id="12" idx="1"/>
          </p:cNvCxnSpPr>
          <p:nvPr/>
        </p:nvCxnSpPr>
        <p:spPr>
          <a:xfrm rot="10800000" flipV="1">
            <a:off x="1347362" y="5069726"/>
            <a:ext cx="14542" cy="320543"/>
          </a:xfrm>
          <a:prstGeom prst="curvedConnector3">
            <a:avLst>
              <a:gd name="adj1" fmla="val 1671998"/>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6" name="Curved Connector 95">
            <a:extLst>
              <a:ext uri="{FF2B5EF4-FFF2-40B4-BE49-F238E27FC236}">
                <a16:creationId xmlns:a16="http://schemas.microsoft.com/office/drawing/2014/main" id="{1A3E73B4-DE3C-A722-7A1F-BE936BE35FA5}"/>
              </a:ext>
            </a:extLst>
          </p:cNvPr>
          <p:cNvCxnSpPr>
            <a:cxnSpLocks/>
            <a:stCxn id="12" idx="1"/>
            <a:endCxn id="10" idx="1"/>
          </p:cNvCxnSpPr>
          <p:nvPr/>
        </p:nvCxnSpPr>
        <p:spPr>
          <a:xfrm rot="10800000" flipH="1" flipV="1">
            <a:off x="1347362" y="5390270"/>
            <a:ext cx="14542" cy="320014"/>
          </a:xfrm>
          <a:prstGeom prst="curvedConnector3">
            <a:avLst>
              <a:gd name="adj1" fmla="val -1571998"/>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4954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31F88-EE82-23FF-D334-8ED27EE461A4}"/>
              </a:ext>
            </a:extLst>
          </p:cNvPr>
          <p:cNvSpPr>
            <a:spLocks noGrp="1"/>
          </p:cNvSpPr>
          <p:nvPr>
            <p:ph type="title"/>
          </p:nvPr>
        </p:nvSpPr>
        <p:spPr>
          <a:xfrm>
            <a:off x="838200" y="41960"/>
            <a:ext cx="10515600" cy="841068"/>
          </a:xfrm>
        </p:spPr>
        <p:txBody>
          <a:bodyPr/>
          <a:lstStyle/>
          <a:p>
            <a:r>
              <a:rPr lang="en-US" sz="4400" dirty="0">
                <a:latin typeface=""/>
                <a:cs typeface="Arial" panose="020B0604020202020204" pitchFamily="34" charset="0"/>
              </a:rPr>
              <a:t>Large Language Models (LLMs)</a:t>
            </a:r>
            <a:endParaRPr lang="en-US" dirty="0"/>
          </a:p>
        </p:txBody>
      </p:sp>
      <p:sp>
        <p:nvSpPr>
          <p:cNvPr id="7" name="TextBox 6">
            <a:extLst>
              <a:ext uri="{FF2B5EF4-FFF2-40B4-BE49-F238E27FC236}">
                <a16:creationId xmlns:a16="http://schemas.microsoft.com/office/drawing/2014/main" id="{63968F5C-53EA-1E96-B689-BD50AF14A53B}"/>
              </a:ext>
            </a:extLst>
          </p:cNvPr>
          <p:cNvSpPr txBox="1"/>
          <p:nvPr/>
        </p:nvSpPr>
        <p:spPr>
          <a:xfrm>
            <a:off x="1693329" y="1587714"/>
            <a:ext cx="9592733"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HK" sz="1800" dirty="0">
                <a:ln w="0"/>
                <a:solidFill>
                  <a:schemeClr val="tx1"/>
                </a:solidFill>
                <a:effectLst>
                  <a:outerShdw blurRad="38100" dist="25400" dir="5400000" algn="ctr" rotWithShape="0">
                    <a:srgbClr val="6E747A">
                      <a:alpha val="43000"/>
                    </a:srgbClr>
                  </a:outerShdw>
                </a:effectLst>
                <a:latin typeface="74,Bold"/>
              </a:rPr>
              <a:t>GPT (117M parameters): </a:t>
            </a:r>
            <a:r>
              <a:rPr lang="en-HK" sz="1800" dirty="0">
                <a:ln w="0"/>
                <a:solidFill>
                  <a:schemeClr val="tx1"/>
                </a:solidFill>
                <a:effectLst>
                  <a:outerShdw blurRad="38100" dist="25400" dir="5400000" algn="ctr" rotWithShape="0">
                    <a:srgbClr val="6E747A">
                      <a:alpha val="43000"/>
                    </a:srgbClr>
                  </a:outerShdw>
                </a:effectLst>
                <a:latin typeface="73"/>
              </a:rPr>
              <a:t>The first model is to be trained in a “generative” mode by masking portions of input text from left to right</a:t>
            </a:r>
            <a:endParaRPr lang="en-HK" dirty="0">
              <a:ln w="0"/>
              <a:solidFill>
                <a:schemeClr val="tx1"/>
              </a:solidFill>
              <a:effectLst>
                <a:outerShdw blurRad="38100" dist="25400" dir="5400000" algn="ctr" rotWithShape="0">
                  <a:srgbClr val="6E747A">
                    <a:alpha val="43000"/>
                  </a:srgbClr>
                </a:outerShdw>
              </a:effectLst>
            </a:endParaRPr>
          </a:p>
        </p:txBody>
      </p:sp>
      <p:sp>
        <p:nvSpPr>
          <p:cNvPr id="9" name="TextBox 8">
            <a:extLst>
              <a:ext uri="{FF2B5EF4-FFF2-40B4-BE49-F238E27FC236}">
                <a16:creationId xmlns:a16="http://schemas.microsoft.com/office/drawing/2014/main" id="{30CC20A5-30B0-B80E-8307-5D622D23CAE6}"/>
              </a:ext>
            </a:extLst>
          </p:cNvPr>
          <p:cNvSpPr txBox="1"/>
          <p:nvPr/>
        </p:nvSpPr>
        <p:spPr>
          <a:xfrm>
            <a:off x="1693328" y="3921860"/>
            <a:ext cx="9592733"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en-US"/>
            </a:defPPr>
            <a:lvl1pPr>
              <a:defRPr>
                <a:ln w="0"/>
                <a:effectLst>
                  <a:outerShdw blurRad="38100" dist="25400" dir="5400000" algn="ctr" rotWithShape="0">
                    <a:srgbClr val="6E747A">
                      <a:alpha val="43000"/>
                    </a:srgbClr>
                  </a:outerShdw>
                </a:effectLst>
                <a:latin typeface="74,Bold"/>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HK" dirty="0" err="1"/>
              <a:t>InstructGPT</a:t>
            </a:r>
            <a:r>
              <a:rPr lang="en-HK" dirty="0"/>
              <a:t>: Instruction-tuned models understand human inputs as instructions; the path to ChatGPT is paved</a:t>
            </a:r>
            <a:endParaRPr lang="en-US" dirty="0"/>
          </a:p>
        </p:txBody>
      </p:sp>
      <p:sp>
        <p:nvSpPr>
          <p:cNvPr id="10" name="Rounded Rectangle 9">
            <a:extLst>
              <a:ext uri="{FF2B5EF4-FFF2-40B4-BE49-F238E27FC236}">
                <a16:creationId xmlns:a16="http://schemas.microsoft.com/office/drawing/2014/main" id="{CBB52F82-CD00-CC5D-18F3-92A5AEAF78FA}"/>
              </a:ext>
            </a:extLst>
          </p:cNvPr>
          <p:cNvSpPr/>
          <p:nvPr/>
        </p:nvSpPr>
        <p:spPr>
          <a:xfrm>
            <a:off x="838196" y="1547984"/>
            <a:ext cx="787400" cy="70163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2018</a:t>
            </a:r>
          </a:p>
        </p:txBody>
      </p:sp>
      <p:sp>
        <p:nvSpPr>
          <p:cNvPr id="11" name="Rounded Rectangle 10">
            <a:extLst>
              <a:ext uri="{FF2B5EF4-FFF2-40B4-BE49-F238E27FC236}">
                <a16:creationId xmlns:a16="http://schemas.microsoft.com/office/drawing/2014/main" id="{E2464077-9C6E-A98F-59C5-7DC11D44F690}"/>
              </a:ext>
            </a:extLst>
          </p:cNvPr>
          <p:cNvSpPr/>
          <p:nvPr/>
        </p:nvSpPr>
        <p:spPr>
          <a:xfrm>
            <a:off x="838196" y="2320620"/>
            <a:ext cx="787400" cy="70163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2019</a:t>
            </a:r>
          </a:p>
        </p:txBody>
      </p:sp>
      <p:sp>
        <p:nvSpPr>
          <p:cNvPr id="12" name="Rounded Rectangle 11">
            <a:extLst>
              <a:ext uri="{FF2B5EF4-FFF2-40B4-BE49-F238E27FC236}">
                <a16:creationId xmlns:a16="http://schemas.microsoft.com/office/drawing/2014/main" id="{B1B9E5BC-5216-68DA-5030-C2FA508CE260}"/>
              </a:ext>
            </a:extLst>
          </p:cNvPr>
          <p:cNvSpPr/>
          <p:nvPr/>
        </p:nvSpPr>
        <p:spPr>
          <a:xfrm>
            <a:off x="838196" y="3117199"/>
            <a:ext cx="787400" cy="70163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2020</a:t>
            </a:r>
          </a:p>
        </p:txBody>
      </p:sp>
      <p:sp>
        <p:nvSpPr>
          <p:cNvPr id="14" name="TextBox 13">
            <a:extLst>
              <a:ext uri="{FF2B5EF4-FFF2-40B4-BE49-F238E27FC236}">
                <a16:creationId xmlns:a16="http://schemas.microsoft.com/office/drawing/2014/main" id="{FE547E7C-7453-0502-8184-21E5923F77AD}"/>
              </a:ext>
            </a:extLst>
          </p:cNvPr>
          <p:cNvSpPr txBox="1"/>
          <p:nvPr/>
        </p:nvSpPr>
        <p:spPr>
          <a:xfrm>
            <a:off x="1693329" y="2363083"/>
            <a:ext cx="9592733"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en-US"/>
            </a:defPPr>
            <a:lvl1pPr>
              <a:defRPr>
                <a:ln w="0"/>
                <a:solidFill>
                  <a:schemeClr val="dk1"/>
                </a:solidFill>
                <a:effectLst>
                  <a:outerShdw blurRad="38100" dist="25400" dir="5400000" algn="ctr" rotWithShape="0">
                    <a:srgbClr val="6E747A">
                      <a:alpha val="43000"/>
                    </a:srgbClr>
                  </a:outerShdw>
                </a:effectLst>
                <a:latin typeface="74,Bold"/>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HK" dirty="0"/>
              <a:t>GPT-2 (1.5B parameters): The era of prompting begins. Models are relatively small, open-source and fine-tuning is possible </a:t>
            </a:r>
          </a:p>
        </p:txBody>
      </p:sp>
      <p:sp>
        <p:nvSpPr>
          <p:cNvPr id="15" name="Rounded Rectangle 14">
            <a:extLst>
              <a:ext uri="{FF2B5EF4-FFF2-40B4-BE49-F238E27FC236}">
                <a16:creationId xmlns:a16="http://schemas.microsoft.com/office/drawing/2014/main" id="{EF744668-FAF3-B62E-2DB4-44CA44DF4CBD}"/>
              </a:ext>
            </a:extLst>
          </p:cNvPr>
          <p:cNvSpPr/>
          <p:nvPr/>
        </p:nvSpPr>
        <p:spPr>
          <a:xfrm>
            <a:off x="833961" y="4667878"/>
            <a:ext cx="787400" cy="70163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2023</a:t>
            </a:r>
          </a:p>
        </p:txBody>
      </p:sp>
      <p:sp>
        <p:nvSpPr>
          <p:cNvPr id="17" name="TextBox 16">
            <a:extLst>
              <a:ext uri="{FF2B5EF4-FFF2-40B4-BE49-F238E27FC236}">
                <a16:creationId xmlns:a16="http://schemas.microsoft.com/office/drawing/2014/main" id="{92CF0CBB-1ED9-7679-3580-555B3CFC37D4}"/>
              </a:ext>
            </a:extLst>
          </p:cNvPr>
          <p:cNvSpPr txBox="1"/>
          <p:nvPr/>
        </p:nvSpPr>
        <p:spPr>
          <a:xfrm>
            <a:off x="1693329" y="3138453"/>
            <a:ext cx="9592732"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en-US"/>
            </a:defPPr>
            <a:lvl1pPr>
              <a:defRPr>
                <a:ln w="0"/>
                <a:solidFill>
                  <a:schemeClr val="dk1"/>
                </a:solidFill>
                <a:effectLst>
                  <a:outerShdw blurRad="38100" dist="25400" dir="5400000" algn="ctr" rotWithShape="0">
                    <a:srgbClr val="6E747A">
                      <a:alpha val="43000"/>
                    </a:srgbClr>
                  </a:outerShdw>
                </a:effectLst>
                <a:latin typeface="74,Bold"/>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HK" dirty="0"/>
              <a:t>GPT-3 (175B parameters): Large-scale foundation models are born. Prompting is shown to induce robust performance on natural language tasks</a:t>
            </a:r>
          </a:p>
        </p:txBody>
      </p:sp>
      <p:sp>
        <p:nvSpPr>
          <p:cNvPr id="18" name="Rounded Rectangle 17">
            <a:extLst>
              <a:ext uri="{FF2B5EF4-FFF2-40B4-BE49-F238E27FC236}">
                <a16:creationId xmlns:a16="http://schemas.microsoft.com/office/drawing/2014/main" id="{402B890A-51E2-44DB-1485-C22020D2C539}"/>
              </a:ext>
            </a:extLst>
          </p:cNvPr>
          <p:cNvSpPr/>
          <p:nvPr/>
        </p:nvSpPr>
        <p:spPr>
          <a:xfrm>
            <a:off x="833961" y="3895242"/>
            <a:ext cx="787400" cy="70163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2022</a:t>
            </a:r>
          </a:p>
        </p:txBody>
      </p:sp>
      <p:sp>
        <p:nvSpPr>
          <p:cNvPr id="20" name="TextBox 19">
            <a:extLst>
              <a:ext uri="{FF2B5EF4-FFF2-40B4-BE49-F238E27FC236}">
                <a16:creationId xmlns:a16="http://schemas.microsoft.com/office/drawing/2014/main" id="{A68F7DB7-F643-C7CD-EA76-81829808BB22}"/>
              </a:ext>
            </a:extLst>
          </p:cNvPr>
          <p:cNvSpPr txBox="1"/>
          <p:nvPr/>
        </p:nvSpPr>
        <p:spPr>
          <a:xfrm>
            <a:off x="1693327" y="4695527"/>
            <a:ext cx="9592731"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en-US"/>
            </a:defPPr>
            <a:lvl1pPr>
              <a:defRPr>
                <a:ln w="0"/>
                <a:solidFill>
                  <a:schemeClr val="dk1"/>
                </a:solidFill>
                <a:effectLst>
                  <a:outerShdw blurRad="38100" dist="25400" dir="5400000" algn="ctr" rotWithShape="0">
                    <a:srgbClr val="6E747A">
                      <a:alpha val="43000"/>
                    </a:srgbClr>
                  </a:outerShdw>
                </a:effectLst>
                <a:latin typeface="74,Bold"/>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HK" dirty="0"/>
              <a:t>GPT-4 (1T parameters?): Era of completely closed models begins; API access only</a:t>
            </a:r>
          </a:p>
          <a:p>
            <a:endParaRPr lang="en-HK" dirty="0"/>
          </a:p>
        </p:txBody>
      </p:sp>
      <p:sp>
        <p:nvSpPr>
          <p:cNvPr id="22" name="TextBox 21">
            <a:extLst>
              <a:ext uri="{FF2B5EF4-FFF2-40B4-BE49-F238E27FC236}">
                <a16:creationId xmlns:a16="http://schemas.microsoft.com/office/drawing/2014/main" id="{9E9C4474-251D-D429-8AB9-2F9E9FB3363D}"/>
              </a:ext>
            </a:extLst>
          </p:cNvPr>
          <p:cNvSpPr txBox="1"/>
          <p:nvPr/>
        </p:nvSpPr>
        <p:spPr>
          <a:xfrm>
            <a:off x="833965" y="814837"/>
            <a:ext cx="10452097" cy="646331"/>
          </a:xfrm>
          <a:prstGeom prst="rect">
            <a:avLst/>
          </a:prstGeom>
          <a:noFill/>
        </p:spPr>
        <p:txBody>
          <a:bodyPr wrap="square">
            <a:spAutoFit/>
          </a:bodyPr>
          <a:lstStyle/>
          <a:p>
            <a:r>
              <a:rPr lang="en-HK" dirty="0">
                <a:highlight>
                  <a:srgbClr val="FFFFFF"/>
                </a:highlight>
                <a:latin typeface="75,Italic"/>
              </a:rPr>
              <a:t>New Era of AI started in Nov 2022</a:t>
            </a:r>
            <a:r>
              <a:rPr lang="en-HK" sz="1800" dirty="0">
                <a:effectLst/>
                <a:highlight>
                  <a:srgbClr val="FFFFFF"/>
                </a:highlight>
                <a:latin typeface="75,Italic"/>
              </a:rPr>
              <a:t> with the Launch of Open AI GPT 3.5 since then AI has been evolving to be AI assistants </a:t>
            </a:r>
            <a:endParaRPr lang="en-HK" dirty="0">
              <a:effectLst/>
              <a:highlight>
                <a:srgbClr val="FFFFFF"/>
              </a:highlight>
            </a:endParaRPr>
          </a:p>
        </p:txBody>
      </p:sp>
      <p:sp>
        <p:nvSpPr>
          <p:cNvPr id="23" name="Rounded Rectangle 22">
            <a:extLst>
              <a:ext uri="{FF2B5EF4-FFF2-40B4-BE49-F238E27FC236}">
                <a16:creationId xmlns:a16="http://schemas.microsoft.com/office/drawing/2014/main" id="{6C8B0C30-E4CD-87C0-D383-0B1B24041657}"/>
              </a:ext>
            </a:extLst>
          </p:cNvPr>
          <p:cNvSpPr/>
          <p:nvPr/>
        </p:nvSpPr>
        <p:spPr>
          <a:xfrm>
            <a:off x="833961" y="5440890"/>
            <a:ext cx="787400" cy="95098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2024</a:t>
            </a:r>
          </a:p>
        </p:txBody>
      </p:sp>
      <p:sp>
        <p:nvSpPr>
          <p:cNvPr id="24" name="TextBox 23">
            <a:extLst>
              <a:ext uri="{FF2B5EF4-FFF2-40B4-BE49-F238E27FC236}">
                <a16:creationId xmlns:a16="http://schemas.microsoft.com/office/drawing/2014/main" id="{12E393E3-A8EA-48A3-1741-2BE5B826A553}"/>
              </a:ext>
            </a:extLst>
          </p:cNvPr>
          <p:cNvSpPr txBox="1"/>
          <p:nvPr/>
        </p:nvSpPr>
        <p:spPr>
          <a:xfrm>
            <a:off x="1693327" y="5468540"/>
            <a:ext cx="9592731"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en-US"/>
            </a:defPPr>
            <a:lvl1pPr>
              <a:defRPr>
                <a:ln w="0"/>
                <a:solidFill>
                  <a:schemeClr val="dk1"/>
                </a:solidFill>
                <a:effectLst>
                  <a:outerShdw blurRad="38100" dist="25400" dir="5400000" algn="ctr" rotWithShape="0">
                    <a:srgbClr val="6E747A">
                      <a:alpha val="43000"/>
                    </a:srgbClr>
                  </a:outerShdw>
                </a:effectLst>
                <a:latin typeface="74,Bold"/>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HK" dirty="0"/>
              <a:t>GPT-4O (SORA, GEMINI Pro 1.5): </a:t>
            </a:r>
            <a:r>
              <a:rPr lang="en-US" dirty="0"/>
              <a:t>(SORA, The era of multi-modal and highly </a:t>
            </a:r>
            <a:r>
              <a:rPr lang="en-US" dirty="0" err="1"/>
              <a:t>specialised</a:t>
            </a:r>
            <a:r>
              <a:rPr lang="en-US" dirty="0"/>
              <a:t> AI models. Enhanced integration with various data types (text, image, video, audio) and fine-tuned for specific applications and industries.</a:t>
            </a:r>
            <a:endParaRPr lang="en-HK" dirty="0"/>
          </a:p>
        </p:txBody>
      </p:sp>
    </p:spTree>
    <p:extLst>
      <p:ext uri="{BB962C8B-B14F-4D97-AF65-F5344CB8AC3E}">
        <p14:creationId xmlns:p14="http://schemas.microsoft.com/office/powerpoint/2010/main" val="3709707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10CC6B-3D4D-26F2-D184-58A5B753FDE6}"/>
              </a:ext>
            </a:extLst>
          </p:cNvPr>
          <p:cNvSpPr txBox="1"/>
          <p:nvPr/>
        </p:nvSpPr>
        <p:spPr>
          <a:xfrm>
            <a:off x="566467" y="1342599"/>
            <a:ext cx="10023895" cy="5355312"/>
          </a:xfrm>
          <a:prstGeom prst="rect">
            <a:avLst/>
          </a:prstGeom>
          <a:noFill/>
        </p:spPr>
        <p:txBody>
          <a:bodyPr wrap="square">
            <a:spAutoFit/>
          </a:bodyPr>
          <a:lstStyle/>
          <a:p>
            <a:r>
              <a:rPr lang="en-US"/>
              <a:t>GPT-1 (117M parameters): This model marks a significant milestone as the first to be trained in a 'generative' mode, a technique that involves masking portions of input text from left to right. This approach sets the foundation for the evolution of subsequent models.</a:t>
            </a:r>
          </a:p>
          <a:p>
            <a:endParaRPr lang="en-US"/>
          </a:p>
          <a:p>
            <a:r>
              <a:rPr lang="en-US"/>
              <a:t>GPT-2 (1.5B parameters): Th is model marks a transition to 'prompting,' a technique that allows for more interactive and specific responses. With relatively small and open-source models, fine-tuning becomes possible, opening up new possibilities in the field.</a:t>
            </a:r>
          </a:p>
          <a:p>
            <a:endParaRPr lang="en-US"/>
          </a:p>
          <a:p>
            <a:r>
              <a:rPr lang="en-US"/>
              <a:t>GPT-3 (175B parameters): Large-scale foundation models are born. Prompting is shown to induce robust performance on natural language tasks.</a:t>
            </a:r>
          </a:p>
          <a:p>
            <a:endParaRPr lang="en-US"/>
          </a:p>
          <a:p>
            <a:r>
              <a:rPr lang="en-US"/>
              <a:t>InstructGPT: Instruction-tuned models understand human inputs as instructions; the path to ChatGPT is paved.</a:t>
            </a:r>
          </a:p>
          <a:p>
            <a:endParaRPr lang="en-US"/>
          </a:p>
          <a:p>
            <a:r>
              <a:rPr lang="en-US"/>
              <a:t>GPT-4 (1T parameters?): Era of completely closed models begins; API access only.</a:t>
            </a:r>
          </a:p>
          <a:p>
            <a:endParaRPr lang="en-US"/>
          </a:p>
          <a:p>
            <a:r>
              <a:rPr lang="en-US"/>
              <a:t>GPT-4O (SORA, GEMINI Pro 1.5): The era of multi-modal and highly specialised AI models. Enhanced integration with various data types (text, image, video, audio) and fine-tuned for specific applications and industries.</a:t>
            </a:r>
            <a:endParaRPr lang="en-US" dirty="0"/>
          </a:p>
        </p:txBody>
      </p:sp>
      <p:sp>
        <p:nvSpPr>
          <p:cNvPr id="6" name="Title 1">
            <a:extLst>
              <a:ext uri="{FF2B5EF4-FFF2-40B4-BE49-F238E27FC236}">
                <a16:creationId xmlns:a16="http://schemas.microsoft.com/office/drawing/2014/main" id="{1593D0E4-9B30-6F0B-D2A5-B11084389CC0}"/>
              </a:ext>
            </a:extLst>
          </p:cNvPr>
          <p:cNvSpPr>
            <a:spLocks noGrp="1"/>
          </p:cNvSpPr>
          <p:nvPr>
            <p:ph type="title"/>
          </p:nvPr>
        </p:nvSpPr>
        <p:spPr>
          <a:xfrm>
            <a:off x="566467" y="34506"/>
            <a:ext cx="10515600" cy="1142544"/>
          </a:xfrm>
        </p:spPr>
        <p:txBody>
          <a:bodyPr/>
          <a:lstStyle/>
          <a:p>
            <a:r>
              <a:rPr lang="en-US" sz="4400">
                <a:latin typeface=""/>
                <a:cs typeface="Arial" panose="020B0604020202020204" pitchFamily="34" charset="0"/>
              </a:rPr>
              <a:t>Large Language Models (LLMs)</a:t>
            </a:r>
            <a:endParaRPr lang="en-US" dirty="0"/>
          </a:p>
        </p:txBody>
      </p:sp>
      <p:sp>
        <p:nvSpPr>
          <p:cNvPr id="8" name="TextBox 7">
            <a:extLst>
              <a:ext uri="{FF2B5EF4-FFF2-40B4-BE49-F238E27FC236}">
                <a16:creationId xmlns:a16="http://schemas.microsoft.com/office/drawing/2014/main" id="{F49FA722-1715-4D5F-9C06-88100D384D7F}"/>
              </a:ext>
            </a:extLst>
          </p:cNvPr>
          <p:cNvSpPr txBox="1"/>
          <p:nvPr/>
        </p:nvSpPr>
        <p:spPr>
          <a:xfrm>
            <a:off x="566467" y="942489"/>
            <a:ext cx="6098874" cy="400110"/>
          </a:xfrm>
          <a:prstGeom prst="rect">
            <a:avLst/>
          </a:prstGeom>
          <a:noFill/>
        </p:spPr>
        <p:txBody>
          <a:bodyPr wrap="square">
            <a:spAutoFit/>
          </a:bodyPr>
          <a:lstStyle/>
          <a:p>
            <a:r>
              <a:rPr lang="en-US" sz="2000"/>
              <a:t>The Evolution of AI Assistants: From GPT-1 to GPT-4o</a:t>
            </a:r>
            <a:endParaRPr lang="en-US" sz="2000" dirty="0"/>
          </a:p>
        </p:txBody>
      </p:sp>
    </p:spTree>
    <p:extLst>
      <p:ext uri="{BB962C8B-B14F-4D97-AF65-F5344CB8AC3E}">
        <p14:creationId xmlns:p14="http://schemas.microsoft.com/office/powerpoint/2010/main" val="3528170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a:latin typeface=""/>
                <a:cs typeface="Arial" panose="020B0604020202020204" pitchFamily="34" charset="0"/>
              </a:rPr>
              <a:t>Accessing Large Language Models (LLMs) </a:t>
            </a:r>
            <a:endParaRPr lang="en-US" sz="410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865952" y="1926266"/>
            <a:ext cx="10506455" cy="646331"/>
          </a:xfrm>
          <a:prstGeom prst="rect">
            <a:avLst/>
          </a:prstGeom>
          <a:noFill/>
        </p:spPr>
        <p:txBody>
          <a:bodyPr wrap="square">
            <a:spAutoFit/>
          </a:bodyPr>
          <a:lstStyle/>
          <a:p>
            <a:r>
              <a:rPr lang="en-HK" sz="1800" dirty="0">
                <a:solidFill>
                  <a:srgbClr val="7C7C7C"/>
                </a:solidFill>
                <a:effectLst/>
                <a:highlight>
                  <a:srgbClr val="FFFFFF"/>
                </a:highlight>
                <a:latin typeface="71,Italic"/>
              </a:rPr>
              <a:t>LLMs (both paid and open source) can be accessed either through public cloud providers, LLM vendors or using self-hosted company servers. </a:t>
            </a:r>
            <a:endParaRPr lang="en-HK" sz="1600" dirty="0">
              <a:effectLst/>
              <a:highlight>
                <a:srgbClr val="FFFFFF"/>
              </a:highlight>
            </a:endParaRPr>
          </a:p>
        </p:txBody>
      </p:sp>
      <p:sp>
        <p:nvSpPr>
          <p:cNvPr id="10" name="Rounded Rectangle 9">
            <a:extLst>
              <a:ext uri="{FF2B5EF4-FFF2-40B4-BE49-F238E27FC236}">
                <a16:creationId xmlns:a16="http://schemas.microsoft.com/office/drawing/2014/main" id="{1EC313D6-C4EE-8575-AA0E-0DD6B66EEE88}"/>
              </a:ext>
            </a:extLst>
          </p:cNvPr>
          <p:cNvSpPr/>
          <p:nvPr/>
        </p:nvSpPr>
        <p:spPr>
          <a:xfrm>
            <a:off x="1517846" y="4236417"/>
            <a:ext cx="1164201" cy="526774"/>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LLMs</a:t>
            </a:r>
          </a:p>
        </p:txBody>
      </p:sp>
      <p:sp>
        <p:nvSpPr>
          <p:cNvPr id="13" name="Rectangle 12">
            <a:extLst>
              <a:ext uri="{FF2B5EF4-FFF2-40B4-BE49-F238E27FC236}">
                <a16:creationId xmlns:a16="http://schemas.microsoft.com/office/drawing/2014/main" id="{B28D68EC-EFE9-C277-E060-34CBC69CC373}"/>
              </a:ext>
            </a:extLst>
          </p:cNvPr>
          <p:cNvSpPr/>
          <p:nvPr/>
        </p:nvSpPr>
        <p:spPr>
          <a:xfrm>
            <a:off x="4892356" y="2634019"/>
            <a:ext cx="4011452" cy="1379863"/>
          </a:xfrm>
          <a:prstGeom prst="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TextBox 13">
            <a:extLst>
              <a:ext uri="{FF2B5EF4-FFF2-40B4-BE49-F238E27FC236}">
                <a16:creationId xmlns:a16="http://schemas.microsoft.com/office/drawing/2014/main" id="{2ACCCF85-B00A-EECF-39C6-10D87CFF4A49}"/>
              </a:ext>
            </a:extLst>
          </p:cNvPr>
          <p:cNvSpPr txBox="1"/>
          <p:nvPr/>
        </p:nvSpPr>
        <p:spPr>
          <a:xfrm>
            <a:off x="6166798" y="2761107"/>
            <a:ext cx="2571986" cy="1200329"/>
          </a:xfrm>
          <a:prstGeom prst="rect">
            <a:avLst/>
          </a:prstGeom>
          <a:solidFill>
            <a:schemeClr val="bg2">
              <a:lumMod val="90000"/>
            </a:schemeClr>
          </a:solidFill>
        </p:spPr>
        <p:txBody>
          <a:bodyPr wrap="none" rtlCol="0">
            <a:spAutoFit/>
          </a:bodyPr>
          <a:lstStyle/>
          <a:p>
            <a:r>
              <a:rPr lang="en-US" dirty="0"/>
              <a:t>Google: Gemini</a:t>
            </a:r>
          </a:p>
          <a:p>
            <a:r>
              <a:rPr lang="en-US" dirty="0"/>
              <a:t>Open AI: GPT-3.5, GPT-4</a:t>
            </a:r>
          </a:p>
          <a:p>
            <a:r>
              <a:rPr lang="en-US" dirty="0"/>
              <a:t>Anthropic: Claude</a:t>
            </a:r>
          </a:p>
          <a:p>
            <a:r>
              <a:rPr lang="en-US" dirty="0"/>
              <a:t>Cohere: Command</a:t>
            </a:r>
          </a:p>
        </p:txBody>
      </p:sp>
      <p:sp>
        <p:nvSpPr>
          <p:cNvPr id="11" name="Rounded Rectangle 10">
            <a:extLst>
              <a:ext uri="{FF2B5EF4-FFF2-40B4-BE49-F238E27FC236}">
                <a16:creationId xmlns:a16="http://schemas.microsoft.com/office/drawing/2014/main" id="{69EAEF1C-BC42-BB92-5F2E-C97279406E5E}"/>
              </a:ext>
            </a:extLst>
          </p:cNvPr>
          <p:cNvSpPr/>
          <p:nvPr/>
        </p:nvSpPr>
        <p:spPr>
          <a:xfrm>
            <a:off x="4310256" y="3135605"/>
            <a:ext cx="1164201" cy="526774"/>
          </a:xfrm>
          <a:prstGeom prst="roundRect">
            <a:avLst>
              <a:gd name="adj" fmla="val 4881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Paid</a:t>
            </a:r>
          </a:p>
        </p:txBody>
      </p:sp>
      <p:sp>
        <p:nvSpPr>
          <p:cNvPr id="15" name="Rectangle 14">
            <a:extLst>
              <a:ext uri="{FF2B5EF4-FFF2-40B4-BE49-F238E27FC236}">
                <a16:creationId xmlns:a16="http://schemas.microsoft.com/office/drawing/2014/main" id="{7FCEB419-7B84-5E1D-BC9A-5DDB610AAFE8}"/>
              </a:ext>
            </a:extLst>
          </p:cNvPr>
          <p:cNvSpPr/>
          <p:nvPr/>
        </p:nvSpPr>
        <p:spPr>
          <a:xfrm>
            <a:off x="4892356" y="4788206"/>
            <a:ext cx="4011452" cy="1563454"/>
          </a:xfrm>
          <a:prstGeom prst="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6" name="TextBox 15">
            <a:extLst>
              <a:ext uri="{FF2B5EF4-FFF2-40B4-BE49-F238E27FC236}">
                <a16:creationId xmlns:a16="http://schemas.microsoft.com/office/drawing/2014/main" id="{78C2AC31-AE40-F934-B5D7-056E0A6E50FD}"/>
              </a:ext>
            </a:extLst>
          </p:cNvPr>
          <p:cNvSpPr txBox="1"/>
          <p:nvPr/>
        </p:nvSpPr>
        <p:spPr>
          <a:xfrm>
            <a:off x="6166798" y="5257861"/>
            <a:ext cx="2671693" cy="646331"/>
          </a:xfrm>
          <a:prstGeom prst="rect">
            <a:avLst/>
          </a:prstGeom>
          <a:solidFill>
            <a:schemeClr val="bg2">
              <a:lumMod val="90000"/>
            </a:schemeClr>
          </a:solidFill>
        </p:spPr>
        <p:txBody>
          <a:bodyPr wrap="square" rtlCol="0">
            <a:spAutoFit/>
          </a:bodyPr>
          <a:lstStyle/>
          <a:p>
            <a:r>
              <a:rPr lang="en-US" dirty="0"/>
              <a:t>Meta AI: Llama</a:t>
            </a:r>
          </a:p>
          <a:p>
            <a:r>
              <a:rPr lang="en-US" dirty="0"/>
              <a:t>Mistral AI: Mistral, </a:t>
            </a:r>
            <a:r>
              <a:rPr lang="en-US" dirty="0" err="1"/>
              <a:t>Mixtral</a:t>
            </a:r>
            <a:endParaRPr lang="en-US" dirty="0"/>
          </a:p>
        </p:txBody>
      </p:sp>
      <p:sp>
        <p:nvSpPr>
          <p:cNvPr id="12" name="Rounded Rectangle 11">
            <a:extLst>
              <a:ext uri="{FF2B5EF4-FFF2-40B4-BE49-F238E27FC236}">
                <a16:creationId xmlns:a16="http://schemas.microsoft.com/office/drawing/2014/main" id="{561438E3-EA99-B810-9816-8CC5E3CD5B16}"/>
              </a:ext>
            </a:extLst>
          </p:cNvPr>
          <p:cNvSpPr/>
          <p:nvPr/>
        </p:nvSpPr>
        <p:spPr>
          <a:xfrm>
            <a:off x="4310256" y="5257861"/>
            <a:ext cx="1781058" cy="64633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Open Source</a:t>
            </a:r>
          </a:p>
        </p:txBody>
      </p:sp>
      <p:pic>
        <p:nvPicPr>
          <p:cNvPr id="3077" name="Picture 5" descr="Azure icon PNG and SVG Vector Free Download">
            <a:extLst>
              <a:ext uri="{FF2B5EF4-FFF2-40B4-BE49-F238E27FC236}">
                <a16:creationId xmlns:a16="http://schemas.microsoft.com/office/drawing/2014/main" id="{79D1BC3F-1992-64F4-7C92-E472620C3A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9371" y="3004534"/>
            <a:ext cx="646331" cy="646331"/>
          </a:xfrm>
          <a:prstGeom prst="rect">
            <a:avLst/>
          </a:prstGeom>
          <a:noFill/>
          <a:extLst>
            <a:ext uri="{909E8E84-426E-40DD-AFC4-6F175D3DCCD1}">
              <a14:hiddenFill xmlns:a14="http://schemas.microsoft.com/office/drawing/2010/main">
                <a:solidFill>
                  <a:srgbClr val="FFFFFF"/>
                </a:solidFill>
              </a14:hiddenFill>
            </a:ext>
          </a:extLst>
        </p:spPr>
      </p:pic>
      <p:pic>
        <p:nvPicPr>
          <p:cNvPr id="3079" name="Picture 7" descr="Aws Logo Icon - Free Download Logos Logo Icons | IconScout">
            <a:extLst>
              <a:ext uri="{FF2B5EF4-FFF2-40B4-BE49-F238E27FC236}">
                <a16:creationId xmlns:a16="http://schemas.microsoft.com/office/drawing/2014/main" id="{4E4335DB-E187-6A81-6615-F57CEADC53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1265" y="2968678"/>
            <a:ext cx="830619" cy="830619"/>
          </a:xfrm>
          <a:prstGeom prst="rect">
            <a:avLst/>
          </a:prstGeom>
          <a:noFill/>
          <a:extLst>
            <a:ext uri="{909E8E84-426E-40DD-AFC4-6F175D3DCCD1}">
              <a14:hiddenFill xmlns:a14="http://schemas.microsoft.com/office/drawing/2010/main">
                <a:solidFill>
                  <a:srgbClr val="FFFFFF"/>
                </a:solidFill>
              </a14:hiddenFill>
            </a:ext>
          </a:extLst>
        </p:spPr>
      </p:pic>
      <p:pic>
        <p:nvPicPr>
          <p:cNvPr id="3083" name="Picture 11" descr="Google Cloud&quot; Icon - Download for free – Iconduck">
            <a:extLst>
              <a:ext uri="{FF2B5EF4-FFF2-40B4-BE49-F238E27FC236}">
                <a16:creationId xmlns:a16="http://schemas.microsoft.com/office/drawing/2014/main" id="{032B95B2-E316-0CF1-B0DD-A3BF63048C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29588" y="3000783"/>
            <a:ext cx="804175" cy="646332"/>
          </a:xfrm>
          <a:prstGeom prst="rect">
            <a:avLst/>
          </a:prstGeom>
          <a:noFill/>
          <a:extLst>
            <a:ext uri="{909E8E84-426E-40DD-AFC4-6F175D3DCCD1}">
              <a14:hiddenFill xmlns:a14="http://schemas.microsoft.com/office/drawing/2010/main">
                <a:solidFill>
                  <a:srgbClr val="FFFFFF"/>
                </a:solidFill>
              </a14:hiddenFill>
            </a:ext>
          </a:extLst>
        </p:spPr>
      </p:pic>
      <p:pic>
        <p:nvPicPr>
          <p:cNvPr id="3085" name="Picture 13" descr="Anyscale | Scalable Compute for AI and Python">
            <a:extLst>
              <a:ext uri="{FF2B5EF4-FFF2-40B4-BE49-F238E27FC236}">
                <a16:creationId xmlns:a16="http://schemas.microsoft.com/office/drawing/2014/main" id="{2AD897BA-A54E-CD83-52F3-F5D68174E4B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309" t="7650" r="19289" b="7383"/>
          <a:stretch/>
        </p:blipFill>
        <p:spPr bwMode="auto">
          <a:xfrm>
            <a:off x="8979292" y="5129352"/>
            <a:ext cx="954869" cy="88115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5" descr="Groq Logo &amp; Brand Assets (SVG, PNG and vector) - Brandfetch">
            <a:extLst>
              <a:ext uri="{FF2B5EF4-FFF2-40B4-BE49-F238E27FC236}">
                <a16:creationId xmlns:a16="http://schemas.microsoft.com/office/drawing/2014/main" id="{31DE3121-A88E-C1A0-EBAA-047FF3B411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63141" y="5319377"/>
            <a:ext cx="876857" cy="323341"/>
          </a:xfrm>
          <a:prstGeom prst="rect">
            <a:avLst/>
          </a:prstGeom>
          <a:noFill/>
          <a:extLst>
            <a:ext uri="{909E8E84-426E-40DD-AFC4-6F175D3DCCD1}">
              <a14:hiddenFill xmlns:a14="http://schemas.microsoft.com/office/drawing/2010/main">
                <a:solidFill>
                  <a:srgbClr val="FFFFFF"/>
                </a:solidFill>
              </a14:hiddenFill>
            </a:ext>
          </a:extLst>
        </p:spPr>
      </p:pic>
      <p:pic>
        <p:nvPicPr>
          <p:cNvPr id="3089" name="Picture 17" descr="Jobs at Together AI | Kleiner Perkins">
            <a:extLst>
              <a:ext uri="{FF2B5EF4-FFF2-40B4-BE49-F238E27FC236}">
                <a16:creationId xmlns:a16="http://schemas.microsoft.com/office/drawing/2014/main" id="{FC0B7B63-0F53-FAAD-ED71-94176EE0AED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47706" y="5129352"/>
            <a:ext cx="1136586" cy="629252"/>
          </a:xfrm>
          <a:prstGeom prst="rect">
            <a:avLst/>
          </a:prstGeom>
          <a:noFill/>
          <a:extLst>
            <a:ext uri="{909E8E84-426E-40DD-AFC4-6F175D3DCCD1}">
              <a14:hiddenFill xmlns:a14="http://schemas.microsoft.com/office/drawing/2010/main">
                <a:solidFill>
                  <a:srgbClr val="FFFFFF"/>
                </a:solidFill>
              </a14:hiddenFill>
            </a:ext>
          </a:extLst>
        </p:spPr>
      </p:pic>
      <p:cxnSp>
        <p:nvCxnSpPr>
          <p:cNvPr id="30" name="Curved Connector 29">
            <a:extLst>
              <a:ext uri="{FF2B5EF4-FFF2-40B4-BE49-F238E27FC236}">
                <a16:creationId xmlns:a16="http://schemas.microsoft.com/office/drawing/2014/main" id="{338B4243-059F-2329-D4B5-0727E4CC8743}"/>
              </a:ext>
            </a:extLst>
          </p:cNvPr>
          <p:cNvCxnSpPr>
            <a:stCxn id="10" idx="3"/>
            <a:endCxn id="11" idx="1"/>
          </p:cNvCxnSpPr>
          <p:nvPr/>
        </p:nvCxnSpPr>
        <p:spPr>
          <a:xfrm flipV="1">
            <a:off x="2682047" y="3398992"/>
            <a:ext cx="1628209" cy="1100812"/>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urved Connector 30">
            <a:extLst>
              <a:ext uri="{FF2B5EF4-FFF2-40B4-BE49-F238E27FC236}">
                <a16:creationId xmlns:a16="http://schemas.microsoft.com/office/drawing/2014/main" id="{C9B59DCA-6A43-AE57-7FE4-FFCCD284C83B}"/>
              </a:ext>
            </a:extLst>
          </p:cNvPr>
          <p:cNvCxnSpPr>
            <a:cxnSpLocks/>
            <a:stCxn id="10" idx="3"/>
            <a:endCxn id="12" idx="1"/>
          </p:cNvCxnSpPr>
          <p:nvPr/>
        </p:nvCxnSpPr>
        <p:spPr>
          <a:xfrm>
            <a:off x="2682047" y="4499804"/>
            <a:ext cx="1628209" cy="1081222"/>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9312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dirty="0">
                <a:latin typeface=""/>
                <a:cs typeface="Arial" panose="020B0604020202020204" pitchFamily="34" charset="0"/>
              </a:rPr>
              <a:t>Accessing LLMs using </a:t>
            </a:r>
            <a:r>
              <a:rPr lang="en-HK" sz="4100" dirty="0" err="1">
                <a:latin typeface=""/>
                <a:cs typeface="Arial" panose="020B0604020202020204" pitchFamily="34" charset="0"/>
              </a:rPr>
              <a:t>Anyscale</a:t>
            </a:r>
            <a:r>
              <a:rPr lang="en-HK" sz="4100" dirty="0">
                <a:latin typeface=""/>
                <a:cs typeface="Arial" panose="020B0604020202020204" pitchFamily="34" charset="0"/>
              </a:rPr>
              <a:t> APIs</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1376917" y="1926266"/>
            <a:ext cx="9620470" cy="338875"/>
          </a:xfrm>
          <a:prstGeom prst="rect">
            <a:avLst/>
          </a:prstGeom>
          <a:noFill/>
        </p:spPr>
        <p:txBody>
          <a:bodyPr wrap="square">
            <a:spAutoFit/>
          </a:bodyPr>
          <a:lstStyle/>
          <a:p>
            <a:pPr defTabSz="813816">
              <a:spcAft>
                <a:spcPts val="600"/>
              </a:spcAft>
            </a:pPr>
            <a:r>
              <a:rPr lang="en-HK" sz="1602" kern="1200">
                <a:solidFill>
                  <a:srgbClr val="555555"/>
                </a:solidFill>
                <a:highlight>
                  <a:srgbClr val="FFFFFF"/>
                </a:highlight>
                <a:latin typeface="71,Italic"/>
                <a:ea typeface="+mn-ea"/>
                <a:cs typeface="+mn-cs"/>
              </a:rPr>
              <a:t>Anyscale provides fast access to a host of open-source large language models. </a:t>
            </a:r>
            <a:endParaRPr lang="en-HK">
              <a:effectLst/>
              <a:highlight>
                <a:srgbClr val="FFFFFF"/>
              </a:highlight>
            </a:endParaRPr>
          </a:p>
        </p:txBody>
      </p:sp>
      <p:pic>
        <p:nvPicPr>
          <p:cNvPr id="3073" name="Picture 1" descr="page10image58364384">
            <a:extLst>
              <a:ext uri="{FF2B5EF4-FFF2-40B4-BE49-F238E27FC236}">
                <a16:creationId xmlns:a16="http://schemas.microsoft.com/office/drawing/2014/main" id="{8ED6838E-BF98-A6D6-5BAB-2ECFAE98F1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4612" y="2430527"/>
            <a:ext cx="2544608" cy="385326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page10image58366464">
            <a:extLst>
              <a:ext uri="{FF2B5EF4-FFF2-40B4-BE49-F238E27FC236}">
                <a16:creationId xmlns:a16="http://schemas.microsoft.com/office/drawing/2014/main" id="{4014175A-0DCB-8339-E44C-7DAF68A65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989" y="2812006"/>
            <a:ext cx="2487854" cy="387891"/>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page10image41518848">
            <a:extLst>
              <a:ext uri="{FF2B5EF4-FFF2-40B4-BE49-F238E27FC236}">
                <a16:creationId xmlns:a16="http://schemas.microsoft.com/office/drawing/2014/main" id="{0AB44408-5235-664D-1278-DEE217117D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7597" y="2874241"/>
            <a:ext cx="923448" cy="131473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0ED1998-CCAB-A5B1-8014-4A6D4869A1C0}"/>
              </a:ext>
            </a:extLst>
          </p:cNvPr>
          <p:cNvSpPr txBox="1"/>
          <p:nvPr/>
        </p:nvSpPr>
        <p:spPr>
          <a:xfrm>
            <a:off x="4719421" y="3199897"/>
            <a:ext cx="6122995" cy="825930"/>
          </a:xfrm>
          <a:prstGeom prst="rect">
            <a:avLst/>
          </a:prstGeom>
          <a:noFill/>
        </p:spPr>
        <p:txBody>
          <a:bodyPr wrap="square">
            <a:spAutoFit/>
          </a:bodyPr>
          <a:lstStyle/>
          <a:p>
            <a:pPr defTabSz="813816">
              <a:spcAft>
                <a:spcPts val="600"/>
              </a:spcAft>
            </a:pPr>
            <a:r>
              <a:rPr lang="en-HK" sz="1602" kern="1200" dirty="0">
                <a:solidFill>
                  <a:srgbClr val="555555"/>
                </a:solidFill>
                <a:highlight>
                  <a:srgbClr val="FFFFFF"/>
                </a:highlight>
                <a:latin typeface="69"/>
                <a:ea typeface="+mn-ea"/>
                <a:cs typeface="+mn-cs"/>
              </a:rPr>
              <a:t>In this tutorial, I used Mistral 7B Instruct and </a:t>
            </a:r>
            <a:r>
              <a:rPr lang="en-HK" sz="1602" kern="1200" dirty="0" err="1">
                <a:solidFill>
                  <a:srgbClr val="555555"/>
                </a:solidFill>
                <a:highlight>
                  <a:srgbClr val="FFFFFF"/>
                </a:highlight>
                <a:latin typeface="69"/>
                <a:ea typeface="+mn-ea"/>
                <a:cs typeface="+mn-cs"/>
              </a:rPr>
              <a:t>NeuralHermes</a:t>
            </a:r>
            <a:r>
              <a:rPr lang="en-HK" sz="1602" kern="1200" dirty="0">
                <a:solidFill>
                  <a:srgbClr val="555555"/>
                </a:solidFill>
                <a:highlight>
                  <a:srgbClr val="FFFFFF"/>
                </a:highlight>
                <a:latin typeface="69"/>
                <a:ea typeface="+mn-ea"/>
                <a:cs typeface="+mn-cs"/>
              </a:rPr>
              <a:t> 2.5. These models are priced at $0.15 per 1 million tokens. Both models have excellent reasoning capabilities and are popular enterprise-grade LLMs. </a:t>
            </a:r>
            <a:endParaRPr lang="en-HK" dirty="0">
              <a:effectLst/>
              <a:highlight>
                <a:srgbClr val="FFFFFF"/>
              </a:highlight>
            </a:endParaRPr>
          </a:p>
        </p:txBody>
      </p:sp>
      <p:pic>
        <p:nvPicPr>
          <p:cNvPr id="9" name="Picture 2" descr="page10image58366464">
            <a:extLst>
              <a:ext uri="{FF2B5EF4-FFF2-40B4-BE49-F238E27FC236}">
                <a16:creationId xmlns:a16="http://schemas.microsoft.com/office/drawing/2014/main" id="{D4055FEF-5A05-1E99-4419-0A1BD5C019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1366" y="3969267"/>
            <a:ext cx="2487854" cy="387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788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dirty="0">
                <a:latin typeface=""/>
                <a:cs typeface="Arial" panose="020B0604020202020204" pitchFamily="34" charset="0"/>
              </a:rPr>
              <a:t>Accessing LLMs using </a:t>
            </a:r>
            <a:r>
              <a:rPr lang="en-HK" sz="4100" dirty="0" err="1">
                <a:latin typeface=""/>
                <a:cs typeface="Arial" panose="020B0604020202020204" pitchFamily="34" charset="0"/>
              </a:rPr>
              <a:t>Anyscale</a:t>
            </a:r>
            <a:r>
              <a:rPr lang="en-HK" sz="4100" dirty="0">
                <a:latin typeface=""/>
                <a:cs typeface="Arial" panose="020B0604020202020204" pitchFamily="34" charset="0"/>
              </a:rPr>
              <a:t> APIs</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1376917" y="1926266"/>
            <a:ext cx="9620470" cy="646331"/>
          </a:xfrm>
          <a:prstGeom prst="rect">
            <a:avLst/>
          </a:prstGeom>
          <a:noFill/>
        </p:spPr>
        <p:txBody>
          <a:bodyPr wrap="square">
            <a:spAutoFit/>
          </a:bodyPr>
          <a:lstStyle/>
          <a:p>
            <a:r>
              <a:rPr lang="en-HK" sz="1800" dirty="0">
                <a:effectLst/>
                <a:highlight>
                  <a:srgbClr val="FFFFFF"/>
                </a:highlight>
                <a:latin typeface="75,Italic"/>
              </a:rPr>
              <a:t>A token refers to a segment or piece of data, such as a word, punctuation, or other meaningful element, into which input text is divided for processing by the model. </a:t>
            </a:r>
            <a:endParaRPr lang="en-HK" sz="1600" dirty="0">
              <a:effectLst/>
              <a:highlight>
                <a:srgbClr val="FFFFFF"/>
              </a:highlight>
            </a:endParaRPr>
          </a:p>
        </p:txBody>
      </p:sp>
      <p:sp>
        <p:nvSpPr>
          <p:cNvPr id="3" name="Rectangle 2">
            <a:extLst>
              <a:ext uri="{FF2B5EF4-FFF2-40B4-BE49-F238E27FC236}">
                <a16:creationId xmlns:a16="http://schemas.microsoft.com/office/drawing/2014/main" id="{429B7824-71DC-AFEE-1DA7-EFFD19B099DC}"/>
              </a:ext>
            </a:extLst>
          </p:cNvPr>
          <p:cNvSpPr/>
          <p:nvPr/>
        </p:nvSpPr>
        <p:spPr>
          <a:xfrm>
            <a:off x="841248" y="2802835"/>
            <a:ext cx="7428109" cy="1498212"/>
          </a:xfrm>
          <a:prstGeom prst="rect">
            <a:avLst/>
          </a:prstGeom>
          <a:ln w="38100">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B2BBF4BE-0837-D761-E418-55B90EE7DD09}"/>
              </a:ext>
            </a:extLst>
          </p:cNvPr>
          <p:cNvSpPr txBox="1"/>
          <p:nvPr/>
        </p:nvSpPr>
        <p:spPr>
          <a:xfrm>
            <a:off x="865953" y="2890007"/>
            <a:ext cx="6313716" cy="369332"/>
          </a:xfrm>
          <a:prstGeom prst="rect">
            <a:avLst/>
          </a:prstGeom>
          <a:noFill/>
        </p:spPr>
        <p:txBody>
          <a:bodyPr wrap="none" rtlCol="0">
            <a:spAutoFit/>
          </a:bodyPr>
          <a:lstStyle/>
          <a:p>
            <a:r>
              <a:rPr lang="en-US" dirty="0">
                <a:solidFill>
                  <a:schemeClr val="bg2">
                    <a:lumMod val="50000"/>
                  </a:schemeClr>
                </a:solidFill>
              </a:rPr>
              <a:t>The movie was awesome. Overall, the experience was positive.</a:t>
            </a:r>
          </a:p>
        </p:txBody>
      </p:sp>
      <p:sp>
        <p:nvSpPr>
          <p:cNvPr id="5" name="TextBox 4">
            <a:extLst>
              <a:ext uri="{FF2B5EF4-FFF2-40B4-BE49-F238E27FC236}">
                <a16:creationId xmlns:a16="http://schemas.microsoft.com/office/drawing/2014/main" id="{BC66CD3E-5C12-1A0E-BCF8-5F51D08F4165}"/>
              </a:ext>
            </a:extLst>
          </p:cNvPr>
          <p:cNvSpPr txBox="1"/>
          <p:nvPr/>
        </p:nvSpPr>
        <p:spPr>
          <a:xfrm>
            <a:off x="880515" y="4429004"/>
            <a:ext cx="755373" cy="369332"/>
          </a:xfrm>
          <a:prstGeom prst="rect">
            <a:avLst/>
          </a:prstGeom>
          <a:solidFill>
            <a:schemeClr val="bg2"/>
          </a:solidFill>
          <a:ln>
            <a:noFill/>
          </a:ln>
        </p:spPr>
        <p:txBody>
          <a:bodyPr wrap="square" rtlCol="0">
            <a:spAutoFit/>
          </a:bodyPr>
          <a:lstStyle/>
          <a:p>
            <a:r>
              <a:rPr lang="en-US" dirty="0">
                <a:solidFill>
                  <a:schemeClr val="bg2">
                    <a:lumMod val="50000"/>
                  </a:schemeClr>
                </a:solidFill>
              </a:rPr>
              <a:t>Clear</a:t>
            </a:r>
          </a:p>
        </p:txBody>
      </p:sp>
      <p:sp>
        <p:nvSpPr>
          <p:cNvPr id="10" name="TextBox 9">
            <a:extLst>
              <a:ext uri="{FF2B5EF4-FFF2-40B4-BE49-F238E27FC236}">
                <a16:creationId xmlns:a16="http://schemas.microsoft.com/office/drawing/2014/main" id="{844B4878-F5D9-D610-67CD-2B923420514F}"/>
              </a:ext>
            </a:extLst>
          </p:cNvPr>
          <p:cNvSpPr txBox="1"/>
          <p:nvPr/>
        </p:nvSpPr>
        <p:spPr>
          <a:xfrm>
            <a:off x="1894307" y="4422376"/>
            <a:ext cx="1669773" cy="369332"/>
          </a:xfrm>
          <a:prstGeom prst="rect">
            <a:avLst/>
          </a:prstGeom>
          <a:solidFill>
            <a:schemeClr val="bg2"/>
          </a:solidFill>
          <a:ln>
            <a:noFill/>
          </a:ln>
        </p:spPr>
        <p:txBody>
          <a:bodyPr wrap="square" rtlCol="0">
            <a:spAutoFit/>
          </a:bodyPr>
          <a:lstStyle/>
          <a:p>
            <a:r>
              <a:rPr lang="en-US" dirty="0">
                <a:solidFill>
                  <a:schemeClr val="bg2">
                    <a:lumMod val="50000"/>
                  </a:schemeClr>
                </a:solidFill>
              </a:rPr>
              <a:t>Show example</a:t>
            </a:r>
          </a:p>
        </p:txBody>
      </p:sp>
      <p:sp>
        <p:nvSpPr>
          <p:cNvPr id="11" name="TextBox 10">
            <a:extLst>
              <a:ext uri="{FF2B5EF4-FFF2-40B4-BE49-F238E27FC236}">
                <a16:creationId xmlns:a16="http://schemas.microsoft.com/office/drawing/2014/main" id="{B63D2407-D82B-CB34-3B5C-F798BBEA3EB2}"/>
              </a:ext>
            </a:extLst>
          </p:cNvPr>
          <p:cNvSpPr txBox="1"/>
          <p:nvPr/>
        </p:nvSpPr>
        <p:spPr>
          <a:xfrm>
            <a:off x="865953" y="5001297"/>
            <a:ext cx="1028354" cy="369332"/>
          </a:xfrm>
          <a:prstGeom prst="rect">
            <a:avLst/>
          </a:prstGeom>
          <a:noFill/>
        </p:spPr>
        <p:txBody>
          <a:bodyPr wrap="square" rtlCol="0">
            <a:spAutoFit/>
          </a:bodyPr>
          <a:lstStyle/>
          <a:p>
            <a:r>
              <a:rPr lang="en-US" b="1" dirty="0"/>
              <a:t>Tokens</a:t>
            </a:r>
          </a:p>
        </p:txBody>
      </p:sp>
      <p:sp>
        <p:nvSpPr>
          <p:cNvPr id="12" name="TextBox 11">
            <a:extLst>
              <a:ext uri="{FF2B5EF4-FFF2-40B4-BE49-F238E27FC236}">
                <a16:creationId xmlns:a16="http://schemas.microsoft.com/office/drawing/2014/main" id="{38BB4500-555D-A0E0-06AE-9F18E8EB749E}"/>
              </a:ext>
            </a:extLst>
          </p:cNvPr>
          <p:cNvSpPr txBox="1"/>
          <p:nvPr/>
        </p:nvSpPr>
        <p:spPr>
          <a:xfrm>
            <a:off x="2535726" y="5001297"/>
            <a:ext cx="1505432" cy="369332"/>
          </a:xfrm>
          <a:prstGeom prst="rect">
            <a:avLst/>
          </a:prstGeom>
          <a:noFill/>
        </p:spPr>
        <p:txBody>
          <a:bodyPr wrap="square" rtlCol="0">
            <a:spAutoFit/>
          </a:bodyPr>
          <a:lstStyle/>
          <a:p>
            <a:r>
              <a:rPr lang="en-US" b="1" dirty="0"/>
              <a:t>Characters</a:t>
            </a:r>
          </a:p>
        </p:txBody>
      </p:sp>
      <p:sp>
        <p:nvSpPr>
          <p:cNvPr id="13" name="TextBox 12">
            <a:extLst>
              <a:ext uri="{FF2B5EF4-FFF2-40B4-BE49-F238E27FC236}">
                <a16:creationId xmlns:a16="http://schemas.microsoft.com/office/drawing/2014/main" id="{541ED14A-E5D0-4533-74A4-980F0781DF3E}"/>
              </a:ext>
            </a:extLst>
          </p:cNvPr>
          <p:cNvSpPr txBox="1"/>
          <p:nvPr/>
        </p:nvSpPr>
        <p:spPr>
          <a:xfrm>
            <a:off x="880516" y="5389342"/>
            <a:ext cx="1028354" cy="523220"/>
          </a:xfrm>
          <a:prstGeom prst="rect">
            <a:avLst/>
          </a:prstGeom>
          <a:noFill/>
        </p:spPr>
        <p:txBody>
          <a:bodyPr wrap="square" rtlCol="0">
            <a:spAutoFit/>
          </a:bodyPr>
          <a:lstStyle/>
          <a:p>
            <a:r>
              <a:rPr lang="en-US" sz="2800" dirty="0"/>
              <a:t>12</a:t>
            </a:r>
          </a:p>
        </p:txBody>
      </p:sp>
      <p:sp>
        <p:nvSpPr>
          <p:cNvPr id="14" name="TextBox 13">
            <a:extLst>
              <a:ext uri="{FF2B5EF4-FFF2-40B4-BE49-F238E27FC236}">
                <a16:creationId xmlns:a16="http://schemas.microsoft.com/office/drawing/2014/main" id="{854DB47B-7D15-A6B5-A701-8D26DE9AE68A}"/>
              </a:ext>
            </a:extLst>
          </p:cNvPr>
          <p:cNvSpPr txBox="1"/>
          <p:nvPr/>
        </p:nvSpPr>
        <p:spPr>
          <a:xfrm>
            <a:off x="2535726" y="5389342"/>
            <a:ext cx="1028354" cy="523220"/>
          </a:xfrm>
          <a:prstGeom prst="rect">
            <a:avLst/>
          </a:prstGeom>
          <a:noFill/>
        </p:spPr>
        <p:txBody>
          <a:bodyPr wrap="square" rtlCol="0">
            <a:spAutoFit/>
          </a:bodyPr>
          <a:lstStyle/>
          <a:p>
            <a:r>
              <a:rPr lang="en-US" sz="2800" dirty="0"/>
              <a:t>60</a:t>
            </a:r>
          </a:p>
        </p:txBody>
      </p:sp>
      <p:sp>
        <p:nvSpPr>
          <p:cNvPr id="15" name="Rectangle 14">
            <a:extLst>
              <a:ext uri="{FF2B5EF4-FFF2-40B4-BE49-F238E27FC236}">
                <a16:creationId xmlns:a16="http://schemas.microsoft.com/office/drawing/2014/main" id="{C3F0833B-0417-56EC-4104-63E0A7B27F57}"/>
              </a:ext>
            </a:extLst>
          </p:cNvPr>
          <p:cNvSpPr/>
          <p:nvPr/>
        </p:nvSpPr>
        <p:spPr>
          <a:xfrm>
            <a:off x="880515" y="5934811"/>
            <a:ext cx="7388842" cy="667157"/>
          </a:xfrm>
          <a:prstGeom prst="rect">
            <a:avLst/>
          </a:prstGeom>
          <a:solidFill>
            <a:srgbClr val="F8F6FC"/>
          </a:solidFill>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6" name="TextBox 15">
            <a:extLst>
              <a:ext uri="{FF2B5EF4-FFF2-40B4-BE49-F238E27FC236}">
                <a16:creationId xmlns:a16="http://schemas.microsoft.com/office/drawing/2014/main" id="{8762716E-5C8A-75BF-850E-C640333C9F9D}"/>
              </a:ext>
            </a:extLst>
          </p:cNvPr>
          <p:cNvSpPr txBox="1"/>
          <p:nvPr/>
        </p:nvSpPr>
        <p:spPr>
          <a:xfrm>
            <a:off x="884300" y="5968263"/>
            <a:ext cx="6717608" cy="369332"/>
          </a:xfrm>
          <a:prstGeom prst="rect">
            <a:avLst/>
          </a:prstGeom>
          <a:solidFill>
            <a:schemeClr val="lt1"/>
          </a:solidFill>
        </p:spPr>
        <p:txBody>
          <a:bodyPr wrap="none" rtlCol="0">
            <a:spAutoFit/>
          </a:bodyPr>
          <a:lstStyle/>
          <a:p>
            <a:r>
              <a:rPr lang="en-US" b="1" dirty="0">
                <a:solidFill>
                  <a:schemeClr val="bg1"/>
                </a:solidFill>
                <a:highlight>
                  <a:srgbClr val="800080"/>
                </a:highlight>
              </a:rPr>
              <a:t>The</a:t>
            </a:r>
            <a:r>
              <a:rPr lang="en-US" b="1" dirty="0">
                <a:solidFill>
                  <a:schemeClr val="bg1"/>
                </a:solidFill>
              </a:rPr>
              <a:t> </a:t>
            </a:r>
            <a:r>
              <a:rPr lang="en-US" b="1" dirty="0">
                <a:highlight>
                  <a:srgbClr val="00FF00"/>
                </a:highlight>
              </a:rPr>
              <a:t>movie</a:t>
            </a:r>
            <a:r>
              <a:rPr lang="en-US" b="1" dirty="0">
                <a:solidFill>
                  <a:schemeClr val="bg1"/>
                </a:solidFill>
              </a:rPr>
              <a:t> </a:t>
            </a:r>
            <a:r>
              <a:rPr lang="en-US" b="1" dirty="0">
                <a:highlight>
                  <a:srgbClr val="FFFF00"/>
                </a:highlight>
              </a:rPr>
              <a:t>was</a:t>
            </a:r>
            <a:r>
              <a:rPr lang="en-US" b="1" dirty="0">
                <a:solidFill>
                  <a:schemeClr val="bg1"/>
                </a:solidFill>
              </a:rPr>
              <a:t> </a:t>
            </a:r>
            <a:r>
              <a:rPr lang="en-US" b="1" dirty="0">
                <a:solidFill>
                  <a:schemeClr val="bg1"/>
                </a:solidFill>
                <a:highlight>
                  <a:srgbClr val="FF00FF"/>
                </a:highlight>
              </a:rPr>
              <a:t>awesome</a:t>
            </a:r>
            <a:r>
              <a:rPr lang="en-US" b="1" dirty="0">
                <a:highlight>
                  <a:srgbClr val="00FF00"/>
                </a:highlight>
              </a:rPr>
              <a:t>. </a:t>
            </a:r>
            <a:r>
              <a:rPr lang="en-US" b="1" dirty="0">
                <a:solidFill>
                  <a:schemeClr val="bg1"/>
                </a:solidFill>
                <a:highlight>
                  <a:srgbClr val="800080"/>
                </a:highlight>
              </a:rPr>
              <a:t>Overall</a:t>
            </a:r>
            <a:r>
              <a:rPr lang="en-US" b="1" dirty="0">
                <a:highlight>
                  <a:srgbClr val="00FF00"/>
                </a:highlight>
              </a:rPr>
              <a:t>, </a:t>
            </a:r>
            <a:r>
              <a:rPr lang="en-US" b="1" dirty="0">
                <a:highlight>
                  <a:srgbClr val="FFFF00"/>
                </a:highlight>
              </a:rPr>
              <a:t>the</a:t>
            </a:r>
            <a:r>
              <a:rPr lang="en-US" b="1" dirty="0">
                <a:solidFill>
                  <a:schemeClr val="bg1"/>
                </a:solidFill>
              </a:rPr>
              <a:t> </a:t>
            </a:r>
            <a:r>
              <a:rPr lang="en-US" b="1" dirty="0">
                <a:solidFill>
                  <a:schemeClr val="bg1"/>
                </a:solidFill>
                <a:highlight>
                  <a:srgbClr val="FF00FF"/>
                </a:highlight>
              </a:rPr>
              <a:t>experience</a:t>
            </a:r>
            <a:r>
              <a:rPr lang="en-US" b="1" dirty="0">
                <a:solidFill>
                  <a:schemeClr val="bg1"/>
                </a:solidFill>
              </a:rPr>
              <a:t> </a:t>
            </a:r>
            <a:r>
              <a:rPr lang="en-US" b="1" dirty="0">
                <a:highlight>
                  <a:srgbClr val="00FFFF"/>
                </a:highlight>
              </a:rPr>
              <a:t>was</a:t>
            </a:r>
            <a:r>
              <a:rPr lang="en-US" b="1" dirty="0">
                <a:solidFill>
                  <a:schemeClr val="bg1"/>
                </a:solidFill>
              </a:rPr>
              <a:t> </a:t>
            </a:r>
            <a:r>
              <a:rPr lang="en-US" b="1" dirty="0">
                <a:solidFill>
                  <a:schemeClr val="bg1"/>
                </a:solidFill>
                <a:highlight>
                  <a:srgbClr val="800080"/>
                </a:highlight>
              </a:rPr>
              <a:t>positive</a:t>
            </a:r>
            <a:r>
              <a:rPr lang="en-US" b="1" dirty="0">
                <a:solidFill>
                  <a:schemeClr val="bg1"/>
                </a:solidFill>
                <a:highlight>
                  <a:srgbClr val="00FF00"/>
                </a:highlight>
              </a:rPr>
              <a:t>.</a:t>
            </a:r>
          </a:p>
        </p:txBody>
      </p:sp>
      <p:sp>
        <p:nvSpPr>
          <p:cNvPr id="19" name="Rounded Rectangle 18">
            <a:extLst>
              <a:ext uri="{FF2B5EF4-FFF2-40B4-BE49-F238E27FC236}">
                <a16:creationId xmlns:a16="http://schemas.microsoft.com/office/drawing/2014/main" id="{D85AEDB4-8A2D-C653-E979-1C6DECB3D8CE}"/>
              </a:ext>
            </a:extLst>
          </p:cNvPr>
          <p:cNvSpPr/>
          <p:nvPr/>
        </p:nvSpPr>
        <p:spPr>
          <a:xfrm>
            <a:off x="9184510" y="4606248"/>
            <a:ext cx="1113183" cy="497289"/>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b="1" dirty="0"/>
              <a:t>LLM</a:t>
            </a:r>
          </a:p>
        </p:txBody>
      </p:sp>
      <p:cxnSp>
        <p:nvCxnSpPr>
          <p:cNvPr id="21" name="Curved Connector 20">
            <a:extLst>
              <a:ext uri="{FF2B5EF4-FFF2-40B4-BE49-F238E27FC236}">
                <a16:creationId xmlns:a16="http://schemas.microsoft.com/office/drawing/2014/main" id="{419A1686-2734-445D-B538-4C96ABC5BDDD}"/>
              </a:ext>
            </a:extLst>
          </p:cNvPr>
          <p:cNvCxnSpPr>
            <a:cxnSpLocks/>
            <a:stCxn id="3" idx="3"/>
            <a:endCxn id="19" idx="0"/>
          </p:cNvCxnSpPr>
          <p:nvPr/>
        </p:nvCxnSpPr>
        <p:spPr>
          <a:xfrm>
            <a:off x="8269357" y="3551941"/>
            <a:ext cx="1471745" cy="1054307"/>
          </a:xfrm>
          <a:prstGeom prst="curvedConnector2">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22" name="Curved Connector 21">
            <a:extLst>
              <a:ext uri="{FF2B5EF4-FFF2-40B4-BE49-F238E27FC236}">
                <a16:creationId xmlns:a16="http://schemas.microsoft.com/office/drawing/2014/main" id="{D0F46149-713E-896E-A1C0-5198F74E433A}"/>
              </a:ext>
            </a:extLst>
          </p:cNvPr>
          <p:cNvCxnSpPr>
            <a:cxnSpLocks/>
            <a:stCxn id="19" idx="2"/>
            <a:endCxn id="15" idx="3"/>
          </p:cNvCxnSpPr>
          <p:nvPr/>
        </p:nvCxnSpPr>
        <p:spPr>
          <a:xfrm rot="5400000">
            <a:off x="8422804" y="4950091"/>
            <a:ext cx="1164853" cy="1471745"/>
          </a:xfrm>
          <a:prstGeom prst="curvedConnector2">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CCB6918-9574-58F9-DF00-6725FEFCBB38}"/>
              </a:ext>
            </a:extLst>
          </p:cNvPr>
          <p:cNvSpPr txBox="1"/>
          <p:nvPr/>
        </p:nvSpPr>
        <p:spPr>
          <a:xfrm>
            <a:off x="10323444" y="4577167"/>
            <a:ext cx="1997765" cy="646331"/>
          </a:xfrm>
          <a:prstGeom prst="rect">
            <a:avLst/>
          </a:prstGeom>
          <a:noFill/>
        </p:spPr>
        <p:txBody>
          <a:bodyPr wrap="square">
            <a:spAutoFit/>
          </a:bodyPr>
          <a:lstStyle/>
          <a:p>
            <a:r>
              <a:rPr lang="en-HK" sz="1800" dirty="0">
                <a:effectLst/>
                <a:highlight>
                  <a:srgbClr val="FFFFFF"/>
                </a:highlight>
                <a:latin typeface="73"/>
              </a:rPr>
              <a:t>Parses sentences as tokens </a:t>
            </a:r>
            <a:endParaRPr lang="en-HK" dirty="0">
              <a:effectLst/>
              <a:highlight>
                <a:srgbClr val="FFFFFF"/>
              </a:highlight>
            </a:endParaRPr>
          </a:p>
        </p:txBody>
      </p:sp>
    </p:spTree>
    <p:extLst>
      <p:ext uri="{BB962C8B-B14F-4D97-AF65-F5344CB8AC3E}">
        <p14:creationId xmlns:p14="http://schemas.microsoft.com/office/powerpoint/2010/main" val="1161002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dirty="0">
                <a:latin typeface=""/>
                <a:cs typeface="Arial" panose="020B0604020202020204" pitchFamily="34" charset="0"/>
              </a:rPr>
              <a:t>Accessing LLMs using </a:t>
            </a:r>
            <a:r>
              <a:rPr lang="en-HK" sz="4100" dirty="0" err="1">
                <a:latin typeface=""/>
                <a:cs typeface="Arial" panose="020B0604020202020204" pitchFamily="34" charset="0"/>
              </a:rPr>
              <a:t>Anyscale</a:t>
            </a:r>
            <a:r>
              <a:rPr lang="en-HK" sz="4100" dirty="0">
                <a:latin typeface=""/>
                <a:cs typeface="Arial" panose="020B0604020202020204" pitchFamily="34" charset="0"/>
              </a:rPr>
              <a:t> APIs</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865953" y="1856317"/>
            <a:ext cx="10451592" cy="646331"/>
          </a:xfrm>
          <a:prstGeom prst="rect">
            <a:avLst/>
          </a:prstGeom>
          <a:noFill/>
        </p:spPr>
        <p:txBody>
          <a:bodyPr wrap="square">
            <a:spAutoFit/>
          </a:bodyPr>
          <a:lstStyle/>
          <a:p>
            <a:r>
              <a:rPr lang="en-HK" sz="1800" dirty="0">
                <a:effectLst/>
                <a:highlight>
                  <a:srgbClr val="FFFFFF"/>
                </a:highlight>
                <a:latin typeface="75,Italic"/>
              </a:rPr>
              <a:t>The </a:t>
            </a:r>
            <a:r>
              <a:rPr lang="en-HK" sz="1800" dirty="0" err="1">
                <a:effectLst/>
                <a:highlight>
                  <a:srgbClr val="FFFFFF"/>
                </a:highlight>
                <a:latin typeface="75,Italic"/>
              </a:rPr>
              <a:t>Anyscale</a:t>
            </a:r>
            <a:r>
              <a:rPr lang="en-HK" sz="1800" dirty="0">
                <a:effectLst/>
                <a:highlight>
                  <a:srgbClr val="FFFFFF"/>
                </a:highlight>
                <a:latin typeface="75,Italic"/>
              </a:rPr>
              <a:t> Playground enables iterative development for prompt engineering, that is, designing specific instructions for LLMs to accomplish a task. </a:t>
            </a:r>
            <a:endParaRPr lang="en-HK" sz="1600" dirty="0">
              <a:effectLst/>
              <a:highlight>
                <a:srgbClr val="FFFFFF"/>
              </a:highlight>
            </a:endParaRPr>
          </a:p>
        </p:txBody>
      </p:sp>
      <p:pic>
        <p:nvPicPr>
          <p:cNvPr id="7169" name="Picture 1" descr="page12image58366672">
            <a:extLst>
              <a:ext uri="{FF2B5EF4-FFF2-40B4-BE49-F238E27FC236}">
                <a16:creationId xmlns:a16="http://schemas.microsoft.com/office/drawing/2014/main" id="{701D7C47-F204-7CBD-3FBA-827DEF741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1214" y="2535306"/>
            <a:ext cx="8768443" cy="3865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1231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dirty="0">
                <a:latin typeface=""/>
                <a:cs typeface="Arial" panose="020B0604020202020204" pitchFamily="34" charset="0"/>
              </a:rPr>
              <a:t>Accessing LLMs using </a:t>
            </a:r>
            <a:r>
              <a:rPr lang="en-HK" sz="4100" dirty="0" err="1">
                <a:latin typeface=""/>
                <a:cs typeface="Arial" panose="020B0604020202020204" pitchFamily="34" charset="0"/>
              </a:rPr>
              <a:t>Anyscale</a:t>
            </a:r>
            <a:r>
              <a:rPr lang="en-HK" sz="4100" dirty="0">
                <a:latin typeface=""/>
                <a:cs typeface="Arial" panose="020B0604020202020204" pitchFamily="34" charset="0"/>
              </a:rPr>
              <a:t> APIs</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865953" y="1856317"/>
            <a:ext cx="10451592" cy="646331"/>
          </a:xfrm>
          <a:prstGeom prst="rect">
            <a:avLst/>
          </a:prstGeom>
          <a:noFill/>
        </p:spPr>
        <p:txBody>
          <a:bodyPr wrap="square">
            <a:spAutoFit/>
          </a:bodyPr>
          <a:lstStyle/>
          <a:p>
            <a:r>
              <a:rPr lang="en-HK" sz="1800" dirty="0">
                <a:effectLst/>
                <a:highlight>
                  <a:srgbClr val="FFFFFF"/>
                </a:highlight>
                <a:latin typeface="75,Italic"/>
              </a:rPr>
              <a:t>The </a:t>
            </a:r>
            <a:r>
              <a:rPr lang="en-HK" sz="1800" dirty="0" err="1">
                <a:effectLst/>
                <a:highlight>
                  <a:srgbClr val="FFFFFF"/>
                </a:highlight>
                <a:latin typeface="75,Italic"/>
              </a:rPr>
              <a:t>Anyscale</a:t>
            </a:r>
            <a:r>
              <a:rPr lang="en-HK" sz="1800" dirty="0">
                <a:effectLst/>
                <a:highlight>
                  <a:srgbClr val="FFFFFF"/>
                </a:highlight>
                <a:latin typeface="75,Italic"/>
              </a:rPr>
              <a:t> Playground enables iterative development for prompt engineering, that is, designing specific instructions for LLMs to accomplish a task.</a:t>
            </a:r>
            <a:endParaRPr lang="en-HK" dirty="0">
              <a:effectLst/>
              <a:highlight>
                <a:srgbClr val="FFFFFF"/>
              </a:highlight>
            </a:endParaRPr>
          </a:p>
        </p:txBody>
      </p:sp>
      <p:pic>
        <p:nvPicPr>
          <p:cNvPr id="7169" name="Picture 1" descr="page12image58366672">
            <a:extLst>
              <a:ext uri="{FF2B5EF4-FFF2-40B4-BE49-F238E27FC236}">
                <a16:creationId xmlns:a16="http://schemas.microsoft.com/office/drawing/2014/main" id="{701D7C47-F204-7CBD-3FBA-827DEF741D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706175"/>
            <a:ext cx="4392386" cy="2349862"/>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F83AFD7-B692-0BA0-53C1-5078202CC450}"/>
              </a:ext>
            </a:extLst>
          </p:cNvPr>
          <p:cNvSpPr txBox="1"/>
          <p:nvPr/>
        </p:nvSpPr>
        <p:spPr>
          <a:xfrm>
            <a:off x="1143000" y="5317987"/>
            <a:ext cx="4686300" cy="923330"/>
          </a:xfrm>
          <a:prstGeom prst="rect">
            <a:avLst/>
          </a:prstGeom>
          <a:noFill/>
        </p:spPr>
        <p:txBody>
          <a:bodyPr wrap="square">
            <a:spAutoFit/>
          </a:bodyPr>
          <a:lstStyle/>
          <a:p>
            <a:r>
              <a:rPr lang="en-HK" sz="1800" dirty="0">
                <a:solidFill>
                  <a:srgbClr val="7C7C7C"/>
                </a:solidFill>
                <a:effectLst/>
                <a:highlight>
                  <a:srgbClr val="FFFFFF"/>
                </a:highlight>
                <a:latin typeface="69"/>
              </a:rPr>
              <a:t>Playground enables quick iterations on prompts. Once an effective prompt is discovered, it is translated to code for efficient API access </a:t>
            </a:r>
            <a:endParaRPr lang="en-HK" dirty="0">
              <a:effectLst/>
              <a:highlight>
                <a:srgbClr val="FFFFFF"/>
              </a:highlight>
            </a:endParaRPr>
          </a:p>
        </p:txBody>
      </p:sp>
      <p:sp>
        <p:nvSpPr>
          <p:cNvPr id="5" name="Rectangle 4">
            <a:extLst>
              <a:ext uri="{FF2B5EF4-FFF2-40B4-BE49-F238E27FC236}">
                <a16:creationId xmlns:a16="http://schemas.microsoft.com/office/drawing/2014/main" id="{3E9EA366-168B-ABBB-0480-7BD66C7D25CB}"/>
              </a:ext>
            </a:extLst>
          </p:cNvPr>
          <p:cNvSpPr/>
          <p:nvPr/>
        </p:nvSpPr>
        <p:spPr>
          <a:xfrm>
            <a:off x="8556171" y="3503845"/>
            <a:ext cx="1649186" cy="71662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Anyscale</a:t>
            </a:r>
            <a:endParaRPr lang="en-US" dirty="0"/>
          </a:p>
          <a:p>
            <a:pPr algn="ctr"/>
            <a:r>
              <a:rPr lang="en-US" dirty="0"/>
              <a:t>API</a:t>
            </a:r>
          </a:p>
        </p:txBody>
      </p:sp>
      <p:sp>
        <p:nvSpPr>
          <p:cNvPr id="7" name="Rounded Rectangle 6">
            <a:extLst>
              <a:ext uri="{FF2B5EF4-FFF2-40B4-BE49-F238E27FC236}">
                <a16:creationId xmlns:a16="http://schemas.microsoft.com/office/drawing/2014/main" id="{CF7C259C-CB30-E0B0-24D6-41425F80013C}"/>
              </a:ext>
            </a:extLst>
          </p:cNvPr>
          <p:cNvSpPr/>
          <p:nvPr/>
        </p:nvSpPr>
        <p:spPr>
          <a:xfrm>
            <a:off x="7943849" y="4730158"/>
            <a:ext cx="1224643" cy="587829"/>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Prompt format</a:t>
            </a:r>
          </a:p>
        </p:txBody>
      </p:sp>
      <p:sp>
        <p:nvSpPr>
          <p:cNvPr id="9" name="Rounded Rectangle 8">
            <a:extLst>
              <a:ext uri="{FF2B5EF4-FFF2-40B4-BE49-F238E27FC236}">
                <a16:creationId xmlns:a16="http://schemas.microsoft.com/office/drawing/2014/main" id="{EAE6675B-21D4-C98E-DD18-A07E623520D1}"/>
              </a:ext>
            </a:extLst>
          </p:cNvPr>
          <p:cNvSpPr/>
          <p:nvPr/>
        </p:nvSpPr>
        <p:spPr>
          <a:xfrm>
            <a:off x="9593035" y="4744840"/>
            <a:ext cx="1224643" cy="587829"/>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API Key</a:t>
            </a:r>
          </a:p>
        </p:txBody>
      </p:sp>
      <p:cxnSp>
        <p:nvCxnSpPr>
          <p:cNvPr id="10" name="Curved Connector 9">
            <a:extLst>
              <a:ext uri="{FF2B5EF4-FFF2-40B4-BE49-F238E27FC236}">
                <a16:creationId xmlns:a16="http://schemas.microsoft.com/office/drawing/2014/main" id="{801F02C1-AF06-EDDF-D7CC-F889FFD99028}"/>
              </a:ext>
            </a:extLst>
          </p:cNvPr>
          <p:cNvCxnSpPr>
            <a:cxnSpLocks/>
            <a:stCxn id="5" idx="2"/>
            <a:endCxn id="9" idx="0"/>
          </p:cNvCxnSpPr>
          <p:nvPr/>
        </p:nvCxnSpPr>
        <p:spPr>
          <a:xfrm rot="16200000" flipH="1">
            <a:off x="9530873" y="4070356"/>
            <a:ext cx="524374" cy="824593"/>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Curved Connector 10">
            <a:extLst>
              <a:ext uri="{FF2B5EF4-FFF2-40B4-BE49-F238E27FC236}">
                <a16:creationId xmlns:a16="http://schemas.microsoft.com/office/drawing/2014/main" id="{F8711F56-FADF-8138-8762-BE6C4ADCEE60}"/>
              </a:ext>
            </a:extLst>
          </p:cNvPr>
          <p:cNvCxnSpPr>
            <a:cxnSpLocks/>
            <a:stCxn id="5" idx="2"/>
            <a:endCxn id="7" idx="0"/>
          </p:cNvCxnSpPr>
          <p:nvPr/>
        </p:nvCxnSpPr>
        <p:spPr>
          <a:xfrm rot="5400000">
            <a:off x="8713622" y="4063016"/>
            <a:ext cx="509692" cy="824593"/>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urved Connector 18">
            <a:extLst>
              <a:ext uri="{FF2B5EF4-FFF2-40B4-BE49-F238E27FC236}">
                <a16:creationId xmlns:a16="http://schemas.microsoft.com/office/drawing/2014/main" id="{D93602EE-EDC3-3E58-4744-5F29B3DFCCBD}"/>
              </a:ext>
            </a:extLst>
          </p:cNvPr>
          <p:cNvCxnSpPr>
            <a:cxnSpLocks/>
            <a:stCxn id="7169" idx="3"/>
            <a:endCxn id="5" idx="1"/>
          </p:cNvCxnSpPr>
          <p:nvPr/>
        </p:nvCxnSpPr>
        <p:spPr>
          <a:xfrm flipV="1">
            <a:off x="5535386" y="3862156"/>
            <a:ext cx="3020785" cy="18950"/>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B00E88DC-E71A-D48A-01FC-E7FC40F42D9F}"/>
              </a:ext>
            </a:extLst>
          </p:cNvPr>
          <p:cNvSpPr txBox="1"/>
          <p:nvPr/>
        </p:nvSpPr>
        <p:spPr>
          <a:xfrm>
            <a:off x="7391401" y="5332669"/>
            <a:ext cx="4397828" cy="923330"/>
          </a:xfrm>
          <a:prstGeom prst="rect">
            <a:avLst/>
          </a:prstGeom>
          <a:noFill/>
        </p:spPr>
        <p:txBody>
          <a:bodyPr wrap="square">
            <a:spAutoFit/>
          </a:bodyPr>
          <a:lstStyle/>
          <a:p>
            <a:r>
              <a:rPr lang="en-HK" sz="1800" dirty="0" err="1">
                <a:solidFill>
                  <a:srgbClr val="7C7C7C"/>
                </a:solidFill>
                <a:effectLst/>
                <a:highlight>
                  <a:srgbClr val="FFFFFF"/>
                </a:highlight>
                <a:latin typeface="69"/>
              </a:rPr>
              <a:t>Anyscale</a:t>
            </a:r>
            <a:r>
              <a:rPr lang="en-HK" sz="1800" dirty="0">
                <a:solidFill>
                  <a:srgbClr val="7C7C7C"/>
                </a:solidFill>
                <a:effectLst/>
                <a:highlight>
                  <a:srgbClr val="FFFFFF"/>
                </a:highlight>
                <a:latin typeface="69"/>
              </a:rPr>
              <a:t> API’s are compatible with Open AI. This allows seamless switch over between </a:t>
            </a:r>
            <a:r>
              <a:rPr lang="en-HK" sz="1800" dirty="0" err="1">
                <a:solidFill>
                  <a:srgbClr val="7C7C7C"/>
                </a:solidFill>
                <a:effectLst/>
                <a:highlight>
                  <a:srgbClr val="FFFFFF"/>
                </a:highlight>
                <a:latin typeface="69"/>
              </a:rPr>
              <a:t>Anyscale</a:t>
            </a:r>
            <a:r>
              <a:rPr lang="en-HK" sz="1800" dirty="0">
                <a:solidFill>
                  <a:srgbClr val="7C7C7C"/>
                </a:solidFill>
                <a:effectLst/>
                <a:highlight>
                  <a:srgbClr val="FFFFFF"/>
                </a:highlight>
                <a:latin typeface="69"/>
              </a:rPr>
              <a:t> and Open AI if needed. </a:t>
            </a:r>
            <a:endParaRPr lang="en-HK" dirty="0">
              <a:effectLst/>
              <a:highlight>
                <a:srgbClr val="FFFFFF"/>
              </a:highlight>
            </a:endParaRPr>
          </a:p>
        </p:txBody>
      </p:sp>
    </p:spTree>
    <p:extLst>
      <p:ext uri="{BB962C8B-B14F-4D97-AF65-F5344CB8AC3E}">
        <p14:creationId xmlns:p14="http://schemas.microsoft.com/office/powerpoint/2010/main" val="1971076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dirty="0">
                <a:latin typeface=""/>
                <a:cs typeface="Arial" panose="020B0604020202020204" pitchFamily="34" charset="0"/>
              </a:rPr>
              <a:t>Applications of Generative AI</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841248" y="1751451"/>
            <a:ext cx="10451592" cy="400110"/>
          </a:xfrm>
          <a:prstGeom prst="rect">
            <a:avLst/>
          </a:prstGeom>
          <a:noFill/>
        </p:spPr>
        <p:txBody>
          <a:bodyPr wrap="square">
            <a:spAutoFit/>
          </a:bodyPr>
          <a:lstStyle/>
          <a:p>
            <a:r>
              <a:rPr lang="en-HK" sz="2000" dirty="0" err="1">
                <a:effectLst/>
                <a:highlight>
                  <a:srgbClr val="FFFFFF"/>
                </a:highlight>
                <a:latin typeface="75,Italic"/>
              </a:rPr>
              <a:t>Anyscale</a:t>
            </a:r>
            <a:r>
              <a:rPr lang="en-HK" sz="2000" dirty="0">
                <a:effectLst/>
                <a:highlight>
                  <a:srgbClr val="FFFFFF"/>
                </a:highlight>
                <a:latin typeface="75,Italic"/>
              </a:rPr>
              <a:t> APIs are compatible with Open AI APIs and have the following three components. </a:t>
            </a:r>
            <a:endParaRPr lang="en-HK" sz="2000" dirty="0">
              <a:effectLst/>
              <a:highlight>
                <a:srgbClr val="FFFFFF"/>
              </a:highlight>
            </a:endParaRPr>
          </a:p>
        </p:txBody>
      </p:sp>
      <p:sp>
        <p:nvSpPr>
          <p:cNvPr id="5" name="Rectangle 4">
            <a:extLst>
              <a:ext uri="{FF2B5EF4-FFF2-40B4-BE49-F238E27FC236}">
                <a16:creationId xmlns:a16="http://schemas.microsoft.com/office/drawing/2014/main" id="{3E9EA366-168B-ABBB-0480-7BD66C7D25CB}"/>
              </a:ext>
            </a:extLst>
          </p:cNvPr>
          <p:cNvSpPr/>
          <p:nvPr/>
        </p:nvSpPr>
        <p:spPr>
          <a:xfrm>
            <a:off x="10114780" y="4072582"/>
            <a:ext cx="1649186" cy="71662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Prediction</a:t>
            </a:r>
          </a:p>
        </p:txBody>
      </p:sp>
      <p:sp>
        <p:nvSpPr>
          <p:cNvPr id="7" name="Rounded Rectangle 6">
            <a:extLst>
              <a:ext uri="{FF2B5EF4-FFF2-40B4-BE49-F238E27FC236}">
                <a16:creationId xmlns:a16="http://schemas.microsoft.com/office/drawing/2014/main" id="{CF7C259C-CB30-E0B0-24D6-41425F80013C}"/>
              </a:ext>
            </a:extLst>
          </p:cNvPr>
          <p:cNvSpPr/>
          <p:nvPr/>
        </p:nvSpPr>
        <p:spPr>
          <a:xfrm>
            <a:off x="7662990" y="4072581"/>
            <a:ext cx="1649186" cy="716621"/>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LLM API</a:t>
            </a:r>
          </a:p>
        </p:txBody>
      </p:sp>
      <p:cxnSp>
        <p:nvCxnSpPr>
          <p:cNvPr id="19" name="Curved Connector 18">
            <a:extLst>
              <a:ext uri="{FF2B5EF4-FFF2-40B4-BE49-F238E27FC236}">
                <a16:creationId xmlns:a16="http://schemas.microsoft.com/office/drawing/2014/main" id="{D93602EE-EDC3-3E58-4744-5F29B3DFCCBD}"/>
              </a:ext>
            </a:extLst>
          </p:cNvPr>
          <p:cNvCxnSpPr>
            <a:cxnSpLocks/>
            <a:stCxn id="3" idx="3"/>
            <a:endCxn id="7" idx="1"/>
          </p:cNvCxnSpPr>
          <p:nvPr/>
        </p:nvCxnSpPr>
        <p:spPr>
          <a:xfrm flipV="1">
            <a:off x="6788757" y="4430892"/>
            <a:ext cx="874233" cy="11537"/>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3" name="Table 2">
            <a:extLst>
              <a:ext uri="{FF2B5EF4-FFF2-40B4-BE49-F238E27FC236}">
                <a16:creationId xmlns:a16="http://schemas.microsoft.com/office/drawing/2014/main" id="{9C8C008D-F0FF-4214-20F7-DC60B211E001}"/>
              </a:ext>
            </a:extLst>
          </p:cNvPr>
          <p:cNvGraphicFramePr>
            <a:graphicFrameLocks noGrp="1"/>
          </p:cNvGraphicFramePr>
          <p:nvPr/>
        </p:nvGraphicFramePr>
        <p:xfrm>
          <a:off x="436034" y="2282890"/>
          <a:ext cx="6352723" cy="4319078"/>
        </p:xfrm>
        <a:graphic>
          <a:graphicData uri="http://schemas.openxmlformats.org/drawingml/2006/table">
            <a:tbl>
              <a:tblPr firstRow="1" bandRow="1">
                <a:tableStyleId>{5C22544A-7EE6-4342-B048-85BDC9FD1C3A}</a:tableStyleId>
              </a:tblPr>
              <a:tblGrid>
                <a:gridCol w="6352723">
                  <a:extLst>
                    <a:ext uri="{9D8B030D-6E8A-4147-A177-3AD203B41FA5}">
                      <a16:colId xmlns:a16="http://schemas.microsoft.com/office/drawing/2014/main" val="771504321"/>
                    </a:ext>
                  </a:extLst>
                </a:gridCol>
              </a:tblGrid>
              <a:tr h="1333301">
                <a:tc>
                  <a:txBody>
                    <a:bodyPr/>
                    <a:lstStyle/>
                    <a:p>
                      <a:r>
                        <a:rPr lang="en-HK" sz="2000" b="1" kern="1200" dirty="0">
                          <a:solidFill>
                            <a:schemeClr val="lt1"/>
                          </a:solidFill>
                          <a:effectLst/>
                          <a:latin typeface="+mn-lt"/>
                          <a:ea typeface="+mn-ea"/>
                          <a:cs typeface="+mn-cs"/>
                        </a:rPr>
                        <a:t>System Message </a:t>
                      </a:r>
                    </a:p>
                    <a:p>
                      <a:endParaRPr lang="en-HK" sz="1600" b="1" kern="1200" dirty="0">
                        <a:solidFill>
                          <a:schemeClr val="lt1"/>
                        </a:solidFill>
                        <a:effectLst/>
                        <a:latin typeface="+mn-lt"/>
                        <a:ea typeface="+mn-ea"/>
                        <a:cs typeface="+mn-cs"/>
                      </a:endParaRPr>
                    </a:p>
                    <a:p>
                      <a:r>
                        <a:rPr lang="en-HK" sz="1600" b="1" kern="1200" dirty="0">
                          <a:solidFill>
                            <a:schemeClr val="lt1"/>
                          </a:solidFill>
                          <a:effectLst/>
                          <a:latin typeface="+mn-lt"/>
                          <a:ea typeface="+mn-ea"/>
                          <a:cs typeface="+mn-cs"/>
                        </a:rPr>
                        <a:t>Clear instructions explaining the task that the LLM should accomplish. These instructions are agnostic to the user input and appended to the user input with higher priority. Can also be used to prime LLM behaviour </a:t>
                      </a:r>
                    </a:p>
                  </a:txBody>
                  <a:tcPr/>
                </a:tc>
                <a:extLst>
                  <a:ext uri="{0D108BD9-81ED-4DB2-BD59-A6C34878D82A}">
                    <a16:rowId xmlns:a16="http://schemas.microsoft.com/office/drawing/2014/main" val="3469103948"/>
                  </a:ext>
                </a:extLst>
              </a:tr>
              <a:tr h="1351819">
                <a:tc>
                  <a:txBody>
                    <a:bodyPr/>
                    <a:lstStyle/>
                    <a:p>
                      <a:r>
                        <a:rPr lang="en-HK" sz="2000" kern="1200" dirty="0">
                          <a:solidFill>
                            <a:srgbClr val="FF0000"/>
                          </a:solidFill>
                          <a:effectLst/>
                          <a:latin typeface="+mn-lt"/>
                          <a:ea typeface="+mn-ea"/>
                          <a:cs typeface="+mn-cs"/>
                        </a:rPr>
                        <a:t>User Message</a:t>
                      </a:r>
                    </a:p>
                    <a:p>
                      <a:endParaRPr lang="en-HK" sz="1600" kern="1200" dirty="0">
                        <a:solidFill>
                          <a:srgbClr val="FF0000"/>
                        </a:solidFill>
                        <a:effectLst/>
                        <a:latin typeface="+mn-lt"/>
                        <a:ea typeface="+mn-ea"/>
                        <a:cs typeface="+mn-cs"/>
                      </a:endParaRPr>
                    </a:p>
                    <a:p>
                      <a:r>
                        <a:rPr lang="en-HK" sz="1600" kern="1200" dirty="0">
                          <a:solidFill>
                            <a:srgbClr val="FF0000"/>
                          </a:solidFill>
                          <a:effectLst/>
                          <a:latin typeface="+mn-lt"/>
                          <a:ea typeface="+mn-ea"/>
                          <a:cs typeface="+mn-cs"/>
                        </a:rPr>
                        <a:t>Specific instructions from the user describing the task that needs to be accomplished. </a:t>
                      </a:r>
                    </a:p>
                  </a:txBody>
                  <a:tcPr/>
                </a:tc>
                <a:extLst>
                  <a:ext uri="{0D108BD9-81ED-4DB2-BD59-A6C34878D82A}">
                    <a16:rowId xmlns:a16="http://schemas.microsoft.com/office/drawing/2014/main" val="992354652"/>
                  </a:ext>
                </a:extLst>
              </a:tr>
              <a:tr h="1351819">
                <a:tc>
                  <a:txBody>
                    <a:bodyPr/>
                    <a:lstStyle/>
                    <a:p>
                      <a:r>
                        <a:rPr lang="en-HK" sz="2000" kern="1200" dirty="0">
                          <a:solidFill>
                            <a:schemeClr val="accent4">
                              <a:lumMod val="50000"/>
                            </a:schemeClr>
                          </a:solidFill>
                          <a:effectLst/>
                          <a:latin typeface="+mn-lt"/>
                          <a:ea typeface="+mn-ea"/>
                          <a:cs typeface="+mn-cs"/>
                        </a:rPr>
                        <a:t>Assistant Message </a:t>
                      </a:r>
                    </a:p>
                    <a:p>
                      <a:endParaRPr lang="en-HK" sz="1600" kern="1200" dirty="0">
                        <a:solidFill>
                          <a:schemeClr val="accent4">
                            <a:lumMod val="50000"/>
                          </a:schemeClr>
                        </a:solidFill>
                        <a:effectLst/>
                        <a:latin typeface="+mn-lt"/>
                        <a:ea typeface="+mn-ea"/>
                        <a:cs typeface="+mn-cs"/>
                      </a:endParaRPr>
                    </a:p>
                    <a:p>
                      <a:r>
                        <a:rPr lang="en-HK" sz="1600" kern="1200" dirty="0">
                          <a:solidFill>
                            <a:schemeClr val="accent4">
                              <a:lumMod val="50000"/>
                            </a:schemeClr>
                          </a:solidFill>
                          <a:effectLst/>
                          <a:latin typeface="+mn-lt"/>
                          <a:ea typeface="+mn-ea"/>
                          <a:cs typeface="+mn-cs"/>
                        </a:rPr>
                        <a:t>Not needed for single-turn conversations. Can be used to showcase expected completions in multi-turn conversations. </a:t>
                      </a:r>
                    </a:p>
                  </a:txBody>
                  <a:tcPr/>
                </a:tc>
                <a:extLst>
                  <a:ext uri="{0D108BD9-81ED-4DB2-BD59-A6C34878D82A}">
                    <a16:rowId xmlns:a16="http://schemas.microsoft.com/office/drawing/2014/main" val="773582239"/>
                  </a:ext>
                </a:extLst>
              </a:tr>
            </a:tbl>
          </a:graphicData>
        </a:graphic>
      </p:graphicFrame>
      <p:cxnSp>
        <p:nvCxnSpPr>
          <p:cNvPr id="20" name="Curved Connector 19">
            <a:extLst>
              <a:ext uri="{FF2B5EF4-FFF2-40B4-BE49-F238E27FC236}">
                <a16:creationId xmlns:a16="http://schemas.microsoft.com/office/drawing/2014/main" id="{08C1FCE0-9FCF-0766-8B19-2E9F6E6E3A04}"/>
              </a:ext>
            </a:extLst>
          </p:cNvPr>
          <p:cNvCxnSpPr>
            <a:cxnSpLocks/>
            <a:stCxn id="7" idx="3"/>
            <a:endCxn id="5" idx="1"/>
          </p:cNvCxnSpPr>
          <p:nvPr/>
        </p:nvCxnSpPr>
        <p:spPr>
          <a:xfrm>
            <a:off x="9312176" y="4430892"/>
            <a:ext cx="802604" cy="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2893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dirty="0">
                <a:latin typeface=""/>
                <a:cs typeface="Arial" panose="020B0604020202020204" pitchFamily="34" charset="0"/>
              </a:rPr>
              <a:t>Applications of Generative AI</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Rectangle 4">
            <a:extLst>
              <a:ext uri="{FF2B5EF4-FFF2-40B4-BE49-F238E27FC236}">
                <a16:creationId xmlns:a16="http://schemas.microsoft.com/office/drawing/2014/main" id="{3E9EA366-168B-ABBB-0480-7BD66C7D25CB}"/>
              </a:ext>
            </a:extLst>
          </p:cNvPr>
          <p:cNvSpPr/>
          <p:nvPr/>
        </p:nvSpPr>
        <p:spPr>
          <a:xfrm>
            <a:off x="7606730" y="4865187"/>
            <a:ext cx="1649186" cy="71662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Text to Text</a:t>
            </a:r>
          </a:p>
        </p:txBody>
      </p:sp>
      <p:sp>
        <p:nvSpPr>
          <p:cNvPr id="7" name="Rounded Rectangle 6">
            <a:extLst>
              <a:ext uri="{FF2B5EF4-FFF2-40B4-BE49-F238E27FC236}">
                <a16:creationId xmlns:a16="http://schemas.microsoft.com/office/drawing/2014/main" id="{CF7C259C-CB30-E0B0-24D6-41425F80013C}"/>
              </a:ext>
            </a:extLst>
          </p:cNvPr>
          <p:cNvSpPr/>
          <p:nvPr/>
        </p:nvSpPr>
        <p:spPr>
          <a:xfrm>
            <a:off x="1552411" y="2011476"/>
            <a:ext cx="1649186" cy="716621"/>
          </a:xfrm>
          <a:prstGeom prst="roundRect">
            <a:avLst>
              <a:gd name="adj" fmla="val 50000"/>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Gen AI Developers</a:t>
            </a:r>
          </a:p>
        </p:txBody>
      </p:sp>
      <p:cxnSp>
        <p:nvCxnSpPr>
          <p:cNvPr id="20" name="Curved Connector 19">
            <a:extLst>
              <a:ext uri="{FF2B5EF4-FFF2-40B4-BE49-F238E27FC236}">
                <a16:creationId xmlns:a16="http://schemas.microsoft.com/office/drawing/2014/main" id="{08C1FCE0-9FCF-0766-8B19-2E9F6E6E3A04}"/>
              </a:ext>
            </a:extLst>
          </p:cNvPr>
          <p:cNvCxnSpPr>
            <a:cxnSpLocks/>
            <a:stCxn id="7" idx="2"/>
            <a:endCxn id="8" idx="0"/>
          </p:cNvCxnSpPr>
          <p:nvPr/>
        </p:nvCxnSpPr>
        <p:spPr>
          <a:xfrm rot="5400000">
            <a:off x="727851" y="3666088"/>
            <a:ext cx="2587145" cy="711163"/>
          </a:xfrm>
          <a:prstGeom prst="curvedConnector3">
            <a:avLst>
              <a:gd name="adj1" fmla="val 50000"/>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a:extLst>
              <a:ext uri="{FF2B5EF4-FFF2-40B4-BE49-F238E27FC236}">
                <a16:creationId xmlns:a16="http://schemas.microsoft.com/office/drawing/2014/main" id="{23AD59FA-B886-80C0-4874-31E45010A5CB}"/>
              </a:ext>
            </a:extLst>
          </p:cNvPr>
          <p:cNvSpPr/>
          <p:nvPr/>
        </p:nvSpPr>
        <p:spPr>
          <a:xfrm>
            <a:off x="841248" y="5315242"/>
            <a:ext cx="1649186" cy="716621"/>
          </a:xfrm>
          <a:prstGeom prst="roundRect">
            <a:avLst>
              <a:gd name="adj" fmla="val 50000"/>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LLM APIs</a:t>
            </a:r>
          </a:p>
        </p:txBody>
      </p:sp>
      <p:sp>
        <p:nvSpPr>
          <p:cNvPr id="3" name="Rounded Rectangle 2">
            <a:extLst>
              <a:ext uri="{FF2B5EF4-FFF2-40B4-BE49-F238E27FC236}">
                <a16:creationId xmlns:a16="http://schemas.microsoft.com/office/drawing/2014/main" id="{20A8EF93-4910-054F-7E8A-246BE990340D}"/>
              </a:ext>
            </a:extLst>
          </p:cNvPr>
          <p:cNvSpPr/>
          <p:nvPr/>
        </p:nvSpPr>
        <p:spPr>
          <a:xfrm>
            <a:off x="4116337" y="3618695"/>
            <a:ext cx="1649186" cy="716621"/>
          </a:xfrm>
          <a:prstGeom prst="roundRect">
            <a:avLst>
              <a:gd name="adj" fmla="val 50000"/>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Impactful problems</a:t>
            </a:r>
          </a:p>
        </p:txBody>
      </p:sp>
      <p:sp>
        <p:nvSpPr>
          <p:cNvPr id="4" name="Rectangle 3">
            <a:extLst>
              <a:ext uri="{FF2B5EF4-FFF2-40B4-BE49-F238E27FC236}">
                <a16:creationId xmlns:a16="http://schemas.microsoft.com/office/drawing/2014/main" id="{71BBF029-5AC9-FF3A-D8E8-A80519972F6D}"/>
              </a:ext>
            </a:extLst>
          </p:cNvPr>
          <p:cNvSpPr/>
          <p:nvPr/>
        </p:nvSpPr>
        <p:spPr>
          <a:xfrm>
            <a:off x="7606730" y="2419174"/>
            <a:ext cx="1649186" cy="71662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Classification</a:t>
            </a:r>
          </a:p>
        </p:txBody>
      </p:sp>
      <p:sp>
        <p:nvSpPr>
          <p:cNvPr id="13" name="TextBox 12">
            <a:extLst>
              <a:ext uri="{FF2B5EF4-FFF2-40B4-BE49-F238E27FC236}">
                <a16:creationId xmlns:a16="http://schemas.microsoft.com/office/drawing/2014/main" id="{77E70E15-5D54-A1FD-94EA-B256D566EEB2}"/>
              </a:ext>
            </a:extLst>
          </p:cNvPr>
          <p:cNvSpPr txBox="1"/>
          <p:nvPr/>
        </p:nvSpPr>
        <p:spPr>
          <a:xfrm>
            <a:off x="408511" y="2011476"/>
            <a:ext cx="1391250" cy="923330"/>
          </a:xfrm>
          <a:prstGeom prst="rect">
            <a:avLst/>
          </a:prstGeom>
          <a:noFill/>
        </p:spPr>
        <p:txBody>
          <a:bodyPr wrap="square">
            <a:spAutoFit/>
          </a:bodyPr>
          <a:lstStyle/>
          <a:p>
            <a:r>
              <a:rPr lang="en-HK" sz="1800" dirty="0">
                <a:solidFill>
                  <a:srgbClr val="212121"/>
                </a:solidFill>
                <a:effectLst/>
                <a:highlight>
                  <a:srgbClr val="FFFFFF"/>
                </a:highlight>
                <a:latin typeface="73"/>
              </a:rPr>
              <a:t>Python </a:t>
            </a:r>
            <a:endParaRPr lang="en-HK" dirty="0">
              <a:effectLst/>
              <a:highlight>
                <a:srgbClr val="FFFFFF"/>
              </a:highlight>
            </a:endParaRPr>
          </a:p>
          <a:p>
            <a:r>
              <a:rPr lang="en-HK" sz="1800" dirty="0">
                <a:solidFill>
                  <a:srgbClr val="7C7C7C"/>
                </a:solidFill>
                <a:effectLst/>
                <a:highlight>
                  <a:srgbClr val="FFFFFF"/>
                </a:highlight>
                <a:latin typeface="73"/>
              </a:rPr>
              <a:t>JavaScript Go </a:t>
            </a:r>
            <a:endParaRPr lang="en-HK" dirty="0">
              <a:effectLst/>
              <a:highlight>
                <a:srgbClr val="FFFFFF"/>
              </a:highlight>
            </a:endParaRPr>
          </a:p>
        </p:txBody>
      </p:sp>
      <p:sp>
        <p:nvSpPr>
          <p:cNvPr id="15" name="TextBox 14">
            <a:extLst>
              <a:ext uri="{FF2B5EF4-FFF2-40B4-BE49-F238E27FC236}">
                <a16:creationId xmlns:a16="http://schemas.microsoft.com/office/drawing/2014/main" id="{623DF514-F7AE-51B4-7903-01F414D50DB3}"/>
              </a:ext>
            </a:extLst>
          </p:cNvPr>
          <p:cNvSpPr txBox="1"/>
          <p:nvPr/>
        </p:nvSpPr>
        <p:spPr>
          <a:xfrm>
            <a:off x="1800958" y="3604263"/>
            <a:ext cx="711163" cy="646331"/>
          </a:xfrm>
          <a:prstGeom prst="rect">
            <a:avLst/>
          </a:prstGeom>
          <a:noFill/>
        </p:spPr>
        <p:txBody>
          <a:bodyPr wrap="square">
            <a:spAutoFit/>
          </a:bodyPr>
          <a:lstStyle/>
          <a:p>
            <a:r>
              <a:rPr lang="en-HK" sz="1800" dirty="0">
                <a:solidFill>
                  <a:srgbClr val="212121"/>
                </a:solidFill>
                <a:effectLst/>
                <a:highlight>
                  <a:srgbClr val="FFFFFF"/>
                </a:highlight>
                <a:latin typeface="73"/>
              </a:rPr>
              <a:t>are </a:t>
            </a:r>
            <a:endParaRPr lang="en-HK" dirty="0">
              <a:effectLst/>
              <a:highlight>
                <a:srgbClr val="FFFFFF"/>
              </a:highlight>
            </a:endParaRPr>
          </a:p>
          <a:p>
            <a:r>
              <a:rPr lang="en-HK" sz="1800" dirty="0">
                <a:solidFill>
                  <a:srgbClr val="212121"/>
                </a:solidFill>
                <a:effectLst/>
                <a:highlight>
                  <a:srgbClr val="FFFFFF"/>
                </a:highlight>
                <a:latin typeface="73"/>
              </a:rPr>
              <a:t>using </a:t>
            </a:r>
            <a:endParaRPr lang="en-HK" dirty="0">
              <a:effectLst/>
              <a:highlight>
                <a:srgbClr val="FFFFFF"/>
              </a:highlight>
            </a:endParaRPr>
          </a:p>
        </p:txBody>
      </p:sp>
      <p:sp>
        <p:nvSpPr>
          <p:cNvPr id="17" name="TextBox 16">
            <a:extLst>
              <a:ext uri="{FF2B5EF4-FFF2-40B4-BE49-F238E27FC236}">
                <a16:creationId xmlns:a16="http://schemas.microsoft.com/office/drawing/2014/main" id="{055851CA-704D-A67C-30FF-4C2E8BCD232C}"/>
              </a:ext>
            </a:extLst>
          </p:cNvPr>
          <p:cNvSpPr txBox="1"/>
          <p:nvPr/>
        </p:nvSpPr>
        <p:spPr>
          <a:xfrm>
            <a:off x="1052949" y="6054328"/>
            <a:ext cx="1391250" cy="369332"/>
          </a:xfrm>
          <a:prstGeom prst="rect">
            <a:avLst/>
          </a:prstGeom>
          <a:noFill/>
        </p:spPr>
        <p:txBody>
          <a:bodyPr wrap="square">
            <a:spAutoFit/>
          </a:bodyPr>
          <a:lstStyle/>
          <a:p>
            <a:r>
              <a:rPr lang="en-HK" sz="1800" dirty="0" err="1">
                <a:solidFill>
                  <a:srgbClr val="212121"/>
                </a:solidFill>
                <a:effectLst/>
                <a:highlight>
                  <a:srgbClr val="FFFFFF"/>
                </a:highlight>
                <a:latin typeface="73"/>
              </a:rPr>
              <a:t>Anyscale</a:t>
            </a:r>
            <a:r>
              <a:rPr lang="en-HK" sz="1800" dirty="0">
                <a:solidFill>
                  <a:srgbClr val="212121"/>
                </a:solidFill>
                <a:effectLst/>
                <a:highlight>
                  <a:srgbClr val="FFFFFF"/>
                </a:highlight>
                <a:latin typeface="73"/>
              </a:rPr>
              <a:t> </a:t>
            </a:r>
            <a:endParaRPr lang="en-HK" dirty="0">
              <a:effectLst/>
              <a:highlight>
                <a:srgbClr val="FFFFFF"/>
              </a:highlight>
            </a:endParaRPr>
          </a:p>
        </p:txBody>
      </p:sp>
      <p:cxnSp>
        <p:nvCxnSpPr>
          <p:cNvPr id="18" name="Curved Connector 17">
            <a:extLst>
              <a:ext uri="{FF2B5EF4-FFF2-40B4-BE49-F238E27FC236}">
                <a16:creationId xmlns:a16="http://schemas.microsoft.com/office/drawing/2014/main" id="{9C684D24-75B5-21AF-9137-2DB2FB088DE5}"/>
              </a:ext>
            </a:extLst>
          </p:cNvPr>
          <p:cNvCxnSpPr>
            <a:cxnSpLocks/>
            <a:stCxn id="8" idx="3"/>
            <a:endCxn id="3" idx="1"/>
          </p:cNvCxnSpPr>
          <p:nvPr/>
        </p:nvCxnSpPr>
        <p:spPr>
          <a:xfrm flipV="1">
            <a:off x="2490434" y="3977006"/>
            <a:ext cx="1625903" cy="1696547"/>
          </a:xfrm>
          <a:prstGeom prst="curvedConnector3">
            <a:avLst>
              <a:gd name="adj1" fmla="val 50000"/>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3EAF953B-46BA-4886-8B93-42B341E508D4}"/>
              </a:ext>
            </a:extLst>
          </p:cNvPr>
          <p:cNvSpPr txBox="1"/>
          <p:nvPr/>
        </p:nvSpPr>
        <p:spPr>
          <a:xfrm>
            <a:off x="3100152" y="4577166"/>
            <a:ext cx="711163" cy="646331"/>
          </a:xfrm>
          <a:prstGeom prst="rect">
            <a:avLst/>
          </a:prstGeom>
          <a:noFill/>
        </p:spPr>
        <p:txBody>
          <a:bodyPr wrap="square">
            <a:spAutoFit/>
          </a:bodyPr>
          <a:lstStyle/>
          <a:p>
            <a:r>
              <a:rPr lang="en-HK" sz="1800" dirty="0">
                <a:solidFill>
                  <a:srgbClr val="212121"/>
                </a:solidFill>
                <a:effectLst/>
                <a:highlight>
                  <a:srgbClr val="FFFFFF"/>
                </a:highlight>
                <a:latin typeface="73"/>
              </a:rPr>
              <a:t>to solve </a:t>
            </a:r>
            <a:endParaRPr lang="en-HK" dirty="0">
              <a:effectLst/>
              <a:highlight>
                <a:srgbClr val="FFFFFF"/>
              </a:highlight>
            </a:endParaRPr>
          </a:p>
        </p:txBody>
      </p:sp>
      <p:cxnSp>
        <p:nvCxnSpPr>
          <p:cNvPr id="25" name="Curved Connector 24">
            <a:extLst>
              <a:ext uri="{FF2B5EF4-FFF2-40B4-BE49-F238E27FC236}">
                <a16:creationId xmlns:a16="http://schemas.microsoft.com/office/drawing/2014/main" id="{F2CF1D10-1833-C295-6258-03DC93A1DB88}"/>
              </a:ext>
            </a:extLst>
          </p:cNvPr>
          <p:cNvCxnSpPr>
            <a:cxnSpLocks/>
            <a:stCxn id="3" idx="3"/>
            <a:endCxn id="4" idx="1"/>
          </p:cNvCxnSpPr>
          <p:nvPr/>
        </p:nvCxnSpPr>
        <p:spPr>
          <a:xfrm flipV="1">
            <a:off x="5765523" y="2777485"/>
            <a:ext cx="1841207" cy="1199521"/>
          </a:xfrm>
          <a:prstGeom prst="curvedConnector3">
            <a:avLst>
              <a:gd name="adj1" fmla="val 50000"/>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28" name="Curved Connector 27">
            <a:extLst>
              <a:ext uri="{FF2B5EF4-FFF2-40B4-BE49-F238E27FC236}">
                <a16:creationId xmlns:a16="http://schemas.microsoft.com/office/drawing/2014/main" id="{142F8593-F39C-7A5F-8F5D-56D00D23D2B0}"/>
              </a:ext>
            </a:extLst>
          </p:cNvPr>
          <p:cNvCxnSpPr>
            <a:cxnSpLocks/>
            <a:stCxn id="3" idx="3"/>
            <a:endCxn id="5" idx="1"/>
          </p:cNvCxnSpPr>
          <p:nvPr/>
        </p:nvCxnSpPr>
        <p:spPr>
          <a:xfrm>
            <a:off x="5765523" y="3977006"/>
            <a:ext cx="1841207" cy="1246492"/>
          </a:xfrm>
          <a:prstGeom prst="curvedConnector3">
            <a:avLst>
              <a:gd name="adj1" fmla="val 50000"/>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7C0A962D-DBB4-ACB0-3149-BD868C501F5A}"/>
              </a:ext>
            </a:extLst>
          </p:cNvPr>
          <p:cNvSpPr txBox="1"/>
          <p:nvPr/>
        </p:nvSpPr>
        <p:spPr>
          <a:xfrm>
            <a:off x="9255916" y="2419174"/>
            <a:ext cx="2335696" cy="646331"/>
          </a:xfrm>
          <a:prstGeom prst="rect">
            <a:avLst/>
          </a:prstGeom>
          <a:noFill/>
        </p:spPr>
        <p:txBody>
          <a:bodyPr wrap="square">
            <a:spAutoFit/>
          </a:bodyPr>
          <a:lstStyle/>
          <a:p>
            <a:r>
              <a:rPr lang="en-HK" sz="1800" dirty="0">
                <a:solidFill>
                  <a:srgbClr val="212121"/>
                </a:solidFill>
                <a:effectLst/>
                <a:highlight>
                  <a:srgbClr val="FFFFFF"/>
                </a:highlight>
                <a:latin typeface="73"/>
              </a:rPr>
              <a:t>Generating Labels Category Assignment </a:t>
            </a:r>
            <a:endParaRPr lang="en-HK" dirty="0">
              <a:effectLst/>
              <a:highlight>
                <a:srgbClr val="FFFFFF"/>
              </a:highlight>
            </a:endParaRPr>
          </a:p>
        </p:txBody>
      </p:sp>
      <p:sp>
        <p:nvSpPr>
          <p:cNvPr id="34" name="TextBox 33">
            <a:extLst>
              <a:ext uri="{FF2B5EF4-FFF2-40B4-BE49-F238E27FC236}">
                <a16:creationId xmlns:a16="http://schemas.microsoft.com/office/drawing/2014/main" id="{B8891B4F-BAE5-CBAE-E708-17E6A7E6A2F7}"/>
              </a:ext>
            </a:extLst>
          </p:cNvPr>
          <p:cNvSpPr txBox="1"/>
          <p:nvPr/>
        </p:nvSpPr>
        <p:spPr>
          <a:xfrm>
            <a:off x="9255916" y="4726687"/>
            <a:ext cx="2665371" cy="923330"/>
          </a:xfrm>
          <a:prstGeom prst="rect">
            <a:avLst/>
          </a:prstGeom>
          <a:noFill/>
        </p:spPr>
        <p:txBody>
          <a:bodyPr wrap="square">
            <a:spAutoFit/>
          </a:bodyPr>
          <a:lstStyle/>
          <a:p>
            <a:r>
              <a:rPr lang="en-HK" sz="1800" dirty="0">
                <a:solidFill>
                  <a:srgbClr val="212121"/>
                </a:solidFill>
                <a:effectLst/>
                <a:highlight>
                  <a:srgbClr val="FFFFFF"/>
                </a:highlight>
                <a:latin typeface="73"/>
              </a:rPr>
              <a:t>Summarization</a:t>
            </a:r>
            <a:br>
              <a:rPr lang="en-HK" sz="1800" dirty="0">
                <a:solidFill>
                  <a:srgbClr val="212121"/>
                </a:solidFill>
                <a:effectLst/>
                <a:highlight>
                  <a:srgbClr val="FFFFFF"/>
                </a:highlight>
                <a:latin typeface="73"/>
              </a:rPr>
            </a:br>
            <a:r>
              <a:rPr lang="en-HK" sz="1800" dirty="0">
                <a:solidFill>
                  <a:srgbClr val="212121"/>
                </a:solidFill>
                <a:effectLst/>
                <a:highlight>
                  <a:srgbClr val="FFFFFF"/>
                </a:highlight>
                <a:latin typeface="73"/>
              </a:rPr>
              <a:t>Generating Code Retrieval-Augmented Q&amp;A </a:t>
            </a:r>
            <a:endParaRPr lang="en-HK" dirty="0">
              <a:effectLst/>
              <a:highlight>
                <a:srgbClr val="FFFFFF"/>
              </a:highlight>
            </a:endParaRPr>
          </a:p>
        </p:txBody>
      </p:sp>
    </p:spTree>
    <p:extLst>
      <p:ext uri="{BB962C8B-B14F-4D97-AF65-F5344CB8AC3E}">
        <p14:creationId xmlns:p14="http://schemas.microsoft.com/office/powerpoint/2010/main" val="1814199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3700" dirty="0">
                <a:latin typeface=""/>
                <a:cs typeface="Arial" panose="020B0604020202020204" pitchFamily="34" charset="0"/>
              </a:rPr>
              <a:t>Prompt Engineering Fundamentals </a:t>
            </a:r>
            <a:endParaRPr lang="en-US" sz="37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Rectangle 4">
            <a:extLst>
              <a:ext uri="{FF2B5EF4-FFF2-40B4-BE49-F238E27FC236}">
                <a16:creationId xmlns:a16="http://schemas.microsoft.com/office/drawing/2014/main" id="{3E9EA366-168B-ABBB-0480-7BD66C7D25CB}"/>
              </a:ext>
            </a:extLst>
          </p:cNvPr>
          <p:cNvSpPr/>
          <p:nvPr/>
        </p:nvSpPr>
        <p:spPr>
          <a:xfrm>
            <a:off x="7288677" y="4309584"/>
            <a:ext cx="1649186" cy="504153"/>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Parameters</a:t>
            </a:r>
          </a:p>
        </p:txBody>
      </p:sp>
      <p:sp>
        <p:nvSpPr>
          <p:cNvPr id="7" name="Rounded Rectangle 6">
            <a:extLst>
              <a:ext uri="{FF2B5EF4-FFF2-40B4-BE49-F238E27FC236}">
                <a16:creationId xmlns:a16="http://schemas.microsoft.com/office/drawing/2014/main" id="{CF7C259C-CB30-E0B0-24D6-41425F80013C}"/>
              </a:ext>
            </a:extLst>
          </p:cNvPr>
          <p:cNvSpPr/>
          <p:nvPr/>
        </p:nvSpPr>
        <p:spPr>
          <a:xfrm>
            <a:off x="3179805" y="3488774"/>
            <a:ext cx="1694257" cy="716621"/>
          </a:xfrm>
          <a:prstGeom prst="roundRect">
            <a:avLst>
              <a:gd name="adj" fmla="val 50000"/>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Temperature</a:t>
            </a:r>
          </a:p>
        </p:txBody>
      </p:sp>
      <p:sp>
        <p:nvSpPr>
          <p:cNvPr id="8" name="Rounded Rectangle 7">
            <a:extLst>
              <a:ext uri="{FF2B5EF4-FFF2-40B4-BE49-F238E27FC236}">
                <a16:creationId xmlns:a16="http://schemas.microsoft.com/office/drawing/2014/main" id="{23AD59FA-B886-80C0-4874-31E45010A5CB}"/>
              </a:ext>
            </a:extLst>
          </p:cNvPr>
          <p:cNvSpPr/>
          <p:nvPr/>
        </p:nvSpPr>
        <p:spPr>
          <a:xfrm>
            <a:off x="3191236" y="4813737"/>
            <a:ext cx="1649186" cy="716621"/>
          </a:xfrm>
          <a:prstGeom prst="roundRect">
            <a:avLst>
              <a:gd name="adj" fmla="val 50000"/>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Top P</a:t>
            </a:r>
          </a:p>
        </p:txBody>
      </p:sp>
      <p:sp>
        <p:nvSpPr>
          <p:cNvPr id="3" name="Rounded Rectangle 2">
            <a:extLst>
              <a:ext uri="{FF2B5EF4-FFF2-40B4-BE49-F238E27FC236}">
                <a16:creationId xmlns:a16="http://schemas.microsoft.com/office/drawing/2014/main" id="{20A8EF93-4910-054F-7E8A-246BE990340D}"/>
              </a:ext>
            </a:extLst>
          </p:cNvPr>
          <p:cNvSpPr/>
          <p:nvPr/>
        </p:nvSpPr>
        <p:spPr>
          <a:xfrm>
            <a:off x="3171358" y="5891198"/>
            <a:ext cx="1649186" cy="716621"/>
          </a:xfrm>
          <a:prstGeom prst="roundRect">
            <a:avLst>
              <a:gd name="adj" fmla="val 50000"/>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Frequency Penalty (FP)</a:t>
            </a:r>
          </a:p>
        </p:txBody>
      </p:sp>
      <p:sp>
        <p:nvSpPr>
          <p:cNvPr id="4" name="Rectangle 3">
            <a:extLst>
              <a:ext uri="{FF2B5EF4-FFF2-40B4-BE49-F238E27FC236}">
                <a16:creationId xmlns:a16="http://schemas.microsoft.com/office/drawing/2014/main" id="{71BBF029-5AC9-FF3A-D8E8-A80519972F6D}"/>
              </a:ext>
            </a:extLst>
          </p:cNvPr>
          <p:cNvSpPr/>
          <p:nvPr/>
        </p:nvSpPr>
        <p:spPr>
          <a:xfrm>
            <a:off x="8684593" y="3288188"/>
            <a:ext cx="1649186" cy="504153"/>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cxnSp>
        <p:nvCxnSpPr>
          <p:cNvPr id="28" name="Curved Connector 27">
            <a:extLst>
              <a:ext uri="{FF2B5EF4-FFF2-40B4-BE49-F238E27FC236}">
                <a16:creationId xmlns:a16="http://schemas.microsoft.com/office/drawing/2014/main" id="{142F8593-F39C-7A5F-8F5D-56D00D23D2B0}"/>
              </a:ext>
            </a:extLst>
          </p:cNvPr>
          <p:cNvCxnSpPr>
            <a:cxnSpLocks/>
            <a:stCxn id="5" idx="1"/>
            <a:endCxn id="19" idx="3"/>
          </p:cNvCxnSpPr>
          <p:nvPr/>
        </p:nvCxnSpPr>
        <p:spPr>
          <a:xfrm rot="10800000">
            <a:off x="4856895" y="2931255"/>
            <a:ext cx="2431782" cy="1630406"/>
          </a:xfrm>
          <a:prstGeom prst="curvedConnector3">
            <a:avLst>
              <a:gd name="adj1" fmla="val 50000"/>
            </a:avLst>
          </a:prstGeom>
          <a:ln w="38100">
            <a:prstDash val="dash"/>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A6ADFA2B-EBEA-12DD-E58E-7BB9694870E9}"/>
              </a:ext>
            </a:extLst>
          </p:cNvPr>
          <p:cNvSpPr txBox="1"/>
          <p:nvPr/>
        </p:nvSpPr>
        <p:spPr>
          <a:xfrm>
            <a:off x="841247" y="1635398"/>
            <a:ext cx="10451592" cy="369332"/>
          </a:xfrm>
          <a:prstGeom prst="rect">
            <a:avLst/>
          </a:prstGeom>
          <a:noFill/>
        </p:spPr>
        <p:txBody>
          <a:bodyPr wrap="square">
            <a:spAutoFit/>
          </a:bodyPr>
          <a:lstStyle/>
          <a:p>
            <a:r>
              <a:rPr lang="en-HK" sz="1800" dirty="0">
                <a:effectLst/>
                <a:highlight>
                  <a:srgbClr val="FFFFFF"/>
                </a:highlight>
                <a:latin typeface="75,Italic"/>
              </a:rPr>
              <a:t>Prompt = Specific set of instructions sent to a LLM to accomplish a task </a:t>
            </a:r>
            <a:endParaRPr lang="en-HK" dirty="0">
              <a:effectLst/>
              <a:highlight>
                <a:srgbClr val="FFFFFF"/>
              </a:highlight>
            </a:endParaRPr>
          </a:p>
        </p:txBody>
      </p:sp>
      <p:sp>
        <p:nvSpPr>
          <p:cNvPr id="16" name="TextBox 15">
            <a:extLst>
              <a:ext uri="{FF2B5EF4-FFF2-40B4-BE49-F238E27FC236}">
                <a16:creationId xmlns:a16="http://schemas.microsoft.com/office/drawing/2014/main" id="{99A4AEB6-BFE4-D869-6B0A-C961859BAB43}"/>
              </a:ext>
            </a:extLst>
          </p:cNvPr>
          <p:cNvSpPr txBox="1"/>
          <p:nvPr/>
        </p:nvSpPr>
        <p:spPr>
          <a:xfrm>
            <a:off x="841245" y="1970126"/>
            <a:ext cx="10476299" cy="369332"/>
          </a:xfrm>
          <a:prstGeom prst="rect">
            <a:avLst/>
          </a:prstGeom>
          <a:noFill/>
        </p:spPr>
        <p:txBody>
          <a:bodyPr wrap="square">
            <a:spAutoFit/>
          </a:bodyPr>
          <a:lstStyle/>
          <a:p>
            <a:r>
              <a:rPr lang="en-HK" sz="1800" dirty="0">
                <a:effectLst/>
                <a:highlight>
                  <a:srgbClr val="FFFFFF"/>
                </a:highlight>
                <a:latin typeface="75,Italic"/>
              </a:rPr>
              <a:t>Engineering = Iteratively deriving a specific prompt for the task </a:t>
            </a:r>
            <a:endParaRPr lang="en-HK" dirty="0">
              <a:effectLst/>
              <a:highlight>
                <a:srgbClr val="FFFFFF"/>
              </a:highlight>
            </a:endParaRPr>
          </a:p>
        </p:txBody>
      </p:sp>
      <p:sp>
        <p:nvSpPr>
          <p:cNvPr id="19" name="Rounded Rectangle 18">
            <a:extLst>
              <a:ext uri="{FF2B5EF4-FFF2-40B4-BE49-F238E27FC236}">
                <a16:creationId xmlns:a16="http://schemas.microsoft.com/office/drawing/2014/main" id="{916DB14B-B524-B4A3-8239-8452813FB256}"/>
              </a:ext>
            </a:extLst>
          </p:cNvPr>
          <p:cNvSpPr/>
          <p:nvPr/>
        </p:nvSpPr>
        <p:spPr>
          <a:xfrm>
            <a:off x="3230992" y="2572944"/>
            <a:ext cx="1625903" cy="716621"/>
          </a:xfrm>
          <a:prstGeom prst="roundRect">
            <a:avLst>
              <a:gd name="adj" fmla="val 50000"/>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Max output length</a:t>
            </a:r>
          </a:p>
        </p:txBody>
      </p:sp>
      <p:sp>
        <p:nvSpPr>
          <p:cNvPr id="43" name="Rectangle 42">
            <a:extLst>
              <a:ext uri="{FF2B5EF4-FFF2-40B4-BE49-F238E27FC236}">
                <a16:creationId xmlns:a16="http://schemas.microsoft.com/office/drawing/2014/main" id="{D150B282-A988-5180-BE26-517893577D77}"/>
              </a:ext>
            </a:extLst>
          </p:cNvPr>
          <p:cNvSpPr/>
          <p:nvPr/>
        </p:nvSpPr>
        <p:spPr>
          <a:xfrm>
            <a:off x="10080509" y="4298959"/>
            <a:ext cx="1649186" cy="504153"/>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Structure</a:t>
            </a:r>
          </a:p>
        </p:txBody>
      </p:sp>
      <p:cxnSp>
        <p:nvCxnSpPr>
          <p:cNvPr id="48" name="Curved Connector 47">
            <a:extLst>
              <a:ext uri="{FF2B5EF4-FFF2-40B4-BE49-F238E27FC236}">
                <a16:creationId xmlns:a16="http://schemas.microsoft.com/office/drawing/2014/main" id="{3F688A02-B76F-A4DA-CE26-2449AC7E54DF}"/>
              </a:ext>
            </a:extLst>
          </p:cNvPr>
          <p:cNvCxnSpPr>
            <a:cxnSpLocks/>
            <a:stCxn id="5" idx="1"/>
            <a:endCxn id="7" idx="3"/>
          </p:cNvCxnSpPr>
          <p:nvPr/>
        </p:nvCxnSpPr>
        <p:spPr>
          <a:xfrm rot="10800000">
            <a:off x="4874063" y="3847085"/>
            <a:ext cx="2414615" cy="714576"/>
          </a:xfrm>
          <a:prstGeom prst="curvedConnector3">
            <a:avLst>
              <a:gd name="adj1" fmla="val 50000"/>
            </a:avLst>
          </a:prstGeom>
          <a:ln w="38100">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1" name="Curved Connector 50">
            <a:extLst>
              <a:ext uri="{FF2B5EF4-FFF2-40B4-BE49-F238E27FC236}">
                <a16:creationId xmlns:a16="http://schemas.microsoft.com/office/drawing/2014/main" id="{95348966-24E5-7EC7-E0A3-D546DDB7F0D6}"/>
              </a:ext>
            </a:extLst>
          </p:cNvPr>
          <p:cNvCxnSpPr>
            <a:cxnSpLocks/>
            <a:stCxn id="5" idx="1"/>
            <a:endCxn id="8" idx="3"/>
          </p:cNvCxnSpPr>
          <p:nvPr/>
        </p:nvCxnSpPr>
        <p:spPr>
          <a:xfrm rot="10800000" flipV="1">
            <a:off x="4840423" y="4561660"/>
            <a:ext cx="2448255" cy="610387"/>
          </a:xfrm>
          <a:prstGeom prst="curvedConnector3">
            <a:avLst>
              <a:gd name="adj1" fmla="val 50000"/>
            </a:avLst>
          </a:prstGeom>
          <a:ln w="38100">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4" name="Curved Connector 53">
            <a:extLst>
              <a:ext uri="{FF2B5EF4-FFF2-40B4-BE49-F238E27FC236}">
                <a16:creationId xmlns:a16="http://schemas.microsoft.com/office/drawing/2014/main" id="{4C4B1A0C-D562-602F-2FB3-88E81DAC3C69}"/>
              </a:ext>
            </a:extLst>
          </p:cNvPr>
          <p:cNvCxnSpPr>
            <a:cxnSpLocks/>
            <a:stCxn id="5" idx="1"/>
            <a:endCxn id="3" idx="3"/>
          </p:cNvCxnSpPr>
          <p:nvPr/>
        </p:nvCxnSpPr>
        <p:spPr>
          <a:xfrm rot="10800000" flipV="1">
            <a:off x="4820545" y="4561661"/>
            <a:ext cx="2468133" cy="1687848"/>
          </a:xfrm>
          <a:prstGeom prst="curvedConnector3">
            <a:avLst>
              <a:gd name="adj1" fmla="val 50000"/>
            </a:avLst>
          </a:prstGeom>
          <a:ln w="38100">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06F2816B-0B4D-06C7-5303-AEF7DEEF4436}"/>
              </a:ext>
            </a:extLst>
          </p:cNvPr>
          <p:cNvCxnSpPr>
            <a:stCxn id="5" idx="3"/>
            <a:endCxn id="43" idx="1"/>
          </p:cNvCxnSpPr>
          <p:nvPr/>
        </p:nvCxnSpPr>
        <p:spPr>
          <a:xfrm flipV="1">
            <a:off x="8937863" y="4551036"/>
            <a:ext cx="1142646" cy="10625"/>
          </a:xfrm>
          <a:prstGeom prst="straightConnector1">
            <a:avLst/>
          </a:prstGeom>
          <a:ln w="38100">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BC83EA44-E7F2-55FF-BADD-7F5538324327}"/>
              </a:ext>
            </a:extLst>
          </p:cNvPr>
          <p:cNvCxnSpPr>
            <a:cxnSpLocks/>
            <a:stCxn id="8" idx="0"/>
            <a:endCxn id="7" idx="2"/>
          </p:cNvCxnSpPr>
          <p:nvPr/>
        </p:nvCxnSpPr>
        <p:spPr>
          <a:xfrm flipV="1">
            <a:off x="4015829" y="4205395"/>
            <a:ext cx="11105" cy="608342"/>
          </a:xfrm>
          <a:prstGeom prst="straightConnector1">
            <a:avLst/>
          </a:prstGeom>
          <a:ln w="38100">
            <a:solidFill>
              <a:srgbClr val="FF0000"/>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3595539E-27C4-7096-E739-A021BB3E19C2}"/>
              </a:ext>
            </a:extLst>
          </p:cNvPr>
          <p:cNvCxnSpPr>
            <a:stCxn id="4" idx="2"/>
          </p:cNvCxnSpPr>
          <p:nvPr/>
        </p:nvCxnSpPr>
        <p:spPr>
          <a:xfrm>
            <a:off x="9509186" y="3792341"/>
            <a:ext cx="0" cy="758694"/>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sp>
        <p:nvSpPr>
          <p:cNvPr id="3073" name="TextBox 3072">
            <a:extLst>
              <a:ext uri="{FF2B5EF4-FFF2-40B4-BE49-F238E27FC236}">
                <a16:creationId xmlns:a16="http://schemas.microsoft.com/office/drawing/2014/main" id="{3AEB8089-E950-3FFB-587B-98CED860C0C7}"/>
              </a:ext>
            </a:extLst>
          </p:cNvPr>
          <p:cNvSpPr txBox="1"/>
          <p:nvPr/>
        </p:nvSpPr>
        <p:spPr>
          <a:xfrm>
            <a:off x="865953" y="2756162"/>
            <a:ext cx="1873457" cy="369332"/>
          </a:xfrm>
          <a:prstGeom prst="rect">
            <a:avLst/>
          </a:prstGeom>
          <a:noFill/>
        </p:spPr>
        <p:txBody>
          <a:bodyPr wrap="square">
            <a:spAutoFit/>
          </a:bodyPr>
          <a:lstStyle/>
          <a:p>
            <a:r>
              <a:rPr lang="en-HK" sz="1800" dirty="0">
                <a:effectLst/>
                <a:highlight>
                  <a:srgbClr val="FFFFFF"/>
                </a:highlight>
                <a:latin typeface="73"/>
              </a:rPr>
              <a:t>Length of output </a:t>
            </a:r>
            <a:endParaRPr lang="en-HK" dirty="0">
              <a:effectLst/>
              <a:highlight>
                <a:srgbClr val="FFFFFF"/>
              </a:highlight>
            </a:endParaRPr>
          </a:p>
        </p:txBody>
      </p:sp>
      <p:sp>
        <p:nvSpPr>
          <p:cNvPr id="3075" name="TextBox 3074">
            <a:extLst>
              <a:ext uri="{FF2B5EF4-FFF2-40B4-BE49-F238E27FC236}">
                <a16:creationId xmlns:a16="http://schemas.microsoft.com/office/drawing/2014/main" id="{B7AFB5F3-964C-2CBB-B75B-19801DEC11A0}"/>
              </a:ext>
            </a:extLst>
          </p:cNvPr>
          <p:cNvSpPr txBox="1"/>
          <p:nvPr/>
        </p:nvSpPr>
        <p:spPr>
          <a:xfrm>
            <a:off x="472819" y="3542198"/>
            <a:ext cx="2688811" cy="646331"/>
          </a:xfrm>
          <a:prstGeom prst="rect">
            <a:avLst/>
          </a:prstGeom>
          <a:noFill/>
        </p:spPr>
        <p:txBody>
          <a:bodyPr wrap="square">
            <a:spAutoFit/>
          </a:bodyPr>
          <a:lstStyle>
            <a:defPPr>
              <a:defRPr lang="en-US"/>
            </a:defPPr>
            <a:lvl1pPr>
              <a:defRPr>
                <a:effectLst/>
                <a:highlight>
                  <a:srgbClr val="FFFFFF"/>
                </a:highlight>
                <a:latin typeface="73"/>
              </a:defRPr>
            </a:lvl1pPr>
          </a:lstStyle>
          <a:p>
            <a:pPr algn="ctr"/>
            <a:r>
              <a:rPr lang="en-HK" dirty="0"/>
              <a:t>More temperature = More </a:t>
            </a:r>
          </a:p>
          <a:p>
            <a:pPr algn="ctr"/>
            <a:r>
              <a:rPr lang="en-HK" dirty="0"/>
              <a:t>randomness in response </a:t>
            </a:r>
          </a:p>
        </p:txBody>
      </p:sp>
      <p:sp>
        <p:nvSpPr>
          <p:cNvPr id="3076" name="TextBox 3075">
            <a:extLst>
              <a:ext uri="{FF2B5EF4-FFF2-40B4-BE49-F238E27FC236}">
                <a16:creationId xmlns:a16="http://schemas.microsoft.com/office/drawing/2014/main" id="{B130F929-D3F0-1ADB-DFA2-6CB914859775}"/>
              </a:ext>
            </a:extLst>
          </p:cNvPr>
          <p:cNvSpPr txBox="1"/>
          <p:nvPr/>
        </p:nvSpPr>
        <p:spPr>
          <a:xfrm>
            <a:off x="492486" y="4886733"/>
            <a:ext cx="2688811" cy="646331"/>
          </a:xfrm>
          <a:prstGeom prst="rect">
            <a:avLst/>
          </a:prstGeom>
          <a:noFill/>
        </p:spPr>
        <p:txBody>
          <a:bodyPr wrap="square" rtlCol="0">
            <a:spAutoFit/>
          </a:bodyPr>
          <a:lstStyle/>
          <a:p>
            <a:pPr algn="ctr"/>
            <a:r>
              <a:rPr lang="en-HK" sz="1800" dirty="0">
                <a:effectLst/>
                <a:highlight>
                  <a:srgbClr val="FFFFFF"/>
                </a:highlight>
                <a:latin typeface="73"/>
              </a:rPr>
              <a:t>More Top P = More tokens selected for completion </a:t>
            </a:r>
            <a:endParaRPr lang="en-HK" dirty="0">
              <a:effectLst/>
              <a:highlight>
                <a:srgbClr val="FFFFFF"/>
              </a:highlight>
            </a:endParaRPr>
          </a:p>
        </p:txBody>
      </p:sp>
      <p:sp>
        <p:nvSpPr>
          <p:cNvPr id="3078" name="TextBox 3077">
            <a:extLst>
              <a:ext uri="{FF2B5EF4-FFF2-40B4-BE49-F238E27FC236}">
                <a16:creationId xmlns:a16="http://schemas.microsoft.com/office/drawing/2014/main" id="{ACE6469B-F68B-336D-DC5B-F18DFFC40EBE}"/>
              </a:ext>
            </a:extLst>
          </p:cNvPr>
          <p:cNvSpPr txBox="1"/>
          <p:nvPr/>
        </p:nvSpPr>
        <p:spPr>
          <a:xfrm>
            <a:off x="472819" y="5954033"/>
            <a:ext cx="2548677" cy="646331"/>
          </a:xfrm>
          <a:prstGeom prst="rect">
            <a:avLst/>
          </a:prstGeom>
          <a:noFill/>
        </p:spPr>
        <p:txBody>
          <a:bodyPr wrap="square">
            <a:spAutoFit/>
          </a:bodyPr>
          <a:lstStyle/>
          <a:p>
            <a:pPr algn="ctr"/>
            <a:r>
              <a:rPr lang="en-HK" sz="1800" dirty="0">
                <a:effectLst/>
                <a:highlight>
                  <a:srgbClr val="FFFFFF"/>
                </a:highlight>
                <a:latin typeface="73"/>
              </a:rPr>
              <a:t>More FP = Less chance of tokens repeating </a:t>
            </a:r>
            <a:endParaRPr lang="en-HK" dirty="0">
              <a:effectLst/>
              <a:highlight>
                <a:srgbClr val="FFFFFF"/>
              </a:highlight>
            </a:endParaRPr>
          </a:p>
        </p:txBody>
      </p:sp>
      <p:sp>
        <p:nvSpPr>
          <p:cNvPr id="3080" name="Rectangle 3079">
            <a:extLst>
              <a:ext uri="{FF2B5EF4-FFF2-40B4-BE49-F238E27FC236}">
                <a16:creationId xmlns:a16="http://schemas.microsoft.com/office/drawing/2014/main" id="{38F02A88-AB00-28DE-952D-1E68FD9BAB83}"/>
              </a:ext>
            </a:extLst>
          </p:cNvPr>
          <p:cNvSpPr/>
          <p:nvPr/>
        </p:nvSpPr>
        <p:spPr>
          <a:xfrm>
            <a:off x="6934200" y="4011433"/>
            <a:ext cx="5048250" cy="1160615"/>
          </a:xfrm>
          <a:prstGeom prst="rect">
            <a:avLst/>
          </a:prstGeom>
          <a:solidFill>
            <a:schemeClr val="accent1">
              <a:alpha val="0"/>
            </a:schemeClr>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4244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3700" dirty="0">
                <a:latin typeface=""/>
                <a:cs typeface="Arial" panose="020B0604020202020204" pitchFamily="34" charset="0"/>
              </a:rPr>
              <a:t>Prompt Engineering Fundamentals </a:t>
            </a:r>
            <a:endParaRPr lang="en-US" sz="37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cxnSp>
        <p:nvCxnSpPr>
          <p:cNvPr id="28" name="Curved Connector 27">
            <a:extLst>
              <a:ext uri="{FF2B5EF4-FFF2-40B4-BE49-F238E27FC236}">
                <a16:creationId xmlns:a16="http://schemas.microsoft.com/office/drawing/2014/main" id="{142F8593-F39C-7A5F-8F5D-56D00D23D2B0}"/>
              </a:ext>
            </a:extLst>
          </p:cNvPr>
          <p:cNvCxnSpPr>
            <a:cxnSpLocks/>
            <a:stCxn id="18" idx="2"/>
            <a:endCxn id="19" idx="0"/>
          </p:cNvCxnSpPr>
          <p:nvPr/>
        </p:nvCxnSpPr>
        <p:spPr>
          <a:xfrm rot="16200000" flipH="1">
            <a:off x="2196046" y="3545711"/>
            <a:ext cx="778701" cy="1"/>
          </a:xfrm>
          <a:prstGeom prst="curvedConnector3">
            <a:avLst>
              <a:gd name="adj1" fmla="val 50000"/>
            </a:avLst>
          </a:prstGeom>
          <a:ln w="38100">
            <a:prstDash val="solid"/>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A6ADFA2B-EBEA-12DD-E58E-7BB9694870E9}"/>
              </a:ext>
            </a:extLst>
          </p:cNvPr>
          <p:cNvSpPr txBox="1"/>
          <p:nvPr/>
        </p:nvSpPr>
        <p:spPr>
          <a:xfrm>
            <a:off x="841247" y="1635398"/>
            <a:ext cx="10451592" cy="400110"/>
          </a:xfrm>
          <a:prstGeom prst="rect">
            <a:avLst/>
          </a:prstGeom>
          <a:noFill/>
        </p:spPr>
        <p:txBody>
          <a:bodyPr wrap="square">
            <a:spAutoFit/>
          </a:bodyPr>
          <a:lstStyle/>
          <a:p>
            <a:r>
              <a:rPr lang="en-HK" sz="2000" dirty="0">
                <a:effectLst/>
                <a:highlight>
                  <a:srgbClr val="FFFFFF"/>
                </a:highlight>
                <a:latin typeface="75,Italic"/>
              </a:rPr>
              <a:t>Understanding temperature </a:t>
            </a:r>
            <a:endParaRPr lang="en-HK" sz="2000" dirty="0">
              <a:effectLst/>
              <a:highlight>
                <a:srgbClr val="FFFFFF"/>
              </a:highlight>
            </a:endParaRPr>
          </a:p>
        </p:txBody>
      </p:sp>
      <p:sp>
        <p:nvSpPr>
          <p:cNvPr id="19" name="Rounded Rectangle 18">
            <a:extLst>
              <a:ext uri="{FF2B5EF4-FFF2-40B4-BE49-F238E27FC236}">
                <a16:creationId xmlns:a16="http://schemas.microsoft.com/office/drawing/2014/main" id="{916DB14B-B524-B4A3-8239-8452813FB256}"/>
              </a:ext>
            </a:extLst>
          </p:cNvPr>
          <p:cNvSpPr/>
          <p:nvPr/>
        </p:nvSpPr>
        <p:spPr>
          <a:xfrm>
            <a:off x="1772445" y="3935063"/>
            <a:ext cx="1625903" cy="716621"/>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LLM</a:t>
            </a:r>
          </a:p>
        </p:txBody>
      </p:sp>
      <p:cxnSp>
        <p:nvCxnSpPr>
          <p:cNvPr id="48" name="Curved Connector 47">
            <a:extLst>
              <a:ext uri="{FF2B5EF4-FFF2-40B4-BE49-F238E27FC236}">
                <a16:creationId xmlns:a16="http://schemas.microsoft.com/office/drawing/2014/main" id="{3F688A02-B76F-A4DA-CE26-2449AC7E54DF}"/>
              </a:ext>
            </a:extLst>
          </p:cNvPr>
          <p:cNvCxnSpPr>
            <a:cxnSpLocks/>
            <a:stCxn id="19" idx="2"/>
            <a:endCxn id="29" idx="0"/>
          </p:cNvCxnSpPr>
          <p:nvPr/>
        </p:nvCxnSpPr>
        <p:spPr>
          <a:xfrm rot="5400000">
            <a:off x="1256420" y="4261217"/>
            <a:ext cx="938510" cy="1719444"/>
          </a:xfrm>
          <a:prstGeom prst="curvedConnector3">
            <a:avLst>
              <a:gd name="adj1" fmla="val 50000"/>
            </a:avLst>
          </a:prstGeom>
          <a:ln w="38100">
            <a:prstDash val="solid"/>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60082A3A-1617-B191-B4BB-68AEC5D6DF9F}"/>
              </a:ext>
            </a:extLst>
          </p:cNvPr>
          <p:cNvSpPr txBox="1"/>
          <p:nvPr/>
        </p:nvSpPr>
        <p:spPr>
          <a:xfrm>
            <a:off x="1667719" y="2488927"/>
            <a:ext cx="1835354" cy="667435"/>
          </a:xfrm>
          <a:prstGeom prst="rect">
            <a:avLst/>
          </a:prstGeom>
          <a:noFill/>
        </p:spPr>
        <p:txBody>
          <a:bodyPr wrap="square">
            <a:spAutoFit/>
          </a:bodyPr>
          <a:lstStyle/>
          <a:p>
            <a:pPr algn="ctr"/>
            <a:r>
              <a:rPr lang="en-HK" sz="1800" dirty="0">
                <a:effectLst/>
                <a:highlight>
                  <a:srgbClr val="FFFFFF"/>
                </a:highlight>
                <a:latin typeface="73"/>
              </a:rPr>
              <a:t>The overall experience was </a:t>
            </a:r>
            <a:endParaRPr lang="en-HK" dirty="0">
              <a:effectLst/>
              <a:highlight>
                <a:srgbClr val="FFFFFF"/>
              </a:highlight>
            </a:endParaRPr>
          </a:p>
        </p:txBody>
      </p:sp>
      <p:sp>
        <p:nvSpPr>
          <p:cNvPr id="29" name="TextBox 28">
            <a:extLst>
              <a:ext uri="{FF2B5EF4-FFF2-40B4-BE49-F238E27FC236}">
                <a16:creationId xmlns:a16="http://schemas.microsoft.com/office/drawing/2014/main" id="{4826987B-7A73-6166-47AA-C0D9F4C15CF3}"/>
              </a:ext>
            </a:extLst>
          </p:cNvPr>
          <p:cNvSpPr txBox="1"/>
          <p:nvPr/>
        </p:nvSpPr>
        <p:spPr>
          <a:xfrm>
            <a:off x="387591" y="5590194"/>
            <a:ext cx="956724" cy="369332"/>
          </a:xfrm>
          <a:prstGeom prst="rect">
            <a:avLst/>
          </a:prstGeom>
          <a:noFill/>
        </p:spPr>
        <p:txBody>
          <a:bodyPr wrap="square">
            <a:spAutoFit/>
          </a:bodyPr>
          <a:lstStyle/>
          <a:p>
            <a:r>
              <a:rPr lang="en-HK" sz="1800" dirty="0">
                <a:effectLst/>
                <a:highlight>
                  <a:srgbClr val="FFFFFF"/>
                </a:highlight>
                <a:latin typeface="73"/>
              </a:rPr>
              <a:t>positive </a:t>
            </a:r>
            <a:endParaRPr lang="en-HK" dirty="0">
              <a:effectLst/>
              <a:highlight>
                <a:srgbClr val="FFFFFF"/>
              </a:highlight>
            </a:endParaRPr>
          </a:p>
        </p:txBody>
      </p:sp>
      <p:sp>
        <p:nvSpPr>
          <p:cNvPr id="33" name="TextBox 32">
            <a:extLst>
              <a:ext uri="{FF2B5EF4-FFF2-40B4-BE49-F238E27FC236}">
                <a16:creationId xmlns:a16="http://schemas.microsoft.com/office/drawing/2014/main" id="{91CEA0F5-26D8-2B16-9B65-765A802A1F11}"/>
              </a:ext>
            </a:extLst>
          </p:cNvPr>
          <p:cNvSpPr txBox="1"/>
          <p:nvPr/>
        </p:nvSpPr>
        <p:spPr>
          <a:xfrm>
            <a:off x="1933579" y="5650081"/>
            <a:ext cx="1009647" cy="369332"/>
          </a:xfrm>
          <a:prstGeom prst="rect">
            <a:avLst/>
          </a:prstGeom>
          <a:noFill/>
        </p:spPr>
        <p:txBody>
          <a:bodyPr wrap="square">
            <a:spAutoFit/>
          </a:bodyPr>
          <a:lstStyle/>
          <a:p>
            <a:r>
              <a:rPr lang="en-HK" sz="1800" dirty="0">
                <a:effectLst/>
                <a:highlight>
                  <a:srgbClr val="FFFFFF"/>
                </a:highlight>
                <a:latin typeface="73"/>
              </a:rPr>
              <a:t>negative </a:t>
            </a:r>
            <a:endParaRPr lang="en-HK" dirty="0">
              <a:effectLst/>
              <a:highlight>
                <a:srgbClr val="FFFFFF"/>
              </a:highlight>
            </a:endParaRPr>
          </a:p>
        </p:txBody>
      </p:sp>
      <p:sp>
        <p:nvSpPr>
          <p:cNvPr id="35" name="TextBox 34">
            <a:extLst>
              <a:ext uri="{FF2B5EF4-FFF2-40B4-BE49-F238E27FC236}">
                <a16:creationId xmlns:a16="http://schemas.microsoft.com/office/drawing/2014/main" id="{7350E8A0-981A-58A2-48FB-471896AA8043}"/>
              </a:ext>
            </a:extLst>
          </p:cNvPr>
          <p:cNvSpPr txBox="1"/>
          <p:nvPr/>
        </p:nvSpPr>
        <p:spPr>
          <a:xfrm>
            <a:off x="3546138" y="5570176"/>
            <a:ext cx="1028700" cy="369332"/>
          </a:xfrm>
          <a:prstGeom prst="rect">
            <a:avLst/>
          </a:prstGeom>
          <a:noFill/>
        </p:spPr>
        <p:txBody>
          <a:bodyPr wrap="square">
            <a:spAutoFit/>
          </a:bodyPr>
          <a:lstStyle/>
          <a:p>
            <a:r>
              <a:rPr lang="en-HK" sz="1800" dirty="0">
                <a:effectLst/>
                <a:highlight>
                  <a:srgbClr val="FFFFFF"/>
                </a:highlight>
                <a:latin typeface="73"/>
              </a:rPr>
              <a:t>magical </a:t>
            </a:r>
            <a:endParaRPr lang="en-HK" dirty="0">
              <a:effectLst/>
              <a:highlight>
                <a:srgbClr val="FFFFFF"/>
              </a:highlight>
            </a:endParaRPr>
          </a:p>
        </p:txBody>
      </p:sp>
      <p:cxnSp>
        <p:nvCxnSpPr>
          <p:cNvPr id="36" name="Curved Connector 35">
            <a:extLst>
              <a:ext uri="{FF2B5EF4-FFF2-40B4-BE49-F238E27FC236}">
                <a16:creationId xmlns:a16="http://schemas.microsoft.com/office/drawing/2014/main" id="{885A16BF-C3B4-A3CB-CD4C-3FC6272050FE}"/>
              </a:ext>
            </a:extLst>
          </p:cNvPr>
          <p:cNvCxnSpPr>
            <a:cxnSpLocks/>
            <a:stCxn id="19" idx="2"/>
            <a:endCxn id="33" idx="0"/>
          </p:cNvCxnSpPr>
          <p:nvPr/>
        </p:nvCxnSpPr>
        <p:spPr>
          <a:xfrm rot="5400000">
            <a:off x="2012702" y="5077385"/>
            <a:ext cx="998397" cy="146994"/>
          </a:xfrm>
          <a:prstGeom prst="curvedConnector3">
            <a:avLst>
              <a:gd name="adj1" fmla="val 50000"/>
            </a:avLst>
          </a:prstGeom>
          <a:ln w="38100">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39" name="Curved Connector 38">
            <a:extLst>
              <a:ext uri="{FF2B5EF4-FFF2-40B4-BE49-F238E27FC236}">
                <a16:creationId xmlns:a16="http://schemas.microsoft.com/office/drawing/2014/main" id="{1F722ECB-DBED-4459-4FA2-8C2740186645}"/>
              </a:ext>
            </a:extLst>
          </p:cNvPr>
          <p:cNvCxnSpPr>
            <a:cxnSpLocks/>
            <a:stCxn id="19" idx="2"/>
            <a:endCxn id="35" idx="0"/>
          </p:cNvCxnSpPr>
          <p:nvPr/>
        </p:nvCxnSpPr>
        <p:spPr>
          <a:xfrm rot="16200000" flipH="1">
            <a:off x="2863696" y="4373384"/>
            <a:ext cx="918492" cy="1475091"/>
          </a:xfrm>
          <a:prstGeom prst="curvedConnector3">
            <a:avLst>
              <a:gd name="adj1" fmla="val 50000"/>
            </a:avLst>
          </a:prstGeom>
          <a:ln w="38100">
            <a:prstDash val="solid"/>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58B44E20-2A28-992F-0CC7-DBAD20F12718}"/>
              </a:ext>
            </a:extLst>
          </p:cNvPr>
          <p:cNvSpPr txBox="1"/>
          <p:nvPr/>
        </p:nvSpPr>
        <p:spPr>
          <a:xfrm>
            <a:off x="616884" y="6055719"/>
            <a:ext cx="498138" cy="369332"/>
          </a:xfrm>
          <a:prstGeom prst="rect">
            <a:avLst/>
          </a:prstGeom>
          <a:noFill/>
        </p:spPr>
        <p:txBody>
          <a:bodyPr wrap="square">
            <a:spAutoFit/>
          </a:bodyPr>
          <a:lstStyle/>
          <a:p>
            <a:r>
              <a:rPr lang="en-HK" sz="1800" dirty="0">
                <a:solidFill>
                  <a:srgbClr val="7C7C7C"/>
                </a:solidFill>
                <a:effectLst/>
                <a:highlight>
                  <a:srgbClr val="FFFFFF"/>
                </a:highlight>
                <a:latin typeface="69"/>
              </a:rPr>
              <a:t>0.6 </a:t>
            </a:r>
            <a:endParaRPr lang="en-HK" dirty="0">
              <a:effectLst/>
              <a:highlight>
                <a:srgbClr val="FFFFFF"/>
              </a:highlight>
            </a:endParaRPr>
          </a:p>
        </p:txBody>
      </p:sp>
      <p:sp>
        <p:nvSpPr>
          <p:cNvPr id="46" name="TextBox 45">
            <a:extLst>
              <a:ext uri="{FF2B5EF4-FFF2-40B4-BE49-F238E27FC236}">
                <a16:creationId xmlns:a16="http://schemas.microsoft.com/office/drawing/2014/main" id="{E869081E-25EB-1E58-0829-FCFB6CD3180A}"/>
              </a:ext>
            </a:extLst>
          </p:cNvPr>
          <p:cNvSpPr txBox="1"/>
          <p:nvPr/>
        </p:nvSpPr>
        <p:spPr>
          <a:xfrm>
            <a:off x="2183926" y="6055719"/>
            <a:ext cx="498138" cy="369332"/>
          </a:xfrm>
          <a:prstGeom prst="rect">
            <a:avLst/>
          </a:prstGeom>
          <a:noFill/>
        </p:spPr>
        <p:txBody>
          <a:bodyPr wrap="square">
            <a:spAutoFit/>
          </a:bodyPr>
          <a:lstStyle/>
          <a:p>
            <a:r>
              <a:rPr lang="en-HK" sz="1800" dirty="0">
                <a:solidFill>
                  <a:srgbClr val="7C7C7C"/>
                </a:solidFill>
                <a:effectLst/>
                <a:highlight>
                  <a:srgbClr val="FFFFFF"/>
                </a:highlight>
                <a:latin typeface="69"/>
              </a:rPr>
              <a:t>0.1 </a:t>
            </a:r>
            <a:endParaRPr lang="en-HK" dirty="0">
              <a:effectLst/>
              <a:highlight>
                <a:srgbClr val="FFFFFF"/>
              </a:highlight>
            </a:endParaRPr>
          </a:p>
        </p:txBody>
      </p:sp>
      <p:sp>
        <p:nvSpPr>
          <p:cNvPr id="47" name="TextBox 46">
            <a:extLst>
              <a:ext uri="{FF2B5EF4-FFF2-40B4-BE49-F238E27FC236}">
                <a16:creationId xmlns:a16="http://schemas.microsoft.com/office/drawing/2014/main" id="{62D437EE-7E6E-00C7-0DA6-B615813D3157}"/>
              </a:ext>
            </a:extLst>
          </p:cNvPr>
          <p:cNvSpPr txBox="1"/>
          <p:nvPr/>
        </p:nvSpPr>
        <p:spPr>
          <a:xfrm>
            <a:off x="3806699" y="6060920"/>
            <a:ext cx="498138" cy="369332"/>
          </a:xfrm>
          <a:prstGeom prst="rect">
            <a:avLst/>
          </a:prstGeom>
          <a:noFill/>
        </p:spPr>
        <p:txBody>
          <a:bodyPr wrap="square">
            <a:spAutoFit/>
          </a:bodyPr>
          <a:lstStyle/>
          <a:p>
            <a:r>
              <a:rPr lang="en-HK" sz="1800" dirty="0">
                <a:solidFill>
                  <a:srgbClr val="7C7C7C"/>
                </a:solidFill>
                <a:effectLst/>
                <a:highlight>
                  <a:srgbClr val="FFFFFF"/>
                </a:highlight>
                <a:latin typeface="69"/>
              </a:rPr>
              <a:t>0.3 </a:t>
            </a:r>
            <a:endParaRPr lang="en-HK" dirty="0">
              <a:effectLst/>
              <a:highlight>
                <a:srgbClr val="FFFFFF"/>
              </a:highlight>
            </a:endParaRPr>
          </a:p>
        </p:txBody>
      </p:sp>
      <p:cxnSp>
        <p:nvCxnSpPr>
          <p:cNvPr id="52" name="Straight Connector 51">
            <a:extLst>
              <a:ext uri="{FF2B5EF4-FFF2-40B4-BE49-F238E27FC236}">
                <a16:creationId xmlns:a16="http://schemas.microsoft.com/office/drawing/2014/main" id="{531829D8-E3AA-1803-C5FE-CFB641D1BA59}"/>
              </a:ext>
            </a:extLst>
          </p:cNvPr>
          <p:cNvCxnSpPr>
            <a:cxnSpLocks/>
          </p:cNvCxnSpPr>
          <p:nvPr/>
        </p:nvCxnSpPr>
        <p:spPr>
          <a:xfrm>
            <a:off x="4876800" y="2247900"/>
            <a:ext cx="0" cy="4177151"/>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0168628E-FDD1-3FF0-F021-109C6544A7B9}"/>
              </a:ext>
            </a:extLst>
          </p:cNvPr>
          <p:cNvSpPr/>
          <p:nvPr/>
        </p:nvSpPr>
        <p:spPr>
          <a:xfrm>
            <a:off x="5162551" y="2488927"/>
            <a:ext cx="3581394" cy="1446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TextBox 59">
            <a:extLst>
              <a:ext uri="{FF2B5EF4-FFF2-40B4-BE49-F238E27FC236}">
                <a16:creationId xmlns:a16="http://schemas.microsoft.com/office/drawing/2014/main" id="{443E6BD4-B42D-C2A8-BF4F-BCD30675EA6B}"/>
              </a:ext>
            </a:extLst>
          </p:cNvPr>
          <p:cNvSpPr txBox="1"/>
          <p:nvPr/>
        </p:nvSpPr>
        <p:spPr>
          <a:xfrm>
            <a:off x="5221694" y="2591545"/>
            <a:ext cx="3581393" cy="369332"/>
          </a:xfrm>
          <a:prstGeom prst="rect">
            <a:avLst/>
          </a:prstGeom>
          <a:noFill/>
        </p:spPr>
        <p:txBody>
          <a:bodyPr wrap="square">
            <a:spAutoFit/>
          </a:bodyPr>
          <a:lstStyle/>
          <a:p>
            <a:r>
              <a:rPr lang="en-HK" sz="1800" dirty="0">
                <a:effectLst/>
                <a:highlight>
                  <a:srgbClr val="F2F2F2"/>
                </a:highlight>
                <a:latin typeface="73"/>
              </a:rPr>
              <a:t>The overall experience was positive </a:t>
            </a:r>
            <a:endParaRPr lang="en-HK" dirty="0">
              <a:effectLst/>
              <a:highlight>
                <a:srgbClr val="F2F2F2"/>
              </a:highlight>
            </a:endParaRPr>
          </a:p>
        </p:txBody>
      </p:sp>
      <p:sp>
        <p:nvSpPr>
          <p:cNvPr id="61" name="TextBox 60">
            <a:extLst>
              <a:ext uri="{FF2B5EF4-FFF2-40B4-BE49-F238E27FC236}">
                <a16:creationId xmlns:a16="http://schemas.microsoft.com/office/drawing/2014/main" id="{FCEBB8C8-3FFE-B80C-85CE-D7FB431C274D}"/>
              </a:ext>
            </a:extLst>
          </p:cNvPr>
          <p:cNvSpPr txBox="1"/>
          <p:nvPr/>
        </p:nvSpPr>
        <p:spPr>
          <a:xfrm>
            <a:off x="5221694" y="3063495"/>
            <a:ext cx="3581393" cy="369332"/>
          </a:xfrm>
          <a:prstGeom prst="rect">
            <a:avLst/>
          </a:prstGeom>
          <a:noFill/>
        </p:spPr>
        <p:txBody>
          <a:bodyPr wrap="square">
            <a:spAutoFit/>
          </a:bodyPr>
          <a:lstStyle/>
          <a:p>
            <a:r>
              <a:rPr lang="en-HK" sz="1800" dirty="0">
                <a:effectLst/>
                <a:highlight>
                  <a:srgbClr val="F2F2F2"/>
                </a:highlight>
                <a:latin typeface="73"/>
              </a:rPr>
              <a:t>The overall experience was positive </a:t>
            </a:r>
            <a:endParaRPr lang="en-HK" dirty="0">
              <a:effectLst/>
              <a:highlight>
                <a:srgbClr val="F2F2F2"/>
              </a:highlight>
            </a:endParaRPr>
          </a:p>
        </p:txBody>
      </p:sp>
      <p:sp>
        <p:nvSpPr>
          <p:cNvPr id="62" name="TextBox 61">
            <a:extLst>
              <a:ext uri="{FF2B5EF4-FFF2-40B4-BE49-F238E27FC236}">
                <a16:creationId xmlns:a16="http://schemas.microsoft.com/office/drawing/2014/main" id="{85AF54E5-B79E-2A50-81A9-979B5AFE8A2C}"/>
              </a:ext>
            </a:extLst>
          </p:cNvPr>
          <p:cNvSpPr txBox="1"/>
          <p:nvPr/>
        </p:nvSpPr>
        <p:spPr>
          <a:xfrm>
            <a:off x="5221694" y="3486240"/>
            <a:ext cx="3581393" cy="369332"/>
          </a:xfrm>
          <a:prstGeom prst="rect">
            <a:avLst/>
          </a:prstGeom>
          <a:noFill/>
        </p:spPr>
        <p:txBody>
          <a:bodyPr wrap="square">
            <a:spAutoFit/>
          </a:bodyPr>
          <a:lstStyle/>
          <a:p>
            <a:r>
              <a:rPr lang="en-HK" sz="1800" dirty="0">
                <a:effectLst/>
                <a:highlight>
                  <a:srgbClr val="F2F2F2"/>
                </a:highlight>
                <a:latin typeface="73"/>
              </a:rPr>
              <a:t>The overall experience was positive </a:t>
            </a:r>
            <a:endParaRPr lang="en-HK" dirty="0">
              <a:effectLst/>
              <a:highlight>
                <a:srgbClr val="F2F2F2"/>
              </a:highlight>
            </a:endParaRPr>
          </a:p>
        </p:txBody>
      </p:sp>
      <p:sp>
        <p:nvSpPr>
          <p:cNvPr id="3072" name="Rectangle 3071">
            <a:extLst>
              <a:ext uri="{FF2B5EF4-FFF2-40B4-BE49-F238E27FC236}">
                <a16:creationId xmlns:a16="http://schemas.microsoft.com/office/drawing/2014/main" id="{6A4F0EF8-4214-82D5-5FD4-969258F18FF5}"/>
              </a:ext>
            </a:extLst>
          </p:cNvPr>
          <p:cNvSpPr/>
          <p:nvPr/>
        </p:nvSpPr>
        <p:spPr>
          <a:xfrm>
            <a:off x="5162551" y="4758720"/>
            <a:ext cx="3581394" cy="14461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4" name="TextBox 3073">
            <a:extLst>
              <a:ext uri="{FF2B5EF4-FFF2-40B4-BE49-F238E27FC236}">
                <a16:creationId xmlns:a16="http://schemas.microsoft.com/office/drawing/2014/main" id="{067F4DB8-AE57-DB6D-1ED3-E09621A16421}"/>
              </a:ext>
            </a:extLst>
          </p:cNvPr>
          <p:cNvSpPr txBox="1"/>
          <p:nvPr/>
        </p:nvSpPr>
        <p:spPr>
          <a:xfrm>
            <a:off x="5221694" y="4861338"/>
            <a:ext cx="3581393" cy="369332"/>
          </a:xfrm>
          <a:prstGeom prst="rect">
            <a:avLst/>
          </a:prstGeom>
          <a:noFill/>
        </p:spPr>
        <p:txBody>
          <a:bodyPr wrap="square">
            <a:spAutoFit/>
          </a:bodyPr>
          <a:lstStyle/>
          <a:p>
            <a:r>
              <a:rPr lang="en-HK" sz="1800" dirty="0">
                <a:effectLst/>
                <a:highlight>
                  <a:srgbClr val="F2F2F2"/>
                </a:highlight>
                <a:latin typeface="73"/>
              </a:rPr>
              <a:t>The overall experience was positive </a:t>
            </a:r>
            <a:endParaRPr lang="en-HK" dirty="0">
              <a:effectLst/>
              <a:highlight>
                <a:srgbClr val="F2F2F2"/>
              </a:highlight>
            </a:endParaRPr>
          </a:p>
        </p:txBody>
      </p:sp>
      <p:sp>
        <p:nvSpPr>
          <p:cNvPr id="3077" name="TextBox 3076">
            <a:extLst>
              <a:ext uri="{FF2B5EF4-FFF2-40B4-BE49-F238E27FC236}">
                <a16:creationId xmlns:a16="http://schemas.microsoft.com/office/drawing/2014/main" id="{651CBF46-0CD9-4EEF-36D6-B2682E8C430B}"/>
              </a:ext>
            </a:extLst>
          </p:cNvPr>
          <p:cNvSpPr txBox="1"/>
          <p:nvPr/>
        </p:nvSpPr>
        <p:spPr>
          <a:xfrm>
            <a:off x="5221694" y="5333288"/>
            <a:ext cx="3581393" cy="369332"/>
          </a:xfrm>
          <a:prstGeom prst="rect">
            <a:avLst/>
          </a:prstGeom>
          <a:noFill/>
        </p:spPr>
        <p:txBody>
          <a:bodyPr wrap="square">
            <a:spAutoFit/>
          </a:bodyPr>
          <a:lstStyle/>
          <a:p>
            <a:r>
              <a:rPr lang="en-HK" sz="1800" dirty="0">
                <a:effectLst/>
                <a:highlight>
                  <a:srgbClr val="F2F2F2"/>
                </a:highlight>
                <a:latin typeface="73"/>
              </a:rPr>
              <a:t>The overall experience was magical </a:t>
            </a:r>
            <a:endParaRPr lang="en-HK" dirty="0">
              <a:effectLst/>
              <a:highlight>
                <a:srgbClr val="F2F2F2"/>
              </a:highlight>
            </a:endParaRPr>
          </a:p>
        </p:txBody>
      </p:sp>
      <p:sp>
        <p:nvSpPr>
          <p:cNvPr id="3079" name="TextBox 3078">
            <a:extLst>
              <a:ext uri="{FF2B5EF4-FFF2-40B4-BE49-F238E27FC236}">
                <a16:creationId xmlns:a16="http://schemas.microsoft.com/office/drawing/2014/main" id="{B109E30C-7028-F8E5-A76F-21CFC4624B5F}"/>
              </a:ext>
            </a:extLst>
          </p:cNvPr>
          <p:cNvSpPr txBox="1"/>
          <p:nvPr/>
        </p:nvSpPr>
        <p:spPr>
          <a:xfrm>
            <a:off x="5221694" y="5756033"/>
            <a:ext cx="3581393" cy="369332"/>
          </a:xfrm>
          <a:prstGeom prst="rect">
            <a:avLst/>
          </a:prstGeom>
          <a:noFill/>
        </p:spPr>
        <p:txBody>
          <a:bodyPr wrap="square">
            <a:spAutoFit/>
          </a:bodyPr>
          <a:lstStyle/>
          <a:p>
            <a:r>
              <a:rPr lang="en-HK" sz="1800" dirty="0">
                <a:effectLst/>
                <a:highlight>
                  <a:srgbClr val="F2F2F2"/>
                </a:highlight>
                <a:latin typeface="73"/>
              </a:rPr>
              <a:t>The overall experience was negative </a:t>
            </a:r>
            <a:endParaRPr lang="en-HK" dirty="0">
              <a:effectLst/>
              <a:highlight>
                <a:srgbClr val="F2F2F2"/>
              </a:highlight>
            </a:endParaRPr>
          </a:p>
        </p:txBody>
      </p:sp>
      <p:sp>
        <p:nvSpPr>
          <p:cNvPr id="3082" name="TextBox 3081">
            <a:extLst>
              <a:ext uri="{FF2B5EF4-FFF2-40B4-BE49-F238E27FC236}">
                <a16:creationId xmlns:a16="http://schemas.microsoft.com/office/drawing/2014/main" id="{AAA405EB-3F89-FE11-34FE-EDF342B8FC24}"/>
              </a:ext>
            </a:extLst>
          </p:cNvPr>
          <p:cNvSpPr txBox="1"/>
          <p:nvPr/>
        </p:nvSpPr>
        <p:spPr>
          <a:xfrm>
            <a:off x="5919992" y="2119595"/>
            <a:ext cx="1732131" cy="369332"/>
          </a:xfrm>
          <a:prstGeom prst="rect">
            <a:avLst/>
          </a:prstGeom>
          <a:noFill/>
        </p:spPr>
        <p:txBody>
          <a:bodyPr wrap="square">
            <a:spAutoFit/>
          </a:bodyPr>
          <a:lstStyle/>
          <a:p>
            <a:r>
              <a:rPr lang="en-HK" sz="1800" dirty="0">
                <a:effectLst/>
                <a:highlight>
                  <a:srgbClr val="FFFFFF"/>
                </a:highlight>
                <a:latin typeface="73"/>
              </a:rPr>
              <a:t>Temperature = 0 </a:t>
            </a:r>
            <a:endParaRPr lang="en-HK" dirty="0">
              <a:effectLst/>
              <a:highlight>
                <a:srgbClr val="FFFFFF"/>
              </a:highlight>
            </a:endParaRPr>
          </a:p>
        </p:txBody>
      </p:sp>
      <p:sp>
        <p:nvSpPr>
          <p:cNvPr id="3084" name="TextBox 3083">
            <a:extLst>
              <a:ext uri="{FF2B5EF4-FFF2-40B4-BE49-F238E27FC236}">
                <a16:creationId xmlns:a16="http://schemas.microsoft.com/office/drawing/2014/main" id="{589F110D-0211-4E72-18BC-D3E2B7B98757}"/>
              </a:ext>
            </a:extLst>
          </p:cNvPr>
          <p:cNvSpPr txBox="1"/>
          <p:nvPr/>
        </p:nvSpPr>
        <p:spPr>
          <a:xfrm>
            <a:off x="5879916" y="4393125"/>
            <a:ext cx="1769656" cy="369332"/>
          </a:xfrm>
          <a:prstGeom prst="rect">
            <a:avLst/>
          </a:prstGeom>
          <a:noFill/>
        </p:spPr>
        <p:txBody>
          <a:bodyPr wrap="square">
            <a:spAutoFit/>
          </a:bodyPr>
          <a:lstStyle/>
          <a:p>
            <a:r>
              <a:rPr lang="en-HK" sz="1800" dirty="0">
                <a:effectLst/>
                <a:highlight>
                  <a:srgbClr val="FFFFFF"/>
                </a:highlight>
                <a:latin typeface="73"/>
              </a:rPr>
              <a:t>Temperature = 1 </a:t>
            </a:r>
            <a:endParaRPr lang="en-HK" dirty="0">
              <a:effectLst/>
              <a:highlight>
                <a:srgbClr val="FFFFFF"/>
              </a:highlight>
            </a:endParaRPr>
          </a:p>
        </p:txBody>
      </p:sp>
      <p:sp>
        <p:nvSpPr>
          <p:cNvPr id="3089" name="TextBox 3088">
            <a:extLst>
              <a:ext uri="{FF2B5EF4-FFF2-40B4-BE49-F238E27FC236}">
                <a16:creationId xmlns:a16="http://schemas.microsoft.com/office/drawing/2014/main" id="{6C4CB338-9A27-D8D0-8B3A-E473E5B0E429}"/>
              </a:ext>
            </a:extLst>
          </p:cNvPr>
          <p:cNvSpPr txBox="1"/>
          <p:nvPr/>
        </p:nvSpPr>
        <p:spPr>
          <a:xfrm>
            <a:off x="8889595" y="2591545"/>
            <a:ext cx="1578377" cy="1200329"/>
          </a:xfrm>
          <a:prstGeom prst="rect">
            <a:avLst/>
          </a:prstGeom>
          <a:noFill/>
        </p:spPr>
        <p:txBody>
          <a:bodyPr wrap="square">
            <a:spAutoFit/>
          </a:bodyPr>
          <a:lstStyle/>
          <a:p>
            <a:r>
              <a:rPr lang="en-HK" sz="1800" dirty="0">
                <a:effectLst/>
                <a:highlight>
                  <a:srgbClr val="FFFFFF"/>
                </a:highlight>
                <a:latin typeface="73"/>
              </a:rPr>
              <a:t>Repeated execution produces the same results </a:t>
            </a:r>
            <a:endParaRPr lang="en-HK" dirty="0">
              <a:effectLst/>
              <a:highlight>
                <a:srgbClr val="FFFFFF"/>
              </a:highlight>
            </a:endParaRPr>
          </a:p>
        </p:txBody>
      </p:sp>
      <p:sp>
        <p:nvSpPr>
          <p:cNvPr id="3091" name="TextBox 3090">
            <a:extLst>
              <a:ext uri="{FF2B5EF4-FFF2-40B4-BE49-F238E27FC236}">
                <a16:creationId xmlns:a16="http://schemas.microsoft.com/office/drawing/2014/main" id="{FA89391B-63CA-AE9F-FCF7-E4EDEC8F482F}"/>
              </a:ext>
            </a:extLst>
          </p:cNvPr>
          <p:cNvSpPr txBox="1"/>
          <p:nvPr/>
        </p:nvSpPr>
        <p:spPr>
          <a:xfrm>
            <a:off x="8803087" y="4862268"/>
            <a:ext cx="1968900" cy="1200329"/>
          </a:xfrm>
          <a:prstGeom prst="rect">
            <a:avLst/>
          </a:prstGeom>
          <a:noFill/>
        </p:spPr>
        <p:txBody>
          <a:bodyPr wrap="square">
            <a:spAutoFit/>
          </a:bodyPr>
          <a:lstStyle/>
          <a:p>
            <a:r>
              <a:rPr lang="en-HK" sz="1800" dirty="0">
                <a:effectLst/>
                <a:highlight>
                  <a:srgbClr val="FFFFFF"/>
                </a:highlight>
                <a:latin typeface="73"/>
              </a:rPr>
              <a:t>Repeated execution can produce different results </a:t>
            </a:r>
            <a:endParaRPr lang="en-HK" dirty="0">
              <a:effectLst/>
              <a:highlight>
                <a:srgbClr val="FFFFFF"/>
              </a:highlight>
            </a:endParaRPr>
          </a:p>
        </p:txBody>
      </p:sp>
    </p:spTree>
    <p:extLst>
      <p:ext uri="{BB962C8B-B14F-4D97-AF65-F5344CB8AC3E}">
        <p14:creationId xmlns:p14="http://schemas.microsoft.com/office/powerpoint/2010/main" val="3822104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400" dirty="0">
                <a:latin typeface=""/>
                <a:cs typeface="Arial" panose="020B0604020202020204" pitchFamily="34" charset="0"/>
              </a:rPr>
              <a:t>Prompt Engineering Fundamentals</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841248" y="1751451"/>
            <a:ext cx="10451592" cy="400110"/>
          </a:xfrm>
          <a:prstGeom prst="rect">
            <a:avLst/>
          </a:prstGeom>
          <a:noFill/>
        </p:spPr>
        <p:txBody>
          <a:bodyPr wrap="square">
            <a:spAutoFit/>
          </a:bodyPr>
          <a:lstStyle/>
          <a:p>
            <a:r>
              <a:rPr lang="en-HK" sz="2000" b="1" dirty="0">
                <a:effectLst/>
                <a:highlight>
                  <a:srgbClr val="FFFFFF"/>
                </a:highlight>
                <a:latin typeface="76,BoldItalic"/>
              </a:rPr>
              <a:t>Components of a prompt template </a:t>
            </a:r>
            <a:endParaRPr lang="en-HK" sz="2000" b="1" dirty="0">
              <a:effectLst/>
              <a:highlight>
                <a:srgbClr val="FFFFFF"/>
              </a:highlight>
            </a:endParaRPr>
          </a:p>
        </p:txBody>
      </p:sp>
      <p:sp>
        <p:nvSpPr>
          <p:cNvPr id="5" name="Rectangle 4">
            <a:extLst>
              <a:ext uri="{FF2B5EF4-FFF2-40B4-BE49-F238E27FC236}">
                <a16:creationId xmlns:a16="http://schemas.microsoft.com/office/drawing/2014/main" id="{3E9EA366-168B-ABBB-0480-7BD66C7D25CB}"/>
              </a:ext>
            </a:extLst>
          </p:cNvPr>
          <p:cNvSpPr/>
          <p:nvPr/>
        </p:nvSpPr>
        <p:spPr>
          <a:xfrm>
            <a:off x="10114780" y="4072582"/>
            <a:ext cx="1649186" cy="71662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Prediction</a:t>
            </a:r>
          </a:p>
        </p:txBody>
      </p:sp>
      <p:sp>
        <p:nvSpPr>
          <p:cNvPr id="7" name="Rounded Rectangle 6">
            <a:extLst>
              <a:ext uri="{FF2B5EF4-FFF2-40B4-BE49-F238E27FC236}">
                <a16:creationId xmlns:a16="http://schemas.microsoft.com/office/drawing/2014/main" id="{CF7C259C-CB30-E0B0-24D6-41425F80013C}"/>
              </a:ext>
            </a:extLst>
          </p:cNvPr>
          <p:cNvSpPr/>
          <p:nvPr/>
        </p:nvSpPr>
        <p:spPr>
          <a:xfrm>
            <a:off x="7662990" y="4072581"/>
            <a:ext cx="1649186" cy="716621"/>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LLM API</a:t>
            </a:r>
          </a:p>
        </p:txBody>
      </p:sp>
      <p:cxnSp>
        <p:nvCxnSpPr>
          <p:cNvPr id="19" name="Curved Connector 18">
            <a:extLst>
              <a:ext uri="{FF2B5EF4-FFF2-40B4-BE49-F238E27FC236}">
                <a16:creationId xmlns:a16="http://schemas.microsoft.com/office/drawing/2014/main" id="{D93602EE-EDC3-3E58-4744-5F29B3DFCCBD}"/>
              </a:ext>
            </a:extLst>
          </p:cNvPr>
          <p:cNvCxnSpPr>
            <a:cxnSpLocks/>
            <a:stCxn id="3" idx="3"/>
            <a:endCxn id="7" idx="1"/>
          </p:cNvCxnSpPr>
          <p:nvPr/>
        </p:nvCxnSpPr>
        <p:spPr>
          <a:xfrm>
            <a:off x="6788757" y="4320509"/>
            <a:ext cx="874233" cy="110383"/>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3" name="Table 2">
            <a:extLst>
              <a:ext uri="{FF2B5EF4-FFF2-40B4-BE49-F238E27FC236}">
                <a16:creationId xmlns:a16="http://schemas.microsoft.com/office/drawing/2014/main" id="{9C8C008D-F0FF-4214-20F7-DC60B211E001}"/>
              </a:ext>
            </a:extLst>
          </p:cNvPr>
          <p:cNvGraphicFramePr>
            <a:graphicFrameLocks noGrp="1"/>
          </p:cNvGraphicFramePr>
          <p:nvPr>
            <p:extLst>
              <p:ext uri="{D42A27DB-BD31-4B8C-83A1-F6EECF244321}">
                <p14:modId xmlns:p14="http://schemas.microsoft.com/office/powerpoint/2010/main" val="2294858870"/>
              </p:ext>
            </p:extLst>
          </p:nvPr>
        </p:nvGraphicFramePr>
        <p:xfrm>
          <a:off x="436034" y="2282890"/>
          <a:ext cx="6352723" cy="4075238"/>
        </p:xfrm>
        <a:graphic>
          <a:graphicData uri="http://schemas.openxmlformats.org/drawingml/2006/table">
            <a:tbl>
              <a:tblPr firstRow="1" bandRow="1">
                <a:tableStyleId>{5C22544A-7EE6-4342-B048-85BDC9FD1C3A}</a:tableStyleId>
              </a:tblPr>
              <a:tblGrid>
                <a:gridCol w="6352723">
                  <a:extLst>
                    <a:ext uri="{9D8B030D-6E8A-4147-A177-3AD203B41FA5}">
                      <a16:colId xmlns:a16="http://schemas.microsoft.com/office/drawing/2014/main" val="771504321"/>
                    </a:ext>
                  </a:extLst>
                </a:gridCol>
              </a:tblGrid>
              <a:tr h="1333301">
                <a:tc>
                  <a:txBody>
                    <a:bodyPr/>
                    <a:lstStyle/>
                    <a:p>
                      <a:r>
                        <a:rPr lang="en-HK" sz="2000" b="1" kern="1200" dirty="0">
                          <a:solidFill>
                            <a:schemeClr val="lt1"/>
                          </a:solidFill>
                          <a:effectLst/>
                          <a:latin typeface="+mn-lt"/>
                          <a:ea typeface="+mn-ea"/>
                          <a:cs typeface="+mn-cs"/>
                        </a:rPr>
                        <a:t>System Message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HK" sz="1600" b="1" kern="1200" dirty="0">
                        <a:solidFill>
                          <a:schemeClr val="lt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HK" sz="1600" b="1" kern="1200" dirty="0">
                          <a:solidFill>
                            <a:schemeClr val="lt1"/>
                          </a:solidFill>
                          <a:effectLst/>
                          <a:latin typeface="+mn-lt"/>
                          <a:ea typeface="+mn-ea"/>
                          <a:cs typeface="+mn-cs"/>
                        </a:rPr>
                        <a:t>Clear instructions explaining the task that the LLM should accomplish. Should include the expected format of user input and output and a chain of thought to accomplish the task. </a:t>
                      </a:r>
                    </a:p>
                  </a:txBody>
                  <a:tcPr/>
                </a:tc>
                <a:extLst>
                  <a:ext uri="{0D108BD9-81ED-4DB2-BD59-A6C34878D82A}">
                    <a16:rowId xmlns:a16="http://schemas.microsoft.com/office/drawing/2014/main" val="3469103948"/>
                  </a:ext>
                </a:extLst>
              </a:tr>
              <a:tr h="1351819">
                <a:tc>
                  <a:txBody>
                    <a:bodyPr/>
                    <a:lstStyle/>
                    <a:p>
                      <a:pPr marL="0" algn="l" defTabSz="914400" rtl="0" eaLnBrk="1" latinLnBrk="0" hangingPunct="1"/>
                      <a:r>
                        <a:rPr lang="en-HK" sz="2000" b="1" kern="1200" dirty="0">
                          <a:solidFill>
                            <a:srgbClr val="FF0000"/>
                          </a:solidFill>
                          <a:effectLst/>
                          <a:latin typeface="+mn-lt"/>
                          <a:ea typeface="+mn-ea"/>
                          <a:cs typeface="+mn-cs"/>
                        </a:rPr>
                        <a:t>Few Shot Examples </a:t>
                      </a:r>
                    </a:p>
                    <a:p>
                      <a:pPr marL="0" algn="l" defTabSz="914400" rtl="0" eaLnBrk="1" latinLnBrk="0" hangingPunct="1"/>
                      <a:endParaRPr lang="en-HK" sz="2000" b="1" kern="1200" dirty="0">
                        <a:solidFill>
                          <a:srgbClr val="FF0000"/>
                        </a:solidFill>
                        <a:effectLst/>
                        <a:latin typeface="+mn-lt"/>
                        <a:ea typeface="+mn-ea"/>
                        <a:cs typeface="+mn-cs"/>
                      </a:endParaRPr>
                    </a:p>
                    <a:p>
                      <a:pPr marL="0" algn="l" defTabSz="914400" rtl="0" eaLnBrk="1" latinLnBrk="0" hangingPunct="1"/>
                      <a:r>
                        <a:rPr lang="en-HK" sz="1800" kern="1200" dirty="0">
                          <a:solidFill>
                            <a:srgbClr val="FF0000"/>
                          </a:solidFill>
                          <a:effectLst/>
                          <a:latin typeface="+mn-lt"/>
                          <a:ea typeface="+mn-ea"/>
                          <a:cs typeface="+mn-cs"/>
                        </a:rPr>
                        <a:t>Input - Output pairs delineating the expected response for exemplar inputs. </a:t>
                      </a:r>
                    </a:p>
                  </a:txBody>
                  <a:tcPr/>
                </a:tc>
                <a:extLst>
                  <a:ext uri="{0D108BD9-81ED-4DB2-BD59-A6C34878D82A}">
                    <a16:rowId xmlns:a16="http://schemas.microsoft.com/office/drawing/2014/main" val="992354652"/>
                  </a:ext>
                </a:extLst>
              </a:tr>
              <a:tr h="1351819">
                <a:tc>
                  <a:txBody>
                    <a:bodyPr/>
                    <a:lstStyle/>
                    <a:p>
                      <a:pPr marL="0" algn="l" defTabSz="914400" rtl="0" eaLnBrk="1" latinLnBrk="0" hangingPunct="1"/>
                      <a:r>
                        <a:rPr lang="en-HK" sz="2000" b="1" kern="1200" dirty="0">
                          <a:solidFill>
                            <a:schemeClr val="accent4">
                              <a:lumMod val="50000"/>
                            </a:schemeClr>
                          </a:solidFill>
                          <a:effectLst/>
                          <a:latin typeface="+mn-lt"/>
                          <a:ea typeface="+mn-ea"/>
                          <a:cs typeface="+mn-cs"/>
                        </a:rPr>
                        <a:t>User Input </a:t>
                      </a:r>
                    </a:p>
                    <a:p>
                      <a:pPr marL="0" algn="l" defTabSz="914400" rtl="0" eaLnBrk="1" latinLnBrk="0" hangingPunct="1"/>
                      <a:endParaRPr lang="en-HK" sz="2000" kern="1200" dirty="0">
                        <a:solidFill>
                          <a:schemeClr val="accent4">
                            <a:lumMod val="50000"/>
                          </a:schemeClr>
                        </a:solidFill>
                        <a:effectLst/>
                        <a:latin typeface="+mn-lt"/>
                        <a:ea typeface="+mn-ea"/>
                        <a:cs typeface="+mn-cs"/>
                      </a:endParaRPr>
                    </a:p>
                    <a:p>
                      <a:pPr marL="0" algn="l" defTabSz="914400" rtl="0" eaLnBrk="1" latinLnBrk="0" hangingPunct="1"/>
                      <a:r>
                        <a:rPr lang="en-HK" sz="2000" kern="1200" dirty="0">
                          <a:solidFill>
                            <a:schemeClr val="accent4">
                              <a:lumMod val="50000"/>
                            </a:schemeClr>
                          </a:solidFill>
                          <a:effectLst/>
                          <a:latin typeface="+mn-lt"/>
                          <a:ea typeface="+mn-ea"/>
                          <a:cs typeface="+mn-cs"/>
                        </a:rPr>
                        <a:t>Input presented in the format mentioned in the system message </a:t>
                      </a:r>
                    </a:p>
                  </a:txBody>
                  <a:tcPr/>
                </a:tc>
                <a:extLst>
                  <a:ext uri="{0D108BD9-81ED-4DB2-BD59-A6C34878D82A}">
                    <a16:rowId xmlns:a16="http://schemas.microsoft.com/office/drawing/2014/main" val="773582239"/>
                  </a:ext>
                </a:extLst>
              </a:tr>
            </a:tbl>
          </a:graphicData>
        </a:graphic>
      </p:graphicFrame>
      <p:cxnSp>
        <p:nvCxnSpPr>
          <p:cNvPr id="20" name="Curved Connector 19">
            <a:extLst>
              <a:ext uri="{FF2B5EF4-FFF2-40B4-BE49-F238E27FC236}">
                <a16:creationId xmlns:a16="http://schemas.microsoft.com/office/drawing/2014/main" id="{08C1FCE0-9FCF-0766-8B19-2E9F6E6E3A04}"/>
              </a:ext>
            </a:extLst>
          </p:cNvPr>
          <p:cNvCxnSpPr>
            <a:cxnSpLocks/>
            <a:stCxn id="7" idx="3"/>
            <a:endCxn id="5" idx="1"/>
          </p:cNvCxnSpPr>
          <p:nvPr/>
        </p:nvCxnSpPr>
        <p:spPr>
          <a:xfrm>
            <a:off x="9312176" y="4430892"/>
            <a:ext cx="802604" cy="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5884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400" dirty="0">
                <a:latin typeface=""/>
                <a:cs typeface="Arial" panose="020B0604020202020204" pitchFamily="34" charset="0"/>
              </a:rPr>
              <a:t>Prompt Engineering Fundamentals</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841248" y="1751451"/>
            <a:ext cx="10451592" cy="461665"/>
          </a:xfrm>
          <a:prstGeom prst="rect">
            <a:avLst/>
          </a:prstGeom>
          <a:noFill/>
        </p:spPr>
        <p:txBody>
          <a:bodyPr wrap="square">
            <a:spAutoFit/>
          </a:bodyPr>
          <a:lstStyle/>
          <a:p>
            <a:r>
              <a:rPr lang="en-HK" sz="2400" b="1" dirty="0">
                <a:effectLst/>
                <a:highlight>
                  <a:srgbClr val="FFFFFF"/>
                </a:highlight>
                <a:latin typeface="75,Italic"/>
              </a:rPr>
              <a:t>Zero-shot prompt template example - sentiment analysis </a:t>
            </a:r>
            <a:endParaRPr lang="en-HK" sz="2400" b="1" dirty="0">
              <a:effectLst/>
              <a:highlight>
                <a:srgbClr val="FFFFFF"/>
              </a:highlight>
            </a:endParaRPr>
          </a:p>
        </p:txBody>
      </p:sp>
      <p:sp>
        <p:nvSpPr>
          <p:cNvPr id="5" name="Rectangle 4">
            <a:extLst>
              <a:ext uri="{FF2B5EF4-FFF2-40B4-BE49-F238E27FC236}">
                <a16:creationId xmlns:a16="http://schemas.microsoft.com/office/drawing/2014/main" id="{3E9EA366-168B-ABBB-0480-7BD66C7D25CB}"/>
              </a:ext>
            </a:extLst>
          </p:cNvPr>
          <p:cNvSpPr/>
          <p:nvPr/>
        </p:nvSpPr>
        <p:spPr>
          <a:xfrm>
            <a:off x="10206703" y="4218738"/>
            <a:ext cx="1649186" cy="71662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Prediction</a:t>
            </a:r>
          </a:p>
        </p:txBody>
      </p:sp>
      <p:sp>
        <p:nvSpPr>
          <p:cNvPr id="7" name="Rounded Rectangle 6">
            <a:extLst>
              <a:ext uri="{FF2B5EF4-FFF2-40B4-BE49-F238E27FC236}">
                <a16:creationId xmlns:a16="http://schemas.microsoft.com/office/drawing/2014/main" id="{CF7C259C-CB30-E0B0-24D6-41425F80013C}"/>
              </a:ext>
            </a:extLst>
          </p:cNvPr>
          <p:cNvSpPr/>
          <p:nvPr/>
        </p:nvSpPr>
        <p:spPr>
          <a:xfrm>
            <a:off x="7812533" y="4206038"/>
            <a:ext cx="1649186" cy="716621"/>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LLM API</a:t>
            </a:r>
          </a:p>
        </p:txBody>
      </p:sp>
      <p:cxnSp>
        <p:nvCxnSpPr>
          <p:cNvPr id="19" name="Curved Connector 18">
            <a:extLst>
              <a:ext uri="{FF2B5EF4-FFF2-40B4-BE49-F238E27FC236}">
                <a16:creationId xmlns:a16="http://schemas.microsoft.com/office/drawing/2014/main" id="{D93602EE-EDC3-3E58-4744-5F29B3DFCCBD}"/>
              </a:ext>
            </a:extLst>
          </p:cNvPr>
          <p:cNvCxnSpPr>
            <a:cxnSpLocks/>
            <a:stCxn id="3" idx="3"/>
            <a:endCxn id="7" idx="1"/>
          </p:cNvCxnSpPr>
          <p:nvPr/>
        </p:nvCxnSpPr>
        <p:spPr>
          <a:xfrm>
            <a:off x="7067550" y="4417679"/>
            <a:ext cx="744983" cy="146670"/>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3" name="Table 2">
            <a:extLst>
              <a:ext uri="{FF2B5EF4-FFF2-40B4-BE49-F238E27FC236}">
                <a16:creationId xmlns:a16="http://schemas.microsoft.com/office/drawing/2014/main" id="{9C8C008D-F0FF-4214-20F7-DC60B211E001}"/>
              </a:ext>
            </a:extLst>
          </p:cNvPr>
          <p:cNvGraphicFramePr>
            <a:graphicFrameLocks noGrp="1"/>
          </p:cNvGraphicFramePr>
          <p:nvPr>
            <p:extLst>
              <p:ext uri="{D42A27DB-BD31-4B8C-83A1-F6EECF244321}">
                <p14:modId xmlns:p14="http://schemas.microsoft.com/office/powerpoint/2010/main" val="2772944737"/>
              </p:ext>
            </p:extLst>
          </p:nvPr>
        </p:nvGraphicFramePr>
        <p:xfrm>
          <a:off x="436034" y="2282890"/>
          <a:ext cx="6631516" cy="4269579"/>
        </p:xfrm>
        <a:graphic>
          <a:graphicData uri="http://schemas.openxmlformats.org/drawingml/2006/table">
            <a:tbl>
              <a:tblPr firstRow="1" bandRow="1">
                <a:tableStyleId>{5C22544A-7EE6-4342-B048-85BDC9FD1C3A}</a:tableStyleId>
              </a:tblPr>
              <a:tblGrid>
                <a:gridCol w="6631516">
                  <a:extLst>
                    <a:ext uri="{9D8B030D-6E8A-4147-A177-3AD203B41FA5}">
                      <a16:colId xmlns:a16="http://schemas.microsoft.com/office/drawing/2014/main" val="771504321"/>
                    </a:ext>
                  </a:extLst>
                </a:gridCol>
              </a:tblGrid>
              <a:tr h="1333301">
                <a:tc>
                  <a:txBody>
                    <a:bodyPr/>
                    <a:lstStyle/>
                    <a:p>
                      <a:r>
                        <a:rPr lang="en-HK" sz="2000" b="1" kern="1200" dirty="0">
                          <a:solidFill>
                            <a:schemeClr val="lt1"/>
                          </a:solidFill>
                          <a:effectLst/>
                          <a:latin typeface="+mn-lt"/>
                          <a:ea typeface="+mn-ea"/>
                          <a:cs typeface="+mn-cs"/>
                        </a:rPr>
                        <a:t>System Message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HK" sz="1600" b="1" kern="1200" dirty="0">
                        <a:solidFill>
                          <a:schemeClr val="lt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HK" sz="1600" b="1" kern="1200" dirty="0">
                          <a:solidFill>
                            <a:schemeClr val="lt1"/>
                          </a:solidFill>
                          <a:effectLst/>
                          <a:latin typeface="+mn-lt"/>
                          <a:ea typeface="+mn-ea"/>
                          <a:cs typeface="+mn-cs"/>
                        </a:rPr>
                        <a:t>Classify customer reviews in the input as positive or negative in sentiment.</a:t>
                      </a:r>
                      <a:br>
                        <a:rPr lang="en-HK" sz="1600" b="1" kern="1200" dirty="0">
                          <a:solidFill>
                            <a:schemeClr val="lt1"/>
                          </a:solidFill>
                          <a:effectLst/>
                          <a:latin typeface="+mn-lt"/>
                          <a:ea typeface="+mn-ea"/>
                          <a:cs typeface="+mn-cs"/>
                        </a:rPr>
                      </a:br>
                      <a:r>
                        <a:rPr lang="en-HK" sz="1600" b="1" kern="1200" dirty="0">
                          <a:solidFill>
                            <a:schemeClr val="lt1"/>
                          </a:solidFill>
                          <a:effectLst/>
                          <a:latin typeface="+mn-lt"/>
                          <a:ea typeface="+mn-ea"/>
                          <a:cs typeface="+mn-cs"/>
                        </a:rPr>
                        <a:t>Reviews will be delimited by triple backticks, that is, ```. </a:t>
                      </a:r>
                    </a:p>
                    <a:p>
                      <a:pPr marL="0" marR="0" lvl="0" indent="0" algn="l" defTabSz="914400" rtl="0" eaLnBrk="1" fontAlgn="auto" latinLnBrk="0" hangingPunct="1">
                        <a:lnSpc>
                          <a:spcPct val="100000"/>
                        </a:lnSpc>
                        <a:spcBef>
                          <a:spcPts val="0"/>
                        </a:spcBef>
                        <a:spcAft>
                          <a:spcPts val="0"/>
                        </a:spcAft>
                        <a:buClrTx/>
                        <a:buSzTx/>
                        <a:buFontTx/>
                        <a:buNone/>
                        <a:tabLst/>
                        <a:defRPr/>
                      </a:pPr>
                      <a:r>
                        <a:rPr lang="en-HK" sz="1600" b="1" kern="1200" dirty="0">
                          <a:solidFill>
                            <a:schemeClr val="lt1"/>
                          </a:solidFill>
                          <a:effectLst/>
                          <a:latin typeface="+mn-lt"/>
                          <a:ea typeface="+mn-ea"/>
                          <a:cs typeface="+mn-cs"/>
                        </a:rPr>
                        <a:t>Do not explain your answer. Your answer should only contain </a:t>
                      </a:r>
                    </a:p>
                    <a:p>
                      <a:pPr marL="0" marR="0" lvl="0" indent="0" algn="l" defTabSz="914400" rtl="0" eaLnBrk="1" fontAlgn="auto" latinLnBrk="0" hangingPunct="1">
                        <a:lnSpc>
                          <a:spcPct val="100000"/>
                        </a:lnSpc>
                        <a:spcBef>
                          <a:spcPts val="0"/>
                        </a:spcBef>
                        <a:spcAft>
                          <a:spcPts val="0"/>
                        </a:spcAft>
                        <a:buClrTx/>
                        <a:buSzTx/>
                        <a:buFontTx/>
                        <a:buNone/>
                        <a:tabLst/>
                        <a:defRPr/>
                      </a:pPr>
                      <a:r>
                        <a:rPr lang="en-HK" sz="1600" b="1" kern="1200" dirty="0">
                          <a:solidFill>
                            <a:schemeClr val="lt1"/>
                          </a:solidFill>
                          <a:effectLst/>
                          <a:latin typeface="+mn-lt"/>
                          <a:ea typeface="+mn-ea"/>
                          <a:cs typeface="+mn-cs"/>
                        </a:rPr>
                        <a:t>the label: positive or negative. </a:t>
                      </a:r>
                    </a:p>
                  </a:txBody>
                  <a:tcPr/>
                </a:tc>
                <a:extLst>
                  <a:ext uri="{0D108BD9-81ED-4DB2-BD59-A6C34878D82A}">
                    <a16:rowId xmlns:a16="http://schemas.microsoft.com/office/drawing/2014/main" val="3469103948"/>
                  </a:ext>
                </a:extLst>
              </a:tr>
              <a:tr h="1058480">
                <a:tc>
                  <a:txBody>
                    <a:bodyPr/>
                    <a:lstStyle/>
                    <a:p>
                      <a:pPr marL="0" algn="l" defTabSz="914400" rtl="0" eaLnBrk="1" latinLnBrk="0" hangingPunct="1"/>
                      <a:endParaRPr lang="en-HK" sz="1800" kern="1200" dirty="0">
                        <a:solidFill>
                          <a:srgbClr val="FF0000"/>
                        </a:solidFill>
                        <a:effectLst/>
                        <a:latin typeface="+mn-lt"/>
                        <a:ea typeface="+mn-ea"/>
                        <a:cs typeface="+mn-cs"/>
                      </a:endParaRPr>
                    </a:p>
                  </a:txBody>
                  <a:tcPr>
                    <a:solidFill>
                      <a:schemeClr val="bg1"/>
                    </a:solidFill>
                  </a:tcPr>
                </a:tc>
                <a:extLst>
                  <a:ext uri="{0D108BD9-81ED-4DB2-BD59-A6C34878D82A}">
                    <a16:rowId xmlns:a16="http://schemas.microsoft.com/office/drawing/2014/main" val="992354652"/>
                  </a:ext>
                </a:extLst>
              </a:tr>
              <a:tr h="1351819">
                <a:tc>
                  <a:txBody>
                    <a:bodyPr/>
                    <a:lstStyle/>
                    <a:p>
                      <a:pPr marL="0" algn="l" defTabSz="914400" rtl="0" eaLnBrk="1" latinLnBrk="0" hangingPunct="1"/>
                      <a:r>
                        <a:rPr lang="en-HK" sz="2000" b="1" kern="1200" dirty="0">
                          <a:solidFill>
                            <a:schemeClr val="accent4">
                              <a:lumMod val="50000"/>
                            </a:schemeClr>
                          </a:solidFill>
                          <a:effectLst/>
                          <a:latin typeface="+mn-lt"/>
                          <a:ea typeface="+mn-ea"/>
                          <a:cs typeface="+mn-cs"/>
                        </a:rPr>
                        <a:t>User Input </a:t>
                      </a:r>
                    </a:p>
                    <a:p>
                      <a:pPr marL="0" algn="l" defTabSz="914400" rtl="0" eaLnBrk="1" latinLnBrk="0" hangingPunct="1"/>
                      <a:endParaRPr lang="en-HK" sz="2000" kern="1200" dirty="0">
                        <a:solidFill>
                          <a:schemeClr val="accent4">
                            <a:lumMod val="50000"/>
                          </a:schemeClr>
                        </a:solidFill>
                        <a:effectLst/>
                        <a:latin typeface="+mn-lt"/>
                        <a:ea typeface="+mn-ea"/>
                        <a:cs typeface="+mn-cs"/>
                      </a:endParaRPr>
                    </a:p>
                    <a:p>
                      <a:r>
                        <a:rPr lang="en-HK" sz="1800" kern="1200" dirty="0">
                          <a:solidFill>
                            <a:schemeClr val="dk1"/>
                          </a:solidFill>
                          <a:effectLst/>
                          <a:latin typeface="+mn-lt"/>
                          <a:ea typeface="+mn-ea"/>
                          <a:cs typeface="+mn-cs"/>
                        </a:rPr>
                        <a:t>```I couldn't be happier with my experience at your store!``` </a:t>
                      </a:r>
                    </a:p>
                  </a:txBody>
                  <a:tcPr/>
                </a:tc>
                <a:extLst>
                  <a:ext uri="{0D108BD9-81ED-4DB2-BD59-A6C34878D82A}">
                    <a16:rowId xmlns:a16="http://schemas.microsoft.com/office/drawing/2014/main" val="773582239"/>
                  </a:ext>
                </a:extLst>
              </a:tr>
            </a:tbl>
          </a:graphicData>
        </a:graphic>
      </p:graphicFrame>
      <p:cxnSp>
        <p:nvCxnSpPr>
          <p:cNvPr id="20" name="Curved Connector 19">
            <a:extLst>
              <a:ext uri="{FF2B5EF4-FFF2-40B4-BE49-F238E27FC236}">
                <a16:creationId xmlns:a16="http://schemas.microsoft.com/office/drawing/2014/main" id="{08C1FCE0-9FCF-0766-8B19-2E9F6E6E3A04}"/>
              </a:ext>
            </a:extLst>
          </p:cNvPr>
          <p:cNvCxnSpPr>
            <a:cxnSpLocks/>
            <a:stCxn id="7" idx="3"/>
            <a:endCxn id="5" idx="1"/>
          </p:cNvCxnSpPr>
          <p:nvPr/>
        </p:nvCxnSpPr>
        <p:spPr>
          <a:xfrm>
            <a:off x="9461719" y="4564349"/>
            <a:ext cx="744984" cy="12700"/>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9477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400" dirty="0">
                <a:latin typeface=""/>
                <a:cs typeface="Arial" panose="020B0604020202020204" pitchFamily="34" charset="0"/>
              </a:rPr>
              <a:t>Prompt Engineering Fundamentals</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841248" y="1751451"/>
            <a:ext cx="10451592" cy="400110"/>
          </a:xfrm>
          <a:prstGeom prst="rect">
            <a:avLst/>
          </a:prstGeom>
          <a:noFill/>
        </p:spPr>
        <p:txBody>
          <a:bodyPr wrap="square">
            <a:spAutoFit/>
          </a:bodyPr>
          <a:lstStyle/>
          <a:p>
            <a:r>
              <a:rPr lang="en-HK" sz="2000" dirty="0">
                <a:effectLst/>
                <a:highlight>
                  <a:srgbClr val="FFFFFF"/>
                </a:highlight>
                <a:latin typeface="75,Italic"/>
              </a:rPr>
              <a:t>Few-shot prompt template example - Summarization </a:t>
            </a:r>
            <a:endParaRPr lang="en-HK" sz="2000" dirty="0">
              <a:effectLst/>
              <a:highlight>
                <a:srgbClr val="FFFFFF"/>
              </a:highlight>
            </a:endParaRPr>
          </a:p>
        </p:txBody>
      </p:sp>
      <p:sp>
        <p:nvSpPr>
          <p:cNvPr id="5" name="Rectangle 4">
            <a:extLst>
              <a:ext uri="{FF2B5EF4-FFF2-40B4-BE49-F238E27FC236}">
                <a16:creationId xmlns:a16="http://schemas.microsoft.com/office/drawing/2014/main" id="{3E9EA366-168B-ABBB-0480-7BD66C7D25CB}"/>
              </a:ext>
            </a:extLst>
          </p:cNvPr>
          <p:cNvSpPr/>
          <p:nvPr/>
        </p:nvSpPr>
        <p:spPr>
          <a:xfrm>
            <a:off x="10106780" y="4091339"/>
            <a:ext cx="1649186" cy="71662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Prediction</a:t>
            </a:r>
          </a:p>
        </p:txBody>
      </p:sp>
      <p:sp>
        <p:nvSpPr>
          <p:cNvPr id="7" name="Rounded Rectangle 6">
            <a:extLst>
              <a:ext uri="{FF2B5EF4-FFF2-40B4-BE49-F238E27FC236}">
                <a16:creationId xmlns:a16="http://schemas.microsoft.com/office/drawing/2014/main" id="{CF7C259C-CB30-E0B0-24D6-41425F80013C}"/>
              </a:ext>
            </a:extLst>
          </p:cNvPr>
          <p:cNvSpPr/>
          <p:nvPr/>
        </p:nvSpPr>
        <p:spPr>
          <a:xfrm>
            <a:off x="7850275" y="4091340"/>
            <a:ext cx="1649186" cy="716621"/>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LLM API</a:t>
            </a:r>
          </a:p>
        </p:txBody>
      </p:sp>
      <p:cxnSp>
        <p:nvCxnSpPr>
          <p:cNvPr id="19" name="Curved Connector 18">
            <a:extLst>
              <a:ext uri="{FF2B5EF4-FFF2-40B4-BE49-F238E27FC236}">
                <a16:creationId xmlns:a16="http://schemas.microsoft.com/office/drawing/2014/main" id="{D93602EE-EDC3-3E58-4744-5F29B3DFCCBD}"/>
              </a:ext>
            </a:extLst>
          </p:cNvPr>
          <p:cNvCxnSpPr>
            <a:cxnSpLocks/>
            <a:stCxn id="3" idx="3"/>
            <a:endCxn id="7" idx="1"/>
          </p:cNvCxnSpPr>
          <p:nvPr/>
        </p:nvCxnSpPr>
        <p:spPr>
          <a:xfrm>
            <a:off x="7234956" y="4449651"/>
            <a:ext cx="615319" cy="12700"/>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3" name="Table 2">
            <a:extLst>
              <a:ext uri="{FF2B5EF4-FFF2-40B4-BE49-F238E27FC236}">
                <a16:creationId xmlns:a16="http://schemas.microsoft.com/office/drawing/2014/main" id="{9C8C008D-F0FF-4214-20F7-DC60B211E001}"/>
              </a:ext>
            </a:extLst>
          </p:cNvPr>
          <p:cNvGraphicFramePr>
            <a:graphicFrameLocks noGrp="1"/>
          </p:cNvGraphicFramePr>
          <p:nvPr>
            <p:extLst>
              <p:ext uri="{D42A27DB-BD31-4B8C-83A1-F6EECF244321}">
                <p14:modId xmlns:p14="http://schemas.microsoft.com/office/powerpoint/2010/main" val="144284906"/>
              </p:ext>
            </p:extLst>
          </p:nvPr>
        </p:nvGraphicFramePr>
        <p:xfrm>
          <a:off x="436034" y="2282891"/>
          <a:ext cx="6798922" cy="4333521"/>
        </p:xfrm>
        <a:graphic>
          <a:graphicData uri="http://schemas.openxmlformats.org/drawingml/2006/table">
            <a:tbl>
              <a:tblPr firstRow="1" bandRow="1">
                <a:tableStyleId>{5C22544A-7EE6-4342-B048-85BDC9FD1C3A}</a:tableStyleId>
              </a:tblPr>
              <a:tblGrid>
                <a:gridCol w="6798922">
                  <a:extLst>
                    <a:ext uri="{9D8B030D-6E8A-4147-A177-3AD203B41FA5}">
                      <a16:colId xmlns:a16="http://schemas.microsoft.com/office/drawing/2014/main" val="771504321"/>
                    </a:ext>
                  </a:extLst>
                </a:gridCol>
              </a:tblGrid>
              <a:tr h="1188814">
                <a:tc>
                  <a:txBody>
                    <a:bodyPr/>
                    <a:lstStyle/>
                    <a:p>
                      <a:r>
                        <a:rPr lang="en-HK" sz="2000" b="1" kern="1200" dirty="0">
                          <a:solidFill>
                            <a:schemeClr val="lt1"/>
                          </a:solidFill>
                          <a:effectLst/>
                          <a:latin typeface="+mn-lt"/>
                          <a:ea typeface="+mn-ea"/>
                          <a:cs typeface="+mn-cs"/>
                        </a:rPr>
                        <a:t>System Message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HK" sz="1600" b="1" kern="1200" dirty="0">
                        <a:solidFill>
                          <a:schemeClr val="lt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HK" sz="1600" b="1" kern="1200" dirty="0">
                          <a:solidFill>
                            <a:schemeClr val="lt1"/>
                          </a:solidFill>
                          <a:effectLst/>
                          <a:latin typeface="+mn-lt"/>
                          <a:ea typeface="+mn-ea"/>
                          <a:cs typeface="+mn-cs"/>
                        </a:rPr>
                        <a:t>Summarize the dialogue mentioned in the user input. Be specific and concise in your summary. </a:t>
                      </a:r>
                    </a:p>
                  </a:txBody>
                  <a:tcPr/>
                </a:tc>
                <a:extLst>
                  <a:ext uri="{0D108BD9-81ED-4DB2-BD59-A6C34878D82A}">
                    <a16:rowId xmlns:a16="http://schemas.microsoft.com/office/drawing/2014/main" val="3469103948"/>
                  </a:ext>
                </a:extLst>
              </a:tr>
              <a:tr h="1308303">
                <a:tc>
                  <a:txBody>
                    <a:bodyPr/>
                    <a:lstStyle/>
                    <a:p>
                      <a:pPr marL="0" algn="l" defTabSz="914400" rtl="0" eaLnBrk="1" latinLnBrk="0" hangingPunct="1"/>
                      <a:r>
                        <a:rPr lang="en-HK" sz="2000" b="1" kern="1200" dirty="0">
                          <a:solidFill>
                            <a:srgbClr val="FF0000"/>
                          </a:solidFill>
                          <a:effectLst/>
                          <a:latin typeface="+mn-lt"/>
                          <a:ea typeface="+mn-ea"/>
                          <a:cs typeface="+mn-cs"/>
                        </a:rPr>
                        <a:t>Few Shot Examples </a:t>
                      </a:r>
                    </a:p>
                    <a:p>
                      <a:pPr marL="0" algn="l" defTabSz="914400" rtl="0" eaLnBrk="1" latinLnBrk="0" hangingPunct="1"/>
                      <a:endParaRPr lang="en-HK" sz="1800" kern="1200" dirty="0">
                        <a:solidFill>
                          <a:srgbClr val="FF0000"/>
                        </a:solidFill>
                        <a:effectLst/>
                        <a:latin typeface="+mn-lt"/>
                        <a:ea typeface="+mn-ea"/>
                        <a:cs typeface="+mn-cs"/>
                      </a:endParaRPr>
                    </a:p>
                    <a:p>
                      <a:pPr marL="0" algn="l" defTabSz="914400" rtl="0" eaLnBrk="1" latinLnBrk="0" hangingPunct="1"/>
                      <a:r>
                        <a:rPr lang="en-HK" sz="1000" kern="1200" dirty="0">
                          <a:solidFill>
                            <a:srgbClr val="FF0000"/>
                          </a:solidFill>
                          <a:effectLst/>
                          <a:latin typeface="+mn-lt"/>
                          <a:ea typeface="+mn-ea"/>
                          <a:cs typeface="+mn-cs"/>
                        </a:rPr>
                        <a:t>User: ###Dialogue: #Person1#: Good afternoon Miss, would you be interested in buying more life insurance? You know, you can never get enough.\n#Person2#: I think my husband has some.\n#Person1#: Are you sure he ' s purchased enough insurance for both of you? </a:t>
                      </a:r>
                    </a:p>
                    <a:p>
                      <a:pPr marL="0" algn="l" defTabSz="914400" rtl="0" eaLnBrk="1" latinLnBrk="0" hangingPunct="1"/>
                      <a:r>
                        <a:rPr lang="en-HK" sz="1000" kern="1200" dirty="0">
                          <a:solidFill>
                            <a:srgbClr val="FF0000"/>
                          </a:solidFill>
                          <a:effectLst/>
                          <a:latin typeface="+mn-lt"/>
                          <a:ea typeface="+mn-ea"/>
                          <a:cs typeface="+mn-cs"/>
                        </a:rPr>
                        <a:t>Assistant: Person1# recommends #Person2# to buy more life insurance. Even though #Person2#'s husband has some, those insurances can't cover both of them. </a:t>
                      </a:r>
                    </a:p>
                  </a:txBody>
                  <a:tcPr/>
                </a:tc>
                <a:extLst>
                  <a:ext uri="{0D108BD9-81ED-4DB2-BD59-A6C34878D82A}">
                    <a16:rowId xmlns:a16="http://schemas.microsoft.com/office/drawing/2014/main" val="992354652"/>
                  </a:ext>
                </a:extLst>
              </a:tr>
              <a:tr h="1712147">
                <a:tc>
                  <a:txBody>
                    <a:bodyPr/>
                    <a:lstStyle/>
                    <a:p>
                      <a:pPr marL="0" algn="l" defTabSz="914400" rtl="0" eaLnBrk="1" latinLnBrk="0" hangingPunct="1"/>
                      <a:r>
                        <a:rPr lang="en-HK" sz="2000" b="1" kern="1200" dirty="0">
                          <a:solidFill>
                            <a:schemeClr val="accent4">
                              <a:lumMod val="50000"/>
                            </a:schemeClr>
                          </a:solidFill>
                          <a:effectLst/>
                          <a:latin typeface="+mn-lt"/>
                          <a:ea typeface="+mn-ea"/>
                          <a:cs typeface="+mn-cs"/>
                        </a:rPr>
                        <a:t>User Input </a:t>
                      </a:r>
                    </a:p>
                    <a:p>
                      <a:pPr marL="0" algn="l" defTabSz="914400" rtl="0" eaLnBrk="1" latinLnBrk="0" hangingPunct="1"/>
                      <a:endParaRPr lang="en-HK" sz="2000" kern="1200" dirty="0">
                        <a:solidFill>
                          <a:schemeClr val="accent4">
                            <a:lumMod val="50000"/>
                          </a:schemeClr>
                        </a:solidFill>
                        <a:effectLst/>
                        <a:latin typeface="+mn-lt"/>
                        <a:ea typeface="+mn-ea"/>
                        <a:cs typeface="+mn-cs"/>
                      </a:endParaRPr>
                    </a:p>
                    <a:p>
                      <a:pPr marL="0" algn="l" defTabSz="914400" rtl="0" eaLnBrk="1" latinLnBrk="0" hangingPunct="1"/>
                      <a:r>
                        <a:rPr lang="en-HK" sz="1800" kern="1200" dirty="0">
                          <a:solidFill>
                            <a:schemeClr val="accent4">
                              <a:lumMod val="50000"/>
                            </a:schemeClr>
                          </a:solidFill>
                          <a:effectLst/>
                          <a:latin typeface="+mn-lt"/>
                          <a:ea typeface="+mn-ea"/>
                          <a:cs typeface="+mn-cs"/>
                        </a:rPr>
                        <a:t>###Dialogue: Person1#: Here we come. #Person2#: Thank you.</a:t>
                      </a:r>
                    </a:p>
                    <a:p>
                      <a:pPr marL="0" algn="l" defTabSz="914400" rtl="0" eaLnBrk="1" latinLnBrk="0" hangingPunct="1"/>
                      <a:r>
                        <a:rPr lang="en-HK" sz="1800" kern="1200" dirty="0">
                          <a:solidFill>
                            <a:schemeClr val="accent4">
                              <a:lumMod val="50000"/>
                            </a:schemeClr>
                          </a:solidFill>
                          <a:effectLst/>
                          <a:latin typeface="+mn-lt"/>
                          <a:ea typeface="+mn-ea"/>
                          <a:cs typeface="+mn-cs"/>
                        </a:rPr>
                        <a:t>What's the fare? #Person1#: $ 10. #Person2#: How can it be?</a:t>
                      </a:r>
                    </a:p>
                    <a:p>
                      <a:pPr marL="0" algn="l" defTabSz="914400" rtl="0" eaLnBrk="1" latinLnBrk="0" hangingPunct="1"/>
                      <a:r>
                        <a:rPr lang="en-HK" sz="1800" kern="1200" dirty="0">
                          <a:solidFill>
                            <a:schemeClr val="accent4">
                              <a:lumMod val="50000"/>
                            </a:schemeClr>
                          </a:solidFill>
                          <a:effectLst/>
                          <a:latin typeface="+mn-lt"/>
                          <a:ea typeface="+mn-ea"/>
                          <a:cs typeface="+mn-cs"/>
                        </a:rPr>
                        <a:t>```</a:t>
                      </a:r>
                    </a:p>
                  </a:txBody>
                  <a:tcPr/>
                </a:tc>
                <a:extLst>
                  <a:ext uri="{0D108BD9-81ED-4DB2-BD59-A6C34878D82A}">
                    <a16:rowId xmlns:a16="http://schemas.microsoft.com/office/drawing/2014/main" val="773582239"/>
                  </a:ext>
                </a:extLst>
              </a:tr>
            </a:tbl>
          </a:graphicData>
        </a:graphic>
      </p:graphicFrame>
      <p:cxnSp>
        <p:nvCxnSpPr>
          <p:cNvPr id="20" name="Curved Connector 19">
            <a:extLst>
              <a:ext uri="{FF2B5EF4-FFF2-40B4-BE49-F238E27FC236}">
                <a16:creationId xmlns:a16="http://schemas.microsoft.com/office/drawing/2014/main" id="{08C1FCE0-9FCF-0766-8B19-2E9F6E6E3A04}"/>
              </a:ext>
            </a:extLst>
          </p:cNvPr>
          <p:cNvCxnSpPr>
            <a:cxnSpLocks/>
            <a:stCxn id="7" idx="3"/>
            <a:endCxn id="5" idx="1"/>
          </p:cNvCxnSpPr>
          <p:nvPr/>
        </p:nvCxnSpPr>
        <p:spPr>
          <a:xfrm flipV="1">
            <a:off x="9499461" y="4449650"/>
            <a:ext cx="607319" cy="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4423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400" dirty="0">
                <a:latin typeface=""/>
                <a:cs typeface="Arial" panose="020B0604020202020204" pitchFamily="34" charset="0"/>
              </a:rPr>
              <a:t>Prompt Evaluation</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ounded Rectangle 6">
            <a:extLst>
              <a:ext uri="{FF2B5EF4-FFF2-40B4-BE49-F238E27FC236}">
                <a16:creationId xmlns:a16="http://schemas.microsoft.com/office/drawing/2014/main" id="{CF7C259C-CB30-E0B0-24D6-41425F80013C}"/>
              </a:ext>
            </a:extLst>
          </p:cNvPr>
          <p:cNvSpPr/>
          <p:nvPr/>
        </p:nvSpPr>
        <p:spPr>
          <a:xfrm>
            <a:off x="4840375" y="1915149"/>
            <a:ext cx="1649186" cy="716621"/>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Prompt</a:t>
            </a:r>
          </a:p>
        </p:txBody>
      </p:sp>
      <p:cxnSp>
        <p:nvCxnSpPr>
          <p:cNvPr id="20" name="Curved Connector 19">
            <a:extLst>
              <a:ext uri="{FF2B5EF4-FFF2-40B4-BE49-F238E27FC236}">
                <a16:creationId xmlns:a16="http://schemas.microsoft.com/office/drawing/2014/main" id="{08C1FCE0-9FCF-0766-8B19-2E9F6E6E3A04}"/>
              </a:ext>
            </a:extLst>
          </p:cNvPr>
          <p:cNvCxnSpPr>
            <a:cxnSpLocks/>
            <a:stCxn id="7" idx="3"/>
            <a:endCxn id="25" idx="1"/>
          </p:cNvCxnSpPr>
          <p:nvPr/>
        </p:nvCxnSpPr>
        <p:spPr>
          <a:xfrm>
            <a:off x="6489561" y="2273460"/>
            <a:ext cx="2307843" cy="1394906"/>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3DC08E9A-6E48-FD08-8604-C2F06DB52F76}"/>
              </a:ext>
            </a:extLst>
          </p:cNvPr>
          <p:cNvSpPr txBox="1"/>
          <p:nvPr/>
        </p:nvSpPr>
        <p:spPr>
          <a:xfrm>
            <a:off x="2975640" y="2631770"/>
            <a:ext cx="1507439" cy="646331"/>
          </a:xfrm>
          <a:prstGeom prst="rect">
            <a:avLst/>
          </a:prstGeom>
          <a:noFill/>
        </p:spPr>
        <p:txBody>
          <a:bodyPr wrap="square">
            <a:spAutoFit/>
          </a:bodyPr>
          <a:lstStyle>
            <a:defPPr>
              <a:defRPr lang="en-US"/>
            </a:defPPr>
            <a:lvl1pPr algn="ctr">
              <a:defRPr>
                <a:effectLst/>
                <a:highlight>
                  <a:srgbClr val="FFFFFF"/>
                </a:highlight>
                <a:latin typeface="73"/>
              </a:defRPr>
            </a:lvl1pPr>
          </a:lstStyle>
          <a:p>
            <a:r>
              <a:rPr lang="en-HK" dirty="0"/>
              <a:t>Classification tasks </a:t>
            </a:r>
          </a:p>
        </p:txBody>
      </p:sp>
      <p:sp>
        <p:nvSpPr>
          <p:cNvPr id="14" name="TextBox 13">
            <a:extLst>
              <a:ext uri="{FF2B5EF4-FFF2-40B4-BE49-F238E27FC236}">
                <a16:creationId xmlns:a16="http://schemas.microsoft.com/office/drawing/2014/main" id="{ADF1C6B7-0E1E-F4BB-F253-AF62C49D22F6}"/>
              </a:ext>
            </a:extLst>
          </p:cNvPr>
          <p:cNvSpPr txBox="1"/>
          <p:nvPr/>
        </p:nvSpPr>
        <p:spPr>
          <a:xfrm>
            <a:off x="865953" y="3076383"/>
            <a:ext cx="1848752" cy="954107"/>
          </a:xfrm>
          <a:prstGeom prst="rect">
            <a:avLst/>
          </a:prstGeom>
          <a:noFill/>
        </p:spPr>
        <p:txBody>
          <a:bodyPr wrap="square">
            <a:spAutoFit/>
          </a:bodyPr>
          <a:lstStyle/>
          <a:p>
            <a:pPr algn="ctr"/>
            <a:r>
              <a:rPr lang="en-HK" sz="2800" b="1" dirty="0">
                <a:effectLst/>
                <a:highlight>
                  <a:srgbClr val="FFFFFF"/>
                </a:highlight>
                <a:latin typeface="74,Bold"/>
              </a:rPr>
              <a:t>Predicted Labels </a:t>
            </a:r>
            <a:endParaRPr lang="en-HK" sz="2800" b="1" dirty="0">
              <a:effectLst/>
              <a:highlight>
                <a:srgbClr val="FFFFFF"/>
              </a:highlight>
            </a:endParaRPr>
          </a:p>
        </p:txBody>
      </p:sp>
      <p:sp>
        <p:nvSpPr>
          <p:cNvPr id="16" name="TextBox 15">
            <a:extLst>
              <a:ext uri="{FF2B5EF4-FFF2-40B4-BE49-F238E27FC236}">
                <a16:creationId xmlns:a16="http://schemas.microsoft.com/office/drawing/2014/main" id="{8FC32501-0F82-F342-E79C-1F04D4E452CE}"/>
              </a:ext>
            </a:extLst>
          </p:cNvPr>
          <p:cNvSpPr txBox="1"/>
          <p:nvPr/>
        </p:nvSpPr>
        <p:spPr>
          <a:xfrm>
            <a:off x="697162" y="5761878"/>
            <a:ext cx="2136924" cy="954107"/>
          </a:xfrm>
          <a:prstGeom prst="rect">
            <a:avLst/>
          </a:prstGeom>
          <a:noFill/>
        </p:spPr>
        <p:txBody>
          <a:bodyPr wrap="square">
            <a:spAutoFit/>
          </a:bodyPr>
          <a:lstStyle>
            <a:defPPr>
              <a:defRPr lang="en-US"/>
            </a:defPPr>
            <a:lvl1pPr>
              <a:defRPr sz="2800" b="1">
                <a:effectLst/>
                <a:highlight>
                  <a:srgbClr val="FFFFFF"/>
                </a:highlight>
                <a:latin typeface="74,Bold"/>
              </a:defRPr>
            </a:lvl1pPr>
          </a:lstStyle>
          <a:p>
            <a:pPr algn="ctr"/>
            <a:r>
              <a:rPr lang="en-HK" dirty="0"/>
              <a:t>Ground Truth Labels </a:t>
            </a:r>
          </a:p>
        </p:txBody>
      </p:sp>
      <p:cxnSp>
        <p:nvCxnSpPr>
          <p:cNvPr id="22" name="Straight Arrow Connector 21">
            <a:extLst>
              <a:ext uri="{FF2B5EF4-FFF2-40B4-BE49-F238E27FC236}">
                <a16:creationId xmlns:a16="http://schemas.microsoft.com/office/drawing/2014/main" id="{2379C93D-4FD2-96B6-0CBC-E2E10224EDBC}"/>
              </a:ext>
            </a:extLst>
          </p:cNvPr>
          <p:cNvCxnSpPr>
            <a:stCxn id="14" idx="2"/>
            <a:endCxn id="16" idx="0"/>
          </p:cNvCxnSpPr>
          <p:nvPr/>
        </p:nvCxnSpPr>
        <p:spPr>
          <a:xfrm flipH="1">
            <a:off x="1765624" y="4030490"/>
            <a:ext cx="24705" cy="173138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79133EC3-9849-EC55-15CC-7818C04EAAC2}"/>
              </a:ext>
            </a:extLst>
          </p:cNvPr>
          <p:cNvSpPr txBox="1"/>
          <p:nvPr/>
        </p:nvSpPr>
        <p:spPr>
          <a:xfrm>
            <a:off x="841248" y="4763270"/>
            <a:ext cx="1848752" cy="369332"/>
          </a:xfrm>
          <a:prstGeom prst="rect">
            <a:avLst/>
          </a:prstGeom>
          <a:noFill/>
        </p:spPr>
        <p:txBody>
          <a:bodyPr wrap="square">
            <a:spAutoFit/>
          </a:bodyPr>
          <a:lstStyle/>
          <a:p>
            <a:r>
              <a:rPr lang="en-HK" sz="1800" dirty="0">
                <a:effectLst/>
                <a:highlight>
                  <a:srgbClr val="FFFFFF"/>
                </a:highlight>
                <a:latin typeface="73"/>
              </a:rPr>
              <a:t>Compared with </a:t>
            </a:r>
            <a:endParaRPr lang="en-HK" dirty="0">
              <a:effectLst/>
              <a:highlight>
                <a:srgbClr val="FFFFFF"/>
              </a:highlight>
            </a:endParaRPr>
          </a:p>
        </p:txBody>
      </p:sp>
      <p:sp>
        <p:nvSpPr>
          <p:cNvPr id="24" name="TextBox 23">
            <a:extLst>
              <a:ext uri="{FF2B5EF4-FFF2-40B4-BE49-F238E27FC236}">
                <a16:creationId xmlns:a16="http://schemas.microsoft.com/office/drawing/2014/main" id="{F9505CEE-D113-68A0-E59F-D95D82D8E4FE}"/>
              </a:ext>
            </a:extLst>
          </p:cNvPr>
          <p:cNvSpPr txBox="1"/>
          <p:nvPr/>
        </p:nvSpPr>
        <p:spPr>
          <a:xfrm>
            <a:off x="6846857" y="2590282"/>
            <a:ext cx="1848752" cy="646331"/>
          </a:xfrm>
          <a:prstGeom prst="rect">
            <a:avLst/>
          </a:prstGeom>
          <a:noFill/>
        </p:spPr>
        <p:txBody>
          <a:bodyPr wrap="square">
            <a:spAutoFit/>
          </a:bodyPr>
          <a:lstStyle/>
          <a:p>
            <a:pPr algn="ctr"/>
            <a:r>
              <a:rPr lang="en-HK" sz="1800" dirty="0">
                <a:effectLst/>
                <a:highlight>
                  <a:srgbClr val="FFFFFF"/>
                </a:highlight>
                <a:latin typeface="73"/>
              </a:rPr>
              <a:t>Summarization tasks </a:t>
            </a:r>
            <a:endParaRPr lang="en-HK" dirty="0">
              <a:effectLst/>
              <a:highlight>
                <a:srgbClr val="FFFFFF"/>
              </a:highlight>
            </a:endParaRPr>
          </a:p>
        </p:txBody>
      </p:sp>
      <p:sp>
        <p:nvSpPr>
          <p:cNvPr id="25" name="TextBox 24">
            <a:extLst>
              <a:ext uri="{FF2B5EF4-FFF2-40B4-BE49-F238E27FC236}">
                <a16:creationId xmlns:a16="http://schemas.microsoft.com/office/drawing/2014/main" id="{ADB2DBFF-DA0F-4C3A-8989-CDD09077F6FE}"/>
              </a:ext>
            </a:extLst>
          </p:cNvPr>
          <p:cNvSpPr txBox="1"/>
          <p:nvPr/>
        </p:nvSpPr>
        <p:spPr>
          <a:xfrm>
            <a:off x="8797404" y="3191312"/>
            <a:ext cx="1848752" cy="954107"/>
          </a:xfrm>
          <a:prstGeom prst="rect">
            <a:avLst/>
          </a:prstGeom>
          <a:noFill/>
        </p:spPr>
        <p:txBody>
          <a:bodyPr wrap="square">
            <a:spAutoFit/>
          </a:bodyPr>
          <a:lstStyle/>
          <a:p>
            <a:pPr algn="ctr"/>
            <a:r>
              <a:rPr lang="en-HK" sz="2800" b="1" dirty="0">
                <a:effectLst/>
                <a:highlight>
                  <a:srgbClr val="FFFFFF"/>
                </a:highlight>
                <a:latin typeface="74,Bold"/>
              </a:rPr>
              <a:t>Predicted Summaries </a:t>
            </a:r>
            <a:endParaRPr lang="en-HK" sz="2800" b="1" dirty="0">
              <a:effectLst/>
              <a:highlight>
                <a:srgbClr val="FFFFFF"/>
              </a:highlight>
            </a:endParaRPr>
          </a:p>
        </p:txBody>
      </p:sp>
      <p:sp>
        <p:nvSpPr>
          <p:cNvPr id="26" name="TextBox 25">
            <a:extLst>
              <a:ext uri="{FF2B5EF4-FFF2-40B4-BE49-F238E27FC236}">
                <a16:creationId xmlns:a16="http://schemas.microsoft.com/office/drawing/2014/main" id="{26D3E847-870E-D145-E95F-E71FC97BA055}"/>
              </a:ext>
            </a:extLst>
          </p:cNvPr>
          <p:cNvSpPr txBox="1"/>
          <p:nvPr/>
        </p:nvSpPr>
        <p:spPr>
          <a:xfrm>
            <a:off x="8628613" y="5798371"/>
            <a:ext cx="2136924" cy="954107"/>
          </a:xfrm>
          <a:prstGeom prst="rect">
            <a:avLst/>
          </a:prstGeom>
          <a:noFill/>
        </p:spPr>
        <p:txBody>
          <a:bodyPr wrap="square">
            <a:spAutoFit/>
          </a:bodyPr>
          <a:lstStyle>
            <a:defPPr>
              <a:defRPr lang="en-US"/>
            </a:defPPr>
            <a:lvl1pPr>
              <a:defRPr sz="2800" b="1">
                <a:effectLst/>
                <a:highlight>
                  <a:srgbClr val="FFFFFF"/>
                </a:highlight>
                <a:latin typeface="74,Bold"/>
              </a:defRPr>
            </a:lvl1pPr>
          </a:lstStyle>
          <a:p>
            <a:pPr algn="ctr"/>
            <a:r>
              <a:rPr lang="en-HK" dirty="0"/>
              <a:t>Evaluation Rubric</a:t>
            </a:r>
          </a:p>
        </p:txBody>
      </p:sp>
      <p:cxnSp>
        <p:nvCxnSpPr>
          <p:cNvPr id="27" name="Straight Arrow Connector 26">
            <a:extLst>
              <a:ext uri="{FF2B5EF4-FFF2-40B4-BE49-F238E27FC236}">
                <a16:creationId xmlns:a16="http://schemas.microsoft.com/office/drawing/2014/main" id="{11B21EAA-B52D-4E64-262E-1E8060A9C737}"/>
              </a:ext>
            </a:extLst>
          </p:cNvPr>
          <p:cNvCxnSpPr>
            <a:stCxn id="25" idx="2"/>
            <a:endCxn id="26" idx="0"/>
          </p:cNvCxnSpPr>
          <p:nvPr/>
        </p:nvCxnSpPr>
        <p:spPr>
          <a:xfrm flipH="1">
            <a:off x="9697075" y="4145419"/>
            <a:ext cx="24705" cy="165295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0216C38D-6CBD-E0E5-2073-C37BFADA5F8F}"/>
              </a:ext>
            </a:extLst>
          </p:cNvPr>
          <p:cNvSpPr txBox="1"/>
          <p:nvPr/>
        </p:nvSpPr>
        <p:spPr>
          <a:xfrm>
            <a:off x="8772699" y="4878199"/>
            <a:ext cx="1848752" cy="646331"/>
          </a:xfrm>
          <a:prstGeom prst="rect">
            <a:avLst/>
          </a:prstGeom>
          <a:noFill/>
        </p:spPr>
        <p:txBody>
          <a:bodyPr wrap="square">
            <a:spAutoFit/>
          </a:bodyPr>
          <a:lstStyle/>
          <a:p>
            <a:pPr algn="ctr"/>
            <a:r>
              <a:rPr lang="en-HK" sz="1800" dirty="0">
                <a:effectLst/>
                <a:highlight>
                  <a:srgbClr val="FFFFFF"/>
                </a:highlight>
                <a:latin typeface="73"/>
              </a:rPr>
              <a:t>Rated according to </a:t>
            </a:r>
            <a:endParaRPr lang="en-HK" dirty="0">
              <a:effectLst/>
              <a:highlight>
                <a:srgbClr val="FFFFFF"/>
              </a:highlight>
            </a:endParaRPr>
          </a:p>
        </p:txBody>
      </p:sp>
      <p:cxnSp>
        <p:nvCxnSpPr>
          <p:cNvPr id="32" name="Curved Connector 31">
            <a:extLst>
              <a:ext uri="{FF2B5EF4-FFF2-40B4-BE49-F238E27FC236}">
                <a16:creationId xmlns:a16="http://schemas.microsoft.com/office/drawing/2014/main" id="{A45B04CD-D0D0-6D10-BFFA-F578B09CDC50}"/>
              </a:ext>
            </a:extLst>
          </p:cNvPr>
          <p:cNvCxnSpPr>
            <a:cxnSpLocks/>
            <a:stCxn id="7" idx="1"/>
            <a:endCxn id="14" idx="3"/>
          </p:cNvCxnSpPr>
          <p:nvPr/>
        </p:nvCxnSpPr>
        <p:spPr>
          <a:xfrm rot="10800000" flipV="1">
            <a:off x="2714705" y="2273459"/>
            <a:ext cx="2125670" cy="1279977"/>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1856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400" dirty="0">
                <a:latin typeface=""/>
                <a:cs typeface="Arial" panose="020B0604020202020204" pitchFamily="34" charset="0"/>
              </a:rPr>
              <a:t>Summary</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ounded Rectangle 6">
            <a:extLst>
              <a:ext uri="{FF2B5EF4-FFF2-40B4-BE49-F238E27FC236}">
                <a16:creationId xmlns:a16="http://schemas.microsoft.com/office/drawing/2014/main" id="{CF7C259C-CB30-E0B0-24D6-41425F80013C}"/>
              </a:ext>
            </a:extLst>
          </p:cNvPr>
          <p:cNvSpPr/>
          <p:nvPr/>
        </p:nvSpPr>
        <p:spPr>
          <a:xfrm>
            <a:off x="573175" y="3787108"/>
            <a:ext cx="1649186" cy="716621"/>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LLMs</a:t>
            </a:r>
          </a:p>
        </p:txBody>
      </p:sp>
      <p:cxnSp>
        <p:nvCxnSpPr>
          <p:cNvPr id="20" name="Curved Connector 19">
            <a:extLst>
              <a:ext uri="{FF2B5EF4-FFF2-40B4-BE49-F238E27FC236}">
                <a16:creationId xmlns:a16="http://schemas.microsoft.com/office/drawing/2014/main" id="{08C1FCE0-9FCF-0766-8B19-2E9F6E6E3A04}"/>
              </a:ext>
            </a:extLst>
          </p:cNvPr>
          <p:cNvCxnSpPr>
            <a:cxnSpLocks/>
            <a:stCxn id="7" idx="3"/>
            <a:endCxn id="5" idx="1"/>
          </p:cNvCxnSpPr>
          <p:nvPr/>
        </p:nvCxnSpPr>
        <p:spPr>
          <a:xfrm flipV="1">
            <a:off x="2222361" y="2865619"/>
            <a:ext cx="858961" cy="1279800"/>
          </a:xfrm>
          <a:prstGeom prst="curvedConnector3">
            <a:avLst>
              <a:gd name="adj1" fmla="val 50000"/>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4" name="Rounded Rectangle 3">
            <a:extLst>
              <a:ext uri="{FF2B5EF4-FFF2-40B4-BE49-F238E27FC236}">
                <a16:creationId xmlns:a16="http://schemas.microsoft.com/office/drawing/2014/main" id="{37DC8C76-5EFB-249F-D377-89EE514C520A}"/>
              </a:ext>
            </a:extLst>
          </p:cNvPr>
          <p:cNvSpPr/>
          <p:nvPr/>
        </p:nvSpPr>
        <p:spPr>
          <a:xfrm>
            <a:off x="3049675" y="4785088"/>
            <a:ext cx="1649186" cy="716621"/>
          </a:xfrm>
          <a:prstGeom prst="roundRect">
            <a:avLst>
              <a:gd name="adj" fmla="val 50000"/>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Infer</a:t>
            </a:r>
          </a:p>
        </p:txBody>
      </p:sp>
      <p:sp>
        <p:nvSpPr>
          <p:cNvPr id="5" name="Rounded Rectangle 4">
            <a:extLst>
              <a:ext uri="{FF2B5EF4-FFF2-40B4-BE49-F238E27FC236}">
                <a16:creationId xmlns:a16="http://schemas.microsoft.com/office/drawing/2014/main" id="{B446EB0E-EDE8-977D-5DDE-A5C95BC48B6E}"/>
              </a:ext>
            </a:extLst>
          </p:cNvPr>
          <p:cNvSpPr/>
          <p:nvPr/>
        </p:nvSpPr>
        <p:spPr>
          <a:xfrm>
            <a:off x="3081322" y="2507308"/>
            <a:ext cx="1649186" cy="716621"/>
          </a:xfrm>
          <a:prstGeom prst="roundRect">
            <a:avLst>
              <a:gd name="adj" fmla="val 50000"/>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Train</a:t>
            </a:r>
          </a:p>
        </p:txBody>
      </p:sp>
      <p:sp>
        <p:nvSpPr>
          <p:cNvPr id="10" name="Rounded Rectangle 9">
            <a:extLst>
              <a:ext uri="{FF2B5EF4-FFF2-40B4-BE49-F238E27FC236}">
                <a16:creationId xmlns:a16="http://schemas.microsoft.com/office/drawing/2014/main" id="{C133718F-B98A-D69D-436D-76DAFC640A88}"/>
              </a:ext>
            </a:extLst>
          </p:cNvPr>
          <p:cNvSpPr/>
          <p:nvPr/>
        </p:nvSpPr>
        <p:spPr>
          <a:xfrm>
            <a:off x="6364731" y="1851337"/>
            <a:ext cx="2522268" cy="954107"/>
          </a:xfrm>
          <a:prstGeom prst="roundRect">
            <a:avLst>
              <a:gd name="adj" fmla="val 0"/>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HK" sz="2400" b="1" dirty="0">
                <a:solidFill>
                  <a:schemeClr val="bg1"/>
                </a:solidFill>
              </a:rPr>
              <a:t>Foundation Models </a:t>
            </a:r>
          </a:p>
        </p:txBody>
      </p:sp>
      <p:cxnSp>
        <p:nvCxnSpPr>
          <p:cNvPr id="11" name="Curved Connector 10">
            <a:extLst>
              <a:ext uri="{FF2B5EF4-FFF2-40B4-BE49-F238E27FC236}">
                <a16:creationId xmlns:a16="http://schemas.microsoft.com/office/drawing/2014/main" id="{325E1BCB-B840-D2B1-DE60-7B1DD2C632D8}"/>
              </a:ext>
            </a:extLst>
          </p:cNvPr>
          <p:cNvCxnSpPr>
            <a:cxnSpLocks/>
            <a:stCxn id="7" idx="3"/>
            <a:endCxn id="4" idx="1"/>
          </p:cNvCxnSpPr>
          <p:nvPr/>
        </p:nvCxnSpPr>
        <p:spPr>
          <a:xfrm>
            <a:off x="2222361" y="4145419"/>
            <a:ext cx="827314" cy="997980"/>
          </a:xfrm>
          <a:prstGeom prst="curvedConnector3">
            <a:avLst>
              <a:gd name="adj1" fmla="val 50000"/>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9" name="Curved Connector 18">
            <a:extLst>
              <a:ext uri="{FF2B5EF4-FFF2-40B4-BE49-F238E27FC236}">
                <a16:creationId xmlns:a16="http://schemas.microsoft.com/office/drawing/2014/main" id="{15CE56A0-339B-8014-AB44-CBC6082BC11F}"/>
              </a:ext>
            </a:extLst>
          </p:cNvPr>
          <p:cNvCxnSpPr>
            <a:cxnSpLocks/>
            <a:stCxn id="5" idx="3"/>
            <a:endCxn id="10" idx="1"/>
          </p:cNvCxnSpPr>
          <p:nvPr/>
        </p:nvCxnSpPr>
        <p:spPr>
          <a:xfrm flipV="1">
            <a:off x="4730508" y="2328391"/>
            <a:ext cx="1634223" cy="537228"/>
          </a:xfrm>
          <a:prstGeom prst="curvedConnector3">
            <a:avLst>
              <a:gd name="adj1" fmla="val 50000"/>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528D76F1-C0F9-C9C2-2EE0-293E395D1919}"/>
              </a:ext>
            </a:extLst>
          </p:cNvPr>
          <p:cNvSpPr txBox="1"/>
          <p:nvPr/>
        </p:nvSpPr>
        <p:spPr>
          <a:xfrm>
            <a:off x="8886999" y="1951906"/>
            <a:ext cx="2000250" cy="646331"/>
          </a:xfrm>
          <a:prstGeom prst="rect">
            <a:avLst/>
          </a:prstGeom>
          <a:noFill/>
        </p:spPr>
        <p:txBody>
          <a:bodyPr wrap="square">
            <a:spAutoFit/>
          </a:bodyPr>
          <a:lstStyle/>
          <a:p>
            <a:pPr algn="ctr"/>
            <a:r>
              <a:rPr lang="en-HK" sz="1800" dirty="0">
                <a:effectLst/>
                <a:highlight>
                  <a:srgbClr val="FFFFFF"/>
                </a:highlight>
                <a:latin typeface="69"/>
              </a:rPr>
              <a:t>Trained on language </a:t>
            </a:r>
            <a:r>
              <a:rPr lang="en-HK" sz="1800" dirty="0" err="1">
                <a:effectLst/>
                <a:highlight>
                  <a:srgbClr val="FFFFFF"/>
                </a:highlight>
                <a:latin typeface="69"/>
              </a:rPr>
              <a:t>modeling</a:t>
            </a:r>
            <a:r>
              <a:rPr lang="en-HK" sz="1800" dirty="0">
                <a:effectLst/>
                <a:highlight>
                  <a:srgbClr val="FFFFFF"/>
                </a:highlight>
                <a:latin typeface="69"/>
              </a:rPr>
              <a:t> </a:t>
            </a:r>
            <a:endParaRPr lang="en-HK" dirty="0">
              <a:effectLst/>
              <a:highlight>
                <a:srgbClr val="FFFFFF"/>
              </a:highlight>
            </a:endParaRPr>
          </a:p>
        </p:txBody>
      </p:sp>
      <p:sp>
        <p:nvSpPr>
          <p:cNvPr id="31" name="Rounded Rectangle 30">
            <a:extLst>
              <a:ext uri="{FF2B5EF4-FFF2-40B4-BE49-F238E27FC236}">
                <a16:creationId xmlns:a16="http://schemas.microsoft.com/office/drawing/2014/main" id="{3009AD87-77AA-6A66-4C06-AC8B643236E6}"/>
              </a:ext>
            </a:extLst>
          </p:cNvPr>
          <p:cNvSpPr/>
          <p:nvPr/>
        </p:nvSpPr>
        <p:spPr>
          <a:xfrm>
            <a:off x="7402956" y="3587454"/>
            <a:ext cx="2000250" cy="628043"/>
          </a:xfrm>
          <a:prstGeom prst="roundRect">
            <a:avLst>
              <a:gd name="adj" fmla="val 0"/>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HK" sz="2400" b="1" dirty="0">
                <a:solidFill>
                  <a:schemeClr val="bg1"/>
                </a:solidFill>
              </a:rPr>
              <a:t>Templates</a:t>
            </a:r>
          </a:p>
        </p:txBody>
      </p:sp>
      <p:sp>
        <p:nvSpPr>
          <p:cNvPr id="33" name="Rounded Rectangle 32">
            <a:extLst>
              <a:ext uri="{FF2B5EF4-FFF2-40B4-BE49-F238E27FC236}">
                <a16:creationId xmlns:a16="http://schemas.microsoft.com/office/drawing/2014/main" id="{5C66B00A-64B0-1DB8-EAEC-AF3524C77468}"/>
              </a:ext>
            </a:extLst>
          </p:cNvPr>
          <p:cNvSpPr/>
          <p:nvPr/>
        </p:nvSpPr>
        <p:spPr>
          <a:xfrm>
            <a:off x="7393605" y="4844544"/>
            <a:ext cx="2000250" cy="628043"/>
          </a:xfrm>
          <a:prstGeom prst="roundRect">
            <a:avLst>
              <a:gd name="adj" fmla="val 0"/>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HK" sz="2400" b="1" dirty="0">
                <a:solidFill>
                  <a:schemeClr val="bg1"/>
                </a:solidFill>
              </a:rPr>
              <a:t>Prompts</a:t>
            </a:r>
          </a:p>
        </p:txBody>
      </p:sp>
      <p:sp>
        <p:nvSpPr>
          <p:cNvPr id="34" name="Rounded Rectangle 33">
            <a:extLst>
              <a:ext uri="{FF2B5EF4-FFF2-40B4-BE49-F238E27FC236}">
                <a16:creationId xmlns:a16="http://schemas.microsoft.com/office/drawing/2014/main" id="{9D108A9C-5064-AD3F-EB1E-C6BA5ABB6615}"/>
              </a:ext>
            </a:extLst>
          </p:cNvPr>
          <p:cNvSpPr/>
          <p:nvPr/>
        </p:nvSpPr>
        <p:spPr>
          <a:xfrm>
            <a:off x="7393605" y="6073509"/>
            <a:ext cx="2000250" cy="628043"/>
          </a:xfrm>
          <a:prstGeom prst="roundRect">
            <a:avLst>
              <a:gd name="adj" fmla="val 0"/>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HK" sz="2400" b="1" dirty="0">
                <a:solidFill>
                  <a:schemeClr val="bg1"/>
                </a:solidFill>
              </a:rPr>
              <a:t>Parameters</a:t>
            </a:r>
          </a:p>
        </p:txBody>
      </p:sp>
      <p:sp>
        <p:nvSpPr>
          <p:cNvPr id="36" name="TextBox 35">
            <a:extLst>
              <a:ext uri="{FF2B5EF4-FFF2-40B4-BE49-F238E27FC236}">
                <a16:creationId xmlns:a16="http://schemas.microsoft.com/office/drawing/2014/main" id="{E406E915-EA7B-B68F-8129-B4B5952FD32D}"/>
              </a:ext>
            </a:extLst>
          </p:cNvPr>
          <p:cNvSpPr txBox="1"/>
          <p:nvPr/>
        </p:nvSpPr>
        <p:spPr>
          <a:xfrm>
            <a:off x="9519422" y="3578309"/>
            <a:ext cx="2099403" cy="646331"/>
          </a:xfrm>
          <a:prstGeom prst="rect">
            <a:avLst/>
          </a:prstGeom>
          <a:noFill/>
        </p:spPr>
        <p:txBody>
          <a:bodyPr wrap="square">
            <a:spAutoFit/>
          </a:bodyPr>
          <a:lstStyle/>
          <a:p>
            <a:r>
              <a:rPr lang="en-HK" sz="1800" dirty="0">
                <a:effectLst/>
                <a:highlight>
                  <a:srgbClr val="FFFFFF"/>
                </a:highlight>
                <a:latin typeface="69"/>
              </a:rPr>
              <a:t>System Message, Few Shot Examples </a:t>
            </a:r>
            <a:endParaRPr lang="en-HK" dirty="0">
              <a:effectLst/>
              <a:highlight>
                <a:srgbClr val="FFFFFF"/>
              </a:highlight>
            </a:endParaRPr>
          </a:p>
        </p:txBody>
      </p:sp>
      <p:sp>
        <p:nvSpPr>
          <p:cNvPr id="38" name="TextBox 37">
            <a:extLst>
              <a:ext uri="{FF2B5EF4-FFF2-40B4-BE49-F238E27FC236}">
                <a16:creationId xmlns:a16="http://schemas.microsoft.com/office/drawing/2014/main" id="{19FB89D4-2362-43D8-EEBE-1851D30AFA0B}"/>
              </a:ext>
            </a:extLst>
          </p:cNvPr>
          <p:cNvSpPr txBox="1"/>
          <p:nvPr/>
        </p:nvSpPr>
        <p:spPr>
          <a:xfrm>
            <a:off x="9679550" y="6055221"/>
            <a:ext cx="1779145" cy="646331"/>
          </a:xfrm>
          <a:prstGeom prst="rect">
            <a:avLst/>
          </a:prstGeom>
          <a:noFill/>
        </p:spPr>
        <p:txBody>
          <a:bodyPr wrap="square">
            <a:spAutoFit/>
          </a:bodyPr>
          <a:lstStyle/>
          <a:p>
            <a:r>
              <a:rPr lang="en-HK" sz="1800" dirty="0">
                <a:effectLst/>
                <a:highlight>
                  <a:srgbClr val="FFFFFF"/>
                </a:highlight>
                <a:latin typeface="69"/>
              </a:rPr>
              <a:t>Max Length, Temperature </a:t>
            </a:r>
            <a:endParaRPr lang="en-HK" dirty="0">
              <a:effectLst/>
              <a:highlight>
                <a:srgbClr val="FFFFFF"/>
              </a:highlight>
            </a:endParaRPr>
          </a:p>
        </p:txBody>
      </p:sp>
      <p:cxnSp>
        <p:nvCxnSpPr>
          <p:cNvPr id="39" name="Curved Connector 38">
            <a:extLst>
              <a:ext uri="{FF2B5EF4-FFF2-40B4-BE49-F238E27FC236}">
                <a16:creationId xmlns:a16="http://schemas.microsoft.com/office/drawing/2014/main" id="{5BCF5EAB-4FAD-FD60-4CFF-A0959F5723C9}"/>
              </a:ext>
            </a:extLst>
          </p:cNvPr>
          <p:cNvCxnSpPr>
            <a:cxnSpLocks/>
            <a:stCxn id="4" idx="3"/>
            <a:endCxn id="33" idx="1"/>
          </p:cNvCxnSpPr>
          <p:nvPr/>
        </p:nvCxnSpPr>
        <p:spPr>
          <a:xfrm>
            <a:off x="4698861" y="5143399"/>
            <a:ext cx="2694744" cy="15167"/>
          </a:xfrm>
          <a:prstGeom prst="curvedConnector3">
            <a:avLst>
              <a:gd name="adj1" fmla="val 50000"/>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42" name="Curved Connector 41">
            <a:extLst>
              <a:ext uri="{FF2B5EF4-FFF2-40B4-BE49-F238E27FC236}">
                <a16:creationId xmlns:a16="http://schemas.microsoft.com/office/drawing/2014/main" id="{F08A7756-B7FF-9F5B-C600-790EC5F9C119}"/>
              </a:ext>
            </a:extLst>
          </p:cNvPr>
          <p:cNvCxnSpPr>
            <a:cxnSpLocks/>
            <a:stCxn id="33" idx="0"/>
            <a:endCxn id="31" idx="2"/>
          </p:cNvCxnSpPr>
          <p:nvPr/>
        </p:nvCxnSpPr>
        <p:spPr>
          <a:xfrm rot="5400000" flipH="1" flipV="1">
            <a:off x="8083882" y="4525346"/>
            <a:ext cx="629047" cy="9351"/>
          </a:xfrm>
          <a:prstGeom prst="curvedConnector3">
            <a:avLst>
              <a:gd name="adj1" fmla="val 50000"/>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45" name="Curved Connector 44">
            <a:extLst>
              <a:ext uri="{FF2B5EF4-FFF2-40B4-BE49-F238E27FC236}">
                <a16:creationId xmlns:a16="http://schemas.microsoft.com/office/drawing/2014/main" id="{624D4B52-2455-FBD3-3AC3-0396BF32BD15}"/>
              </a:ext>
            </a:extLst>
          </p:cNvPr>
          <p:cNvCxnSpPr>
            <a:cxnSpLocks/>
            <a:stCxn id="33" idx="2"/>
            <a:endCxn id="34" idx="0"/>
          </p:cNvCxnSpPr>
          <p:nvPr/>
        </p:nvCxnSpPr>
        <p:spPr>
          <a:xfrm rot="5400000">
            <a:off x="8093269" y="5773048"/>
            <a:ext cx="600922" cy="12700"/>
          </a:xfrm>
          <a:prstGeom prst="curvedConnector3">
            <a:avLst>
              <a:gd name="adj1" fmla="val 50000"/>
            </a:avLst>
          </a:prstGeom>
          <a:ln w="381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61808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25330</TotalTime>
  <Words>1776</Words>
  <Application>Microsoft Macintosh PowerPoint</Application>
  <PresentationFormat>Widescreen</PresentationFormat>
  <Paragraphs>271</Paragraphs>
  <Slides>23</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23</vt:i4>
      </vt:variant>
    </vt:vector>
  </HeadingPairs>
  <TitlesOfParts>
    <vt:vector size="35" baseType="lpstr">
      <vt:lpstr>69</vt:lpstr>
      <vt:lpstr>71,Italic</vt:lpstr>
      <vt:lpstr>73</vt:lpstr>
      <vt:lpstr>74,Bold</vt:lpstr>
      <vt:lpstr>75,Italic</vt:lpstr>
      <vt:lpstr>76,BoldItalic</vt:lpstr>
      <vt:lpstr>Aptos</vt:lpstr>
      <vt:lpstr>Aptos Display</vt:lpstr>
      <vt:lpstr>Arial</vt:lpstr>
      <vt:lpstr>Calibri</vt:lpstr>
      <vt:lpstr>Times New Roman</vt:lpstr>
      <vt:lpstr>Office Theme</vt:lpstr>
      <vt:lpstr>Generative AI &amp; Prompt Engineering - An Introduction</vt:lpstr>
      <vt:lpstr>PowerPoint Presentation</vt:lpstr>
      <vt:lpstr>PowerPoint Presentation</vt:lpstr>
      <vt:lpstr>PowerPoint Presentation</vt:lpstr>
      <vt:lpstr>Large Language Models (LLMs)</vt:lpstr>
      <vt:lpstr>Large Language Models (LLMs)</vt:lpstr>
      <vt:lpstr>Large Language Models (LLMs)</vt:lpstr>
      <vt:lpstr>Large Language Models (LLMs)</vt:lpstr>
      <vt:lpstr>Large Language Models (LLMs)</vt:lpstr>
      <vt:lpstr>Accessing Large Language Models (LLMs) </vt:lpstr>
      <vt:lpstr>Accessing LLMs using Anyscale APIs</vt:lpstr>
      <vt:lpstr>Accessing LLMs using Anyscale APIs</vt:lpstr>
      <vt:lpstr>Accessing LLMs using Anyscale APIs</vt:lpstr>
      <vt:lpstr>Accessing LLMs using Anyscale APIs</vt:lpstr>
      <vt:lpstr>Applications of Generative AI</vt:lpstr>
      <vt:lpstr>Applications of Generative AI</vt:lpstr>
      <vt:lpstr>Prompt Engineering Fundamentals </vt:lpstr>
      <vt:lpstr>Prompt Engineering Fundamentals </vt:lpstr>
      <vt:lpstr>Prompt Engineering Fundamentals</vt:lpstr>
      <vt:lpstr>Prompt Engineering Fundamentals</vt:lpstr>
      <vt:lpstr>Prompt Engineering Fundamentals</vt:lpstr>
      <vt:lpstr>Prompt Evaluation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Chugh, Mayank</dc:creator>
  <cp:lastModifiedBy>Chugh, Mayank</cp:lastModifiedBy>
  <cp:revision>33</cp:revision>
  <dcterms:created xsi:type="dcterms:W3CDTF">2024-06-25T03:56:13Z</dcterms:created>
  <dcterms:modified xsi:type="dcterms:W3CDTF">2024-07-26T23:41:24Z</dcterms:modified>
</cp:coreProperties>
</file>