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73" r:id="rId4"/>
    <p:sldId id="274" r:id="rId5"/>
    <p:sldId id="257" r:id="rId6"/>
    <p:sldId id="260" r:id="rId7"/>
    <p:sldId id="261" r:id="rId8"/>
    <p:sldId id="264" r:id="rId9"/>
    <p:sldId id="43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4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0F4"/>
    <a:srgbClr val="24C6BE"/>
    <a:srgbClr val="00D7A0"/>
    <a:srgbClr val="48B9D4"/>
    <a:srgbClr val="31C3C2"/>
    <a:srgbClr val="36C1C5"/>
    <a:srgbClr val="4C8CD2"/>
    <a:srgbClr val="4EB6D6"/>
    <a:srgbClr val="53B3DB"/>
    <a:srgbClr val="49D6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81429" autoAdjust="0"/>
  </p:normalViewPr>
  <p:slideViewPr>
    <p:cSldViewPr snapToGrid="0" snapToObjects="1" showGuides="1">
      <p:cViewPr varScale="1">
        <p:scale>
          <a:sx n="98" d="100"/>
          <a:sy n="98" d="100"/>
        </p:scale>
        <p:origin x="1824" y="200"/>
      </p:cViewPr>
      <p:guideLst>
        <p:guide orient="horz" pos="1440"/>
        <p:guide pos="44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7" d="100"/>
        <a:sy n="87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756E-5A52-9F4D-803D-EC889FAC7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72CEBD-C426-6140-BD63-E7EF9EBA2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F00BA-C474-8141-9988-7B70D00B5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3623-0575-304E-BCFD-1AB72FCBDCAD}" type="datetimeFigureOut">
              <a:rPr lang="en-US" smtClean="0"/>
              <a:t>8/18/20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33129-B0D6-D345-A44C-79E8077D5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16B18-B605-6044-883B-8C92ECED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9DF-8432-C345-900A-865F5C646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8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E3A74-4975-AE4D-A90A-1A44774B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77FEA-00C4-7040-A5A6-53A5B9E25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8E87C-6FA3-3E4F-B72D-288244352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3623-0575-304E-BCFD-1AB72FCBDCAD}" type="datetimeFigureOut">
              <a:rPr lang="en-US" smtClean="0"/>
              <a:t>8/18/20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9B616-71DD-0340-B708-347B7AA68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C2A90-7DCA-B544-BF6B-7596D3BD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9DF-8432-C345-900A-865F5C646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4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0ED9-4C18-2643-B0AD-C7C68C65A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461FF-F18D-B34E-9D99-465F144C0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D2FCE-00F2-B644-8112-2A0567AEE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3623-0575-304E-BCFD-1AB72FCBDCAD}" type="datetimeFigureOut">
              <a:rPr lang="en-US" smtClean="0"/>
              <a:t>8/18/20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3F0D8-9C37-A546-80C5-2A2E6DC22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BA5B7-3D2A-0C4A-A23E-BF3B2AD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9DF-8432-C345-900A-865F5C646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40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08882-B112-E245-BD1E-C7136795D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19077-9892-9644-AF4C-03F482057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8779A-B5C5-CA47-A701-DD8204D8A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4DB54-0D38-404D-BD07-D89DE1826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3623-0575-304E-BCFD-1AB72FCBDCAD}" type="datetimeFigureOut">
              <a:rPr lang="en-US" smtClean="0"/>
              <a:t>8/18/20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5BDB7-4DE8-5E45-B5E5-68BD10698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25665-2FB4-CA40-A3DC-6C25101A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9DF-8432-C345-900A-865F5C646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17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F247F-ADBB-CC48-B03B-90E8382FC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9A734-842D-7D48-B236-D0A8F3DA6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EEC08-9D40-0E4C-9C45-3219FA617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6ECAE-6445-3E4C-835E-C44149701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87C060-7B9E-0642-8827-DCCF6BBB00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594540-49FD-8245-83FF-5988BA106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3623-0575-304E-BCFD-1AB72FCBDCAD}" type="datetimeFigureOut">
              <a:rPr lang="en-US" smtClean="0"/>
              <a:t>8/18/20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F53193-55AA-5346-B3F5-731E0F362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A805CC-B981-0D48-B1FC-28807B63D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9DF-8432-C345-900A-865F5C646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9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6FA9-38CE-FD48-AD01-B6198D216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95615-8712-9A48-9BC1-771F03495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3623-0575-304E-BCFD-1AB72FCBDCAD}" type="datetimeFigureOut">
              <a:rPr lang="en-US" smtClean="0"/>
              <a:t>8/18/20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4A2CE-2667-3944-A593-B9C265616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94193-707B-1F47-9315-C3A7B275E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9DF-8432-C345-900A-865F5C646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8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F882A3-65C6-0644-A998-F78A83B15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3623-0575-304E-BCFD-1AB72FCBDCAD}" type="datetimeFigureOut">
              <a:rPr lang="en-US" smtClean="0"/>
              <a:t>8/18/20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D86C8E-EA6A-0F4A-BFDB-62296E937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72662-D32A-B945-A1C4-A812DEB23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9DF-8432-C345-900A-865F5C646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70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D8A8-F883-5F41-88AF-0BD947C74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93FE3-0FAA-A849-AC61-DC8B26DAD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D72D39-3B9D-A24C-8EEA-11F8A2770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3F18A-FB7A-284A-B610-3B3FE0B6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3623-0575-304E-BCFD-1AB72FCBDCAD}" type="datetimeFigureOut">
              <a:rPr lang="en-US" smtClean="0"/>
              <a:t>8/18/20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AA82F-BF7E-1944-9715-5E39767B5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EE662-01CB-AE4F-8103-887B6673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9DF-8432-C345-900A-865F5C646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51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9102D-7CF8-D74A-8752-76079ED57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84748B-27E7-2942-ACDA-B56818E788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E7E4A-D51C-FB4B-A384-DDF85146E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A5D69-FFFC-2A45-83A7-82F34FEAA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3623-0575-304E-BCFD-1AB72FCBDCAD}" type="datetimeFigureOut">
              <a:rPr lang="en-US" smtClean="0"/>
              <a:t>8/18/20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CD67A-CF0D-3548-B892-E53E87C18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F142E-98F6-B84D-AE58-A2FDACF15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9DF-8432-C345-900A-865F5C646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25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DEC4A-B511-D44D-833B-F1B668C12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DE59A-C923-144D-9594-44889E27D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BD8A6-BFE4-3B4A-9690-CDA7305FE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3623-0575-304E-BCFD-1AB72FCBDCAD}" type="datetimeFigureOut">
              <a:rPr lang="en-US" smtClean="0"/>
              <a:t>8/18/20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A478D-6239-244C-A54E-6B86E1A8E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3DEF4-C6FB-524E-BBAF-7C56A36A5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9DF-8432-C345-900A-865F5C646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54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6E241-9F07-CE49-A193-C5971CF684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83883-7078-4F4B-9628-9C441D4D2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39D90-CF0E-C048-8F08-3255A2307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3623-0575-304E-BCFD-1AB72FCBDCAD}" type="datetimeFigureOut">
              <a:rPr lang="en-US" smtClean="0"/>
              <a:t>8/18/20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03035-408C-264D-B3F5-3465D9651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ACFB7-C135-EF4B-B7D4-06FB15F9C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599DF-8432-C345-900A-865F5C646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69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Footer">
            <a:extLst>
              <a:ext uri="{FF2B5EF4-FFF2-40B4-BE49-F238E27FC236}">
                <a16:creationId xmlns:a16="http://schemas.microsoft.com/office/drawing/2014/main" id="{AAA0B0E1-6814-4FE4-87C1-EA53AB0E7189}"/>
              </a:ext>
            </a:extLst>
          </p:cNvPr>
          <p:cNvGrpSpPr/>
          <p:nvPr userDrawn="1"/>
        </p:nvGrpSpPr>
        <p:grpSpPr>
          <a:xfrm>
            <a:off x="11739418" y="0"/>
            <a:ext cx="452582" cy="6858000"/>
            <a:chOff x="0" y="0"/>
            <a:chExt cx="452582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91FC5F7-0607-477D-AC05-6654D1D4AC12}"/>
                </a:ext>
              </a:extLst>
            </p:cNvPr>
            <p:cNvSpPr/>
            <p:nvPr userDrawn="1"/>
          </p:nvSpPr>
          <p:spPr>
            <a:xfrm>
              <a:off x="0" y="0"/>
              <a:ext cx="45258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7" name="Bot">
              <a:extLst>
                <a:ext uri="{FF2B5EF4-FFF2-40B4-BE49-F238E27FC236}">
                  <a16:creationId xmlns:a16="http://schemas.microsoft.com/office/drawing/2014/main" id="{BA09E49E-6922-43C8-96AF-2A37D5646E44}"/>
                </a:ext>
              </a:extLst>
            </p:cNvPr>
            <p:cNvGrpSpPr/>
            <p:nvPr userDrawn="1"/>
          </p:nvGrpSpPr>
          <p:grpSpPr>
            <a:xfrm rot="10800000">
              <a:off x="180063" y="6434032"/>
              <a:ext cx="101211" cy="110573"/>
              <a:chOff x="999213" y="253386"/>
              <a:chExt cx="101211" cy="110573"/>
            </a:xfrm>
          </p:grpSpPr>
          <p:sp>
            <p:nvSpPr>
              <p:cNvPr id="8" name="Graphic 13">
                <a:extLst>
                  <a:ext uri="{FF2B5EF4-FFF2-40B4-BE49-F238E27FC236}">
                    <a16:creationId xmlns:a16="http://schemas.microsoft.com/office/drawing/2014/main" id="{1812A278-62AF-40FA-9CBE-D6E42E44A3C2}"/>
                  </a:ext>
                </a:extLst>
              </p:cNvPr>
              <p:cNvSpPr/>
              <p:nvPr/>
            </p:nvSpPr>
            <p:spPr>
              <a:xfrm rot="10800000">
                <a:off x="999213" y="253386"/>
                <a:ext cx="101211" cy="54096"/>
              </a:xfrm>
              <a:custGeom>
                <a:avLst/>
                <a:gdLst>
                  <a:gd name="connsiteX0" fmla="*/ 1094423 w 1104900"/>
                  <a:gd name="connsiteY0" fmla="*/ 11430 h 590550"/>
                  <a:gd name="connsiteX1" fmla="*/ 1039178 w 1104900"/>
                  <a:gd name="connsiteY1" fmla="*/ 11430 h 590550"/>
                  <a:gd name="connsiteX2" fmla="*/ 553403 w 1104900"/>
                  <a:gd name="connsiteY2" fmla="*/ 498157 h 590550"/>
                  <a:gd name="connsiteX3" fmla="*/ 66675 w 1104900"/>
                  <a:gd name="connsiteY3" fmla="*/ 11430 h 590550"/>
                  <a:gd name="connsiteX4" fmla="*/ 11430 w 1104900"/>
                  <a:gd name="connsiteY4" fmla="*/ 11430 h 590550"/>
                  <a:gd name="connsiteX5" fmla="*/ 11430 w 1104900"/>
                  <a:gd name="connsiteY5" fmla="*/ 66675 h 590550"/>
                  <a:gd name="connsiteX6" fmla="*/ 524828 w 1104900"/>
                  <a:gd name="connsiteY6" fmla="*/ 580073 h 590550"/>
                  <a:gd name="connsiteX7" fmla="*/ 552450 w 1104900"/>
                  <a:gd name="connsiteY7" fmla="*/ 591503 h 590550"/>
                  <a:gd name="connsiteX8" fmla="*/ 580073 w 1104900"/>
                  <a:gd name="connsiteY8" fmla="*/ 580073 h 590550"/>
                  <a:gd name="connsiteX9" fmla="*/ 1093470 w 1104900"/>
                  <a:gd name="connsiteY9" fmla="*/ 66675 h 590550"/>
                  <a:gd name="connsiteX10" fmla="*/ 1094423 w 1104900"/>
                  <a:gd name="connsiteY10" fmla="*/ 11430 h 590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04900" h="590550">
                    <a:moveTo>
                      <a:pt x="1094423" y="11430"/>
                    </a:moveTo>
                    <a:cubicBezTo>
                      <a:pt x="1079183" y="-3810"/>
                      <a:pt x="1054418" y="-3810"/>
                      <a:pt x="1039178" y="11430"/>
                    </a:cubicBezTo>
                    <a:lnTo>
                      <a:pt x="553403" y="498157"/>
                    </a:lnTo>
                    <a:lnTo>
                      <a:pt x="66675" y="11430"/>
                    </a:lnTo>
                    <a:cubicBezTo>
                      <a:pt x="51435" y="-3810"/>
                      <a:pt x="26670" y="-3810"/>
                      <a:pt x="11430" y="11430"/>
                    </a:cubicBezTo>
                    <a:cubicBezTo>
                      <a:pt x="-3810" y="26670"/>
                      <a:pt x="-3810" y="51435"/>
                      <a:pt x="11430" y="66675"/>
                    </a:cubicBezTo>
                    <a:lnTo>
                      <a:pt x="524828" y="580073"/>
                    </a:lnTo>
                    <a:cubicBezTo>
                      <a:pt x="532448" y="587693"/>
                      <a:pt x="541973" y="591503"/>
                      <a:pt x="552450" y="591503"/>
                    </a:cubicBezTo>
                    <a:cubicBezTo>
                      <a:pt x="561975" y="591503"/>
                      <a:pt x="572453" y="587693"/>
                      <a:pt x="580073" y="580073"/>
                    </a:cubicBezTo>
                    <a:lnTo>
                      <a:pt x="1093470" y="66675"/>
                    </a:lnTo>
                    <a:cubicBezTo>
                      <a:pt x="1109663" y="51435"/>
                      <a:pt x="1109663" y="26670"/>
                      <a:pt x="1094423" y="1143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/>
              </a:p>
            </p:txBody>
          </p:sp>
          <p:sp>
            <p:nvSpPr>
              <p:cNvPr id="9" name="Graphic 13">
                <a:extLst>
                  <a:ext uri="{FF2B5EF4-FFF2-40B4-BE49-F238E27FC236}">
                    <a16:creationId xmlns:a16="http://schemas.microsoft.com/office/drawing/2014/main" id="{2EBF1960-FA2D-4F83-BFD0-42381C7970E3}"/>
                  </a:ext>
                </a:extLst>
              </p:cNvPr>
              <p:cNvSpPr/>
              <p:nvPr userDrawn="1"/>
            </p:nvSpPr>
            <p:spPr>
              <a:xfrm rot="10800000">
                <a:off x="999213" y="309863"/>
                <a:ext cx="101211" cy="54096"/>
              </a:xfrm>
              <a:custGeom>
                <a:avLst/>
                <a:gdLst>
                  <a:gd name="connsiteX0" fmla="*/ 1094423 w 1104900"/>
                  <a:gd name="connsiteY0" fmla="*/ 11430 h 590550"/>
                  <a:gd name="connsiteX1" fmla="*/ 1039178 w 1104900"/>
                  <a:gd name="connsiteY1" fmla="*/ 11430 h 590550"/>
                  <a:gd name="connsiteX2" fmla="*/ 553403 w 1104900"/>
                  <a:gd name="connsiteY2" fmla="*/ 498157 h 590550"/>
                  <a:gd name="connsiteX3" fmla="*/ 66675 w 1104900"/>
                  <a:gd name="connsiteY3" fmla="*/ 11430 h 590550"/>
                  <a:gd name="connsiteX4" fmla="*/ 11430 w 1104900"/>
                  <a:gd name="connsiteY4" fmla="*/ 11430 h 590550"/>
                  <a:gd name="connsiteX5" fmla="*/ 11430 w 1104900"/>
                  <a:gd name="connsiteY5" fmla="*/ 66675 h 590550"/>
                  <a:gd name="connsiteX6" fmla="*/ 524828 w 1104900"/>
                  <a:gd name="connsiteY6" fmla="*/ 580073 h 590550"/>
                  <a:gd name="connsiteX7" fmla="*/ 552450 w 1104900"/>
                  <a:gd name="connsiteY7" fmla="*/ 591503 h 590550"/>
                  <a:gd name="connsiteX8" fmla="*/ 580073 w 1104900"/>
                  <a:gd name="connsiteY8" fmla="*/ 580073 h 590550"/>
                  <a:gd name="connsiteX9" fmla="*/ 1093470 w 1104900"/>
                  <a:gd name="connsiteY9" fmla="*/ 66675 h 590550"/>
                  <a:gd name="connsiteX10" fmla="*/ 1094423 w 1104900"/>
                  <a:gd name="connsiteY10" fmla="*/ 11430 h 590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04900" h="590550">
                    <a:moveTo>
                      <a:pt x="1094423" y="11430"/>
                    </a:moveTo>
                    <a:cubicBezTo>
                      <a:pt x="1079183" y="-3810"/>
                      <a:pt x="1054418" y="-3810"/>
                      <a:pt x="1039178" y="11430"/>
                    </a:cubicBezTo>
                    <a:lnTo>
                      <a:pt x="553403" y="498157"/>
                    </a:lnTo>
                    <a:lnTo>
                      <a:pt x="66675" y="11430"/>
                    </a:lnTo>
                    <a:cubicBezTo>
                      <a:pt x="51435" y="-3810"/>
                      <a:pt x="26670" y="-3810"/>
                      <a:pt x="11430" y="11430"/>
                    </a:cubicBezTo>
                    <a:cubicBezTo>
                      <a:pt x="-3810" y="26670"/>
                      <a:pt x="-3810" y="51435"/>
                      <a:pt x="11430" y="66675"/>
                    </a:cubicBezTo>
                    <a:lnTo>
                      <a:pt x="524828" y="580073"/>
                    </a:lnTo>
                    <a:cubicBezTo>
                      <a:pt x="532448" y="587693"/>
                      <a:pt x="541973" y="591503"/>
                      <a:pt x="552450" y="591503"/>
                    </a:cubicBezTo>
                    <a:cubicBezTo>
                      <a:pt x="561975" y="591503"/>
                      <a:pt x="572453" y="587693"/>
                      <a:pt x="580073" y="580073"/>
                    </a:cubicBezTo>
                    <a:lnTo>
                      <a:pt x="1093470" y="66675"/>
                    </a:lnTo>
                    <a:cubicBezTo>
                      <a:pt x="1109663" y="51435"/>
                      <a:pt x="1109663" y="26670"/>
                      <a:pt x="1094423" y="1143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/>
              </a:p>
            </p:txBody>
          </p:sp>
        </p:grpSp>
      </p:grp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3A066B4-D6EB-485E-90A1-827CF0F35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9418" y="6106320"/>
            <a:ext cx="452582" cy="253645"/>
          </a:xfrm>
          <a:prstGeom prst="rect">
            <a:avLst/>
          </a:prstGeom>
        </p:spPr>
        <p:txBody>
          <a:bodyPr anchor="ctr"/>
          <a:lstStyle>
            <a:lvl1pPr algn="ctr">
              <a:defRPr sz="1400" b="1" spc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AEF51A77-5287-46DB-80B2-CCB0E34F1D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585791"/>
      </p:ext>
    </p:extLst>
  </p:cSld>
  <p:clrMapOvr>
    <a:masterClrMapping/>
  </p:clrMapOvr>
  <p:transition spd="med">
    <p:pull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37">
            <a:extLst>
              <a:ext uri="{FF2B5EF4-FFF2-40B4-BE49-F238E27FC236}">
                <a16:creationId xmlns:a16="http://schemas.microsoft.com/office/drawing/2014/main" id="{DD7E9EA8-FED8-4A45-8983-C6E44A3C6632}"/>
              </a:ext>
            </a:extLst>
          </p:cNvPr>
          <p:cNvSpPr/>
          <p:nvPr/>
        </p:nvSpPr>
        <p:spPr>
          <a:xfrm>
            <a:off x="-398809" y="381678"/>
            <a:ext cx="6083300" cy="6083300"/>
          </a:xfrm>
          <a:prstGeom prst="ellipse">
            <a:avLst/>
          </a:prstGeom>
          <a:solidFill>
            <a:srgbClr val="F5F5F5"/>
          </a:solidFill>
          <a:ln>
            <a:noFill/>
          </a:ln>
          <a:effectLst>
            <a:outerShdw blurRad="381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D23EA04-69F2-0A42-9F74-74632369F002}"/>
              </a:ext>
            </a:extLst>
          </p:cNvPr>
          <p:cNvSpPr/>
          <p:nvPr/>
        </p:nvSpPr>
        <p:spPr>
          <a:xfrm>
            <a:off x="610841" y="1391328"/>
            <a:ext cx="4064000" cy="4064000"/>
          </a:xfrm>
          <a:prstGeom prst="ellipse">
            <a:avLst/>
          </a:prstGeom>
          <a:gradFill flip="none" rotWithShape="1">
            <a:gsLst>
              <a:gs pos="66000">
                <a:srgbClr val="7CC0D5"/>
              </a:gs>
              <a:gs pos="33000">
                <a:srgbClr val="97C3FF"/>
              </a:gs>
              <a:gs pos="100000">
                <a:srgbClr val="61BCAA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381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7561D980-AE1F-4F5F-B49E-7A33B6889F6F}"/>
              </a:ext>
            </a:extLst>
          </p:cNvPr>
          <p:cNvGrpSpPr/>
          <p:nvPr userDrawn="1"/>
        </p:nvGrpSpPr>
        <p:grpSpPr>
          <a:xfrm>
            <a:off x="766416" y="1127009"/>
            <a:ext cx="3752850" cy="4614863"/>
            <a:chOff x="2127250" y="1244600"/>
            <a:chExt cx="3752850" cy="4614863"/>
          </a:xfrm>
        </p:grpSpPr>
        <p:sp>
          <p:nvSpPr>
            <p:cNvPr id="56" name="Freeform 35">
              <a:extLst>
                <a:ext uri="{FF2B5EF4-FFF2-40B4-BE49-F238E27FC236}">
                  <a16:creationId xmlns:a16="http://schemas.microsoft.com/office/drawing/2014/main" id="{88C9FE58-F603-45B8-B99A-1225F6425C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27250" y="1244600"/>
              <a:ext cx="3695701" cy="4592638"/>
            </a:xfrm>
            <a:custGeom>
              <a:avLst/>
              <a:gdLst>
                <a:gd name="T0" fmla="*/ 787 w 1511"/>
                <a:gd name="T1" fmla="*/ 1784 h 1878"/>
                <a:gd name="T2" fmla="*/ 789 w 1511"/>
                <a:gd name="T3" fmla="*/ 1788 h 1878"/>
                <a:gd name="T4" fmla="*/ 797 w 1511"/>
                <a:gd name="T5" fmla="*/ 1802 h 1878"/>
                <a:gd name="T6" fmla="*/ 876 w 1511"/>
                <a:gd name="T7" fmla="*/ 1873 h 1878"/>
                <a:gd name="T8" fmla="*/ 941 w 1511"/>
                <a:gd name="T9" fmla="*/ 1869 h 1878"/>
                <a:gd name="T10" fmla="*/ 1460 w 1511"/>
                <a:gd name="T11" fmla="*/ 1671 h 1878"/>
                <a:gd name="T12" fmla="*/ 1478 w 1511"/>
                <a:gd name="T13" fmla="*/ 1657 h 1878"/>
                <a:gd name="T14" fmla="*/ 1485 w 1511"/>
                <a:gd name="T15" fmla="*/ 1553 h 1878"/>
                <a:gd name="T16" fmla="*/ 1191 w 1511"/>
                <a:gd name="T17" fmla="*/ 914 h 1878"/>
                <a:gd name="T18" fmla="*/ 870 w 1511"/>
                <a:gd name="T19" fmla="*/ 216 h 1878"/>
                <a:gd name="T20" fmla="*/ 824 w 1511"/>
                <a:gd name="T21" fmla="*/ 116 h 1878"/>
                <a:gd name="T22" fmla="*/ 693 w 1511"/>
                <a:gd name="T23" fmla="*/ 0 h 1878"/>
                <a:gd name="T24" fmla="*/ 245 w 1511"/>
                <a:gd name="T25" fmla="*/ 33 h 1878"/>
                <a:gd name="T26" fmla="*/ 143 w 1511"/>
                <a:gd name="T27" fmla="*/ 42 h 1878"/>
                <a:gd name="T28" fmla="*/ 118 w 1511"/>
                <a:gd name="T29" fmla="*/ 44 h 1878"/>
                <a:gd name="T30" fmla="*/ 95 w 1511"/>
                <a:gd name="T31" fmla="*/ 49 h 1878"/>
                <a:gd name="T32" fmla="*/ 49 w 1511"/>
                <a:gd name="T33" fmla="*/ 185 h 1878"/>
                <a:gd name="T34" fmla="*/ 93 w 1511"/>
                <a:gd name="T35" fmla="*/ 281 h 1878"/>
                <a:gd name="T36" fmla="*/ 419 w 1511"/>
                <a:gd name="T37" fmla="*/ 986 h 1878"/>
                <a:gd name="T38" fmla="*/ 761 w 1511"/>
                <a:gd name="T39" fmla="*/ 1727 h 1878"/>
                <a:gd name="T40" fmla="*/ 787 w 1511"/>
                <a:gd name="T41" fmla="*/ 1784 h 1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11" h="1878">
                  <a:moveTo>
                    <a:pt x="787" y="1784"/>
                  </a:moveTo>
                  <a:cubicBezTo>
                    <a:pt x="787" y="1784"/>
                    <a:pt x="788" y="1785"/>
                    <a:pt x="789" y="1788"/>
                  </a:cubicBezTo>
                  <a:cubicBezTo>
                    <a:pt x="791" y="1792"/>
                    <a:pt x="793" y="1796"/>
                    <a:pt x="797" y="1802"/>
                  </a:cubicBezTo>
                  <a:cubicBezTo>
                    <a:pt x="809" y="1824"/>
                    <a:pt x="836" y="1861"/>
                    <a:pt x="876" y="1873"/>
                  </a:cubicBezTo>
                  <a:cubicBezTo>
                    <a:pt x="895" y="1878"/>
                    <a:pt x="916" y="1878"/>
                    <a:pt x="941" y="1869"/>
                  </a:cubicBezTo>
                  <a:cubicBezTo>
                    <a:pt x="1114" y="1803"/>
                    <a:pt x="1287" y="1737"/>
                    <a:pt x="1460" y="1671"/>
                  </a:cubicBezTo>
                  <a:cubicBezTo>
                    <a:pt x="1460" y="1671"/>
                    <a:pt x="1469" y="1667"/>
                    <a:pt x="1478" y="1657"/>
                  </a:cubicBezTo>
                  <a:cubicBezTo>
                    <a:pt x="1494" y="1641"/>
                    <a:pt x="1511" y="1609"/>
                    <a:pt x="1485" y="1553"/>
                  </a:cubicBezTo>
                  <a:cubicBezTo>
                    <a:pt x="1387" y="1340"/>
                    <a:pt x="1289" y="1127"/>
                    <a:pt x="1191" y="914"/>
                  </a:cubicBezTo>
                  <a:cubicBezTo>
                    <a:pt x="1084" y="682"/>
                    <a:pt x="977" y="449"/>
                    <a:pt x="870" y="216"/>
                  </a:cubicBezTo>
                  <a:cubicBezTo>
                    <a:pt x="855" y="183"/>
                    <a:pt x="840" y="149"/>
                    <a:pt x="824" y="116"/>
                  </a:cubicBezTo>
                  <a:cubicBezTo>
                    <a:pt x="824" y="116"/>
                    <a:pt x="777" y="5"/>
                    <a:pt x="693" y="0"/>
                  </a:cubicBezTo>
                  <a:cubicBezTo>
                    <a:pt x="543" y="13"/>
                    <a:pt x="394" y="19"/>
                    <a:pt x="245" y="33"/>
                  </a:cubicBezTo>
                  <a:cubicBezTo>
                    <a:pt x="211" y="36"/>
                    <a:pt x="177" y="39"/>
                    <a:pt x="143" y="42"/>
                  </a:cubicBezTo>
                  <a:cubicBezTo>
                    <a:pt x="135" y="43"/>
                    <a:pt x="127" y="44"/>
                    <a:pt x="118" y="44"/>
                  </a:cubicBezTo>
                  <a:cubicBezTo>
                    <a:pt x="111" y="45"/>
                    <a:pt x="105" y="46"/>
                    <a:pt x="95" y="49"/>
                  </a:cubicBezTo>
                  <a:cubicBezTo>
                    <a:pt x="95" y="49"/>
                    <a:pt x="0" y="80"/>
                    <a:pt x="49" y="185"/>
                  </a:cubicBezTo>
                  <a:cubicBezTo>
                    <a:pt x="64" y="217"/>
                    <a:pt x="79" y="249"/>
                    <a:pt x="93" y="281"/>
                  </a:cubicBezTo>
                  <a:cubicBezTo>
                    <a:pt x="202" y="516"/>
                    <a:pt x="310" y="751"/>
                    <a:pt x="419" y="986"/>
                  </a:cubicBezTo>
                  <a:cubicBezTo>
                    <a:pt x="533" y="1233"/>
                    <a:pt x="647" y="1480"/>
                    <a:pt x="761" y="1727"/>
                  </a:cubicBezTo>
                  <a:cubicBezTo>
                    <a:pt x="770" y="1746"/>
                    <a:pt x="779" y="1765"/>
                    <a:pt x="787" y="1784"/>
                  </a:cubicBezTo>
                  <a:close/>
                </a:path>
              </a:pathLst>
            </a:custGeom>
            <a:solidFill>
              <a:schemeClr val="bg1"/>
            </a:solidFill>
            <a:ln w="4763" cap="flat">
              <a:noFill/>
              <a:prstDash val="solid"/>
              <a:miter lim="800000"/>
              <a:headEnd/>
              <a:tailEnd/>
            </a:ln>
            <a:effectLst>
              <a:outerShdw blurRad="190500" dist="127000" dir="5400000" sx="103000" sy="103000" algn="ctr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/>
            </a:p>
          </p:txBody>
        </p:sp>
        <p:sp>
          <p:nvSpPr>
            <p:cNvPr id="57" name="Freeform 36">
              <a:extLst>
                <a:ext uri="{FF2B5EF4-FFF2-40B4-BE49-F238E27FC236}">
                  <a16:creationId xmlns:a16="http://schemas.microsoft.com/office/drawing/2014/main" id="{67B1B274-F27A-4BDB-A776-C1918BEF7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08212" y="1258888"/>
              <a:ext cx="3671888" cy="4600575"/>
            </a:xfrm>
            <a:custGeom>
              <a:avLst/>
              <a:gdLst>
                <a:gd name="T0" fmla="*/ 674 w 1501"/>
                <a:gd name="T1" fmla="*/ 0 h 1881"/>
                <a:gd name="T2" fmla="*/ 105 w 1501"/>
                <a:gd name="T3" fmla="*/ 43 h 1881"/>
                <a:gd name="T4" fmla="*/ 49 w 1501"/>
                <a:gd name="T5" fmla="*/ 158 h 1881"/>
                <a:gd name="T6" fmla="*/ 783 w 1501"/>
                <a:gd name="T7" fmla="*/ 1759 h 1881"/>
                <a:gd name="T8" fmla="*/ 942 w 1501"/>
                <a:gd name="T9" fmla="*/ 1842 h 1881"/>
                <a:gd name="T10" fmla="*/ 1433 w 1501"/>
                <a:gd name="T11" fmla="*/ 1654 h 1881"/>
                <a:gd name="T12" fmla="*/ 1460 w 1501"/>
                <a:gd name="T13" fmla="*/ 1536 h 1881"/>
                <a:gd name="T14" fmla="*/ 799 w 1501"/>
                <a:gd name="T15" fmla="*/ 99 h 1881"/>
                <a:gd name="T16" fmla="*/ 674 w 1501"/>
                <a:gd name="T17" fmla="*/ 0 h 1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1" h="1881">
                  <a:moveTo>
                    <a:pt x="674" y="0"/>
                  </a:moveTo>
                  <a:cubicBezTo>
                    <a:pt x="105" y="43"/>
                    <a:pt x="105" y="43"/>
                    <a:pt x="105" y="43"/>
                  </a:cubicBezTo>
                  <a:cubicBezTo>
                    <a:pt x="105" y="43"/>
                    <a:pt x="0" y="53"/>
                    <a:pt x="49" y="158"/>
                  </a:cubicBezTo>
                  <a:cubicBezTo>
                    <a:pt x="783" y="1759"/>
                    <a:pt x="783" y="1759"/>
                    <a:pt x="783" y="1759"/>
                  </a:cubicBezTo>
                  <a:cubicBezTo>
                    <a:pt x="783" y="1759"/>
                    <a:pt x="838" y="1881"/>
                    <a:pt x="942" y="1842"/>
                  </a:cubicBezTo>
                  <a:cubicBezTo>
                    <a:pt x="1433" y="1654"/>
                    <a:pt x="1433" y="1654"/>
                    <a:pt x="1433" y="1654"/>
                  </a:cubicBezTo>
                  <a:cubicBezTo>
                    <a:pt x="1433" y="1654"/>
                    <a:pt x="1501" y="1625"/>
                    <a:pt x="1460" y="1536"/>
                  </a:cubicBezTo>
                  <a:cubicBezTo>
                    <a:pt x="799" y="99"/>
                    <a:pt x="799" y="99"/>
                    <a:pt x="799" y="99"/>
                  </a:cubicBezTo>
                  <a:cubicBezTo>
                    <a:pt x="799" y="99"/>
                    <a:pt x="759" y="4"/>
                    <a:pt x="674" y="0"/>
                  </a:cubicBezTo>
                  <a:close/>
                </a:path>
              </a:pathLst>
            </a:custGeom>
            <a:solidFill>
              <a:srgbClr val="C1C5C5"/>
            </a:solidFill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37">
              <a:extLst>
                <a:ext uri="{FF2B5EF4-FFF2-40B4-BE49-F238E27FC236}">
                  <a16:creationId xmlns:a16="http://schemas.microsoft.com/office/drawing/2014/main" id="{482702C3-FED4-4232-8AE7-E370B38945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2500" y="1262063"/>
              <a:ext cx="3646488" cy="4591050"/>
            </a:xfrm>
            <a:custGeom>
              <a:avLst/>
              <a:gdLst>
                <a:gd name="T0" fmla="*/ 665 w 1491"/>
                <a:gd name="T1" fmla="*/ 0 h 1878"/>
                <a:gd name="T2" fmla="*/ 103 w 1491"/>
                <a:gd name="T3" fmla="*/ 41 h 1878"/>
                <a:gd name="T4" fmla="*/ 49 w 1491"/>
                <a:gd name="T5" fmla="*/ 155 h 1878"/>
                <a:gd name="T6" fmla="*/ 783 w 1491"/>
                <a:gd name="T7" fmla="*/ 1755 h 1878"/>
                <a:gd name="T8" fmla="*/ 940 w 1491"/>
                <a:gd name="T9" fmla="*/ 1839 h 1878"/>
                <a:gd name="T10" fmla="*/ 1424 w 1491"/>
                <a:gd name="T11" fmla="*/ 1654 h 1878"/>
                <a:gd name="T12" fmla="*/ 1450 w 1491"/>
                <a:gd name="T13" fmla="*/ 1536 h 1878"/>
                <a:gd name="T14" fmla="*/ 789 w 1491"/>
                <a:gd name="T15" fmla="*/ 100 h 1878"/>
                <a:gd name="T16" fmla="*/ 665 w 1491"/>
                <a:gd name="T17" fmla="*/ 0 h 1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91" h="1878">
                  <a:moveTo>
                    <a:pt x="665" y="0"/>
                  </a:moveTo>
                  <a:cubicBezTo>
                    <a:pt x="103" y="41"/>
                    <a:pt x="103" y="41"/>
                    <a:pt x="103" y="41"/>
                  </a:cubicBezTo>
                  <a:cubicBezTo>
                    <a:pt x="103" y="41"/>
                    <a:pt x="0" y="50"/>
                    <a:pt x="49" y="155"/>
                  </a:cubicBezTo>
                  <a:cubicBezTo>
                    <a:pt x="783" y="1755"/>
                    <a:pt x="783" y="1755"/>
                    <a:pt x="783" y="1755"/>
                  </a:cubicBezTo>
                  <a:cubicBezTo>
                    <a:pt x="783" y="1755"/>
                    <a:pt x="838" y="1878"/>
                    <a:pt x="940" y="1839"/>
                  </a:cubicBezTo>
                  <a:cubicBezTo>
                    <a:pt x="1424" y="1654"/>
                    <a:pt x="1424" y="1654"/>
                    <a:pt x="1424" y="1654"/>
                  </a:cubicBezTo>
                  <a:cubicBezTo>
                    <a:pt x="1424" y="1654"/>
                    <a:pt x="1491" y="1625"/>
                    <a:pt x="1450" y="1536"/>
                  </a:cubicBezTo>
                  <a:cubicBezTo>
                    <a:pt x="789" y="100"/>
                    <a:pt x="789" y="100"/>
                    <a:pt x="789" y="100"/>
                  </a:cubicBezTo>
                  <a:cubicBezTo>
                    <a:pt x="789" y="100"/>
                    <a:pt x="749" y="5"/>
                    <a:pt x="665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38">
              <a:extLst>
                <a:ext uri="{FF2B5EF4-FFF2-40B4-BE49-F238E27FC236}">
                  <a16:creationId xmlns:a16="http://schemas.microsoft.com/office/drawing/2014/main" id="{D8377789-12A6-45FF-BACF-2417554D5B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57550" y="1390650"/>
              <a:ext cx="39688" cy="42863"/>
            </a:xfrm>
            <a:custGeom>
              <a:avLst/>
              <a:gdLst>
                <a:gd name="T0" fmla="*/ 16 w 16"/>
                <a:gd name="T1" fmla="*/ 8 h 17"/>
                <a:gd name="T2" fmla="*/ 9 w 16"/>
                <a:gd name="T3" fmla="*/ 17 h 17"/>
                <a:gd name="T4" fmla="*/ 0 w 16"/>
                <a:gd name="T5" fmla="*/ 9 h 17"/>
                <a:gd name="T6" fmla="*/ 7 w 16"/>
                <a:gd name="T7" fmla="*/ 1 h 17"/>
                <a:gd name="T8" fmla="*/ 16 w 16"/>
                <a:gd name="T9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6" y="8"/>
                  </a:moveTo>
                  <a:cubicBezTo>
                    <a:pt x="16" y="12"/>
                    <a:pt x="13" y="16"/>
                    <a:pt x="9" y="17"/>
                  </a:cubicBezTo>
                  <a:cubicBezTo>
                    <a:pt x="5" y="17"/>
                    <a:pt x="1" y="14"/>
                    <a:pt x="0" y="9"/>
                  </a:cubicBezTo>
                  <a:cubicBezTo>
                    <a:pt x="0" y="5"/>
                    <a:pt x="3" y="1"/>
                    <a:pt x="7" y="1"/>
                  </a:cubicBezTo>
                  <a:cubicBezTo>
                    <a:pt x="11" y="0"/>
                    <a:pt x="15" y="3"/>
                    <a:pt x="16" y="8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39">
              <a:extLst>
                <a:ext uri="{FF2B5EF4-FFF2-40B4-BE49-F238E27FC236}">
                  <a16:creationId xmlns:a16="http://schemas.microsoft.com/office/drawing/2014/main" id="{8202C38D-B842-4609-9795-4FD65D4077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36888" y="1512888"/>
              <a:ext cx="57150" cy="61913"/>
            </a:xfrm>
            <a:custGeom>
              <a:avLst/>
              <a:gdLst>
                <a:gd name="T0" fmla="*/ 22 w 23"/>
                <a:gd name="T1" fmla="*/ 11 h 25"/>
                <a:gd name="T2" fmla="*/ 13 w 23"/>
                <a:gd name="T3" fmla="*/ 24 h 25"/>
                <a:gd name="T4" fmla="*/ 1 w 23"/>
                <a:gd name="T5" fmla="*/ 14 h 25"/>
                <a:gd name="T6" fmla="*/ 10 w 23"/>
                <a:gd name="T7" fmla="*/ 1 h 25"/>
                <a:gd name="T8" fmla="*/ 22 w 23"/>
                <a:gd name="T9" fmla="*/ 1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5">
                  <a:moveTo>
                    <a:pt x="22" y="11"/>
                  </a:moveTo>
                  <a:cubicBezTo>
                    <a:pt x="23" y="18"/>
                    <a:pt x="19" y="23"/>
                    <a:pt x="13" y="24"/>
                  </a:cubicBezTo>
                  <a:cubicBezTo>
                    <a:pt x="7" y="25"/>
                    <a:pt x="1" y="20"/>
                    <a:pt x="1" y="14"/>
                  </a:cubicBezTo>
                  <a:cubicBezTo>
                    <a:pt x="0" y="7"/>
                    <a:pt x="4" y="2"/>
                    <a:pt x="10" y="1"/>
                  </a:cubicBezTo>
                  <a:cubicBezTo>
                    <a:pt x="16" y="0"/>
                    <a:pt x="22" y="5"/>
                    <a:pt x="22" y="1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40">
              <a:extLst>
                <a:ext uri="{FF2B5EF4-FFF2-40B4-BE49-F238E27FC236}">
                  <a16:creationId xmlns:a16="http://schemas.microsoft.com/office/drawing/2014/main" id="{E9454EB7-485D-4E7A-A7E3-C1BDD95402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94050" y="1508125"/>
              <a:ext cx="257175" cy="47625"/>
            </a:xfrm>
            <a:custGeom>
              <a:avLst/>
              <a:gdLst>
                <a:gd name="T0" fmla="*/ 105 w 105"/>
                <a:gd name="T1" fmla="*/ 4 h 19"/>
                <a:gd name="T2" fmla="*/ 100 w 105"/>
                <a:gd name="T3" fmla="*/ 9 h 19"/>
                <a:gd name="T4" fmla="*/ 6 w 105"/>
                <a:gd name="T5" fmla="*/ 19 h 19"/>
                <a:gd name="T6" fmla="*/ 0 w 105"/>
                <a:gd name="T7" fmla="*/ 15 h 19"/>
                <a:gd name="T8" fmla="*/ 0 w 105"/>
                <a:gd name="T9" fmla="*/ 15 h 19"/>
                <a:gd name="T10" fmla="*/ 5 w 105"/>
                <a:gd name="T11" fmla="*/ 10 h 19"/>
                <a:gd name="T12" fmla="*/ 99 w 105"/>
                <a:gd name="T13" fmla="*/ 0 h 19"/>
                <a:gd name="T14" fmla="*/ 105 w 105"/>
                <a:gd name="T15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5" h="19">
                  <a:moveTo>
                    <a:pt x="105" y="4"/>
                  </a:moveTo>
                  <a:cubicBezTo>
                    <a:pt x="105" y="6"/>
                    <a:pt x="103" y="9"/>
                    <a:pt x="100" y="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3" y="19"/>
                    <a:pt x="0" y="17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2" y="11"/>
                    <a:pt x="5" y="1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2" y="0"/>
                    <a:pt x="105" y="2"/>
                    <a:pt x="105" y="4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scene3d>
              <a:camera prst="orthographicFront"/>
              <a:lightRig rig="threePt" dir="t"/>
            </a:scene3d>
            <a:sp3d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41">
              <a:extLst>
                <a:ext uri="{FF2B5EF4-FFF2-40B4-BE49-F238E27FC236}">
                  <a16:creationId xmlns:a16="http://schemas.microsoft.com/office/drawing/2014/main" id="{F3162918-364D-471A-A6F0-4817902A88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16213" y="2616200"/>
              <a:ext cx="161925" cy="317500"/>
            </a:xfrm>
            <a:custGeom>
              <a:avLst/>
              <a:gdLst>
                <a:gd name="T0" fmla="*/ 6 w 66"/>
                <a:gd name="T1" fmla="*/ 26 h 130"/>
                <a:gd name="T2" fmla="*/ 4 w 66"/>
                <a:gd name="T3" fmla="*/ 2 h 130"/>
                <a:gd name="T4" fmla="*/ 4 w 66"/>
                <a:gd name="T5" fmla="*/ 2 h 130"/>
                <a:gd name="T6" fmla="*/ 21 w 66"/>
                <a:gd name="T7" fmla="*/ 21 h 130"/>
                <a:gd name="T8" fmla="*/ 59 w 66"/>
                <a:gd name="T9" fmla="*/ 104 h 130"/>
                <a:gd name="T10" fmla="*/ 62 w 66"/>
                <a:gd name="T11" fmla="*/ 128 h 130"/>
                <a:gd name="T12" fmla="*/ 62 w 66"/>
                <a:gd name="T13" fmla="*/ 128 h 130"/>
                <a:gd name="T14" fmla="*/ 45 w 66"/>
                <a:gd name="T15" fmla="*/ 109 h 130"/>
                <a:gd name="T16" fmla="*/ 6 w 66"/>
                <a:gd name="T17" fmla="*/ 2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130">
                  <a:moveTo>
                    <a:pt x="6" y="26"/>
                  </a:moveTo>
                  <a:cubicBezTo>
                    <a:pt x="1" y="14"/>
                    <a:pt x="0" y="3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8" y="0"/>
                    <a:pt x="15" y="9"/>
                    <a:pt x="21" y="21"/>
                  </a:cubicBezTo>
                  <a:cubicBezTo>
                    <a:pt x="59" y="104"/>
                    <a:pt x="59" y="104"/>
                    <a:pt x="59" y="104"/>
                  </a:cubicBezTo>
                  <a:cubicBezTo>
                    <a:pt x="65" y="116"/>
                    <a:pt x="66" y="127"/>
                    <a:pt x="62" y="128"/>
                  </a:cubicBezTo>
                  <a:cubicBezTo>
                    <a:pt x="62" y="128"/>
                    <a:pt x="62" y="128"/>
                    <a:pt x="62" y="128"/>
                  </a:cubicBezTo>
                  <a:cubicBezTo>
                    <a:pt x="58" y="130"/>
                    <a:pt x="50" y="121"/>
                    <a:pt x="45" y="109"/>
                  </a:cubicBezTo>
                  <a:lnTo>
                    <a:pt x="6" y="26"/>
                  </a:lnTo>
                  <a:close/>
                </a:path>
              </a:pathLst>
            </a:custGeom>
            <a:solidFill>
              <a:srgbClr val="C1C5C5"/>
            </a:solidFill>
            <a:ln w="9525" cap="flat">
              <a:solidFill>
                <a:srgbClr val="C1C5C5"/>
              </a:solidFill>
              <a:prstDash val="solid"/>
              <a:miter lim="800000"/>
              <a:headEnd/>
              <a:tailEnd/>
            </a:ln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42">
              <a:extLst>
                <a:ext uri="{FF2B5EF4-FFF2-40B4-BE49-F238E27FC236}">
                  <a16:creationId xmlns:a16="http://schemas.microsoft.com/office/drawing/2014/main" id="{DA2DE541-21A1-48CA-BDC0-5105449D4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1588" y="2236788"/>
              <a:ext cx="160338" cy="319088"/>
            </a:xfrm>
            <a:custGeom>
              <a:avLst/>
              <a:gdLst>
                <a:gd name="T0" fmla="*/ 7 w 66"/>
                <a:gd name="T1" fmla="*/ 26 h 130"/>
                <a:gd name="T2" fmla="*/ 4 w 66"/>
                <a:gd name="T3" fmla="*/ 2 h 130"/>
                <a:gd name="T4" fmla="*/ 4 w 66"/>
                <a:gd name="T5" fmla="*/ 2 h 130"/>
                <a:gd name="T6" fmla="*/ 21 w 66"/>
                <a:gd name="T7" fmla="*/ 20 h 130"/>
                <a:gd name="T8" fmla="*/ 60 w 66"/>
                <a:gd name="T9" fmla="*/ 104 h 130"/>
                <a:gd name="T10" fmla="*/ 62 w 66"/>
                <a:gd name="T11" fmla="*/ 128 h 130"/>
                <a:gd name="T12" fmla="*/ 62 w 66"/>
                <a:gd name="T13" fmla="*/ 128 h 130"/>
                <a:gd name="T14" fmla="*/ 45 w 66"/>
                <a:gd name="T15" fmla="*/ 109 h 130"/>
                <a:gd name="T16" fmla="*/ 7 w 66"/>
                <a:gd name="T17" fmla="*/ 2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130">
                  <a:moveTo>
                    <a:pt x="7" y="26"/>
                  </a:moveTo>
                  <a:cubicBezTo>
                    <a:pt x="1" y="14"/>
                    <a:pt x="0" y="3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8" y="0"/>
                    <a:pt x="16" y="9"/>
                    <a:pt x="21" y="20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5" y="116"/>
                    <a:pt x="66" y="127"/>
                    <a:pt x="62" y="128"/>
                  </a:cubicBezTo>
                  <a:cubicBezTo>
                    <a:pt x="62" y="128"/>
                    <a:pt x="62" y="128"/>
                    <a:pt x="62" y="128"/>
                  </a:cubicBezTo>
                  <a:cubicBezTo>
                    <a:pt x="58" y="130"/>
                    <a:pt x="51" y="121"/>
                    <a:pt x="45" y="109"/>
                  </a:cubicBezTo>
                  <a:lnTo>
                    <a:pt x="7" y="26"/>
                  </a:lnTo>
                  <a:close/>
                </a:path>
              </a:pathLst>
            </a:custGeom>
            <a:solidFill>
              <a:srgbClr val="C1C5C5"/>
            </a:solidFill>
            <a:ln w="9525" cap="flat">
              <a:solidFill>
                <a:srgbClr val="C1C5C5"/>
              </a:solidFill>
              <a:prstDash val="solid"/>
              <a:miter lim="800000"/>
              <a:headEnd/>
              <a:tailEnd/>
            </a:ln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4" name="Freeform 43">
              <a:extLst>
                <a:ext uri="{FF2B5EF4-FFF2-40B4-BE49-F238E27FC236}">
                  <a16:creationId xmlns:a16="http://schemas.microsoft.com/office/drawing/2014/main" id="{5548536A-9503-4F54-B4C9-AC99DAC9EE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97125" y="1931988"/>
              <a:ext cx="95250" cy="158750"/>
            </a:xfrm>
            <a:custGeom>
              <a:avLst/>
              <a:gdLst>
                <a:gd name="T0" fmla="*/ 3 w 39"/>
                <a:gd name="T1" fmla="*/ 15 h 65"/>
                <a:gd name="T2" fmla="*/ 5 w 39"/>
                <a:gd name="T3" fmla="*/ 1 h 65"/>
                <a:gd name="T4" fmla="*/ 5 w 39"/>
                <a:gd name="T5" fmla="*/ 1 h 65"/>
                <a:gd name="T6" fmla="*/ 17 w 39"/>
                <a:gd name="T7" fmla="*/ 9 h 65"/>
                <a:gd name="T8" fmla="*/ 36 w 39"/>
                <a:gd name="T9" fmla="*/ 50 h 65"/>
                <a:gd name="T10" fmla="*/ 34 w 39"/>
                <a:gd name="T11" fmla="*/ 64 h 65"/>
                <a:gd name="T12" fmla="*/ 34 w 39"/>
                <a:gd name="T13" fmla="*/ 64 h 65"/>
                <a:gd name="T14" fmla="*/ 22 w 39"/>
                <a:gd name="T15" fmla="*/ 56 h 65"/>
                <a:gd name="T16" fmla="*/ 3 w 39"/>
                <a:gd name="T17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65">
                  <a:moveTo>
                    <a:pt x="3" y="15"/>
                  </a:moveTo>
                  <a:cubicBezTo>
                    <a:pt x="0" y="9"/>
                    <a:pt x="1" y="3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9" y="0"/>
                    <a:pt x="15" y="3"/>
                    <a:pt x="17" y="9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9" y="56"/>
                    <a:pt x="38" y="62"/>
                    <a:pt x="34" y="64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30" y="65"/>
                    <a:pt x="25" y="62"/>
                    <a:pt x="22" y="56"/>
                  </a:cubicBezTo>
                  <a:lnTo>
                    <a:pt x="3" y="15"/>
                  </a:lnTo>
                  <a:close/>
                </a:path>
              </a:pathLst>
            </a:custGeom>
            <a:solidFill>
              <a:srgbClr val="C1C5C5"/>
            </a:solidFill>
            <a:ln w="9525" cap="flat">
              <a:solidFill>
                <a:srgbClr val="C1C5C5"/>
              </a:solidFill>
              <a:prstDash val="solid"/>
              <a:miter lim="800000"/>
              <a:headEnd/>
              <a:tailEnd/>
            </a:ln>
            <a:scene3d>
              <a:camera prst="orthographicFront"/>
              <a:lightRig rig="threePt" dir="t"/>
            </a:scene3d>
            <a:sp3d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2" name="Picture Placeholder 20">
            <a:extLst>
              <a:ext uri="{FF2B5EF4-FFF2-40B4-BE49-F238E27FC236}">
                <a16:creationId xmlns:a16="http://schemas.microsoft.com/office/drawing/2014/main" id="{CC0A4B88-0BB1-4E21-BBF5-9B5EFC78A8BB}"/>
              </a:ext>
            </a:extLst>
          </p:cNvPr>
          <p:cNvSpPr>
            <a:spLocks noGrp="1" noChangeAspect="1"/>
          </p:cNvSpPr>
          <p:nvPr userDrawn="1">
            <p:ph type="pic" sz="quarter" idx="14"/>
          </p:nvPr>
        </p:nvSpPr>
        <p:spPr>
          <a:xfrm>
            <a:off x="1666260" y="909521"/>
            <a:ext cx="2138362" cy="4642869"/>
          </a:xfrm>
          <a:custGeom>
            <a:avLst/>
            <a:gdLst>
              <a:gd name="connsiteX0" fmla="*/ 218144 w 2030413"/>
              <a:gd name="connsiteY0" fmla="*/ 0 h 4408488"/>
              <a:gd name="connsiteX1" fmla="*/ 362971 w 2030413"/>
              <a:gd name="connsiteY1" fmla="*/ 0 h 4408488"/>
              <a:gd name="connsiteX2" fmla="*/ 447675 w 2030413"/>
              <a:gd name="connsiteY2" fmla="*/ 0 h 4408488"/>
              <a:gd name="connsiteX3" fmla="*/ 447675 w 2030413"/>
              <a:gd name="connsiteY3" fmla="*/ 38894 h 4408488"/>
              <a:gd name="connsiteX4" fmla="*/ 565010 w 2030413"/>
              <a:gd name="connsiteY4" fmla="*/ 155575 h 4408488"/>
              <a:gd name="connsiteX5" fmla="*/ 1470165 w 2030413"/>
              <a:gd name="connsiteY5" fmla="*/ 155575 h 4408488"/>
              <a:gd name="connsiteX6" fmla="*/ 1587500 w 2030413"/>
              <a:gd name="connsiteY6" fmla="*/ 38894 h 4408488"/>
              <a:gd name="connsiteX7" fmla="*/ 1587500 w 2030413"/>
              <a:gd name="connsiteY7" fmla="*/ 0 h 4408488"/>
              <a:gd name="connsiteX8" fmla="*/ 1613004 w 2030413"/>
              <a:gd name="connsiteY8" fmla="*/ 0 h 4408488"/>
              <a:gd name="connsiteX9" fmla="*/ 1812270 w 2030413"/>
              <a:gd name="connsiteY9" fmla="*/ 0 h 4408488"/>
              <a:gd name="connsiteX10" fmla="*/ 2030413 w 2030413"/>
              <a:gd name="connsiteY10" fmla="*/ 217634 h 4408488"/>
              <a:gd name="connsiteX11" fmla="*/ 2030413 w 2030413"/>
              <a:gd name="connsiteY11" fmla="*/ 4190854 h 4408488"/>
              <a:gd name="connsiteX12" fmla="*/ 1812270 w 2030413"/>
              <a:gd name="connsiteY12" fmla="*/ 4408488 h 4408488"/>
              <a:gd name="connsiteX13" fmla="*/ 218144 w 2030413"/>
              <a:gd name="connsiteY13" fmla="*/ 4408488 h 4408488"/>
              <a:gd name="connsiteX14" fmla="*/ 0 w 2030413"/>
              <a:gd name="connsiteY14" fmla="*/ 4190854 h 4408488"/>
              <a:gd name="connsiteX15" fmla="*/ 0 w 2030413"/>
              <a:gd name="connsiteY15" fmla="*/ 217634 h 4408488"/>
              <a:gd name="connsiteX16" fmla="*/ 218144 w 2030413"/>
              <a:gd name="connsiteY16" fmla="*/ 0 h 4408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30413" h="4408488">
                <a:moveTo>
                  <a:pt x="218144" y="0"/>
                </a:moveTo>
                <a:cubicBezTo>
                  <a:pt x="267960" y="0"/>
                  <a:pt x="316220" y="0"/>
                  <a:pt x="362971" y="0"/>
                </a:cubicBezTo>
                <a:lnTo>
                  <a:pt x="447675" y="0"/>
                </a:lnTo>
                <a:cubicBezTo>
                  <a:pt x="447675" y="0"/>
                  <a:pt x="447675" y="0"/>
                  <a:pt x="447675" y="38894"/>
                </a:cubicBezTo>
                <a:cubicBezTo>
                  <a:pt x="447675" y="102791"/>
                  <a:pt x="500755" y="155575"/>
                  <a:pt x="565010" y="155575"/>
                </a:cubicBezTo>
                <a:cubicBezTo>
                  <a:pt x="565010" y="155575"/>
                  <a:pt x="565010" y="155575"/>
                  <a:pt x="1470165" y="155575"/>
                </a:cubicBezTo>
                <a:cubicBezTo>
                  <a:pt x="1534420" y="155575"/>
                  <a:pt x="1587500" y="102791"/>
                  <a:pt x="1587500" y="38894"/>
                </a:cubicBezTo>
                <a:cubicBezTo>
                  <a:pt x="1587500" y="38894"/>
                  <a:pt x="1587500" y="38894"/>
                  <a:pt x="1587500" y="0"/>
                </a:cubicBezTo>
                <a:lnTo>
                  <a:pt x="1613004" y="0"/>
                </a:lnTo>
                <a:cubicBezTo>
                  <a:pt x="1812270" y="0"/>
                  <a:pt x="1812270" y="0"/>
                  <a:pt x="1812270" y="0"/>
                </a:cubicBezTo>
                <a:cubicBezTo>
                  <a:pt x="1932528" y="0"/>
                  <a:pt x="2030413" y="97657"/>
                  <a:pt x="2030413" y="217634"/>
                </a:cubicBezTo>
                <a:cubicBezTo>
                  <a:pt x="2030413" y="4190854"/>
                  <a:pt x="2030413" y="4190854"/>
                  <a:pt x="2030413" y="4190854"/>
                </a:cubicBezTo>
                <a:cubicBezTo>
                  <a:pt x="2030413" y="4310832"/>
                  <a:pt x="1932528" y="4408488"/>
                  <a:pt x="1812270" y="4408488"/>
                </a:cubicBezTo>
                <a:cubicBezTo>
                  <a:pt x="218144" y="4408488"/>
                  <a:pt x="218144" y="4408488"/>
                  <a:pt x="218144" y="4408488"/>
                </a:cubicBezTo>
                <a:cubicBezTo>
                  <a:pt x="97885" y="4408488"/>
                  <a:pt x="0" y="4310832"/>
                  <a:pt x="0" y="4190854"/>
                </a:cubicBezTo>
                <a:cubicBezTo>
                  <a:pt x="0" y="217634"/>
                  <a:pt x="0" y="217634"/>
                  <a:pt x="0" y="217634"/>
                </a:cubicBezTo>
                <a:cubicBezTo>
                  <a:pt x="0" y="97657"/>
                  <a:pt x="97885" y="0"/>
                  <a:pt x="218144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/>
          <a:scene3d>
            <a:camera prst="perspectiveHeroicExtremeRightFacing" fov="2100000">
              <a:rot lat="20820000" lon="18960000" rev="1500000"/>
            </a:camera>
            <a:lightRig rig="threePt" dir="t"/>
          </a:scene3d>
          <a:sp3d/>
        </p:spPr>
        <p:txBody>
          <a:bodyPr wrap="square">
            <a:noAutofit/>
          </a:bodyPr>
          <a:lstStyle>
            <a:lvl1pPr>
              <a:defRPr lang="en-US" sz="1600"/>
            </a:lvl1pPr>
          </a:lstStyle>
          <a:p>
            <a:pPr lvl="0"/>
            <a:endParaRPr lang="en-US" dirty="0"/>
          </a:p>
        </p:txBody>
      </p:sp>
      <p:grpSp>
        <p:nvGrpSpPr>
          <p:cNvPr id="30" name="Footer">
            <a:extLst>
              <a:ext uri="{FF2B5EF4-FFF2-40B4-BE49-F238E27FC236}">
                <a16:creationId xmlns:a16="http://schemas.microsoft.com/office/drawing/2014/main" id="{FC8377FD-5D74-4D48-BBF3-C535DEB95142}"/>
              </a:ext>
            </a:extLst>
          </p:cNvPr>
          <p:cNvGrpSpPr/>
          <p:nvPr userDrawn="1"/>
        </p:nvGrpSpPr>
        <p:grpSpPr>
          <a:xfrm>
            <a:off x="11739418" y="0"/>
            <a:ext cx="452582" cy="6858000"/>
            <a:chOff x="0" y="0"/>
            <a:chExt cx="452582" cy="6858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D4A051B-EECE-8D4E-9F38-776A115B231E}"/>
                </a:ext>
              </a:extLst>
            </p:cNvPr>
            <p:cNvSpPr/>
            <p:nvPr userDrawn="1"/>
          </p:nvSpPr>
          <p:spPr>
            <a:xfrm>
              <a:off x="0" y="0"/>
              <a:ext cx="45258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grpSp>
          <p:nvGrpSpPr>
            <p:cNvPr id="33" name="Bot">
              <a:extLst>
                <a:ext uri="{FF2B5EF4-FFF2-40B4-BE49-F238E27FC236}">
                  <a16:creationId xmlns:a16="http://schemas.microsoft.com/office/drawing/2014/main" id="{A0FE55A2-AE56-F844-88BE-B85AF9C493C6}"/>
                </a:ext>
              </a:extLst>
            </p:cNvPr>
            <p:cNvGrpSpPr/>
            <p:nvPr userDrawn="1"/>
          </p:nvGrpSpPr>
          <p:grpSpPr>
            <a:xfrm rot="10800000">
              <a:off x="180063" y="6434032"/>
              <a:ext cx="101211" cy="110573"/>
              <a:chOff x="999213" y="253386"/>
              <a:chExt cx="101211" cy="110573"/>
            </a:xfrm>
          </p:grpSpPr>
          <p:sp>
            <p:nvSpPr>
              <p:cNvPr id="34" name="Graphic 13">
                <a:extLst>
                  <a:ext uri="{FF2B5EF4-FFF2-40B4-BE49-F238E27FC236}">
                    <a16:creationId xmlns:a16="http://schemas.microsoft.com/office/drawing/2014/main" id="{C180B4AB-B591-CD47-A715-0F1A43F8215A}"/>
                  </a:ext>
                </a:extLst>
              </p:cNvPr>
              <p:cNvSpPr/>
              <p:nvPr/>
            </p:nvSpPr>
            <p:spPr>
              <a:xfrm rot="10800000">
                <a:off x="999213" y="253386"/>
                <a:ext cx="101211" cy="54096"/>
              </a:xfrm>
              <a:custGeom>
                <a:avLst/>
                <a:gdLst>
                  <a:gd name="connsiteX0" fmla="*/ 1094423 w 1104900"/>
                  <a:gd name="connsiteY0" fmla="*/ 11430 h 590550"/>
                  <a:gd name="connsiteX1" fmla="*/ 1039178 w 1104900"/>
                  <a:gd name="connsiteY1" fmla="*/ 11430 h 590550"/>
                  <a:gd name="connsiteX2" fmla="*/ 553403 w 1104900"/>
                  <a:gd name="connsiteY2" fmla="*/ 498157 h 590550"/>
                  <a:gd name="connsiteX3" fmla="*/ 66675 w 1104900"/>
                  <a:gd name="connsiteY3" fmla="*/ 11430 h 590550"/>
                  <a:gd name="connsiteX4" fmla="*/ 11430 w 1104900"/>
                  <a:gd name="connsiteY4" fmla="*/ 11430 h 590550"/>
                  <a:gd name="connsiteX5" fmla="*/ 11430 w 1104900"/>
                  <a:gd name="connsiteY5" fmla="*/ 66675 h 590550"/>
                  <a:gd name="connsiteX6" fmla="*/ 524828 w 1104900"/>
                  <a:gd name="connsiteY6" fmla="*/ 580073 h 590550"/>
                  <a:gd name="connsiteX7" fmla="*/ 552450 w 1104900"/>
                  <a:gd name="connsiteY7" fmla="*/ 591503 h 590550"/>
                  <a:gd name="connsiteX8" fmla="*/ 580073 w 1104900"/>
                  <a:gd name="connsiteY8" fmla="*/ 580073 h 590550"/>
                  <a:gd name="connsiteX9" fmla="*/ 1093470 w 1104900"/>
                  <a:gd name="connsiteY9" fmla="*/ 66675 h 590550"/>
                  <a:gd name="connsiteX10" fmla="*/ 1094423 w 1104900"/>
                  <a:gd name="connsiteY10" fmla="*/ 11430 h 590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04900" h="590550">
                    <a:moveTo>
                      <a:pt x="1094423" y="11430"/>
                    </a:moveTo>
                    <a:cubicBezTo>
                      <a:pt x="1079183" y="-3810"/>
                      <a:pt x="1054418" y="-3810"/>
                      <a:pt x="1039178" y="11430"/>
                    </a:cubicBezTo>
                    <a:lnTo>
                      <a:pt x="553403" y="498157"/>
                    </a:lnTo>
                    <a:lnTo>
                      <a:pt x="66675" y="11430"/>
                    </a:lnTo>
                    <a:cubicBezTo>
                      <a:pt x="51435" y="-3810"/>
                      <a:pt x="26670" y="-3810"/>
                      <a:pt x="11430" y="11430"/>
                    </a:cubicBezTo>
                    <a:cubicBezTo>
                      <a:pt x="-3810" y="26670"/>
                      <a:pt x="-3810" y="51435"/>
                      <a:pt x="11430" y="66675"/>
                    </a:cubicBezTo>
                    <a:lnTo>
                      <a:pt x="524828" y="580073"/>
                    </a:lnTo>
                    <a:cubicBezTo>
                      <a:pt x="532448" y="587693"/>
                      <a:pt x="541973" y="591503"/>
                      <a:pt x="552450" y="591503"/>
                    </a:cubicBezTo>
                    <a:cubicBezTo>
                      <a:pt x="561975" y="591503"/>
                      <a:pt x="572453" y="587693"/>
                      <a:pt x="580073" y="580073"/>
                    </a:cubicBezTo>
                    <a:lnTo>
                      <a:pt x="1093470" y="66675"/>
                    </a:lnTo>
                    <a:cubicBezTo>
                      <a:pt x="1109663" y="51435"/>
                      <a:pt x="1109663" y="26670"/>
                      <a:pt x="1094423" y="1143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/>
              </a:p>
            </p:txBody>
          </p:sp>
          <p:sp>
            <p:nvSpPr>
              <p:cNvPr id="35" name="Graphic 13">
                <a:extLst>
                  <a:ext uri="{FF2B5EF4-FFF2-40B4-BE49-F238E27FC236}">
                    <a16:creationId xmlns:a16="http://schemas.microsoft.com/office/drawing/2014/main" id="{0F573721-E2F0-5F44-AC55-DE4AA321B43D}"/>
                  </a:ext>
                </a:extLst>
              </p:cNvPr>
              <p:cNvSpPr/>
              <p:nvPr userDrawn="1"/>
            </p:nvSpPr>
            <p:spPr>
              <a:xfrm rot="10800000">
                <a:off x="999213" y="309863"/>
                <a:ext cx="101211" cy="54096"/>
              </a:xfrm>
              <a:custGeom>
                <a:avLst/>
                <a:gdLst>
                  <a:gd name="connsiteX0" fmla="*/ 1094423 w 1104900"/>
                  <a:gd name="connsiteY0" fmla="*/ 11430 h 590550"/>
                  <a:gd name="connsiteX1" fmla="*/ 1039178 w 1104900"/>
                  <a:gd name="connsiteY1" fmla="*/ 11430 h 590550"/>
                  <a:gd name="connsiteX2" fmla="*/ 553403 w 1104900"/>
                  <a:gd name="connsiteY2" fmla="*/ 498157 h 590550"/>
                  <a:gd name="connsiteX3" fmla="*/ 66675 w 1104900"/>
                  <a:gd name="connsiteY3" fmla="*/ 11430 h 590550"/>
                  <a:gd name="connsiteX4" fmla="*/ 11430 w 1104900"/>
                  <a:gd name="connsiteY4" fmla="*/ 11430 h 590550"/>
                  <a:gd name="connsiteX5" fmla="*/ 11430 w 1104900"/>
                  <a:gd name="connsiteY5" fmla="*/ 66675 h 590550"/>
                  <a:gd name="connsiteX6" fmla="*/ 524828 w 1104900"/>
                  <a:gd name="connsiteY6" fmla="*/ 580073 h 590550"/>
                  <a:gd name="connsiteX7" fmla="*/ 552450 w 1104900"/>
                  <a:gd name="connsiteY7" fmla="*/ 591503 h 590550"/>
                  <a:gd name="connsiteX8" fmla="*/ 580073 w 1104900"/>
                  <a:gd name="connsiteY8" fmla="*/ 580073 h 590550"/>
                  <a:gd name="connsiteX9" fmla="*/ 1093470 w 1104900"/>
                  <a:gd name="connsiteY9" fmla="*/ 66675 h 590550"/>
                  <a:gd name="connsiteX10" fmla="*/ 1094423 w 1104900"/>
                  <a:gd name="connsiteY10" fmla="*/ 11430 h 590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04900" h="590550">
                    <a:moveTo>
                      <a:pt x="1094423" y="11430"/>
                    </a:moveTo>
                    <a:cubicBezTo>
                      <a:pt x="1079183" y="-3810"/>
                      <a:pt x="1054418" y="-3810"/>
                      <a:pt x="1039178" y="11430"/>
                    </a:cubicBezTo>
                    <a:lnTo>
                      <a:pt x="553403" y="498157"/>
                    </a:lnTo>
                    <a:lnTo>
                      <a:pt x="66675" y="11430"/>
                    </a:lnTo>
                    <a:cubicBezTo>
                      <a:pt x="51435" y="-3810"/>
                      <a:pt x="26670" y="-3810"/>
                      <a:pt x="11430" y="11430"/>
                    </a:cubicBezTo>
                    <a:cubicBezTo>
                      <a:pt x="-3810" y="26670"/>
                      <a:pt x="-3810" y="51435"/>
                      <a:pt x="11430" y="66675"/>
                    </a:cubicBezTo>
                    <a:lnTo>
                      <a:pt x="524828" y="580073"/>
                    </a:lnTo>
                    <a:cubicBezTo>
                      <a:pt x="532448" y="587693"/>
                      <a:pt x="541973" y="591503"/>
                      <a:pt x="552450" y="591503"/>
                    </a:cubicBezTo>
                    <a:cubicBezTo>
                      <a:pt x="561975" y="591503"/>
                      <a:pt x="572453" y="587693"/>
                      <a:pt x="580073" y="580073"/>
                    </a:cubicBezTo>
                    <a:lnTo>
                      <a:pt x="1093470" y="66675"/>
                    </a:lnTo>
                    <a:cubicBezTo>
                      <a:pt x="1109663" y="51435"/>
                      <a:pt x="1109663" y="26670"/>
                      <a:pt x="1094423" y="1143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/>
              </a:p>
            </p:txBody>
          </p:sp>
        </p:grpSp>
      </p:grp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82CCB196-E1EB-A045-BB70-31FA5C54041F}"/>
              </a:ext>
            </a:extLst>
          </p:cNvPr>
          <p:cNvSpPr txBox="1">
            <a:spLocks/>
          </p:cNvSpPr>
          <p:nvPr userDrawn="1"/>
        </p:nvSpPr>
        <p:spPr>
          <a:xfrm>
            <a:off x="11739418" y="6106320"/>
            <a:ext cx="452582" cy="25364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 spc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F51A77-5287-46DB-80B2-CCB0E34F1D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09272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utoRev="1" fill="hold" grpId="1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22" dur="2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6" presetClass="emph" presetSubtype="0" repeatCount="indefinite" autoRev="1" fill="hold" grpId="1" nodeType="withEffect">
                                  <p:stCondLst>
                                    <p:cond delay="1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24" dur="2000" fill="hold"/>
                                        <p:tgtEl>
                                          <p:spTgt spid="39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8" grpId="1" animBg="1"/>
      <p:bldP spid="39" grpId="0" animBg="1"/>
      <p:bldP spid="39" grpId="1" animBg="1"/>
      <p:bldP spid="72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34012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130279-B9B9-FD44-AB25-9D3372C22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A919C-4EF2-484E-9FC1-C8CF2A288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164FB-3D0A-444E-BB8E-134DA11491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73623-0575-304E-BCFD-1AB72FCBDCAD}" type="datetimeFigureOut">
              <a:rPr lang="en-US" smtClean="0"/>
              <a:t>8/18/20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CDE1E-9D14-F04D-BCBB-46FF72107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5E696-E724-914E-8D7D-DB26760982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599DF-8432-C345-900A-865F5C646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3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068568-D998-4444-99CD-3DDA07BF3D7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18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med">
    <p:pull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youexec.com/resources?m=ppt&amp;sr=thirty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ounded Rectangle">
            <a:extLst>
              <a:ext uri="{FF2B5EF4-FFF2-40B4-BE49-F238E27FC236}">
                <a16:creationId xmlns:a16="http://schemas.microsoft.com/office/drawing/2014/main" id="{E66C420E-8F13-4228-B476-597D070EA396}"/>
              </a:ext>
            </a:extLst>
          </p:cNvPr>
          <p:cNvSpPr/>
          <p:nvPr/>
        </p:nvSpPr>
        <p:spPr>
          <a:xfrm rot="16200000">
            <a:off x="1383583" y="3202026"/>
            <a:ext cx="2412715" cy="2072633"/>
          </a:xfrm>
          <a:prstGeom prst="round2SameRect">
            <a:avLst>
              <a:gd name="adj1" fmla="val 19273"/>
              <a:gd name="adj2" fmla="val 0"/>
            </a:avLst>
          </a:prstGeom>
          <a:solidFill>
            <a:srgbClr val="E4E8EE"/>
          </a:solidFill>
          <a:ln w="12700">
            <a:miter lim="400000"/>
          </a:ln>
          <a:effectLst/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baseline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E1F3044C-3D63-47CF-BD4C-4A68E9E941FA}"/>
              </a:ext>
            </a:extLst>
          </p:cNvPr>
          <p:cNvSpPr/>
          <p:nvPr/>
        </p:nvSpPr>
        <p:spPr>
          <a:xfrm>
            <a:off x="3626256" y="1346437"/>
            <a:ext cx="7961248" cy="5021654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12700">
            <a:miter lim="400000"/>
          </a:ln>
          <a:effectLst>
            <a:outerShdw blurRad="292100" dist="110334" dir="5400000" rotWithShape="0">
              <a:srgbClr val="475D84">
                <a:alpha val="2164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baseline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6D8E5A8C-E911-4A9D-8692-4881B48FDD45}"/>
              </a:ext>
            </a:extLst>
          </p:cNvPr>
          <p:cNvGrpSpPr/>
          <p:nvPr/>
        </p:nvGrpSpPr>
        <p:grpSpPr>
          <a:xfrm>
            <a:off x="1553622" y="2779080"/>
            <a:ext cx="2072633" cy="1312681"/>
            <a:chOff x="1079059" y="2228500"/>
            <a:chExt cx="2072633" cy="1312681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D3DCC5E-4FFD-467D-8745-21D0D2A8D8BA}"/>
                </a:ext>
              </a:extLst>
            </p:cNvPr>
            <p:cNvSpPr/>
            <p:nvPr/>
          </p:nvSpPr>
          <p:spPr>
            <a:xfrm>
              <a:off x="2897090" y="2228500"/>
              <a:ext cx="254602" cy="254597"/>
            </a:xfrm>
            <a:custGeom>
              <a:avLst/>
              <a:gdLst>
                <a:gd name="connsiteX0" fmla="*/ 432555 w 432555"/>
                <a:gd name="connsiteY0" fmla="*/ 0 h 432546"/>
                <a:gd name="connsiteX1" fmla="*/ 432555 w 432555"/>
                <a:gd name="connsiteY1" fmla="*/ 432546 h 432546"/>
                <a:gd name="connsiteX2" fmla="*/ 0 w 432555"/>
                <a:gd name="connsiteY2" fmla="*/ 432546 h 432546"/>
                <a:gd name="connsiteX3" fmla="*/ 423768 w 432555"/>
                <a:gd name="connsiteY3" fmla="*/ 87165 h 432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2555" h="432546">
                  <a:moveTo>
                    <a:pt x="432555" y="0"/>
                  </a:moveTo>
                  <a:lnTo>
                    <a:pt x="432555" y="432546"/>
                  </a:lnTo>
                  <a:lnTo>
                    <a:pt x="0" y="432546"/>
                  </a:lnTo>
                  <a:cubicBezTo>
                    <a:pt x="209032" y="432546"/>
                    <a:pt x="383434" y="284274"/>
                    <a:pt x="423768" y="8716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  <a:effectLst/>
          </p:spPr>
          <p:txBody>
            <a:bodyPr wrap="square" lIns="50800" tIns="50800" rIns="50800" bIns="50800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1" name="Rounded Rectangle">
              <a:extLst>
                <a:ext uri="{FF2B5EF4-FFF2-40B4-BE49-F238E27FC236}">
                  <a16:creationId xmlns:a16="http://schemas.microsoft.com/office/drawing/2014/main" id="{8A5EAA88-13E6-4394-9B19-EE92789BD2AD}"/>
                </a:ext>
              </a:extLst>
            </p:cNvPr>
            <p:cNvSpPr/>
            <p:nvPr/>
          </p:nvSpPr>
          <p:spPr>
            <a:xfrm rot="16200000">
              <a:off x="1713633" y="1848524"/>
              <a:ext cx="803485" cy="207263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 w="12700"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2CB586C-4753-4EC6-96A9-7FBA5432868F}"/>
                </a:ext>
              </a:extLst>
            </p:cNvPr>
            <p:cNvSpPr/>
            <p:nvPr/>
          </p:nvSpPr>
          <p:spPr>
            <a:xfrm flipV="1">
              <a:off x="2897090" y="3286584"/>
              <a:ext cx="254602" cy="254597"/>
            </a:xfrm>
            <a:custGeom>
              <a:avLst/>
              <a:gdLst>
                <a:gd name="connsiteX0" fmla="*/ 432555 w 432555"/>
                <a:gd name="connsiteY0" fmla="*/ 0 h 432546"/>
                <a:gd name="connsiteX1" fmla="*/ 432555 w 432555"/>
                <a:gd name="connsiteY1" fmla="*/ 432546 h 432546"/>
                <a:gd name="connsiteX2" fmla="*/ 0 w 432555"/>
                <a:gd name="connsiteY2" fmla="*/ 432546 h 432546"/>
                <a:gd name="connsiteX3" fmla="*/ 423768 w 432555"/>
                <a:gd name="connsiteY3" fmla="*/ 87165 h 432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2555" h="432546">
                  <a:moveTo>
                    <a:pt x="432555" y="0"/>
                  </a:moveTo>
                  <a:lnTo>
                    <a:pt x="432555" y="432546"/>
                  </a:lnTo>
                  <a:lnTo>
                    <a:pt x="0" y="432546"/>
                  </a:lnTo>
                  <a:cubicBezTo>
                    <a:pt x="209032" y="432546"/>
                    <a:pt x="383434" y="284274"/>
                    <a:pt x="423768" y="8716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  <a:effectLst/>
          </p:spPr>
          <p:txBody>
            <a:bodyPr wrap="square" lIns="50800" tIns="50800" rIns="50800" bIns="50800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90B655DF-33AA-4DC2-AC17-88E42F10B98D}"/>
              </a:ext>
            </a:extLst>
          </p:cNvPr>
          <p:cNvSpPr txBox="1"/>
          <p:nvPr/>
        </p:nvSpPr>
        <p:spPr>
          <a:xfrm>
            <a:off x="582631" y="611930"/>
            <a:ext cx="3547123" cy="48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US" sz="2500" b="1" dirty="0">
                <a:latin typeface="Century Gothic" panose="020B0502020202020204" pitchFamily="34" charset="0"/>
              </a:rPr>
              <a:t>30-60-90 DAY PLAN</a:t>
            </a:r>
          </a:p>
        </p:txBody>
      </p:sp>
      <p:sp>
        <p:nvSpPr>
          <p:cNvPr id="15" name="Rounded Rectangle">
            <a:extLst>
              <a:ext uri="{FF2B5EF4-FFF2-40B4-BE49-F238E27FC236}">
                <a16:creationId xmlns:a16="http://schemas.microsoft.com/office/drawing/2014/main" id="{1E2AE2CB-57B3-4992-8D25-71A82C828005}"/>
              </a:ext>
            </a:extLst>
          </p:cNvPr>
          <p:cNvSpPr/>
          <p:nvPr/>
        </p:nvSpPr>
        <p:spPr>
          <a:xfrm>
            <a:off x="4149228" y="1712423"/>
            <a:ext cx="1957200" cy="43675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4B2DB"/>
              </a:gs>
              <a:gs pos="100000">
                <a:srgbClr val="4983D0"/>
              </a:gs>
            </a:gsLst>
            <a:lin ang="2277912"/>
          </a:gradFill>
          <a:ln w="12700">
            <a:miter lim="400000"/>
          </a:ln>
          <a:effectLst/>
        </p:spPr>
        <p:txBody>
          <a:bodyPr lIns="50800" tIns="0" rIns="50800" bIns="0" anchor="ctr"/>
          <a:lstStyle/>
          <a:p>
            <a:pPr algn="ctr">
              <a:lnSpc>
                <a:spcPct val="100000"/>
              </a:lnSpc>
              <a:defRPr sz="3200" baseline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US" sz="900" b="1" dirty="0">
                <a:solidFill>
                  <a:schemeClr val="bg1"/>
                </a:solidFill>
                <a:latin typeface="Century Gothic" panose="020B0502020202020204" pitchFamily="34" charset="0"/>
              </a:rPr>
              <a:t>LEARNING GOALS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52C123F-9808-4ED1-8E81-81DB1D453394}"/>
              </a:ext>
            </a:extLst>
          </p:cNvPr>
          <p:cNvGrpSpPr/>
          <p:nvPr/>
        </p:nvGrpSpPr>
        <p:grpSpPr>
          <a:xfrm>
            <a:off x="4235584" y="2312101"/>
            <a:ext cx="1870844" cy="1353945"/>
            <a:chOff x="4052889" y="2120730"/>
            <a:chExt cx="1870844" cy="1353945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AF0DD7A-F44F-401B-943D-844C5B5144DF}"/>
                </a:ext>
              </a:extLst>
            </p:cNvPr>
            <p:cNvGrpSpPr/>
            <p:nvPr/>
          </p:nvGrpSpPr>
          <p:grpSpPr>
            <a:xfrm>
              <a:off x="4052889" y="2120730"/>
              <a:ext cx="1870844" cy="406843"/>
              <a:chOff x="4052889" y="2060492"/>
              <a:chExt cx="1870844" cy="406843"/>
            </a:xfrm>
          </p:grpSpPr>
          <p:sp>
            <p:nvSpPr>
              <p:cNvPr id="11" name="Shape">
                <a:extLst>
                  <a:ext uri="{FF2B5EF4-FFF2-40B4-BE49-F238E27FC236}">
                    <a16:creationId xmlns:a16="http://schemas.microsoft.com/office/drawing/2014/main" id="{60A52C3A-EA9E-4078-B81E-82360492DD98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93ADF5A-54FB-4301-AD4E-F55B23CFFD33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Learn about the company’s vision, mission, strategy &amp; culture</a:t>
                </a: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55355893-BE77-474E-99EB-857AEF8FD18F}"/>
                </a:ext>
              </a:extLst>
            </p:cNvPr>
            <p:cNvGrpSpPr/>
            <p:nvPr/>
          </p:nvGrpSpPr>
          <p:grpSpPr>
            <a:xfrm>
              <a:off x="4052889" y="2594281"/>
              <a:ext cx="1870844" cy="406843"/>
              <a:chOff x="4052889" y="2060492"/>
              <a:chExt cx="1870844" cy="406843"/>
            </a:xfrm>
          </p:grpSpPr>
          <p:sp>
            <p:nvSpPr>
              <p:cNvPr id="56" name="Shape">
                <a:extLst>
                  <a:ext uri="{FF2B5EF4-FFF2-40B4-BE49-F238E27FC236}">
                    <a16:creationId xmlns:a16="http://schemas.microsoft.com/office/drawing/2014/main" id="{71EEE4C0-3C41-4609-B83D-28F3028781AB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CA00933-B5C7-4A8E-B108-DBFA19DD5FC9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Understand the business, past triumphs, past failures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9A673A1-26AA-46DD-9F65-66A2D2C6B826}"/>
                </a:ext>
              </a:extLst>
            </p:cNvPr>
            <p:cNvGrpSpPr/>
            <p:nvPr/>
          </p:nvGrpSpPr>
          <p:grpSpPr>
            <a:xfrm>
              <a:off x="4052889" y="3067832"/>
              <a:ext cx="1870844" cy="406843"/>
              <a:chOff x="4052889" y="2911198"/>
              <a:chExt cx="1870844" cy="406843"/>
            </a:xfrm>
          </p:grpSpPr>
          <p:sp>
            <p:nvSpPr>
              <p:cNvPr id="59" name="Shape">
                <a:extLst>
                  <a:ext uri="{FF2B5EF4-FFF2-40B4-BE49-F238E27FC236}">
                    <a16:creationId xmlns:a16="http://schemas.microsoft.com/office/drawing/2014/main" id="{CA7305DC-03D0-48A1-9FFD-F273CD38945A}"/>
                  </a:ext>
                </a:extLst>
              </p:cNvPr>
              <p:cNvSpPr/>
              <p:nvPr/>
            </p:nvSpPr>
            <p:spPr>
              <a:xfrm>
                <a:off x="4052889" y="3007594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5F5F706-C0EB-41C2-83C1-E9E48C099BA3}"/>
                  </a:ext>
                </a:extLst>
              </p:cNvPr>
              <p:cNvSpPr txBox="1"/>
              <p:nvPr/>
            </p:nvSpPr>
            <p:spPr>
              <a:xfrm>
                <a:off x="4134601" y="2911198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Meet the manager &amp; team, &amp; understand their expectations</a:t>
                </a:r>
              </a:p>
            </p:txBody>
          </p:sp>
        </p:grpSp>
      </p:grpSp>
      <p:sp>
        <p:nvSpPr>
          <p:cNvPr id="47" name="Rounded Rectangle">
            <a:extLst>
              <a:ext uri="{FF2B5EF4-FFF2-40B4-BE49-F238E27FC236}">
                <a16:creationId xmlns:a16="http://schemas.microsoft.com/office/drawing/2014/main" id="{026D83E6-C8EB-4AD9-81CF-1FB13BAD56BE}"/>
              </a:ext>
            </a:extLst>
          </p:cNvPr>
          <p:cNvSpPr/>
          <p:nvPr/>
        </p:nvSpPr>
        <p:spPr>
          <a:xfrm>
            <a:off x="6628279" y="1712423"/>
            <a:ext cx="1957200" cy="43675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4B2DB"/>
              </a:gs>
              <a:gs pos="100000">
                <a:srgbClr val="4983D0"/>
              </a:gs>
            </a:gsLst>
            <a:lin ang="2277912"/>
          </a:gradFill>
          <a:ln w="12700">
            <a:miter lim="400000"/>
          </a:ln>
          <a:effectLst/>
        </p:spPr>
        <p:txBody>
          <a:bodyPr lIns="50800" tIns="0" rIns="50800" bIns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entury Gothic" panose="020B0502020202020204" pitchFamily="34" charset="0"/>
              </a:rPr>
              <a:t>INITIATIVE GOAL</a:t>
            </a:r>
            <a:endParaRPr sz="9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BCFC5FD-B2D9-498D-A848-E29056AB6B11}"/>
              </a:ext>
            </a:extLst>
          </p:cNvPr>
          <p:cNvGrpSpPr/>
          <p:nvPr/>
        </p:nvGrpSpPr>
        <p:grpSpPr>
          <a:xfrm>
            <a:off x="6714636" y="2312101"/>
            <a:ext cx="1870844" cy="1353945"/>
            <a:chOff x="4052889" y="2120730"/>
            <a:chExt cx="1870844" cy="1353945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7BD78FE-ED53-4A27-A92A-6DB560374318}"/>
                </a:ext>
              </a:extLst>
            </p:cNvPr>
            <p:cNvGrpSpPr/>
            <p:nvPr/>
          </p:nvGrpSpPr>
          <p:grpSpPr>
            <a:xfrm>
              <a:off x="4052889" y="2120730"/>
              <a:ext cx="1870844" cy="406843"/>
              <a:chOff x="4052889" y="2060492"/>
              <a:chExt cx="1870844" cy="406843"/>
            </a:xfrm>
          </p:grpSpPr>
          <p:sp>
            <p:nvSpPr>
              <p:cNvPr id="82" name="Shape">
                <a:extLst>
                  <a:ext uri="{FF2B5EF4-FFF2-40B4-BE49-F238E27FC236}">
                    <a16:creationId xmlns:a16="http://schemas.microsoft.com/office/drawing/2014/main" id="{65967B6D-9F27-4E7B-978F-4B42B0F554D6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E4B48F7A-0467-408D-A8C1-BA1A08395031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Take a lead role in one of the important projects</a:t>
                </a: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3FFF7FEF-28D9-40EC-AFD3-441C8B73055A}"/>
                </a:ext>
              </a:extLst>
            </p:cNvPr>
            <p:cNvGrpSpPr/>
            <p:nvPr/>
          </p:nvGrpSpPr>
          <p:grpSpPr>
            <a:xfrm>
              <a:off x="4052889" y="2594281"/>
              <a:ext cx="1870844" cy="406843"/>
              <a:chOff x="4052889" y="2060492"/>
              <a:chExt cx="1870844" cy="406843"/>
            </a:xfrm>
          </p:grpSpPr>
          <p:sp>
            <p:nvSpPr>
              <p:cNvPr id="80" name="Shape">
                <a:extLst>
                  <a:ext uri="{FF2B5EF4-FFF2-40B4-BE49-F238E27FC236}">
                    <a16:creationId xmlns:a16="http://schemas.microsoft.com/office/drawing/2014/main" id="{5958C8FF-6AB9-4CAD-89D5-30CAE8122F70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6C8C757-2DED-422B-B11B-802F014DF7F9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Meet all the customers and assess gaps &amp; opportunities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05AF9CAB-6910-46CE-8707-ED3D9F3C8A5A}"/>
                </a:ext>
              </a:extLst>
            </p:cNvPr>
            <p:cNvGrpSpPr/>
            <p:nvPr/>
          </p:nvGrpSpPr>
          <p:grpSpPr>
            <a:xfrm>
              <a:off x="4052889" y="3067832"/>
              <a:ext cx="1870844" cy="406843"/>
              <a:chOff x="4052889" y="2911198"/>
              <a:chExt cx="1870844" cy="406843"/>
            </a:xfrm>
          </p:grpSpPr>
          <p:sp>
            <p:nvSpPr>
              <p:cNvPr id="78" name="Shape">
                <a:extLst>
                  <a:ext uri="{FF2B5EF4-FFF2-40B4-BE49-F238E27FC236}">
                    <a16:creationId xmlns:a16="http://schemas.microsoft.com/office/drawing/2014/main" id="{D00263D6-22AD-4F82-903C-C53A8307E289}"/>
                  </a:ext>
                </a:extLst>
              </p:cNvPr>
              <p:cNvSpPr/>
              <p:nvPr/>
            </p:nvSpPr>
            <p:spPr>
              <a:xfrm>
                <a:off x="4052889" y="3007594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7E3ACCBB-DA27-482C-AFBE-C6E8E472CAF7}"/>
                  </a:ext>
                </a:extLst>
              </p:cNvPr>
              <p:cNvSpPr txBox="1"/>
              <p:nvPr/>
            </p:nvSpPr>
            <p:spPr>
              <a:xfrm>
                <a:off x="4134601" y="2911198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Develop a plan for quick fixes and long term priorities</a:t>
                </a:r>
              </a:p>
            </p:txBody>
          </p:sp>
        </p:grpSp>
      </p:grpSp>
      <p:sp>
        <p:nvSpPr>
          <p:cNvPr id="48" name="Rounded Rectangle">
            <a:extLst>
              <a:ext uri="{FF2B5EF4-FFF2-40B4-BE49-F238E27FC236}">
                <a16:creationId xmlns:a16="http://schemas.microsoft.com/office/drawing/2014/main" id="{A3426D8D-4815-426C-B388-E6291D468A7A}"/>
              </a:ext>
            </a:extLst>
          </p:cNvPr>
          <p:cNvSpPr/>
          <p:nvPr/>
        </p:nvSpPr>
        <p:spPr>
          <a:xfrm>
            <a:off x="9107331" y="1712423"/>
            <a:ext cx="1957200" cy="43675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4B2DB"/>
              </a:gs>
              <a:gs pos="100000">
                <a:srgbClr val="4983D0"/>
              </a:gs>
            </a:gsLst>
            <a:lin ang="2277912"/>
          </a:gradFill>
          <a:ln w="12700">
            <a:miter lim="400000"/>
          </a:ln>
          <a:effectLst/>
        </p:spPr>
        <p:txBody>
          <a:bodyPr lIns="50800" tIns="0" rIns="50800" bIns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PERFORMANCE GOAL</a:t>
            </a:r>
            <a:endParaRPr sz="9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CAA92B1-DA4C-4F29-98DB-298C610642C3}"/>
              </a:ext>
            </a:extLst>
          </p:cNvPr>
          <p:cNvGrpSpPr/>
          <p:nvPr/>
        </p:nvGrpSpPr>
        <p:grpSpPr>
          <a:xfrm>
            <a:off x="9193688" y="2312101"/>
            <a:ext cx="1870844" cy="1353945"/>
            <a:chOff x="4052889" y="2120730"/>
            <a:chExt cx="1870844" cy="1353945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C4465426-6222-4996-B669-897FB39EC9FC}"/>
                </a:ext>
              </a:extLst>
            </p:cNvPr>
            <p:cNvGrpSpPr/>
            <p:nvPr/>
          </p:nvGrpSpPr>
          <p:grpSpPr>
            <a:xfrm>
              <a:off x="4052889" y="2120730"/>
              <a:ext cx="1464424" cy="406843"/>
              <a:chOff x="4052889" y="2060492"/>
              <a:chExt cx="1464424" cy="406843"/>
            </a:xfrm>
          </p:grpSpPr>
          <p:sp>
            <p:nvSpPr>
              <p:cNvPr id="93" name="Shape">
                <a:extLst>
                  <a:ext uri="{FF2B5EF4-FFF2-40B4-BE49-F238E27FC236}">
                    <a16:creationId xmlns:a16="http://schemas.microsoft.com/office/drawing/2014/main" id="{5520F2D7-BE1C-4471-B2CB-F0119C0097DD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90ADAE7-B09B-4641-B26E-767D7B4A2287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38271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Maintain the team’s current output</a:t>
                </a: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108C557C-0D28-4938-8760-D446740CB587}"/>
                </a:ext>
              </a:extLst>
            </p:cNvPr>
            <p:cNvGrpSpPr/>
            <p:nvPr/>
          </p:nvGrpSpPr>
          <p:grpSpPr>
            <a:xfrm>
              <a:off x="4052889" y="2594281"/>
              <a:ext cx="1797817" cy="406843"/>
              <a:chOff x="4052889" y="2060492"/>
              <a:chExt cx="1797817" cy="406843"/>
            </a:xfrm>
          </p:grpSpPr>
          <p:sp>
            <p:nvSpPr>
              <p:cNvPr id="91" name="Shape">
                <a:extLst>
                  <a:ext uri="{FF2B5EF4-FFF2-40B4-BE49-F238E27FC236}">
                    <a16:creationId xmlns:a16="http://schemas.microsoft.com/office/drawing/2014/main" id="{5EE29AFD-7E7A-418F-B0BA-C25E87D197AF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A7F5AE7-BD04-42C3-A7B5-B0D8797400B6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716105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Focus on one difficult customer and turn him around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9C017F22-99C0-4918-86C3-BEC4D25F8629}"/>
                </a:ext>
              </a:extLst>
            </p:cNvPr>
            <p:cNvGrpSpPr/>
            <p:nvPr/>
          </p:nvGrpSpPr>
          <p:grpSpPr>
            <a:xfrm>
              <a:off x="4052889" y="3067832"/>
              <a:ext cx="1870844" cy="406843"/>
              <a:chOff x="4052889" y="2911198"/>
              <a:chExt cx="1870844" cy="406843"/>
            </a:xfrm>
          </p:grpSpPr>
          <p:sp>
            <p:nvSpPr>
              <p:cNvPr id="89" name="Shape">
                <a:extLst>
                  <a:ext uri="{FF2B5EF4-FFF2-40B4-BE49-F238E27FC236}">
                    <a16:creationId xmlns:a16="http://schemas.microsoft.com/office/drawing/2014/main" id="{9FECE44A-0B89-4C61-B547-AC9292478405}"/>
                  </a:ext>
                </a:extLst>
              </p:cNvPr>
              <p:cNvSpPr/>
              <p:nvPr/>
            </p:nvSpPr>
            <p:spPr>
              <a:xfrm>
                <a:off x="4052889" y="3007594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3877A6F-E1FB-4A8B-8AC1-FF4F6B8A6867}"/>
                  </a:ext>
                </a:extLst>
              </p:cNvPr>
              <p:cNvSpPr txBox="1"/>
              <p:nvPr/>
            </p:nvSpPr>
            <p:spPr>
              <a:xfrm>
                <a:off x="4134601" y="2911198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Develop one new customer in alignment with business goals</a:t>
                </a:r>
              </a:p>
            </p:txBody>
          </p:sp>
        </p:grpSp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070F1514-85E0-4CD0-A622-D59F1A2D1E96}"/>
              </a:ext>
            </a:extLst>
          </p:cNvPr>
          <p:cNvGrpSpPr/>
          <p:nvPr/>
        </p:nvGrpSpPr>
        <p:grpSpPr>
          <a:xfrm>
            <a:off x="4149229" y="3985250"/>
            <a:ext cx="6915302" cy="436751"/>
            <a:chOff x="3674663" y="3547109"/>
            <a:chExt cx="6915302" cy="436751"/>
          </a:xfrm>
        </p:grpSpPr>
        <p:sp>
          <p:nvSpPr>
            <p:cNvPr id="139" name="Rounded Rectangle">
              <a:extLst>
                <a:ext uri="{FF2B5EF4-FFF2-40B4-BE49-F238E27FC236}">
                  <a16:creationId xmlns:a16="http://schemas.microsoft.com/office/drawing/2014/main" id="{16F97552-3F49-4D49-A691-2A2D95DB3E1C}"/>
                </a:ext>
              </a:extLst>
            </p:cNvPr>
            <p:cNvSpPr/>
            <p:nvPr/>
          </p:nvSpPr>
          <p:spPr>
            <a:xfrm rot="16200000">
              <a:off x="6913938" y="307834"/>
              <a:ext cx="436751" cy="6915302"/>
            </a:xfrm>
            <a:prstGeom prst="round2SameRect">
              <a:avLst>
                <a:gd name="adj1" fmla="val 50000"/>
                <a:gd name="adj2" fmla="val 50000"/>
              </a:avLst>
            </a:prstGeom>
            <a:gradFill>
              <a:gsLst>
                <a:gs pos="7000">
                  <a:srgbClr val="49D691"/>
                </a:gs>
                <a:gs pos="88000">
                  <a:srgbClr val="00D7C8"/>
                </a:gs>
              </a:gsLst>
              <a:lin ang="5400000" scaled="1"/>
            </a:gradFill>
            <a:ln w="12700"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algn="ctr"/>
              <a:endParaRPr sz="3200">
                <a:solidFill>
                  <a:srgbClr val="FFFFFF"/>
                </a:solidFill>
                <a:latin typeface="Helvetica Light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12643DFF-5A46-4C32-8981-76D2D8CE89A3}"/>
                </a:ext>
              </a:extLst>
            </p:cNvPr>
            <p:cNvSpPr txBox="1"/>
            <p:nvPr/>
          </p:nvSpPr>
          <p:spPr>
            <a:xfrm>
              <a:off x="6359507" y="3642374"/>
              <a:ext cx="15456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400" b="1">
                  <a:gradFill>
                    <a:gsLst>
                      <a:gs pos="0">
                        <a:srgbClr val="54B2DB"/>
                      </a:gs>
                      <a:gs pos="100000">
                        <a:srgbClr val="4983D0"/>
                      </a:gs>
                    </a:gsLst>
                    <a:lin ang="5400000" scaled="1"/>
                  </a:gradFill>
                  <a:latin typeface="Century Gothic" panose="020B0502020202020204" pitchFamily="34" charset="0"/>
                </a:defRPr>
              </a:lvl1pPr>
            </a:lstStyle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KEY SUCCESS METRICS</a:t>
              </a:r>
            </a:p>
          </p:txBody>
        </p: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62713599-8814-415A-BD07-37A06BA137A3}"/>
              </a:ext>
            </a:extLst>
          </p:cNvPr>
          <p:cNvGrpSpPr/>
          <p:nvPr/>
        </p:nvGrpSpPr>
        <p:grpSpPr>
          <a:xfrm>
            <a:off x="4108615" y="4589716"/>
            <a:ext cx="1564217" cy="1232852"/>
            <a:chOff x="3701761" y="4279833"/>
            <a:chExt cx="1564217" cy="1232852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3D9CC9E-351B-4E04-9564-427B6FA3CFA5}"/>
                </a:ext>
              </a:extLst>
            </p:cNvPr>
            <p:cNvSpPr txBox="1"/>
            <p:nvPr/>
          </p:nvSpPr>
          <p:spPr>
            <a:xfrm>
              <a:off x="4021244" y="4279833"/>
              <a:ext cx="925253" cy="5796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Learning Goals</a:t>
              </a:r>
            </a:p>
            <a:p>
              <a:pPr algn="ctr">
                <a:lnSpc>
                  <a:spcPts val="1900"/>
                </a:lnSpc>
              </a:pPr>
              <a:endParaRPr lang="en-US" sz="1600" b="1" dirty="0">
                <a:gradFill>
                  <a:gsLst>
                    <a:gs pos="0">
                      <a:srgbClr val="54B2DB"/>
                    </a:gs>
                    <a:gs pos="100000">
                      <a:srgbClr val="4983D0"/>
                    </a:gs>
                  </a:gsLst>
                  <a:lin ang="5400000" scaled="1"/>
                </a:gradFill>
                <a:latin typeface="Century Gothic" panose="020B0502020202020204" pitchFamily="34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A3A5861-A04E-4E30-9641-8F1C1C476D44}"/>
                </a:ext>
              </a:extLst>
            </p:cNvPr>
            <p:cNvSpPr txBox="1"/>
            <p:nvPr/>
          </p:nvSpPr>
          <p:spPr>
            <a:xfrm>
              <a:off x="3701761" y="4903929"/>
              <a:ext cx="1564217" cy="608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800" dirty="0">
                  <a:latin typeface="Century Gothic" panose="020B0502020202020204" pitchFamily="34" charset="0"/>
                </a:rPr>
                <a:t>Met all the key people in the organization and participated in key trainings</a:t>
              </a:r>
              <a:endParaRPr lang="en-US" sz="16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7868070-7D2E-4FCB-9824-0867553ABA26}"/>
                </a:ext>
              </a:extLst>
            </p:cNvPr>
            <p:cNvSpPr txBox="1"/>
            <p:nvPr/>
          </p:nvSpPr>
          <p:spPr>
            <a:xfrm>
              <a:off x="4247267" y="4581322"/>
              <a:ext cx="473206" cy="335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1600" b="1" dirty="0">
                  <a:solidFill>
                    <a:srgbClr val="00D7C8"/>
                  </a:solidFill>
                  <a:latin typeface="Century Gothic" panose="020B0502020202020204" pitchFamily="34" charset="0"/>
                </a:rPr>
                <a:t>3.5</a:t>
              </a:r>
            </a:p>
          </p:txBody>
        </p:sp>
      </p:grp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97684CBC-9BC1-4A66-9252-CB93B2227918}"/>
              </a:ext>
            </a:extLst>
          </p:cNvPr>
          <p:cNvGrpSpPr/>
          <p:nvPr/>
        </p:nvGrpSpPr>
        <p:grpSpPr>
          <a:xfrm>
            <a:off x="9486317" y="4589716"/>
            <a:ext cx="1673421" cy="1232852"/>
            <a:chOff x="9079463" y="4279833"/>
            <a:chExt cx="1673421" cy="1232852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203FAA4-F1D1-4842-8E7D-51C3030CCA84}"/>
                </a:ext>
              </a:extLst>
            </p:cNvPr>
            <p:cNvSpPr txBox="1"/>
            <p:nvPr/>
          </p:nvSpPr>
          <p:spPr>
            <a:xfrm>
              <a:off x="9453548" y="4279833"/>
              <a:ext cx="925253" cy="297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Learning Goals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2870E11-EC69-41BB-8E42-1DF7456553B8}"/>
                </a:ext>
              </a:extLst>
            </p:cNvPr>
            <p:cNvSpPr txBox="1"/>
            <p:nvPr/>
          </p:nvSpPr>
          <p:spPr>
            <a:xfrm>
              <a:off x="9079463" y="4903929"/>
              <a:ext cx="1673421" cy="608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800" dirty="0">
                  <a:latin typeface="Century Gothic" panose="020B0502020202020204" pitchFamily="34" charset="0"/>
                </a:rPr>
                <a:t>Met and understood expectations from key members of the organization</a:t>
              </a:r>
              <a:endParaRPr lang="en-US" sz="16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DD744B45-7FFA-44D9-8877-F79143A0922C}"/>
                </a:ext>
              </a:extLst>
            </p:cNvPr>
            <p:cNvSpPr txBox="1"/>
            <p:nvPr/>
          </p:nvSpPr>
          <p:spPr>
            <a:xfrm>
              <a:off x="9679571" y="4581322"/>
              <a:ext cx="473206" cy="335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1600" b="1" dirty="0">
                  <a:solidFill>
                    <a:srgbClr val="00D7C8"/>
                  </a:solidFill>
                  <a:latin typeface="Century Gothic" panose="020B0502020202020204" pitchFamily="34" charset="0"/>
                </a:rPr>
                <a:t>3.5</a:t>
              </a:r>
            </a:p>
          </p:txBody>
        </p:sp>
      </p:grp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272D0F24-9EA2-45A8-8D41-C62CAAF243F3}"/>
              </a:ext>
            </a:extLst>
          </p:cNvPr>
          <p:cNvGrpSpPr/>
          <p:nvPr/>
        </p:nvGrpSpPr>
        <p:grpSpPr>
          <a:xfrm>
            <a:off x="7833003" y="4589716"/>
            <a:ext cx="1435040" cy="1232341"/>
            <a:chOff x="7387891" y="4279833"/>
            <a:chExt cx="1435040" cy="1232341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F4F9749-E5DD-4874-AC9F-E63D163CFB16}"/>
                </a:ext>
              </a:extLst>
            </p:cNvPr>
            <p:cNvSpPr txBox="1"/>
            <p:nvPr/>
          </p:nvSpPr>
          <p:spPr>
            <a:xfrm>
              <a:off x="7535381" y="4279833"/>
              <a:ext cx="1140056" cy="297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Performance Goals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6C9A6A5-9E4A-4A5E-99A2-477E5F02A395}"/>
                </a:ext>
              </a:extLst>
            </p:cNvPr>
            <p:cNvSpPr txBox="1"/>
            <p:nvPr/>
          </p:nvSpPr>
          <p:spPr>
            <a:xfrm>
              <a:off x="7387891" y="4903418"/>
              <a:ext cx="1435040" cy="608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800" dirty="0">
                  <a:latin typeface="Century Gothic" panose="020B0502020202020204" pitchFamily="34" charset="0"/>
                </a:rPr>
                <a:t>Reconfigured resourcing on a few projects to deliver on cost savings</a:t>
              </a:r>
              <a:endParaRPr lang="en-US" sz="16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9EFF4B3-3118-4E2B-B40B-FB62D21FCF8E}"/>
                </a:ext>
              </a:extLst>
            </p:cNvPr>
            <p:cNvSpPr txBox="1"/>
            <p:nvPr/>
          </p:nvSpPr>
          <p:spPr>
            <a:xfrm>
              <a:off x="7867202" y="4575820"/>
              <a:ext cx="476412" cy="335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lnSpc>
                  <a:spcPts val="1900"/>
                </a:lnSpc>
              </a:pPr>
              <a:r>
                <a:rPr lang="en-US" sz="1600" b="1" dirty="0">
                  <a:solidFill>
                    <a:srgbClr val="00D7C8"/>
                  </a:solidFill>
                  <a:latin typeface="Century Gothic" panose="020B0502020202020204" pitchFamily="34" charset="0"/>
                </a:rPr>
                <a:t>5%</a:t>
              </a:r>
            </a:p>
          </p:txBody>
        </p:sp>
      </p:grp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6F466B06-88B8-44B5-8920-343CEF2DBABA}"/>
              </a:ext>
            </a:extLst>
          </p:cNvPr>
          <p:cNvGrpSpPr/>
          <p:nvPr/>
        </p:nvGrpSpPr>
        <p:grpSpPr>
          <a:xfrm>
            <a:off x="5970034" y="4589716"/>
            <a:ext cx="1435040" cy="1232341"/>
            <a:chOff x="5574917" y="4279833"/>
            <a:chExt cx="1435040" cy="1232341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818A1C2B-635E-4F2A-9BF3-835C3C63133A}"/>
                </a:ext>
              </a:extLst>
            </p:cNvPr>
            <p:cNvSpPr txBox="1"/>
            <p:nvPr/>
          </p:nvSpPr>
          <p:spPr>
            <a:xfrm>
              <a:off x="5836825" y="4279833"/>
              <a:ext cx="915635" cy="297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Initiative Goals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B38E336-CCFE-4E47-B1C0-0F762B064D71}"/>
                </a:ext>
              </a:extLst>
            </p:cNvPr>
            <p:cNvSpPr txBox="1"/>
            <p:nvPr/>
          </p:nvSpPr>
          <p:spPr>
            <a:xfrm>
              <a:off x="5574917" y="4903418"/>
              <a:ext cx="1435040" cy="608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800" dirty="0">
                  <a:latin typeface="Century Gothic" panose="020B0502020202020204" pitchFamily="34" charset="0"/>
                </a:rPr>
                <a:t>Worked on 5 key projects &amp; developed relationship with customers</a:t>
              </a:r>
              <a:endParaRPr lang="en-US" sz="16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46D2FEC6-C6D0-4793-A697-933508C60FE3}"/>
                </a:ext>
              </a:extLst>
            </p:cNvPr>
            <p:cNvSpPr txBox="1"/>
            <p:nvPr/>
          </p:nvSpPr>
          <p:spPr>
            <a:xfrm>
              <a:off x="6144601" y="4575820"/>
              <a:ext cx="300082" cy="335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1600" b="1" dirty="0">
                  <a:solidFill>
                    <a:srgbClr val="00D7C8"/>
                  </a:solidFill>
                  <a:latin typeface="Century Gothic" panose="020B0502020202020204" pitchFamily="34" charset="0"/>
                </a:rPr>
                <a:t>5</a:t>
              </a:r>
            </a:p>
          </p:txBody>
        </p:sp>
      </p:grp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260DA97C-FDC0-4152-B343-ABC86D475FA4}"/>
              </a:ext>
            </a:extLst>
          </p:cNvPr>
          <p:cNvCxnSpPr/>
          <p:nvPr/>
        </p:nvCxnSpPr>
        <p:spPr>
          <a:xfrm>
            <a:off x="5746117" y="4653367"/>
            <a:ext cx="1" cy="1188720"/>
          </a:xfrm>
          <a:prstGeom prst="line">
            <a:avLst/>
          </a:prstGeom>
          <a:ln w="12700">
            <a:solidFill>
              <a:srgbClr val="EDF0F3"/>
            </a:solidFill>
            <a:miter lim="400000"/>
          </a:ln>
        </p:spPr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8B88D76-3BE8-42AE-BA0F-CD4F05EA45A6}"/>
              </a:ext>
            </a:extLst>
          </p:cNvPr>
          <p:cNvCxnSpPr/>
          <p:nvPr/>
        </p:nvCxnSpPr>
        <p:spPr>
          <a:xfrm>
            <a:off x="7633402" y="4653367"/>
            <a:ext cx="1" cy="1188720"/>
          </a:xfrm>
          <a:prstGeom prst="line">
            <a:avLst/>
          </a:prstGeom>
          <a:ln w="12700">
            <a:solidFill>
              <a:srgbClr val="EDF0F3"/>
            </a:solidFill>
            <a:miter lim="400000"/>
          </a:ln>
        </p:spPr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EE79B3D7-8793-4D9A-A231-38C9497DD675}"/>
              </a:ext>
            </a:extLst>
          </p:cNvPr>
          <p:cNvCxnSpPr/>
          <p:nvPr/>
        </p:nvCxnSpPr>
        <p:spPr>
          <a:xfrm>
            <a:off x="9467643" y="4653367"/>
            <a:ext cx="1" cy="1188720"/>
          </a:xfrm>
          <a:prstGeom prst="line">
            <a:avLst/>
          </a:prstGeom>
          <a:ln w="12700">
            <a:solidFill>
              <a:srgbClr val="EDF0F3"/>
            </a:solidFill>
            <a:miter lim="400000"/>
          </a:ln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CDD88A9-AD46-4849-B61A-B5E78179362F}"/>
              </a:ext>
            </a:extLst>
          </p:cNvPr>
          <p:cNvSpPr txBox="1"/>
          <p:nvPr/>
        </p:nvSpPr>
        <p:spPr>
          <a:xfrm>
            <a:off x="1935959" y="3286060"/>
            <a:ext cx="1044216" cy="3578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gradFill>
                  <a:gsLst>
                    <a:gs pos="0">
                      <a:srgbClr val="54B2DB"/>
                    </a:gs>
                    <a:gs pos="100000">
                      <a:srgbClr val="4983D0"/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30 DAYS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A4246A-C372-44FF-90AD-98E6BE4B59DD}"/>
              </a:ext>
            </a:extLst>
          </p:cNvPr>
          <p:cNvSpPr txBox="1"/>
          <p:nvPr/>
        </p:nvSpPr>
        <p:spPr>
          <a:xfrm>
            <a:off x="1935959" y="4030998"/>
            <a:ext cx="1040488" cy="3578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9EAABE"/>
                </a:solidFill>
                <a:latin typeface="Century Gothic" panose="020B0502020202020204" pitchFamily="34" charset="0"/>
              </a:rPr>
              <a:t>60 DAYS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58717C-D8E5-4551-9083-4A7E0C031B77}"/>
              </a:ext>
            </a:extLst>
          </p:cNvPr>
          <p:cNvSpPr txBox="1"/>
          <p:nvPr/>
        </p:nvSpPr>
        <p:spPr>
          <a:xfrm>
            <a:off x="1935959" y="4834476"/>
            <a:ext cx="8947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9EAABE"/>
                </a:solidFill>
                <a:latin typeface="Century Gothic" panose="020B0502020202020204" pitchFamily="34" charset="0"/>
              </a:rPr>
              <a:t>90 DAYS</a:t>
            </a:r>
          </a:p>
        </p:txBody>
      </p:sp>
    </p:spTree>
    <p:extLst>
      <p:ext uri="{BB962C8B-B14F-4D97-AF65-F5344CB8AC3E}">
        <p14:creationId xmlns:p14="http://schemas.microsoft.com/office/powerpoint/2010/main" val="2142272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5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8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1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20" grpId="0" animBg="1"/>
      <p:bldP spid="15" grpId="0" animBg="1"/>
      <p:bldP spid="47" grpId="0" animBg="1"/>
      <p:bldP spid="48" grpId="0" animBg="1"/>
      <p:bldP spid="34" grpId="0"/>
      <p:bldP spid="40" grpId="0"/>
      <p:bldP spid="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ounded Rectangle">
            <a:extLst>
              <a:ext uri="{FF2B5EF4-FFF2-40B4-BE49-F238E27FC236}">
                <a16:creationId xmlns:a16="http://schemas.microsoft.com/office/drawing/2014/main" id="{E66C420E-8F13-4228-B476-597D070EA396}"/>
              </a:ext>
            </a:extLst>
          </p:cNvPr>
          <p:cNvSpPr/>
          <p:nvPr/>
        </p:nvSpPr>
        <p:spPr>
          <a:xfrm rot="16200000">
            <a:off x="1383583" y="3202026"/>
            <a:ext cx="2412715" cy="2072633"/>
          </a:xfrm>
          <a:prstGeom prst="round2SameRect">
            <a:avLst>
              <a:gd name="adj1" fmla="val 19273"/>
              <a:gd name="adj2" fmla="val 0"/>
            </a:avLst>
          </a:prstGeom>
          <a:solidFill>
            <a:srgbClr val="E4E8EE"/>
          </a:solidFill>
          <a:ln w="12700">
            <a:miter lim="400000"/>
          </a:ln>
          <a:effectLst/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baseline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E1F3044C-3D63-47CF-BD4C-4A68E9E941FA}"/>
              </a:ext>
            </a:extLst>
          </p:cNvPr>
          <p:cNvSpPr/>
          <p:nvPr/>
        </p:nvSpPr>
        <p:spPr>
          <a:xfrm>
            <a:off x="3626256" y="1346437"/>
            <a:ext cx="7961248" cy="5021654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12700">
            <a:miter lim="400000"/>
          </a:ln>
          <a:effectLst>
            <a:outerShdw blurRad="292100" dist="110334" dir="5400000" rotWithShape="0">
              <a:srgbClr val="475D84">
                <a:alpha val="2164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baseline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6D8E5A8C-E911-4A9D-8692-4881B48FDD45}"/>
              </a:ext>
            </a:extLst>
          </p:cNvPr>
          <p:cNvGrpSpPr/>
          <p:nvPr/>
        </p:nvGrpSpPr>
        <p:grpSpPr>
          <a:xfrm>
            <a:off x="1553622" y="3541725"/>
            <a:ext cx="2072633" cy="1312681"/>
            <a:chOff x="1079059" y="2228500"/>
            <a:chExt cx="2072633" cy="1312681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D3DCC5E-4FFD-467D-8745-21D0D2A8D8BA}"/>
                </a:ext>
              </a:extLst>
            </p:cNvPr>
            <p:cNvSpPr/>
            <p:nvPr/>
          </p:nvSpPr>
          <p:spPr>
            <a:xfrm>
              <a:off x="2897090" y="2228500"/>
              <a:ext cx="254602" cy="254597"/>
            </a:xfrm>
            <a:custGeom>
              <a:avLst/>
              <a:gdLst>
                <a:gd name="connsiteX0" fmla="*/ 432555 w 432555"/>
                <a:gd name="connsiteY0" fmla="*/ 0 h 432546"/>
                <a:gd name="connsiteX1" fmla="*/ 432555 w 432555"/>
                <a:gd name="connsiteY1" fmla="*/ 432546 h 432546"/>
                <a:gd name="connsiteX2" fmla="*/ 0 w 432555"/>
                <a:gd name="connsiteY2" fmla="*/ 432546 h 432546"/>
                <a:gd name="connsiteX3" fmla="*/ 423768 w 432555"/>
                <a:gd name="connsiteY3" fmla="*/ 87165 h 432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2555" h="432546">
                  <a:moveTo>
                    <a:pt x="432555" y="0"/>
                  </a:moveTo>
                  <a:lnTo>
                    <a:pt x="432555" y="432546"/>
                  </a:lnTo>
                  <a:lnTo>
                    <a:pt x="0" y="432546"/>
                  </a:lnTo>
                  <a:cubicBezTo>
                    <a:pt x="209032" y="432546"/>
                    <a:pt x="383434" y="284274"/>
                    <a:pt x="423768" y="8716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  <a:effectLst/>
          </p:spPr>
          <p:txBody>
            <a:bodyPr wrap="square" lIns="50800" tIns="50800" rIns="50800" bIns="50800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1" name="Rounded Rectangle">
              <a:extLst>
                <a:ext uri="{FF2B5EF4-FFF2-40B4-BE49-F238E27FC236}">
                  <a16:creationId xmlns:a16="http://schemas.microsoft.com/office/drawing/2014/main" id="{8A5EAA88-13E6-4394-9B19-EE92789BD2AD}"/>
                </a:ext>
              </a:extLst>
            </p:cNvPr>
            <p:cNvSpPr/>
            <p:nvPr/>
          </p:nvSpPr>
          <p:spPr>
            <a:xfrm rot="16200000">
              <a:off x="1713633" y="1848524"/>
              <a:ext cx="803485" cy="207263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 w="12700"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2CB586C-4753-4EC6-96A9-7FBA5432868F}"/>
                </a:ext>
              </a:extLst>
            </p:cNvPr>
            <p:cNvSpPr/>
            <p:nvPr/>
          </p:nvSpPr>
          <p:spPr>
            <a:xfrm flipV="1">
              <a:off x="2897090" y="3286584"/>
              <a:ext cx="254602" cy="254597"/>
            </a:xfrm>
            <a:custGeom>
              <a:avLst/>
              <a:gdLst>
                <a:gd name="connsiteX0" fmla="*/ 432555 w 432555"/>
                <a:gd name="connsiteY0" fmla="*/ 0 h 432546"/>
                <a:gd name="connsiteX1" fmla="*/ 432555 w 432555"/>
                <a:gd name="connsiteY1" fmla="*/ 432546 h 432546"/>
                <a:gd name="connsiteX2" fmla="*/ 0 w 432555"/>
                <a:gd name="connsiteY2" fmla="*/ 432546 h 432546"/>
                <a:gd name="connsiteX3" fmla="*/ 423768 w 432555"/>
                <a:gd name="connsiteY3" fmla="*/ 87165 h 432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2555" h="432546">
                  <a:moveTo>
                    <a:pt x="432555" y="0"/>
                  </a:moveTo>
                  <a:lnTo>
                    <a:pt x="432555" y="432546"/>
                  </a:lnTo>
                  <a:lnTo>
                    <a:pt x="0" y="432546"/>
                  </a:lnTo>
                  <a:cubicBezTo>
                    <a:pt x="209032" y="432546"/>
                    <a:pt x="383434" y="284274"/>
                    <a:pt x="423768" y="8716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  <a:effectLst/>
          </p:spPr>
          <p:txBody>
            <a:bodyPr wrap="square" lIns="50800" tIns="50800" rIns="50800" bIns="50800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90B655DF-33AA-4DC2-AC17-88E42F10B98D}"/>
              </a:ext>
            </a:extLst>
          </p:cNvPr>
          <p:cNvSpPr txBox="1"/>
          <p:nvPr/>
        </p:nvSpPr>
        <p:spPr>
          <a:xfrm>
            <a:off x="582631" y="611930"/>
            <a:ext cx="3547123" cy="48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US" sz="2500" b="1" dirty="0">
                <a:latin typeface="Century Gothic" panose="020B0502020202020204" pitchFamily="34" charset="0"/>
              </a:rPr>
              <a:t>30-60-90 DAY PLAN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DD88A9-AD46-4849-B61A-B5E78179362F}"/>
              </a:ext>
            </a:extLst>
          </p:cNvPr>
          <p:cNvSpPr txBox="1"/>
          <p:nvPr/>
        </p:nvSpPr>
        <p:spPr>
          <a:xfrm>
            <a:off x="1935959" y="3286060"/>
            <a:ext cx="8947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9EAABE"/>
                </a:solidFill>
                <a:latin typeface="Century Gothic" panose="020B0502020202020204" pitchFamily="34" charset="0"/>
              </a:rPr>
              <a:t>30 DAYS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A4246A-C372-44FF-90AD-98E6BE4B59DD}"/>
              </a:ext>
            </a:extLst>
          </p:cNvPr>
          <p:cNvSpPr txBox="1"/>
          <p:nvPr/>
        </p:nvSpPr>
        <p:spPr>
          <a:xfrm>
            <a:off x="1935959" y="4030998"/>
            <a:ext cx="898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gradFill>
                  <a:gsLst>
                    <a:gs pos="0">
                      <a:srgbClr val="54B2DB"/>
                    </a:gs>
                    <a:gs pos="100000">
                      <a:srgbClr val="4983D0"/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60 DAYS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58717C-D8E5-4551-9083-4A7E0C031B77}"/>
              </a:ext>
            </a:extLst>
          </p:cNvPr>
          <p:cNvSpPr txBox="1"/>
          <p:nvPr/>
        </p:nvSpPr>
        <p:spPr>
          <a:xfrm>
            <a:off x="1935959" y="4834476"/>
            <a:ext cx="8947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9EAABE"/>
                </a:solidFill>
                <a:latin typeface="Century Gothic" panose="020B0502020202020204" pitchFamily="34" charset="0"/>
              </a:rPr>
              <a:t>90 DAYS</a:t>
            </a:r>
          </a:p>
        </p:txBody>
      </p:sp>
      <p:sp>
        <p:nvSpPr>
          <p:cNvPr id="169" name="Rounded Rectangle">
            <a:extLst>
              <a:ext uri="{FF2B5EF4-FFF2-40B4-BE49-F238E27FC236}">
                <a16:creationId xmlns:a16="http://schemas.microsoft.com/office/drawing/2014/main" id="{9BFEE0A9-FCE4-DE40-B7B7-31A2C94ABE70}"/>
              </a:ext>
            </a:extLst>
          </p:cNvPr>
          <p:cNvSpPr/>
          <p:nvPr/>
        </p:nvSpPr>
        <p:spPr>
          <a:xfrm>
            <a:off x="4149228" y="1712423"/>
            <a:ext cx="1957200" cy="43675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4B2DB"/>
              </a:gs>
              <a:gs pos="100000">
                <a:srgbClr val="4983D0"/>
              </a:gs>
            </a:gsLst>
            <a:lin ang="2277912"/>
          </a:gradFill>
          <a:ln w="12700">
            <a:miter lim="400000"/>
          </a:ln>
          <a:effectLst/>
        </p:spPr>
        <p:txBody>
          <a:bodyPr lIns="50800" tIns="0" rIns="50800" bIns="0" anchor="ctr"/>
          <a:lstStyle/>
          <a:p>
            <a:pPr algn="ctr">
              <a:lnSpc>
                <a:spcPct val="100000"/>
              </a:lnSpc>
              <a:defRPr sz="3200" baseline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US" sz="900" b="1" dirty="0">
                <a:solidFill>
                  <a:schemeClr val="bg1"/>
                </a:solidFill>
                <a:latin typeface="Century Gothic" panose="020B0502020202020204" pitchFamily="34" charset="0"/>
              </a:rPr>
              <a:t>LEARNING GOALS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2400878D-1958-F543-9D54-2AED9F44F7C1}"/>
              </a:ext>
            </a:extLst>
          </p:cNvPr>
          <p:cNvGrpSpPr/>
          <p:nvPr/>
        </p:nvGrpSpPr>
        <p:grpSpPr>
          <a:xfrm>
            <a:off x="4235584" y="2312101"/>
            <a:ext cx="1870844" cy="1353945"/>
            <a:chOff x="4052889" y="2120730"/>
            <a:chExt cx="1870844" cy="1353945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83544FE9-9E8C-6E46-BDE1-82572CC734B6}"/>
                </a:ext>
              </a:extLst>
            </p:cNvPr>
            <p:cNvGrpSpPr/>
            <p:nvPr/>
          </p:nvGrpSpPr>
          <p:grpSpPr>
            <a:xfrm>
              <a:off x="4052889" y="2120730"/>
              <a:ext cx="1870844" cy="406843"/>
              <a:chOff x="4052889" y="2060492"/>
              <a:chExt cx="1870844" cy="406843"/>
            </a:xfrm>
          </p:grpSpPr>
          <p:sp>
            <p:nvSpPr>
              <p:cNvPr id="178" name="Shape">
                <a:extLst>
                  <a:ext uri="{FF2B5EF4-FFF2-40B4-BE49-F238E27FC236}">
                    <a16:creationId xmlns:a16="http://schemas.microsoft.com/office/drawing/2014/main" id="{185CF97C-5BB6-5948-8FF6-00A1E44B7DD2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DA09ACA1-C1FB-6140-AD7E-4B486527381E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Learn about the company’s vision, mission, strategy &amp; culture</a:t>
                </a:r>
              </a:p>
            </p:txBody>
          </p: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4A778E0D-A580-7F42-872D-286070B895A7}"/>
                </a:ext>
              </a:extLst>
            </p:cNvPr>
            <p:cNvGrpSpPr/>
            <p:nvPr/>
          </p:nvGrpSpPr>
          <p:grpSpPr>
            <a:xfrm>
              <a:off x="4052889" y="2594281"/>
              <a:ext cx="1870844" cy="406843"/>
              <a:chOff x="4052889" y="2060492"/>
              <a:chExt cx="1870844" cy="406843"/>
            </a:xfrm>
          </p:grpSpPr>
          <p:sp>
            <p:nvSpPr>
              <p:cNvPr id="176" name="Shape">
                <a:extLst>
                  <a:ext uri="{FF2B5EF4-FFF2-40B4-BE49-F238E27FC236}">
                    <a16:creationId xmlns:a16="http://schemas.microsoft.com/office/drawing/2014/main" id="{62BF3CB7-8FF4-7B4D-BC8E-962EB5A81452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A2989DD5-57C3-D349-BF93-18349E260636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Understand the business, past triumphs, past failures</a:t>
                </a:r>
              </a:p>
            </p:txBody>
          </p: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7CD38239-C0B0-DC48-8780-9FC1B0419E2C}"/>
                </a:ext>
              </a:extLst>
            </p:cNvPr>
            <p:cNvGrpSpPr/>
            <p:nvPr/>
          </p:nvGrpSpPr>
          <p:grpSpPr>
            <a:xfrm>
              <a:off x="4052889" y="3067832"/>
              <a:ext cx="1870844" cy="406843"/>
              <a:chOff x="4052889" y="2911198"/>
              <a:chExt cx="1870844" cy="406843"/>
            </a:xfrm>
          </p:grpSpPr>
          <p:sp>
            <p:nvSpPr>
              <p:cNvPr id="174" name="Shape">
                <a:extLst>
                  <a:ext uri="{FF2B5EF4-FFF2-40B4-BE49-F238E27FC236}">
                    <a16:creationId xmlns:a16="http://schemas.microsoft.com/office/drawing/2014/main" id="{460245A8-34F3-4B4D-B43E-9D212C7DA279}"/>
                  </a:ext>
                </a:extLst>
              </p:cNvPr>
              <p:cNvSpPr/>
              <p:nvPr/>
            </p:nvSpPr>
            <p:spPr>
              <a:xfrm>
                <a:off x="4052889" y="3007594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2421BDC9-4281-FF4E-AB11-81A9122DB364}"/>
                  </a:ext>
                </a:extLst>
              </p:cNvPr>
              <p:cNvSpPr txBox="1"/>
              <p:nvPr/>
            </p:nvSpPr>
            <p:spPr>
              <a:xfrm>
                <a:off x="4134601" y="2911198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Meet the manager &amp; team, &amp; understand their expectations</a:t>
                </a:r>
              </a:p>
            </p:txBody>
          </p:sp>
        </p:grpSp>
      </p:grpSp>
      <p:sp>
        <p:nvSpPr>
          <p:cNvPr id="180" name="Rounded Rectangle">
            <a:extLst>
              <a:ext uri="{FF2B5EF4-FFF2-40B4-BE49-F238E27FC236}">
                <a16:creationId xmlns:a16="http://schemas.microsoft.com/office/drawing/2014/main" id="{F97C2928-4451-874D-A988-A77A4E58E8B9}"/>
              </a:ext>
            </a:extLst>
          </p:cNvPr>
          <p:cNvSpPr/>
          <p:nvPr/>
        </p:nvSpPr>
        <p:spPr>
          <a:xfrm>
            <a:off x="6628279" y="1712423"/>
            <a:ext cx="1957200" cy="43675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4B2DB"/>
              </a:gs>
              <a:gs pos="100000">
                <a:srgbClr val="4983D0"/>
              </a:gs>
            </a:gsLst>
            <a:lin ang="2277912"/>
          </a:gradFill>
          <a:ln w="12700">
            <a:miter lim="400000"/>
          </a:ln>
          <a:effectLst/>
        </p:spPr>
        <p:txBody>
          <a:bodyPr lIns="50800" tIns="0" rIns="50800" bIns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entury Gothic" panose="020B0502020202020204" pitchFamily="34" charset="0"/>
              </a:rPr>
              <a:t>INITIATIVE GOAL</a:t>
            </a:r>
            <a:endParaRPr sz="9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78672E1A-C683-6247-86AC-DBF056BE21C7}"/>
              </a:ext>
            </a:extLst>
          </p:cNvPr>
          <p:cNvGrpSpPr/>
          <p:nvPr/>
        </p:nvGrpSpPr>
        <p:grpSpPr>
          <a:xfrm>
            <a:off x="6714636" y="2312101"/>
            <a:ext cx="1870844" cy="1353945"/>
            <a:chOff x="4052889" y="2120730"/>
            <a:chExt cx="1870844" cy="1353945"/>
          </a:xfrm>
        </p:grpSpPr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9C101D7B-7A19-1041-8F2D-FEFEEDC3CE7C}"/>
                </a:ext>
              </a:extLst>
            </p:cNvPr>
            <p:cNvGrpSpPr/>
            <p:nvPr/>
          </p:nvGrpSpPr>
          <p:grpSpPr>
            <a:xfrm>
              <a:off x="4052889" y="2120730"/>
              <a:ext cx="1870844" cy="406843"/>
              <a:chOff x="4052889" y="2060492"/>
              <a:chExt cx="1870844" cy="406843"/>
            </a:xfrm>
          </p:grpSpPr>
          <p:sp>
            <p:nvSpPr>
              <p:cNvPr id="189" name="Shape">
                <a:extLst>
                  <a:ext uri="{FF2B5EF4-FFF2-40B4-BE49-F238E27FC236}">
                    <a16:creationId xmlns:a16="http://schemas.microsoft.com/office/drawing/2014/main" id="{FEC27A15-88A9-824F-AAD1-EF653AB14F08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A6415F1E-CCD7-B846-8C56-FB5836A17ED7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Take a lead role in one of the important projects</a:t>
                </a:r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1F44EE28-0257-A342-8E51-FEFAD971701A}"/>
                </a:ext>
              </a:extLst>
            </p:cNvPr>
            <p:cNvGrpSpPr/>
            <p:nvPr/>
          </p:nvGrpSpPr>
          <p:grpSpPr>
            <a:xfrm>
              <a:off x="4052889" y="2594281"/>
              <a:ext cx="1870844" cy="406843"/>
              <a:chOff x="4052889" y="2060492"/>
              <a:chExt cx="1870844" cy="406843"/>
            </a:xfrm>
          </p:grpSpPr>
          <p:sp>
            <p:nvSpPr>
              <p:cNvPr id="187" name="Shape">
                <a:extLst>
                  <a:ext uri="{FF2B5EF4-FFF2-40B4-BE49-F238E27FC236}">
                    <a16:creationId xmlns:a16="http://schemas.microsoft.com/office/drawing/2014/main" id="{A7315DB0-3425-9B46-8868-52A4DCECF1E7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520AC998-A35A-DB4D-99B1-0E8784689B33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Meet all the customers and assess gaps &amp; opportunities</a:t>
                </a:r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8F8ED022-F088-DD41-AC88-B81126B434F5}"/>
                </a:ext>
              </a:extLst>
            </p:cNvPr>
            <p:cNvGrpSpPr/>
            <p:nvPr/>
          </p:nvGrpSpPr>
          <p:grpSpPr>
            <a:xfrm>
              <a:off x="4052889" y="3067832"/>
              <a:ext cx="1870844" cy="406843"/>
              <a:chOff x="4052889" y="2911198"/>
              <a:chExt cx="1870844" cy="406843"/>
            </a:xfrm>
          </p:grpSpPr>
          <p:sp>
            <p:nvSpPr>
              <p:cNvPr id="185" name="Shape">
                <a:extLst>
                  <a:ext uri="{FF2B5EF4-FFF2-40B4-BE49-F238E27FC236}">
                    <a16:creationId xmlns:a16="http://schemas.microsoft.com/office/drawing/2014/main" id="{97E71444-3707-F645-A27D-F40E3B875AD8}"/>
                  </a:ext>
                </a:extLst>
              </p:cNvPr>
              <p:cNvSpPr/>
              <p:nvPr/>
            </p:nvSpPr>
            <p:spPr>
              <a:xfrm>
                <a:off x="4052889" y="3007594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2868D52F-3AE9-2941-8F26-01209FD9D0FC}"/>
                  </a:ext>
                </a:extLst>
              </p:cNvPr>
              <p:cNvSpPr txBox="1"/>
              <p:nvPr/>
            </p:nvSpPr>
            <p:spPr>
              <a:xfrm>
                <a:off x="4134601" y="2911198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Develop a plan for quick fixes and long term priorities</a:t>
                </a:r>
              </a:p>
            </p:txBody>
          </p:sp>
        </p:grpSp>
      </p:grpSp>
      <p:sp>
        <p:nvSpPr>
          <p:cNvPr id="191" name="Rounded Rectangle">
            <a:extLst>
              <a:ext uri="{FF2B5EF4-FFF2-40B4-BE49-F238E27FC236}">
                <a16:creationId xmlns:a16="http://schemas.microsoft.com/office/drawing/2014/main" id="{E83FC496-F861-344A-AC06-9721F3423F70}"/>
              </a:ext>
            </a:extLst>
          </p:cNvPr>
          <p:cNvSpPr/>
          <p:nvPr/>
        </p:nvSpPr>
        <p:spPr>
          <a:xfrm>
            <a:off x="9107331" y="1712423"/>
            <a:ext cx="1957200" cy="43675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4B2DB"/>
              </a:gs>
              <a:gs pos="100000">
                <a:srgbClr val="4983D0"/>
              </a:gs>
            </a:gsLst>
            <a:lin ang="2277912"/>
          </a:gradFill>
          <a:ln w="12700">
            <a:miter lim="400000"/>
          </a:ln>
          <a:effectLst/>
        </p:spPr>
        <p:txBody>
          <a:bodyPr lIns="50800" tIns="0" rIns="50800" bIns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PERFORMANCE GOAL</a:t>
            </a:r>
            <a:endParaRPr sz="9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67C5B140-CE75-C848-97D9-9D4ED4E18A27}"/>
              </a:ext>
            </a:extLst>
          </p:cNvPr>
          <p:cNvGrpSpPr/>
          <p:nvPr/>
        </p:nvGrpSpPr>
        <p:grpSpPr>
          <a:xfrm>
            <a:off x="9193688" y="2312101"/>
            <a:ext cx="1870844" cy="1353945"/>
            <a:chOff x="4052889" y="2120730"/>
            <a:chExt cx="1870844" cy="1353945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EEA4AE01-D3D5-BB40-B137-70A597DE120D}"/>
                </a:ext>
              </a:extLst>
            </p:cNvPr>
            <p:cNvGrpSpPr/>
            <p:nvPr/>
          </p:nvGrpSpPr>
          <p:grpSpPr>
            <a:xfrm>
              <a:off x="4052889" y="2120730"/>
              <a:ext cx="1464424" cy="406843"/>
              <a:chOff x="4052889" y="2060492"/>
              <a:chExt cx="1464424" cy="406843"/>
            </a:xfrm>
          </p:grpSpPr>
          <p:sp>
            <p:nvSpPr>
              <p:cNvPr id="200" name="Shape">
                <a:extLst>
                  <a:ext uri="{FF2B5EF4-FFF2-40B4-BE49-F238E27FC236}">
                    <a16:creationId xmlns:a16="http://schemas.microsoft.com/office/drawing/2014/main" id="{0E04FC87-0448-7D43-93A9-642BD2E1B33B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119CFD77-5948-B94D-993E-8239E95D62C3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38271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Maintain the team’s current output</a:t>
                </a:r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92AC3794-4877-A34C-A791-B639DE2428C3}"/>
                </a:ext>
              </a:extLst>
            </p:cNvPr>
            <p:cNvGrpSpPr/>
            <p:nvPr/>
          </p:nvGrpSpPr>
          <p:grpSpPr>
            <a:xfrm>
              <a:off x="4052889" y="2594281"/>
              <a:ext cx="1797817" cy="406843"/>
              <a:chOff x="4052889" y="2060492"/>
              <a:chExt cx="1797817" cy="406843"/>
            </a:xfrm>
          </p:grpSpPr>
          <p:sp>
            <p:nvSpPr>
              <p:cNvPr id="198" name="Shape">
                <a:extLst>
                  <a:ext uri="{FF2B5EF4-FFF2-40B4-BE49-F238E27FC236}">
                    <a16:creationId xmlns:a16="http://schemas.microsoft.com/office/drawing/2014/main" id="{5A2FE718-14DD-B440-A5AE-1776A6BAF269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CF6244B-34F0-714E-9545-3082497B92CF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716105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Focus on one difficult customer and turn him around</a:t>
                </a:r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681F08F8-1EC4-B744-B47C-762E4348ED58}"/>
                </a:ext>
              </a:extLst>
            </p:cNvPr>
            <p:cNvGrpSpPr/>
            <p:nvPr/>
          </p:nvGrpSpPr>
          <p:grpSpPr>
            <a:xfrm>
              <a:off x="4052889" y="3067832"/>
              <a:ext cx="1870844" cy="406843"/>
              <a:chOff x="4052889" y="2911198"/>
              <a:chExt cx="1870844" cy="406843"/>
            </a:xfrm>
          </p:grpSpPr>
          <p:sp>
            <p:nvSpPr>
              <p:cNvPr id="196" name="Shape">
                <a:extLst>
                  <a:ext uri="{FF2B5EF4-FFF2-40B4-BE49-F238E27FC236}">
                    <a16:creationId xmlns:a16="http://schemas.microsoft.com/office/drawing/2014/main" id="{CBC91640-E9BC-CA4A-8257-AA88F525B953}"/>
                  </a:ext>
                </a:extLst>
              </p:cNvPr>
              <p:cNvSpPr/>
              <p:nvPr/>
            </p:nvSpPr>
            <p:spPr>
              <a:xfrm>
                <a:off x="4052889" y="3007594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B8817C8C-38EC-DA48-B1F2-3B7BFFD021D7}"/>
                  </a:ext>
                </a:extLst>
              </p:cNvPr>
              <p:cNvSpPr txBox="1"/>
              <p:nvPr/>
            </p:nvSpPr>
            <p:spPr>
              <a:xfrm>
                <a:off x="4134601" y="2911198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Develop one new customer in alignment with business goals</a:t>
                </a:r>
              </a:p>
            </p:txBody>
          </p:sp>
        </p:grp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2C47917-9498-E446-9BAB-13E88AA16C86}"/>
              </a:ext>
            </a:extLst>
          </p:cNvPr>
          <p:cNvGrpSpPr/>
          <p:nvPr/>
        </p:nvGrpSpPr>
        <p:grpSpPr>
          <a:xfrm>
            <a:off x="4149229" y="3985250"/>
            <a:ext cx="6915302" cy="436751"/>
            <a:chOff x="3674663" y="3547109"/>
            <a:chExt cx="6915302" cy="436751"/>
          </a:xfrm>
        </p:grpSpPr>
        <p:sp>
          <p:nvSpPr>
            <p:cNvPr id="203" name="Rounded Rectangle">
              <a:extLst>
                <a:ext uri="{FF2B5EF4-FFF2-40B4-BE49-F238E27FC236}">
                  <a16:creationId xmlns:a16="http://schemas.microsoft.com/office/drawing/2014/main" id="{31D3ABF4-62B1-934B-A6D8-064B1AA636BA}"/>
                </a:ext>
              </a:extLst>
            </p:cNvPr>
            <p:cNvSpPr/>
            <p:nvPr/>
          </p:nvSpPr>
          <p:spPr>
            <a:xfrm rot="16200000">
              <a:off x="6913938" y="307834"/>
              <a:ext cx="436751" cy="6915302"/>
            </a:xfrm>
            <a:prstGeom prst="round2SameRect">
              <a:avLst>
                <a:gd name="adj1" fmla="val 50000"/>
                <a:gd name="adj2" fmla="val 50000"/>
              </a:avLst>
            </a:prstGeom>
            <a:gradFill>
              <a:gsLst>
                <a:gs pos="7000">
                  <a:srgbClr val="49D691"/>
                </a:gs>
                <a:gs pos="88000">
                  <a:srgbClr val="00D7C8"/>
                </a:gs>
              </a:gsLst>
              <a:lin ang="5400000" scaled="1"/>
            </a:gradFill>
            <a:ln w="12700"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algn="ctr"/>
              <a:endParaRPr sz="3200">
                <a:solidFill>
                  <a:srgbClr val="FFFFFF"/>
                </a:solidFill>
                <a:latin typeface="Helvetica Light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5C0E5130-EC77-D947-AF59-D06C875DCEF7}"/>
                </a:ext>
              </a:extLst>
            </p:cNvPr>
            <p:cNvSpPr txBox="1"/>
            <p:nvPr/>
          </p:nvSpPr>
          <p:spPr>
            <a:xfrm>
              <a:off x="6359507" y="3642374"/>
              <a:ext cx="15456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400" b="1">
                  <a:gradFill>
                    <a:gsLst>
                      <a:gs pos="0">
                        <a:srgbClr val="54B2DB"/>
                      </a:gs>
                      <a:gs pos="100000">
                        <a:srgbClr val="4983D0"/>
                      </a:gs>
                    </a:gsLst>
                    <a:lin ang="5400000" scaled="1"/>
                  </a:gradFill>
                  <a:latin typeface="Century Gothic" panose="020B0502020202020204" pitchFamily="34" charset="0"/>
                </a:defRPr>
              </a:lvl1pPr>
            </a:lstStyle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KEY SUCCESS METRICS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28CE6F8D-26A1-8549-B982-D24BA78DB8E4}"/>
              </a:ext>
            </a:extLst>
          </p:cNvPr>
          <p:cNvGrpSpPr/>
          <p:nvPr/>
        </p:nvGrpSpPr>
        <p:grpSpPr>
          <a:xfrm>
            <a:off x="4108615" y="4589716"/>
            <a:ext cx="1564217" cy="1232852"/>
            <a:chOff x="3701761" y="4279833"/>
            <a:chExt cx="1564217" cy="1232852"/>
          </a:xfrm>
        </p:grpSpPr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5DD89215-695F-2742-8325-F890E1737FAA}"/>
                </a:ext>
              </a:extLst>
            </p:cNvPr>
            <p:cNvSpPr txBox="1"/>
            <p:nvPr/>
          </p:nvSpPr>
          <p:spPr>
            <a:xfrm>
              <a:off x="4021244" y="4279833"/>
              <a:ext cx="925253" cy="5796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Learning Goals</a:t>
              </a:r>
            </a:p>
            <a:p>
              <a:pPr algn="ctr">
                <a:lnSpc>
                  <a:spcPts val="1900"/>
                </a:lnSpc>
              </a:pPr>
              <a:endParaRPr lang="en-US" sz="1600" b="1" dirty="0">
                <a:gradFill>
                  <a:gsLst>
                    <a:gs pos="0">
                      <a:srgbClr val="54B2DB"/>
                    </a:gs>
                    <a:gs pos="100000">
                      <a:srgbClr val="4983D0"/>
                    </a:gs>
                  </a:gsLst>
                  <a:lin ang="5400000" scaled="1"/>
                </a:gradFill>
                <a:latin typeface="Century Gothic" panose="020B0502020202020204" pitchFamily="34" charset="0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B3D8CCAA-1F32-BA42-A917-606FC8A19B22}"/>
                </a:ext>
              </a:extLst>
            </p:cNvPr>
            <p:cNvSpPr txBox="1"/>
            <p:nvPr/>
          </p:nvSpPr>
          <p:spPr>
            <a:xfrm>
              <a:off x="3701761" y="4903929"/>
              <a:ext cx="1564217" cy="608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800" dirty="0">
                  <a:latin typeface="Century Gothic" panose="020B0502020202020204" pitchFamily="34" charset="0"/>
                </a:rPr>
                <a:t>Met all the key people in the organization and participated in key trainings</a:t>
              </a:r>
              <a:endParaRPr lang="en-US" sz="16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407FDDC7-142F-F24A-8B65-901FF1A998C1}"/>
                </a:ext>
              </a:extLst>
            </p:cNvPr>
            <p:cNvSpPr txBox="1"/>
            <p:nvPr/>
          </p:nvSpPr>
          <p:spPr>
            <a:xfrm>
              <a:off x="4247267" y="4581322"/>
              <a:ext cx="473206" cy="335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1600" b="1" dirty="0">
                  <a:solidFill>
                    <a:srgbClr val="00D7C8"/>
                  </a:solidFill>
                  <a:latin typeface="Century Gothic" panose="020B0502020202020204" pitchFamily="34" charset="0"/>
                </a:rPr>
                <a:t>3.5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2FCB982F-3749-B447-BB89-5E5C06D62827}"/>
              </a:ext>
            </a:extLst>
          </p:cNvPr>
          <p:cNvGrpSpPr/>
          <p:nvPr/>
        </p:nvGrpSpPr>
        <p:grpSpPr>
          <a:xfrm>
            <a:off x="9486317" y="4589716"/>
            <a:ext cx="1673421" cy="1232852"/>
            <a:chOff x="9079463" y="4279833"/>
            <a:chExt cx="1673421" cy="1232852"/>
          </a:xfrm>
        </p:grpSpPr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D50DD6EC-E6C9-484F-B0C4-F117D2B4DEC7}"/>
                </a:ext>
              </a:extLst>
            </p:cNvPr>
            <p:cNvSpPr txBox="1"/>
            <p:nvPr/>
          </p:nvSpPr>
          <p:spPr>
            <a:xfrm>
              <a:off x="9453548" y="4279833"/>
              <a:ext cx="925253" cy="297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Learning Goals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F8FD217B-A8FD-7F49-A45F-C36D349B1445}"/>
                </a:ext>
              </a:extLst>
            </p:cNvPr>
            <p:cNvSpPr txBox="1"/>
            <p:nvPr/>
          </p:nvSpPr>
          <p:spPr>
            <a:xfrm>
              <a:off x="9079463" y="4903929"/>
              <a:ext cx="1673421" cy="608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800" dirty="0">
                  <a:latin typeface="Century Gothic" panose="020B0502020202020204" pitchFamily="34" charset="0"/>
                </a:rPr>
                <a:t>Met and understood expectations from key members of the organization</a:t>
              </a:r>
              <a:endParaRPr lang="en-US" sz="16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4A12C05A-7C26-0248-8574-BBBAF72BAD87}"/>
                </a:ext>
              </a:extLst>
            </p:cNvPr>
            <p:cNvSpPr txBox="1"/>
            <p:nvPr/>
          </p:nvSpPr>
          <p:spPr>
            <a:xfrm>
              <a:off x="9679571" y="4581322"/>
              <a:ext cx="473206" cy="335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1600" b="1" dirty="0">
                  <a:solidFill>
                    <a:srgbClr val="00D7C8"/>
                  </a:solidFill>
                  <a:latin typeface="Century Gothic" panose="020B0502020202020204" pitchFamily="34" charset="0"/>
                </a:rPr>
                <a:t>3.5</a:t>
              </a: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8D23A89-A1D3-614F-95DE-BD63BC94EE40}"/>
              </a:ext>
            </a:extLst>
          </p:cNvPr>
          <p:cNvGrpSpPr/>
          <p:nvPr/>
        </p:nvGrpSpPr>
        <p:grpSpPr>
          <a:xfrm>
            <a:off x="7833003" y="4589716"/>
            <a:ext cx="1435040" cy="1232341"/>
            <a:chOff x="7387891" y="4279833"/>
            <a:chExt cx="1435040" cy="1232341"/>
          </a:xfrm>
        </p:grpSpPr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6355C49A-C549-4E47-B3F1-3A4A51746045}"/>
                </a:ext>
              </a:extLst>
            </p:cNvPr>
            <p:cNvSpPr txBox="1"/>
            <p:nvPr/>
          </p:nvSpPr>
          <p:spPr>
            <a:xfrm>
              <a:off x="7535381" y="4279833"/>
              <a:ext cx="1140056" cy="297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Performance Goals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6F38C9D9-7757-D546-9760-2DF22E7711DF}"/>
                </a:ext>
              </a:extLst>
            </p:cNvPr>
            <p:cNvSpPr txBox="1"/>
            <p:nvPr/>
          </p:nvSpPr>
          <p:spPr>
            <a:xfrm>
              <a:off x="7387891" y="4903418"/>
              <a:ext cx="1435040" cy="608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800" dirty="0">
                  <a:latin typeface="Century Gothic" panose="020B0502020202020204" pitchFamily="34" charset="0"/>
                </a:rPr>
                <a:t>Reconfigured resourcing on a few projects to deliver on cost savings</a:t>
              </a:r>
              <a:endParaRPr lang="en-US" sz="16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D9961E64-ADDC-814E-8074-FE1EA74A46F3}"/>
                </a:ext>
              </a:extLst>
            </p:cNvPr>
            <p:cNvSpPr txBox="1"/>
            <p:nvPr/>
          </p:nvSpPr>
          <p:spPr>
            <a:xfrm>
              <a:off x="7867202" y="4575820"/>
              <a:ext cx="476412" cy="335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lnSpc>
                  <a:spcPts val="1900"/>
                </a:lnSpc>
              </a:pPr>
              <a:r>
                <a:rPr lang="en-US" sz="1600" b="1" dirty="0">
                  <a:solidFill>
                    <a:srgbClr val="00D7C8"/>
                  </a:solidFill>
                  <a:latin typeface="Century Gothic" panose="020B0502020202020204" pitchFamily="34" charset="0"/>
                </a:rPr>
                <a:t>5%</a:t>
              </a:r>
            </a:p>
          </p:txBody>
        </p: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E2164B6B-7EF9-4C4A-A3DE-7D70A4E6A33D}"/>
              </a:ext>
            </a:extLst>
          </p:cNvPr>
          <p:cNvGrpSpPr/>
          <p:nvPr/>
        </p:nvGrpSpPr>
        <p:grpSpPr>
          <a:xfrm>
            <a:off x="5970034" y="4589716"/>
            <a:ext cx="1435040" cy="1232341"/>
            <a:chOff x="5574917" y="4279833"/>
            <a:chExt cx="1435040" cy="1232341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604222D3-C6AF-3E48-96A3-B15D4F974590}"/>
                </a:ext>
              </a:extLst>
            </p:cNvPr>
            <p:cNvSpPr txBox="1"/>
            <p:nvPr/>
          </p:nvSpPr>
          <p:spPr>
            <a:xfrm>
              <a:off x="5836825" y="4279833"/>
              <a:ext cx="915635" cy="297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Initiative Goals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FC3A7694-DD10-9649-B006-DBADA1384717}"/>
                </a:ext>
              </a:extLst>
            </p:cNvPr>
            <p:cNvSpPr txBox="1"/>
            <p:nvPr/>
          </p:nvSpPr>
          <p:spPr>
            <a:xfrm>
              <a:off x="5574917" y="4903418"/>
              <a:ext cx="1435040" cy="608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800" dirty="0">
                  <a:latin typeface="Century Gothic" panose="020B0502020202020204" pitchFamily="34" charset="0"/>
                </a:rPr>
                <a:t>Worked on 5 key projects &amp; developed relationship with customers</a:t>
              </a:r>
              <a:endParaRPr lang="en-US" sz="16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1D0062CB-B6AF-B54D-8C0F-2F9AB643CF2C}"/>
                </a:ext>
              </a:extLst>
            </p:cNvPr>
            <p:cNvSpPr txBox="1"/>
            <p:nvPr/>
          </p:nvSpPr>
          <p:spPr>
            <a:xfrm>
              <a:off x="6144601" y="4575820"/>
              <a:ext cx="300082" cy="335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1600" b="1" dirty="0">
                  <a:solidFill>
                    <a:srgbClr val="00D7C8"/>
                  </a:solidFill>
                  <a:latin typeface="Century Gothic" panose="020B0502020202020204" pitchFamily="34" charset="0"/>
                </a:rPr>
                <a:t>5</a:t>
              </a:r>
            </a:p>
          </p:txBody>
        </p:sp>
      </p:grp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A62CEC07-149B-0B40-9CE3-64FD4EEBDDFC}"/>
              </a:ext>
            </a:extLst>
          </p:cNvPr>
          <p:cNvCxnSpPr/>
          <p:nvPr/>
        </p:nvCxnSpPr>
        <p:spPr>
          <a:xfrm>
            <a:off x="5746117" y="4653367"/>
            <a:ext cx="1" cy="1188720"/>
          </a:xfrm>
          <a:prstGeom prst="line">
            <a:avLst/>
          </a:prstGeom>
          <a:ln w="12700">
            <a:solidFill>
              <a:srgbClr val="EDF0F3"/>
            </a:solidFill>
            <a:miter lim="400000"/>
          </a:ln>
        </p:spPr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D3D43DD3-5602-6A4B-863D-63C4FB9403F3}"/>
              </a:ext>
            </a:extLst>
          </p:cNvPr>
          <p:cNvCxnSpPr/>
          <p:nvPr/>
        </p:nvCxnSpPr>
        <p:spPr>
          <a:xfrm>
            <a:off x="7633402" y="4653367"/>
            <a:ext cx="1" cy="1188720"/>
          </a:xfrm>
          <a:prstGeom prst="line">
            <a:avLst/>
          </a:prstGeom>
          <a:ln w="12700">
            <a:solidFill>
              <a:srgbClr val="EDF0F3"/>
            </a:solidFill>
            <a:miter lim="400000"/>
          </a:ln>
        </p:spPr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9F10CF4D-0EA5-0E4F-BA4A-1F0F702564E1}"/>
              </a:ext>
            </a:extLst>
          </p:cNvPr>
          <p:cNvCxnSpPr/>
          <p:nvPr/>
        </p:nvCxnSpPr>
        <p:spPr>
          <a:xfrm>
            <a:off x="9467643" y="4653367"/>
            <a:ext cx="1" cy="1188720"/>
          </a:xfrm>
          <a:prstGeom prst="line">
            <a:avLst/>
          </a:prstGeom>
          <a:ln w="12700">
            <a:solidFill>
              <a:srgbClr val="EDF0F3"/>
            </a:solidFill>
            <a:miter lim="400000"/>
          </a:ln>
        </p:spPr>
      </p:cxnSp>
    </p:spTree>
    <p:extLst>
      <p:ext uri="{BB962C8B-B14F-4D97-AF65-F5344CB8AC3E}">
        <p14:creationId xmlns:p14="http://schemas.microsoft.com/office/powerpoint/2010/main" val="3563702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ounded Rectangle">
            <a:extLst>
              <a:ext uri="{FF2B5EF4-FFF2-40B4-BE49-F238E27FC236}">
                <a16:creationId xmlns:a16="http://schemas.microsoft.com/office/drawing/2014/main" id="{E66C420E-8F13-4228-B476-597D070EA396}"/>
              </a:ext>
            </a:extLst>
          </p:cNvPr>
          <p:cNvSpPr/>
          <p:nvPr/>
        </p:nvSpPr>
        <p:spPr>
          <a:xfrm rot="16200000">
            <a:off x="1383583" y="3202026"/>
            <a:ext cx="2412715" cy="2072633"/>
          </a:xfrm>
          <a:prstGeom prst="round2SameRect">
            <a:avLst>
              <a:gd name="adj1" fmla="val 19273"/>
              <a:gd name="adj2" fmla="val 0"/>
            </a:avLst>
          </a:prstGeom>
          <a:solidFill>
            <a:srgbClr val="E4E8EE"/>
          </a:solidFill>
          <a:ln w="12700">
            <a:miter lim="400000"/>
          </a:ln>
          <a:effectLst/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baseline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E1F3044C-3D63-47CF-BD4C-4A68E9E941FA}"/>
              </a:ext>
            </a:extLst>
          </p:cNvPr>
          <p:cNvSpPr/>
          <p:nvPr/>
        </p:nvSpPr>
        <p:spPr>
          <a:xfrm>
            <a:off x="3626256" y="1346437"/>
            <a:ext cx="7961248" cy="5021654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12700">
            <a:miter lim="400000"/>
          </a:ln>
          <a:effectLst>
            <a:outerShdw blurRad="292100" dist="110334" dir="5400000" rotWithShape="0">
              <a:srgbClr val="475D84">
                <a:alpha val="21640"/>
              </a:srgbClr>
            </a:outerShdw>
          </a:effec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baseline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6D8E5A8C-E911-4A9D-8692-4881B48FDD45}"/>
              </a:ext>
            </a:extLst>
          </p:cNvPr>
          <p:cNvGrpSpPr/>
          <p:nvPr/>
        </p:nvGrpSpPr>
        <p:grpSpPr>
          <a:xfrm>
            <a:off x="1553622" y="4386094"/>
            <a:ext cx="2072633" cy="1312681"/>
            <a:chOff x="1079059" y="2228500"/>
            <a:chExt cx="2072633" cy="1312681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D3DCC5E-4FFD-467D-8745-21D0D2A8D8BA}"/>
                </a:ext>
              </a:extLst>
            </p:cNvPr>
            <p:cNvSpPr/>
            <p:nvPr/>
          </p:nvSpPr>
          <p:spPr>
            <a:xfrm>
              <a:off x="2897090" y="2228500"/>
              <a:ext cx="254602" cy="254597"/>
            </a:xfrm>
            <a:custGeom>
              <a:avLst/>
              <a:gdLst>
                <a:gd name="connsiteX0" fmla="*/ 432555 w 432555"/>
                <a:gd name="connsiteY0" fmla="*/ 0 h 432546"/>
                <a:gd name="connsiteX1" fmla="*/ 432555 w 432555"/>
                <a:gd name="connsiteY1" fmla="*/ 432546 h 432546"/>
                <a:gd name="connsiteX2" fmla="*/ 0 w 432555"/>
                <a:gd name="connsiteY2" fmla="*/ 432546 h 432546"/>
                <a:gd name="connsiteX3" fmla="*/ 423768 w 432555"/>
                <a:gd name="connsiteY3" fmla="*/ 87165 h 432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2555" h="432546">
                  <a:moveTo>
                    <a:pt x="432555" y="0"/>
                  </a:moveTo>
                  <a:lnTo>
                    <a:pt x="432555" y="432546"/>
                  </a:lnTo>
                  <a:lnTo>
                    <a:pt x="0" y="432546"/>
                  </a:lnTo>
                  <a:cubicBezTo>
                    <a:pt x="209032" y="432546"/>
                    <a:pt x="383434" y="284274"/>
                    <a:pt x="423768" y="8716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  <a:effectLst/>
          </p:spPr>
          <p:txBody>
            <a:bodyPr wrap="square" lIns="50800" tIns="50800" rIns="50800" bIns="50800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1" name="Rounded Rectangle">
              <a:extLst>
                <a:ext uri="{FF2B5EF4-FFF2-40B4-BE49-F238E27FC236}">
                  <a16:creationId xmlns:a16="http://schemas.microsoft.com/office/drawing/2014/main" id="{8A5EAA88-13E6-4394-9B19-EE92789BD2AD}"/>
                </a:ext>
              </a:extLst>
            </p:cNvPr>
            <p:cNvSpPr/>
            <p:nvPr/>
          </p:nvSpPr>
          <p:spPr>
            <a:xfrm rot="16200000">
              <a:off x="1713633" y="1848524"/>
              <a:ext cx="803485" cy="207263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FFFF"/>
            </a:solidFill>
            <a:ln w="12700"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2CB586C-4753-4EC6-96A9-7FBA5432868F}"/>
                </a:ext>
              </a:extLst>
            </p:cNvPr>
            <p:cNvSpPr/>
            <p:nvPr/>
          </p:nvSpPr>
          <p:spPr>
            <a:xfrm flipV="1">
              <a:off x="2897090" y="3286584"/>
              <a:ext cx="254602" cy="254597"/>
            </a:xfrm>
            <a:custGeom>
              <a:avLst/>
              <a:gdLst>
                <a:gd name="connsiteX0" fmla="*/ 432555 w 432555"/>
                <a:gd name="connsiteY0" fmla="*/ 0 h 432546"/>
                <a:gd name="connsiteX1" fmla="*/ 432555 w 432555"/>
                <a:gd name="connsiteY1" fmla="*/ 432546 h 432546"/>
                <a:gd name="connsiteX2" fmla="*/ 0 w 432555"/>
                <a:gd name="connsiteY2" fmla="*/ 432546 h 432546"/>
                <a:gd name="connsiteX3" fmla="*/ 423768 w 432555"/>
                <a:gd name="connsiteY3" fmla="*/ 87165 h 432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2555" h="432546">
                  <a:moveTo>
                    <a:pt x="432555" y="0"/>
                  </a:moveTo>
                  <a:lnTo>
                    <a:pt x="432555" y="432546"/>
                  </a:lnTo>
                  <a:lnTo>
                    <a:pt x="0" y="432546"/>
                  </a:lnTo>
                  <a:cubicBezTo>
                    <a:pt x="209032" y="432546"/>
                    <a:pt x="383434" y="284274"/>
                    <a:pt x="423768" y="8716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  <a:effectLst/>
          </p:spPr>
          <p:txBody>
            <a:bodyPr wrap="square" lIns="50800" tIns="50800" rIns="50800" bIns="50800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90B655DF-33AA-4DC2-AC17-88E42F10B98D}"/>
              </a:ext>
            </a:extLst>
          </p:cNvPr>
          <p:cNvSpPr txBox="1"/>
          <p:nvPr/>
        </p:nvSpPr>
        <p:spPr>
          <a:xfrm>
            <a:off x="582631" y="611930"/>
            <a:ext cx="3547123" cy="48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US" sz="2500" b="1" dirty="0">
                <a:latin typeface="Century Gothic" panose="020B0502020202020204" pitchFamily="34" charset="0"/>
              </a:rPr>
              <a:t>30-60-90 DAY PLAN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DD88A9-AD46-4849-B61A-B5E78179362F}"/>
              </a:ext>
            </a:extLst>
          </p:cNvPr>
          <p:cNvSpPr txBox="1"/>
          <p:nvPr/>
        </p:nvSpPr>
        <p:spPr>
          <a:xfrm>
            <a:off x="1935959" y="3286060"/>
            <a:ext cx="8947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9EAABE"/>
                </a:solidFill>
                <a:latin typeface="Century Gothic" panose="020B0502020202020204" pitchFamily="34" charset="0"/>
              </a:rPr>
              <a:t>30 DAYS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A4246A-C372-44FF-90AD-98E6BE4B59DD}"/>
              </a:ext>
            </a:extLst>
          </p:cNvPr>
          <p:cNvSpPr txBox="1"/>
          <p:nvPr/>
        </p:nvSpPr>
        <p:spPr>
          <a:xfrm>
            <a:off x="1935959" y="4030998"/>
            <a:ext cx="898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9EAABE"/>
                </a:solidFill>
                <a:latin typeface="Century Gothic" panose="020B0502020202020204" pitchFamily="34" charset="0"/>
              </a:rPr>
              <a:t>60 DAYS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58717C-D8E5-4551-9083-4A7E0C031B77}"/>
              </a:ext>
            </a:extLst>
          </p:cNvPr>
          <p:cNvSpPr txBox="1"/>
          <p:nvPr/>
        </p:nvSpPr>
        <p:spPr>
          <a:xfrm>
            <a:off x="1935959" y="4834476"/>
            <a:ext cx="8947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gradFill>
                  <a:gsLst>
                    <a:gs pos="0">
                      <a:srgbClr val="54B2DB"/>
                    </a:gs>
                    <a:gs pos="100000">
                      <a:srgbClr val="4983D0"/>
                    </a:gs>
                  </a:gsLst>
                  <a:lin ang="5400000" scaled="1"/>
                </a:gradFill>
                <a:latin typeface="Century Gothic" panose="020B0502020202020204" pitchFamily="34" charset="0"/>
              </a:rPr>
              <a:t>90 DAYS</a:t>
            </a:r>
          </a:p>
        </p:txBody>
      </p:sp>
      <p:sp>
        <p:nvSpPr>
          <p:cNvPr id="84" name="Rounded Rectangle">
            <a:extLst>
              <a:ext uri="{FF2B5EF4-FFF2-40B4-BE49-F238E27FC236}">
                <a16:creationId xmlns:a16="http://schemas.microsoft.com/office/drawing/2014/main" id="{187DCB42-A982-B443-B4FD-2D7EE8032912}"/>
              </a:ext>
            </a:extLst>
          </p:cNvPr>
          <p:cNvSpPr/>
          <p:nvPr/>
        </p:nvSpPr>
        <p:spPr>
          <a:xfrm>
            <a:off x="4149228" y="1712423"/>
            <a:ext cx="1957200" cy="43675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4B2DB"/>
              </a:gs>
              <a:gs pos="100000">
                <a:srgbClr val="4983D0"/>
              </a:gs>
            </a:gsLst>
            <a:lin ang="2277912"/>
          </a:gradFill>
          <a:ln w="12700">
            <a:miter lim="400000"/>
          </a:ln>
          <a:effectLst/>
        </p:spPr>
        <p:txBody>
          <a:bodyPr lIns="50800" tIns="0" rIns="50800" bIns="0" anchor="ctr"/>
          <a:lstStyle/>
          <a:p>
            <a:pPr algn="ctr">
              <a:lnSpc>
                <a:spcPct val="100000"/>
              </a:lnSpc>
              <a:defRPr sz="3200" baseline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US" sz="900" b="1" dirty="0">
                <a:solidFill>
                  <a:schemeClr val="bg1"/>
                </a:solidFill>
                <a:latin typeface="Century Gothic" panose="020B0502020202020204" pitchFamily="34" charset="0"/>
              </a:rPr>
              <a:t>LEARNING GOALS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43F061E-24C2-F246-9654-6C3E191E789B}"/>
              </a:ext>
            </a:extLst>
          </p:cNvPr>
          <p:cNvGrpSpPr/>
          <p:nvPr/>
        </p:nvGrpSpPr>
        <p:grpSpPr>
          <a:xfrm>
            <a:off x="4235584" y="2312101"/>
            <a:ext cx="1870844" cy="1353945"/>
            <a:chOff x="4052889" y="2120730"/>
            <a:chExt cx="1870844" cy="1353945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338CF7B-82CC-FB40-8055-4A0702532B26}"/>
                </a:ext>
              </a:extLst>
            </p:cNvPr>
            <p:cNvGrpSpPr/>
            <p:nvPr/>
          </p:nvGrpSpPr>
          <p:grpSpPr>
            <a:xfrm>
              <a:off x="4052889" y="2120730"/>
              <a:ext cx="1870844" cy="406843"/>
              <a:chOff x="4052889" y="2060492"/>
              <a:chExt cx="1870844" cy="406843"/>
            </a:xfrm>
          </p:grpSpPr>
          <p:sp>
            <p:nvSpPr>
              <p:cNvPr id="108" name="Shape">
                <a:extLst>
                  <a:ext uri="{FF2B5EF4-FFF2-40B4-BE49-F238E27FC236}">
                    <a16:creationId xmlns:a16="http://schemas.microsoft.com/office/drawing/2014/main" id="{8743B6B7-FDE9-9944-B876-4C4B2BF69BAD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111B417F-E962-E445-9305-E7ACC45B6AEA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Learn about the company’s vision, mission, strategy &amp; culture</a:t>
                </a: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0BBEFC9C-E19E-2E41-90B1-B64B368BC30D}"/>
                </a:ext>
              </a:extLst>
            </p:cNvPr>
            <p:cNvGrpSpPr/>
            <p:nvPr/>
          </p:nvGrpSpPr>
          <p:grpSpPr>
            <a:xfrm>
              <a:off x="4052889" y="2594281"/>
              <a:ext cx="1870844" cy="406843"/>
              <a:chOff x="4052889" y="2060492"/>
              <a:chExt cx="1870844" cy="406843"/>
            </a:xfrm>
          </p:grpSpPr>
          <p:sp>
            <p:nvSpPr>
              <p:cNvPr id="106" name="Shape">
                <a:extLst>
                  <a:ext uri="{FF2B5EF4-FFF2-40B4-BE49-F238E27FC236}">
                    <a16:creationId xmlns:a16="http://schemas.microsoft.com/office/drawing/2014/main" id="{8BE3C5E8-DC94-F248-B36A-77A7B6220D52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66382AC-31E8-654D-9120-BD679D16B146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Understand the business, past triumphs, past failures</a:t>
                </a: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BDC2C600-0921-374F-8E3C-6E49A1B0907E}"/>
                </a:ext>
              </a:extLst>
            </p:cNvPr>
            <p:cNvGrpSpPr/>
            <p:nvPr/>
          </p:nvGrpSpPr>
          <p:grpSpPr>
            <a:xfrm>
              <a:off x="4052889" y="3067832"/>
              <a:ext cx="1870844" cy="406843"/>
              <a:chOff x="4052889" y="2911198"/>
              <a:chExt cx="1870844" cy="406843"/>
            </a:xfrm>
          </p:grpSpPr>
          <p:sp>
            <p:nvSpPr>
              <p:cNvPr id="103" name="Shape">
                <a:extLst>
                  <a:ext uri="{FF2B5EF4-FFF2-40B4-BE49-F238E27FC236}">
                    <a16:creationId xmlns:a16="http://schemas.microsoft.com/office/drawing/2014/main" id="{D5EE54B5-A8F2-9A4B-86F1-58AABA2070D3}"/>
                  </a:ext>
                </a:extLst>
              </p:cNvPr>
              <p:cNvSpPr/>
              <p:nvPr/>
            </p:nvSpPr>
            <p:spPr>
              <a:xfrm>
                <a:off x="4052889" y="3007594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8AB3DD1A-5BDF-AB49-92FD-C9897582AC35}"/>
                  </a:ext>
                </a:extLst>
              </p:cNvPr>
              <p:cNvSpPr txBox="1"/>
              <p:nvPr/>
            </p:nvSpPr>
            <p:spPr>
              <a:xfrm>
                <a:off x="4134601" y="2911198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Meet the manager &amp; team, &amp; understand their expectations</a:t>
                </a:r>
              </a:p>
            </p:txBody>
          </p:sp>
        </p:grpSp>
      </p:grpSp>
      <p:sp>
        <p:nvSpPr>
          <p:cNvPr id="110" name="Rounded Rectangle">
            <a:extLst>
              <a:ext uri="{FF2B5EF4-FFF2-40B4-BE49-F238E27FC236}">
                <a16:creationId xmlns:a16="http://schemas.microsoft.com/office/drawing/2014/main" id="{F5A0D484-0CC9-9346-A0F5-525F45AF84CC}"/>
              </a:ext>
            </a:extLst>
          </p:cNvPr>
          <p:cNvSpPr/>
          <p:nvPr/>
        </p:nvSpPr>
        <p:spPr>
          <a:xfrm>
            <a:off x="6628279" y="1712423"/>
            <a:ext cx="1957200" cy="43675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4B2DB"/>
              </a:gs>
              <a:gs pos="100000">
                <a:srgbClr val="4983D0"/>
              </a:gs>
            </a:gsLst>
            <a:lin ang="2277912"/>
          </a:gradFill>
          <a:ln w="12700">
            <a:miter lim="400000"/>
          </a:ln>
          <a:effectLst/>
        </p:spPr>
        <p:txBody>
          <a:bodyPr lIns="50800" tIns="0" rIns="50800" bIns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entury Gothic" panose="020B0502020202020204" pitchFamily="34" charset="0"/>
              </a:rPr>
              <a:t>INITIATIVE GOAL</a:t>
            </a:r>
            <a:endParaRPr sz="9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C902410D-ABBC-5A4E-938B-4E0F80B8F49B}"/>
              </a:ext>
            </a:extLst>
          </p:cNvPr>
          <p:cNvGrpSpPr/>
          <p:nvPr/>
        </p:nvGrpSpPr>
        <p:grpSpPr>
          <a:xfrm>
            <a:off x="6714636" y="2312101"/>
            <a:ext cx="1870844" cy="1353945"/>
            <a:chOff x="4052889" y="2120730"/>
            <a:chExt cx="1870844" cy="1353945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F354DCF4-114F-6145-B4D3-C366C4212265}"/>
                </a:ext>
              </a:extLst>
            </p:cNvPr>
            <p:cNvGrpSpPr/>
            <p:nvPr/>
          </p:nvGrpSpPr>
          <p:grpSpPr>
            <a:xfrm>
              <a:off x="4052889" y="2120730"/>
              <a:ext cx="1870844" cy="406843"/>
              <a:chOff x="4052889" y="2060492"/>
              <a:chExt cx="1870844" cy="406843"/>
            </a:xfrm>
          </p:grpSpPr>
          <p:sp>
            <p:nvSpPr>
              <p:cNvPr id="123" name="Shape">
                <a:extLst>
                  <a:ext uri="{FF2B5EF4-FFF2-40B4-BE49-F238E27FC236}">
                    <a16:creationId xmlns:a16="http://schemas.microsoft.com/office/drawing/2014/main" id="{319441D4-F837-6147-9284-E4441FCA71A9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03ED1A90-B672-6B43-BBC7-26DF56EBACC9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Take a lead role in one of the important projects</a:t>
                </a: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BA94193-4295-8B41-AC42-A07AA19F663B}"/>
                </a:ext>
              </a:extLst>
            </p:cNvPr>
            <p:cNvGrpSpPr/>
            <p:nvPr/>
          </p:nvGrpSpPr>
          <p:grpSpPr>
            <a:xfrm>
              <a:off x="4052889" y="2594281"/>
              <a:ext cx="1870844" cy="406843"/>
              <a:chOff x="4052889" y="2060492"/>
              <a:chExt cx="1870844" cy="406843"/>
            </a:xfrm>
          </p:grpSpPr>
          <p:sp>
            <p:nvSpPr>
              <p:cNvPr id="121" name="Shape">
                <a:extLst>
                  <a:ext uri="{FF2B5EF4-FFF2-40B4-BE49-F238E27FC236}">
                    <a16:creationId xmlns:a16="http://schemas.microsoft.com/office/drawing/2014/main" id="{B3AB17A5-F9B6-9A49-AE64-C7C4EC684A0D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8EC9272F-7FD6-5148-B4AF-0CCC2A65A2CC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Meet all the customers and assess gaps &amp; opportunities</a:t>
                </a: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4F0A6B42-BF1F-9A44-9B9B-8F0A393C23E5}"/>
                </a:ext>
              </a:extLst>
            </p:cNvPr>
            <p:cNvGrpSpPr/>
            <p:nvPr/>
          </p:nvGrpSpPr>
          <p:grpSpPr>
            <a:xfrm>
              <a:off x="4052889" y="3067832"/>
              <a:ext cx="1870844" cy="406843"/>
              <a:chOff x="4052889" y="2911198"/>
              <a:chExt cx="1870844" cy="406843"/>
            </a:xfrm>
          </p:grpSpPr>
          <p:sp>
            <p:nvSpPr>
              <p:cNvPr id="117" name="Shape">
                <a:extLst>
                  <a:ext uri="{FF2B5EF4-FFF2-40B4-BE49-F238E27FC236}">
                    <a16:creationId xmlns:a16="http://schemas.microsoft.com/office/drawing/2014/main" id="{E56236BD-7B7D-7242-A26B-A014A77CF292}"/>
                  </a:ext>
                </a:extLst>
              </p:cNvPr>
              <p:cNvSpPr/>
              <p:nvPr/>
            </p:nvSpPr>
            <p:spPr>
              <a:xfrm>
                <a:off x="4052889" y="3007594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A1BFBE18-B142-1E4C-8956-6375C3FD12DE}"/>
                  </a:ext>
                </a:extLst>
              </p:cNvPr>
              <p:cNvSpPr txBox="1"/>
              <p:nvPr/>
            </p:nvSpPr>
            <p:spPr>
              <a:xfrm>
                <a:off x="4134601" y="2911198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Develop a plan for quick fixes and long term priorities</a:t>
                </a:r>
              </a:p>
            </p:txBody>
          </p:sp>
        </p:grpSp>
      </p:grpSp>
      <p:sp>
        <p:nvSpPr>
          <p:cNvPr id="127" name="Rounded Rectangle">
            <a:extLst>
              <a:ext uri="{FF2B5EF4-FFF2-40B4-BE49-F238E27FC236}">
                <a16:creationId xmlns:a16="http://schemas.microsoft.com/office/drawing/2014/main" id="{3B8E990A-FB9F-F444-8C4D-EDABDA8A1DBE}"/>
              </a:ext>
            </a:extLst>
          </p:cNvPr>
          <p:cNvSpPr/>
          <p:nvPr/>
        </p:nvSpPr>
        <p:spPr>
          <a:xfrm>
            <a:off x="9107331" y="1712423"/>
            <a:ext cx="1957200" cy="43675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4B2DB"/>
              </a:gs>
              <a:gs pos="100000">
                <a:srgbClr val="4983D0"/>
              </a:gs>
            </a:gsLst>
            <a:lin ang="2277912"/>
          </a:gradFill>
          <a:ln w="12700">
            <a:miter lim="400000"/>
          </a:ln>
          <a:effectLst/>
        </p:spPr>
        <p:txBody>
          <a:bodyPr lIns="50800" tIns="0" rIns="50800" bIns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PERFORMANCE GOAL</a:t>
            </a:r>
            <a:endParaRPr sz="9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3B4D6503-87AB-5344-97A5-6C688F9337E6}"/>
              </a:ext>
            </a:extLst>
          </p:cNvPr>
          <p:cNvGrpSpPr/>
          <p:nvPr/>
        </p:nvGrpSpPr>
        <p:grpSpPr>
          <a:xfrm>
            <a:off x="9193688" y="2312101"/>
            <a:ext cx="1870844" cy="1353945"/>
            <a:chOff x="4052889" y="2120730"/>
            <a:chExt cx="1870844" cy="1353945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523D96DE-86EF-804E-B419-037911F8B903}"/>
                </a:ext>
              </a:extLst>
            </p:cNvPr>
            <p:cNvGrpSpPr/>
            <p:nvPr/>
          </p:nvGrpSpPr>
          <p:grpSpPr>
            <a:xfrm>
              <a:off x="4052889" y="2120730"/>
              <a:ext cx="1464424" cy="406843"/>
              <a:chOff x="4052889" y="2060492"/>
              <a:chExt cx="1464424" cy="406843"/>
            </a:xfrm>
          </p:grpSpPr>
          <p:sp>
            <p:nvSpPr>
              <p:cNvPr id="140" name="Shape">
                <a:extLst>
                  <a:ext uri="{FF2B5EF4-FFF2-40B4-BE49-F238E27FC236}">
                    <a16:creationId xmlns:a16="http://schemas.microsoft.com/office/drawing/2014/main" id="{97278514-F5F2-7745-8216-A2D64C6C0A75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6886F8ED-4256-8341-A5EB-21EC3A48DE56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38271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Maintain the team’s current output</a:t>
                </a: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89781468-172C-EB4D-AC8C-41FCC9B24DD6}"/>
                </a:ext>
              </a:extLst>
            </p:cNvPr>
            <p:cNvGrpSpPr/>
            <p:nvPr/>
          </p:nvGrpSpPr>
          <p:grpSpPr>
            <a:xfrm>
              <a:off x="4052889" y="2594281"/>
              <a:ext cx="1797817" cy="406843"/>
              <a:chOff x="4052889" y="2060492"/>
              <a:chExt cx="1797817" cy="406843"/>
            </a:xfrm>
          </p:grpSpPr>
          <p:sp>
            <p:nvSpPr>
              <p:cNvPr id="137" name="Shape">
                <a:extLst>
                  <a:ext uri="{FF2B5EF4-FFF2-40B4-BE49-F238E27FC236}">
                    <a16:creationId xmlns:a16="http://schemas.microsoft.com/office/drawing/2014/main" id="{59BDD1FA-7C36-1847-A914-F6D834E97F45}"/>
                  </a:ext>
                </a:extLst>
              </p:cNvPr>
              <p:cNvSpPr/>
              <p:nvPr/>
            </p:nvSpPr>
            <p:spPr>
              <a:xfrm>
                <a:off x="4052889" y="2156888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18E48B10-614F-2148-94D8-0A6C82BB4A4C}"/>
                  </a:ext>
                </a:extLst>
              </p:cNvPr>
              <p:cNvSpPr txBox="1"/>
              <p:nvPr/>
            </p:nvSpPr>
            <p:spPr>
              <a:xfrm>
                <a:off x="4134601" y="2060492"/>
                <a:ext cx="1716105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Focus on one difficult customer and turn him around</a:t>
                </a:r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D6611421-5550-044B-9DA1-6C2CD852B760}"/>
                </a:ext>
              </a:extLst>
            </p:cNvPr>
            <p:cNvGrpSpPr/>
            <p:nvPr/>
          </p:nvGrpSpPr>
          <p:grpSpPr>
            <a:xfrm>
              <a:off x="4052889" y="3067832"/>
              <a:ext cx="1870844" cy="406843"/>
              <a:chOff x="4052889" y="2911198"/>
              <a:chExt cx="1870844" cy="406843"/>
            </a:xfrm>
          </p:grpSpPr>
          <p:sp>
            <p:nvSpPr>
              <p:cNvPr id="135" name="Shape">
                <a:extLst>
                  <a:ext uri="{FF2B5EF4-FFF2-40B4-BE49-F238E27FC236}">
                    <a16:creationId xmlns:a16="http://schemas.microsoft.com/office/drawing/2014/main" id="{CA80B90D-385A-5B44-A297-05CDD6DFD304}"/>
                  </a:ext>
                </a:extLst>
              </p:cNvPr>
              <p:cNvSpPr/>
              <p:nvPr/>
            </p:nvSpPr>
            <p:spPr>
              <a:xfrm>
                <a:off x="4052889" y="3007594"/>
                <a:ext cx="73026" cy="725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3" y="0"/>
                    </a:moveTo>
                    <a:cubicBezTo>
                      <a:pt x="4929" y="0"/>
                      <a:pt x="0" y="4800"/>
                      <a:pt x="0" y="10800"/>
                    </a:cubicBezTo>
                    <a:cubicBezTo>
                      <a:pt x="0" y="16833"/>
                      <a:pt x="5028" y="21600"/>
                      <a:pt x="10883" y="21600"/>
                    </a:cubicBezTo>
                    <a:cubicBezTo>
                      <a:pt x="16771" y="21600"/>
                      <a:pt x="21600" y="16833"/>
                      <a:pt x="21600" y="10800"/>
                    </a:cubicBezTo>
                    <a:cubicBezTo>
                      <a:pt x="21600" y="4800"/>
                      <a:pt x="16671" y="0"/>
                      <a:pt x="10883" y="0"/>
                    </a:cubicBezTo>
                    <a:close/>
                    <a:moveTo>
                      <a:pt x="8633" y="16200"/>
                    </a:moveTo>
                    <a:lnTo>
                      <a:pt x="3275" y="10800"/>
                    </a:lnTo>
                    <a:lnTo>
                      <a:pt x="4730" y="9367"/>
                    </a:lnTo>
                    <a:lnTo>
                      <a:pt x="8633" y="13300"/>
                    </a:lnTo>
                    <a:lnTo>
                      <a:pt x="16870" y="5000"/>
                    </a:lnTo>
                    <a:lnTo>
                      <a:pt x="18325" y="6433"/>
                    </a:lnTo>
                    <a:lnTo>
                      <a:pt x="8633" y="16200"/>
                    </a:lnTo>
                    <a:close/>
                  </a:path>
                </a:pathLst>
              </a:custGeom>
              <a:solidFill>
                <a:srgbClr val="8796AF"/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 defTabSz="914400">
                  <a:lnSpc>
                    <a:spcPct val="100000"/>
                  </a:lnSpc>
                  <a:defRPr sz="1800" baseline="0">
                    <a:solidFill>
                      <a:srgbClr val="000000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BA0E7B5C-0E3B-8B4D-80D7-97EC160B8772}"/>
                  </a:ext>
                </a:extLst>
              </p:cNvPr>
              <p:cNvSpPr txBox="1"/>
              <p:nvPr/>
            </p:nvSpPr>
            <p:spPr>
              <a:xfrm>
                <a:off x="4134601" y="2911198"/>
                <a:ext cx="1789132" cy="406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00"/>
                  </a:lnSpc>
                </a:pPr>
                <a:r>
                  <a:rPr lang="en-US" sz="800" dirty="0">
                    <a:latin typeface="Century Gothic" panose="020B0502020202020204" pitchFamily="34" charset="0"/>
                  </a:rPr>
                  <a:t>Develop one new customer in alignment with business goals</a:t>
                </a:r>
              </a:p>
            </p:txBody>
          </p:sp>
        </p:grp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18FE106-DD66-FA43-B97A-27883AB56CC9}"/>
              </a:ext>
            </a:extLst>
          </p:cNvPr>
          <p:cNvGrpSpPr/>
          <p:nvPr/>
        </p:nvGrpSpPr>
        <p:grpSpPr>
          <a:xfrm>
            <a:off x="4149229" y="3985250"/>
            <a:ext cx="6915302" cy="436751"/>
            <a:chOff x="3674663" y="3547109"/>
            <a:chExt cx="6915302" cy="436751"/>
          </a:xfrm>
        </p:grpSpPr>
        <p:sp>
          <p:nvSpPr>
            <p:cNvPr id="143" name="Rounded Rectangle">
              <a:extLst>
                <a:ext uri="{FF2B5EF4-FFF2-40B4-BE49-F238E27FC236}">
                  <a16:creationId xmlns:a16="http://schemas.microsoft.com/office/drawing/2014/main" id="{0E1F55A4-A009-4548-8F89-507263E1BF0C}"/>
                </a:ext>
              </a:extLst>
            </p:cNvPr>
            <p:cNvSpPr/>
            <p:nvPr/>
          </p:nvSpPr>
          <p:spPr>
            <a:xfrm rot="16200000">
              <a:off x="6913938" y="307834"/>
              <a:ext cx="436751" cy="6915302"/>
            </a:xfrm>
            <a:prstGeom prst="round2SameRect">
              <a:avLst>
                <a:gd name="adj1" fmla="val 50000"/>
                <a:gd name="adj2" fmla="val 50000"/>
              </a:avLst>
            </a:prstGeom>
            <a:gradFill>
              <a:gsLst>
                <a:gs pos="7000">
                  <a:srgbClr val="49D691"/>
                </a:gs>
                <a:gs pos="88000">
                  <a:srgbClr val="00D7C8"/>
                </a:gs>
              </a:gsLst>
              <a:lin ang="5400000" scaled="1"/>
            </a:gradFill>
            <a:ln w="12700"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algn="ctr"/>
              <a:endParaRPr sz="3200">
                <a:solidFill>
                  <a:srgbClr val="FFFFFF"/>
                </a:solidFill>
                <a:latin typeface="Helvetica Light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9DF1498-CE5E-BF44-8848-C363293B7E84}"/>
                </a:ext>
              </a:extLst>
            </p:cNvPr>
            <p:cNvSpPr txBox="1"/>
            <p:nvPr/>
          </p:nvSpPr>
          <p:spPr>
            <a:xfrm>
              <a:off x="6359507" y="3642374"/>
              <a:ext cx="154561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400" b="1">
                  <a:gradFill>
                    <a:gsLst>
                      <a:gs pos="0">
                        <a:srgbClr val="54B2DB"/>
                      </a:gs>
                      <a:gs pos="100000">
                        <a:srgbClr val="4983D0"/>
                      </a:gs>
                    </a:gsLst>
                    <a:lin ang="5400000" scaled="1"/>
                  </a:gradFill>
                  <a:latin typeface="Century Gothic" panose="020B0502020202020204" pitchFamily="34" charset="0"/>
                </a:defRPr>
              </a:lvl1pPr>
            </a:lstStyle>
            <a:p>
              <a:pPr algn="ctr"/>
              <a:r>
                <a:rPr lang="en-US" sz="1000" dirty="0">
                  <a:solidFill>
                    <a:schemeClr val="bg1"/>
                  </a:solidFill>
                </a:rPr>
                <a:t>KEY SUCCESS METRICS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B539196-91CE-6C4A-BBB1-1162564F3C3D}"/>
              </a:ext>
            </a:extLst>
          </p:cNvPr>
          <p:cNvGrpSpPr/>
          <p:nvPr/>
        </p:nvGrpSpPr>
        <p:grpSpPr>
          <a:xfrm>
            <a:off x="4108615" y="4589716"/>
            <a:ext cx="1564217" cy="1232852"/>
            <a:chOff x="3701761" y="4279833"/>
            <a:chExt cx="1564217" cy="1232852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9757F476-BCE7-0A40-B382-76ABD58DA16B}"/>
                </a:ext>
              </a:extLst>
            </p:cNvPr>
            <p:cNvSpPr txBox="1"/>
            <p:nvPr/>
          </p:nvSpPr>
          <p:spPr>
            <a:xfrm>
              <a:off x="4021244" y="4279833"/>
              <a:ext cx="925253" cy="5796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Learning Goals</a:t>
              </a:r>
            </a:p>
            <a:p>
              <a:pPr algn="ctr">
                <a:lnSpc>
                  <a:spcPts val="1900"/>
                </a:lnSpc>
              </a:pPr>
              <a:endParaRPr lang="en-US" sz="1600" b="1" dirty="0">
                <a:gradFill>
                  <a:gsLst>
                    <a:gs pos="0">
                      <a:srgbClr val="54B2DB"/>
                    </a:gs>
                    <a:gs pos="100000">
                      <a:srgbClr val="4983D0"/>
                    </a:gs>
                  </a:gsLst>
                  <a:lin ang="5400000" scaled="1"/>
                </a:gradFill>
                <a:latin typeface="Century Gothic" panose="020B0502020202020204" pitchFamily="34" charset="0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713D582E-2374-0E4D-8721-75F46CC26BB6}"/>
                </a:ext>
              </a:extLst>
            </p:cNvPr>
            <p:cNvSpPr txBox="1"/>
            <p:nvPr/>
          </p:nvSpPr>
          <p:spPr>
            <a:xfrm>
              <a:off x="3701761" y="4903929"/>
              <a:ext cx="1564217" cy="608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800" dirty="0">
                  <a:latin typeface="Century Gothic" panose="020B0502020202020204" pitchFamily="34" charset="0"/>
                </a:rPr>
                <a:t>Met all the key people in the organization and participated in key trainings</a:t>
              </a:r>
              <a:endParaRPr lang="en-US" sz="16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8845D168-DBF2-3142-9E33-47CA67E6A08A}"/>
                </a:ext>
              </a:extLst>
            </p:cNvPr>
            <p:cNvSpPr txBox="1"/>
            <p:nvPr/>
          </p:nvSpPr>
          <p:spPr>
            <a:xfrm>
              <a:off x="4247267" y="4581322"/>
              <a:ext cx="473206" cy="335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1600" b="1" dirty="0">
                  <a:solidFill>
                    <a:srgbClr val="00D7C8"/>
                  </a:solidFill>
                  <a:latin typeface="Century Gothic" panose="020B0502020202020204" pitchFamily="34" charset="0"/>
                </a:rPr>
                <a:t>3.5</a:t>
              </a: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E89EAFD-06A3-6040-AD96-AEA045AF58C9}"/>
              </a:ext>
            </a:extLst>
          </p:cNvPr>
          <p:cNvGrpSpPr/>
          <p:nvPr/>
        </p:nvGrpSpPr>
        <p:grpSpPr>
          <a:xfrm>
            <a:off x="9486317" y="4589716"/>
            <a:ext cx="1673421" cy="1232852"/>
            <a:chOff x="9079463" y="4279833"/>
            <a:chExt cx="1673421" cy="1232852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DE144270-A3C9-A745-8CDD-BA7F9C2FA6F3}"/>
                </a:ext>
              </a:extLst>
            </p:cNvPr>
            <p:cNvSpPr txBox="1"/>
            <p:nvPr/>
          </p:nvSpPr>
          <p:spPr>
            <a:xfrm>
              <a:off x="9453548" y="4279833"/>
              <a:ext cx="925253" cy="297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Learning Goals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F1D7520-EB41-774A-A051-6155442112FB}"/>
                </a:ext>
              </a:extLst>
            </p:cNvPr>
            <p:cNvSpPr txBox="1"/>
            <p:nvPr/>
          </p:nvSpPr>
          <p:spPr>
            <a:xfrm>
              <a:off x="9079463" y="4903929"/>
              <a:ext cx="1673421" cy="608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800" dirty="0">
                  <a:latin typeface="Century Gothic" panose="020B0502020202020204" pitchFamily="34" charset="0"/>
                </a:rPr>
                <a:t>Met and understood expectations from key members of the organization</a:t>
              </a:r>
              <a:endParaRPr lang="en-US" sz="16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3B7B495D-ED05-C84E-818D-95E3C0E63351}"/>
                </a:ext>
              </a:extLst>
            </p:cNvPr>
            <p:cNvSpPr txBox="1"/>
            <p:nvPr/>
          </p:nvSpPr>
          <p:spPr>
            <a:xfrm>
              <a:off x="9679571" y="4581322"/>
              <a:ext cx="473206" cy="335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1600" b="1" dirty="0">
                  <a:solidFill>
                    <a:srgbClr val="00D7C8"/>
                  </a:solidFill>
                  <a:latin typeface="Century Gothic" panose="020B0502020202020204" pitchFamily="34" charset="0"/>
                </a:rPr>
                <a:t>3.5</a:t>
              </a: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B38CE84-4D81-B64B-9EEB-F59255E243BC}"/>
              </a:ext>
            </a:extLst>
          </p:cNvPr>
          <p:cNvGrpSpPr/>
          <p:nvPr/>
        </p:nvGrpSpPr>
        <p:grpSpPr>
          <a:xfrm>
            <a:off x="7833003" y="4589716"/>
            <a:ext cx="1435040" cy="1232341"/>
            <a:chOff x="7387891" y="4279833"/>
            <a:chExt cx="1435040" cy="1232341"/>
          </a:xfrm>
        </p:grpSpPr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75B89B85-597A-1741-AFDD-0303BB9FA0F8}"/>
                </a:ext>
              </a:extLst>
            </p:cNvPr>
            <p:cNvSpPr txBox="1"/>
            <p:nvPr/>
          </p:nvSpPr>
          <p:spPr>
            <a:xfrm>
              <a:off x="7535381" y="4279833"/>
              <a:ext cx="1140056" cy="297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Performance Goals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54E2B2D1-9560-3547-843C-D4C4FD9DC8B6}"/>
                </a:ext>
              </a:extLst>
            </p:cNvPr>
            <p:cNvSpPr txBox="1"/>
            <p:nvPr/>
          </p:nvSpPr>
          <p:spPr>
            <a:xfrm>
              <a:off x="7387891" y="4903418"/>
              <a:ext cx="1435040" cy="608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800" dirty="0">
                  <a:latin typeface="Century Gothic" panose="020B0502020202020204" pitchFamily="34" charset="0"/>
                </a:rPr>
                <a:t>Reconfigured resourcing on a few projects to deliver on cost savings</a:t>
              </a:r>
              <a:endParaRPr lang="en-US" sz="16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1F3F829E-590E-9B45-ACFC-D31DC30B17BD}"/>
                </a:ext>
              </a:extLst>
            </p:cNvPr>
            <p:cNvSpPr txBox="1"/>
            <p:nvPr/>
          </p:nvSpPr>
          <p:spPr>
            <a:xfrm>
              <a:off x="7867202" y="4575820"/>
              <a:ext cx="476412" cy="335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lnSpc>
                  <a:spcPts val="1900"/>
                </a:lnSpc>
              </a:pPr>
              <a:r>
                <a:rPr lang="en-US" sz="1600" b="1" dirty="0">
                  <a:solidFill>
                    <a:srgbClr val="00D7C8"/>
                  </a:solidFill>
                  <a:latin typeface="Century Gothic" panose="020B0502020202020204" pitchFamily="34" charset="0"/>
                </a:rPr>
                <a:t>5%</a:t>
              </a: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2904909-AE16-B848-9815-F246D4941679}"/>
              </a:ext>
            </a:extLst>
          </p:cNvPr>
          <p:cNvGrpSpPr/>
          <p:nvPr/>
        </p:nvGrpSpPr>
        <p:grpSpPr>
          <a:xfrm>
            <a:off x="5970034" y="4589716"/>
            <a:ext cx="1435040" cy="1232341"/>
            <a:chOff x="5574917" y="4279833"/>
            <a:chExt cx="1435040" cy="1232341"/>
          </a:xfrm>
        </p:grpSpPr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1FDF5A92-5E42-3546-B49A-B2B88A19FD18}"/>
                </a:ext>
              </a:extLst>
            </p:cNvPr>
            <p:cNvSpPr txBox="1"/>
            <p:nvPr/>
          </p:nvSpPr>
          <p:spPr>
            <a:xfrm>
              <a:off x="5836825" y="4279833"/>
              <a:ext cx="915635" cy="297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Initiative Goals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A67AF54-82BB-9444-867B-003E58AB43F9}"/>
                </a:ext>
              </a:extLst>
            </p:cNvPr>
            <p:cNvSpPr txBox="1"/>
            <p:nvPr/>
          </p:nvSpPr>
          <p:spPr>
            <a:xfrm>
              <a:off x="5574917" y="4903418"/>
              <a:ext cx="1435040" cy="608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400"/>
                </a:lnSpc>
              </a:pPr>
              <a:r>
                <a:rPr lang="en-US" sz="800" dirty="0">
                  <a:latin typeface="Century Gothic" panose="020B0502020202020204" pitchFamily="34" charset="0"/>
                </a:rPr>
                <a:t>Worked on 5 key projects &amp; developed relationship with customers</a:t>
              </a:r>
              <a:endParaRPr lang="en-US" sz="16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DA9074C0-D770-8A46-8CF3-90EF3CC4A4D9}"/>
                </a:ext>
              </a:extLst>
            </p:cNvPr>
            <p:cNvSpPr txBox="1"/>
            <p:nvPr/>
          </p:nvSpPr>
          <p:spPr>
            <a:xfrm>
              <a:off x="6144601" y="4575820"/>
              <a:ext cx="300082" cy="335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sz="1600" b="1" dirty="0">
                  <a:solidFill>
                    <a:srgbClr val="00D7C8"/>
                  </a:solidFill>
                  <a:latin typeface="Century Gothic" panose="020B0502020202020204" pitchFamily="34" charset="0"/>
                </a:rPr>
                <a:t>5</a:t>
              </a:r>
            </a:p>
          </p:txBody>
        </p:sp>
      </p:grp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E51F523A-7C0C-CB4A-8CF3-61D81313033F}"/>
              </a:ext>
            </a:extLst>
          </p:cNvPr>
          <p:cNvCxnSpPr/>
          <p:nvPr/>
        </p:nvCxnSpPr>
        <p:spPr>
          <a:xfrm>
            <a:off x="5746117" y="4653367"/>
            <a:ext cx="1" cy="1188720"/>
          </a:xfrm>
          <a:prstGeom prst="line">
            <a:avLst/>
          </a:prstGeom>
          <a:ln w="12700">
            <a:solidFill>
              <a:srgbClr val="EDF0F3"/>
            </a:solidFill>
            <a:miter lim="400000"/>
          </a:ln>
        </p:spPr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9031DBC4-B7A8-3F43-827D-62D9C22926C5}"/>
              </a:ext>
            </a:extLst>
          </p:cNvPr>
          <p:cNvCxnSpPr/>
          <p:nvPr/>
        </p:nvCxnSpPr>
        <p:spPr>
          <a:xfrm>
            <a:off x="7633402" y="4653367"/>
            <a:ext cx="1" cy="1188720"/>
          </a:xfrm>
          <a:prstGeom prst="line">
            <a:avLst/>
          </a:prstGeom>
          <a:ln w="12700">
            <a:solidFill>
              <a:srgbClr val="EDF0F3"/>
            </a:solidFill>
            <a:miter lim="400000"/>
          </a:ln>
        </p:spPr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BE7640AC-0E7E-1748-A8D6-39EE120D7D1F}"/>
              </a:ext>
            </a:extLst>
          </p:cNvPr>
          <p:cNvCxnSpPr/>
          <p:nvPr/>
        </p:nvCxnSpPr>
        <p:spPr>
          <a:xfrm>
            <a:off x="9467643" y="4653367"/>
            <a:ext cx="1" cy="1188720"/>
          </a:xfrm>
          <a:prstGeom prst="line">
            <a:avLst/>
          </a:prstGeom>
          <a:ln w="12700">
            <a:solidFill>
              <a:srgbClr val="EDF0F3"/>
            </a:solidFill>
            <a:miter lim="400000"/>
          </a:ln>
        </p:spPr>
      </p:cxnSp>
    </p:spTree>
    <p:extLst>
      <p:ext uri="{BB962C8B-B14F-4D97-AF65-F5344CB8AC3E}">
        <p14:creationId xmlns:p14="http://schemas.microsoft.com/office/powerpoint/2010/main" val="2460096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77499528-B8AD-4E0B-BCB4-4CD42CBB09DB}"/>
              </a:ext>
            </a:extLst>
          </p:cNvPr>
          <p:cNvSpPr txBox="1"/>
          <p:nvPr/>
        </p:nvSpPr>
        <p:spPr>
          <a:xfrm>
            <a:off x="4512875" y="707411"/>
            <a:ext cx="3166251" cy="489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500" b="1" dirty="0">
                <a:latin typeface="Century Gothic" panose="020B0502020202020204" pitchFamily="34" charset="0"/>
              </a:rPr>
              <a:t>30-60-90 DAY PLAN</a:t>
            </a:r>
          </a:p>
        </p:txBody>
      </p:sp>
      <p:sp>
        <p:nvSpPr>
          <p:cNvPr id="13" name="New York Project">
            <a:extLst>
              <a:ext uri="{FF2B5EF4-FFF2-40B4-BE49-F238E27FC236}">
                <a16:creationId xmlns:a16="http://schemas.microsoft.com/office/drawing/2014/main" id="{33091CF2-C5A0-4A96-A37B-8FF266CB6FD9}"/>
              </a:ext>
            </a:extLst>
          </p:cNvPr>
          <p:cNvSpPr txBox="1"/>
          <p:nvPr/>
        </p:nvSpPr>
        <p:spPr>
          <a:xfrm>
            <a:off x="2105101" y="6079767"/>
            <a:ext cx="1784240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r>
              <a:rPr lang="en-US" sz="1000" b="1" dirty="0">
                <a:solidFill>
                  <a:srgbClr val="9EAABE"/>
                </a:solidFill>
                <a:latin typeface="Century Gothic" panose="020B0502020202020204" pitchFamily="34" charset="0"/>
              </a:rPr>
              <a:t>30 DAY PLAN</a:t>
            </a:r>
            <a:endParaRPr sz="1000" b="1" dirty="0">
              <a:solidFill>
                <a:srgbClr val="9EAABE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7006A30-FD73-457B-979E-BCCCE2585097}"/>
              </a:ext>
            </a:extLst>
          </p:cNvPr>
          <p:cNvGrpSpPr/>
          <p:nvPr/>
        </p:nvGrpSpPr>
        <p:grpSpPr>
          <a:xfrm>
            <a:off x="1259967" y="6173824"/>
            <a:ext cx="936940" cy="68368"/>
            <a:chOff x="1254319" y="5672230"/>
            <a:chExt cx="936940" cy="68368"/>
          </a:xfrm>
        </p:grpSpPr>
        <p:sp>
          <p:nvSpPr>
            <p:cNvPr id="5" name="Circle">
              <a:extLst>
                <a:ext uri="{FF2B5EF4-FFF2-40B4-BE49-F238E27FC236}">
                  <a16:creationId xmlns:a16="http://schemas.microsoft.com/office/drawing/2014/main" id="{070515D8-F785-47F2-A6A1-8486DAF5B520}"/>
                </a:ext>
              </a:extLst>
            </p:cNvPr>
            <p:cNvSpPr/>
            <p:nvPr/>
          </p:nvSpPr>
          <p:spPr>
            <a:xfrm>
              <a:off x="1254319" y="5672230"/>
              <a:ext cx="68367" cy="68368"/>
            </a:xfrm>
            <a:prstGeom prst="ellipse">
              <a:avLst/>
            </a:prstGeom>
            <a:solidFill>
              <a:srgbClr val="00D7A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6" name="Circle">
              <a:extLst>
                <a:ext uri="{FF2B5EF4-FFF2-40B4-BE49-F238E27FC236}">
                  <a16:creationId xmlns:a16="http://schemas.microsoft.com/office/drawing/2014/main" id="{4707E950-B679-4CF6-A7ED-F889906E94E6}"/>
                </a:ext>
              </a:extLst>
            </p:cNvPr>
            <p:cNvSpPr/>
            <p:nvPr/>
          </p:nvSpPr>
          <p:spPr>
            <a:xfrm>
              <a:off x="1362890" y="5672230"/>
              <a:ext cx="68368" cy="68368"/>
            </a:xfrm>
            <a:prstGeom prst="ellipse">
              <a:avLst/>
            </a:prstGeom>
            <a:solidFill>
              <a:srgbClr val="00D7A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7" name="Circle">
              <a:extLst>
                <a:ext uri="{FF2B5EF4-FFF2-40B4-BE49-F238E27FC236}">
                  <a16:creationId xmlns:a16="http://schemas.microsoft.com/office/drawing/2014/main" id="{15615A46-5759-4130-B076-B6879C5F8548}"/>
                </a:ext>
              </a:extLst>
            </p:cNvPr>
            <p:cNvSpPr/>
            <p:nvPr/>
          </p:nvSpPr>
          <p:spPr>
            <a:xfrm>
              <a:off x="1471462" y="5672230"/>
              <a:ext cx="68368" cy="68368"/>
            </a:xfrm>
            <a:prstGeom prst="ellipse">
              <a:avLst/>
            </a:prstGeom>
            <a:solidFill>
              <a:srgbClr val="00D7A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8" name="Circle">
              <a:extLst>
                <a:ext uri="{FF2B5EF4-FFF2-40B4-BE49-F238E27FC236}">
                  <a16:creationId xmlns:a16="http://schemas.microsoft.com/office/drawing/2014/main" id="{B6796D01-6C07-419F-84E3-1949B9AA8C20}"/>
                </a:ext>
              </a:extLst>
            </p:cNvPr>
            <p:cNvSpPr/>
            <p:nvPr/>
          </p:nvSpPr>
          <p:spPr>
            <a:xfrm>
              <a:off x="1580034" y="5672230"/>
              <a:ext cx="68367" cy="68368"/>
            </a:xfrm>
            <a:prstGeom prst="ellipse">
              <a:avLst/>
            </a:prstGeom>
            <a:solidFill>
              <a:srgbClr val="9EAABE">
                <a:alpha val="5019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9" name="Circle">
              <a:extLst>
                <a:ext uri="{FF2B5EF4-FFF2-40B4-BE49-F238E27FC236}">
                  <a16:creationId xmlns:a16="http://schemas.microsoft.com/office/drawing/2014/main" id="{41C2F06F-7BA7-48D8-A463-342FC1518880}"/>
                </a:ext>
              </a:extLst>
            </p:cNvPr>
            <p:cNvSpPr/>
            <p:nvPr/>
          </p:nvSpPr>
          <p:spPr>
            <a:xfrm>
              <a:off x="1688605" y="5672230"/>
              <a:ext cx="68368" cy="68368"/>
            </a:xfrm>
            <a:prstGeom prst="ellipse">
              <a:avLst/>
            </a:prstGeom>
            <a:solidFill>
              <a:srgbClr val="9EAABE">
                <a:alpha val="5019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10" name="Circle">
              <a:extLst>
                <a:ext uri="{FF2B5EF4-FFF2-40B4-BE49-F238E27FC236}">
                  <a16:creationId xmlns:a16="http://schemas.microsoft.com/office/drawing/2014/main" id="{5FD56AF9-DF5F-4F8D-A261-0B840895698B}"/>
                </a:ext>
              </a:extLst>
            </p:cNvPr>
            <p:cNvSpPr/>
            <p:nvPr/>
          </p:nvSpPr>
          <p:spPr>
            <a:xfrm>
              <a:off x="1797177" y="5672230"/>
              <a:ext cx="68368" cy="68368"/>
            </a:xfrm>
            <a:prstGeom prst="ellipse">
              <a:avLst/>
            </a:prstGeom>
            <a:solidFill>
              <a:srgbClr val="9EAABE">
                <a:alpha val="5019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F6464344-3C8E-42B9-85FE-E838D68E7B3C}"/>
                </a:ext>
              </a:extLst>
            </p:cNvPr>
            <p:cNvSpPr/>
            <p:nvPr/>
          </p:nvSpPr>
          <p:spPr>
            <a:xfrm>
              <a:off x="1905749" y="5672230"/>
              <a:ext cx="68367" cy="68368"/>
            </a:xfrm>
            <a:prstGeom prst="ellipse">
              <a:avLst/>
            </a:prstGeom>
            <a:solidFill>
              <a:srgbClr val="9EAABE">
                <a:alpha val="5019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12" name="Circle">
              <a:extLst>
                <a:ext uri="{FF2B5EF4-FFF2-40B4-BE49-F238E27FC236}">
                  <a16:creationId xmlns:a16="http://schemas.microsoft.com/office/drawing/2014/main" id="{AB998173-2683-42E9-A290-31C8DC9197CC}"/>
                </a:ext>
              </a:extLst>
            </p:cNvPr>
            <p:cNvSpPr/>
            <p:nvPr/>
          </p:nvSpPr>
          <p:spPr>
            <a:xfrm>
              <a:off x="2014320" y="5672230"/>
              <a:ext cx="68368" cy="68368"/>
            </a:xfrm>
            <a:prstGeom prst="ellipse">
              <a:avLst/>
            </a:prstGeom>
            <a:solidFill>
              <a:srgbClr val="9EAABE">
                <a:alpha val="5019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50" name="Circle">
              <a:extLst>
                <a:ext uri="{FF2B5EF4-FFF2-40B4-BE49-F238E27FC236}">
                  <a16:creationId xmlns:a16="http://schemas.microsoft.com/office/drawing/2014/main" id="{B07E9363-E8A5-4EF2-B251-20515F6B1A49}"/>
                </a:ext>
              </a:extLst>
            </p:cNvPr>
            <p:cNvSpPr/>
            <p:nvPr/>
          </p:nvSpPr>
          <p:spPr>
            <a:xfrm>
              <a:off x="2122891" y="5672230"/>
              <a:ext cx="68368" cy="68368"/>
            </a:xfrm>
            <a:prstGeom prst="ellipse">
              <a:avLst/>
            </a:prstGeom>
            <a:solidFill>
              <a:srgbClr val="9EAABE">
                <a:alpha val="5019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</p:grpSp>
      <p:sp>
        <p:nvSpPr>
          <p:cNvPr id="73" name="New York Project">
            <a:extLst>
              <a:ext uri="{FF2B5EF4-FFF2-40B4-BE49-F238E27FC236}">
                <a16:creationId xmlns:a16="http://schemas.microsoft.com/office/drawing/2014/main" id="{6B0F62FB-E160-4B8D-B5A9-E7DAC4A1EFE9}"/>
              </a:ext>
            </a:extLst>
          </p:cNvPr>
          <p:cNvSpPr txBox="1"/>
          <p:nvPr/>
        </p:nvSpPr>
        <p:spPr>
          <a:xfrm>
            <a:off x="5752785" y="6079767"/>
            <a:ext cx="1784240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r>
              <a:rPr lang="en-US" sz="1000" b="1" dirty="0">
                <a:solidFill>
                  <a:srgbClr val="9EAABE"/>
                </a:solidFill>
                <a:latin typeface="Century Gothic" panose="020B0502020202020204" pitchFamily="34" charset="0"/>
              </a:rPr>
              <a:t>60 DAY PLAN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E5FAB97-AC3E-4862-AA86-F7C4317D5D4D}"/>
              </a:ext>
            </a:extLst>
          </p:cNvPr>
          <p:cNvGrpSpPr/>
          <p:nvPr/>
        </p:nvGrpSpPr>
        <p:grpSpPr>
          <a:xfrm>
            <a:off x="4907651" y="6173824"/>
            <a:ext cx="936940" cy="68368"/>
            <a:chOff x="1254319" y="5672230"/>
            <a:chExt cx="936940" cy="68368"/>
          </a:xfrm>
        </p:grpSpPr>
        <p:sp>
          <p:nvSpPr>
            <p:cNvPr id="85" name="Circle">
              <a:extLst>
                <a:ext uri="{FF2B5EF4-FFF2-40B4-BE49-F238E27FC236}">
                  <a16:creationId xmlns:a16="http://schemas.microsoft.com/office/drawing/2014/main" id="{389AEEAC-AD50-4A2C-84A8-EA433A004D84}"/>
                </a:ext>
              </a:extLst>
            </p:cNvPr>
            <p:cNvSpPr/>
            <p:nvPr/>
          </p:nvSpPr>
          <p:spPr>
            <a:xfrm>
              <a:off x="1254319" y="5672230"/>
              <a:ext cx="68367" cy="68368"/>
            </a:xfrm>
            <a:prstGeom prst="ellipse">
              <a:avLst/>
            </a:prstGeom>
            <a:solidFill>
              <a:srgbClr val="00D7A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86" name="Circle">
              <a:extLst>
                <a:ext uri="{FF2B5EF4-FFF2-40B4-BE49-F238E27FC236}">
                  <a16:creationId xmlns:a16="http://schemas.microsoft.com/office/drawing/2014/main" id="{06D6BA4C-B2EC-4FBE-B0D3-C5DC14D23309}"/>
                </a:ext>
              </a:extLst>
            </p:cNvPr>
            <p:cNvSpPr/>
            <p:nvPr/>
          </p:nvSpPr>
          <p:spPr>
            <a:xfrm>
              <a:off x="1362890" y="5672230"/>
              <a:ext cx="68368" cy="68368"/>
            </a:xfrm>
            <a:prstGeom prst="ellipse">
              <a:avLst/>
            </a:prstGeom>
            <a:solidFill>
              <a:srgbClr val="00D7A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87" name="Circle">
              <a:extLst>
                <a:ext uri="{FF2B5EF4-FFF2-40B4-BE49-F238E27FC236}">
                  <a16:creationId xmlns:a16="http://schemas.microsoft.com/office/drawing/2014/main" id="{7419CB26-EEEA-4B8F-9D1C-971E52D956C3}"/>
                </a:ext>
              </a:extLst>
            </p:cNvPr>
            <p:cNvSpPr/>
            <p:nvPr/>
          </p:nvSpPr>
          <p:spPr>
            <a:xfrm>
              <a:off x="1471462" y="5672230"/>
              <a:ext cx="68368" cy="68368"/>
            </a:xfrm>
            <a:prstGeom prst="ellipse">
              <a:avLst/>
            </a:prstGeom>
            <a:solidFill>
              <a:srgbClr val="00D7A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88" name="Circle">
              <a:extLst>
                <a:ext uri="{FF2B5EF4-FFF2-40B4-BE49-F238E27FC236}">
                  <a16:creationId xmlns:a16="http://schemas.microsoft.com/office/drawing/2014/main" id="{DCAAA228-DD89-40CA-B78E-74ACE795BCE5}"/>
                </a:ext>
              </a:extLst>
            </p:cNvPr>
            <p:cNvSpPr/>
            <p:nvPr/>
          </p:nvSpPr>
          <p:spPr>
            <a:xfrm>
              <a:off x="1580034" y="5672230"/>
              <a:ext cx="68367" cy="68368"/>
            </a:xfrm>
            <a:prstGeom prst="ellipse">
              <a:avLst/>
            </a:prstGeom>
            <a:solidFill>
              <a:srgbClr val="00D7A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89" name="Circle">
              <a:extLst>
                <a:ext uri="{FF2B5EF4-FFF2-40B4-BE49-F238E27FC236}">
                  <a16:creationId xmlns:a16="http://schemas.microsoft.com/office/drawing/2014/main" id="{7369F773-3E56-46D9-8153-8BEF40B9122A}"/>
                </a:ext>
              </a:extLst>
            </p:cNvPr>
            <p:cNvSpPr/>
            <p:nvPr/>
          </p:nvSpPr>
          <p:spPr>
            <a:xfrm>
              <a:off x="1688605" y="5672230"/>
              <a:ext cx="68368" cy="68368"/>
            </a:xfrm>
            <a:prstGeom prst="ellipse">
              <a:avLst/>
            </a:prstGeom>
            <a:solidFill>
              <a:srgbClr val="00D7A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90" name="Circle">
              <a:extLst>
                <a:ext uri="{FF2B5EF4-FFF2-40B4-BE49-F238E27FC236}">
                  <a16:creationId xmlns:a16="http://schemas.microsoft.com/office/drawing/2014/main" id="{C4CA9735-6297-4AE1-BD24-CF98531C485D}"/>
                </a:ext>
              </a:extLst>
            </p:cNvPr>
            <p:cNvSpPr/>
            <p:nvPr/>
          </p:nvSpPr>
          <p:spPr>
            <a:xfrm>
              <a:off x="1797177" y="5672230"/>
              <a:ext cx="68368" cy="68368"/>
            </a:xfrm>
            <a:prstGeom prst="ellipse">
              <a:avLst/>
            </a:prstGeom>
            <a:solidFill>
              <a:srgbClr val="00D7A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91" name="Circle">
              <a:extLst>
                <a:ext uri="{FF2B5EF4-FFF2-40B4-BE49-F238E27FC236}">
                  <a16:creationId xmlns:a16="http://schemas.microsoft.com/office/drawing/2014/main" id="{AA43AEE7-EC79-48D5-94CD-5ACFD7446F9E}"/>
                </a:ext>
              </a:extLst>
            </p:cNvPr>
            <p:cNvSpPr/>
            <p:nvPr/>
          </p:nvSpPr>
          <p:spPr>
            <a:xfrm>
              <a:off x="1905749" y="5672230"/>
              <a:ext cx="68367" cy="68368"/>
            </a:xfrm>
            <a:prstGeom prst="ellipse">
              <a:avLst/>
            </a:prstGeom>
            <a:solidFill>
              <a:srgbClr val="9EAABE">
                <a:alpha val="5019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92" name="Circle">
              <a:extLst>
                <a:ext uri="{FF2B5EF4-FFF2-40B4-BE49-F238E27FC236}">
                  <a16:creationId xmlns:a16="http://schemas.microsoft.com/office/drawing/2014/main" id="{097D6B9D-7927-42AF-BA98-5CB7A9C4DC5E}"/>
                </a:ext>
              </a:extLst>
            </p:cNvPr>
            <p:cNvSpPr/>
            <p:nvPr/>
          </p:nvSpPr>
          <p:spPr>
            <a:xfrm>
              <a:off x="2014320" y="5672230"/>
              <a:ext cx="68368" cy="68368"/>
            </a:xfrm>
            <a:prstGeom prst="ellipse">
              <a:avLst/>
            </a:prstGeom>
            <a:solidFill>
              <a:srgbClr val="9EAABE">
                <a:alpha val="5019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93" name="Circle">
              <a:extLst>
                <a:ext uri="{FF2B5EF4-FFF2-40B4-BE49-F238E27FC236}">
                  <a16:creationId xmlns:a16="http://schemas.microsoft.com/office/drawing/2014/main" id="{C7C126B9-6A7E-4D6F-9079-C82A5385BA71}"/>
                </a:ext>
              </a:extLst>
            </p:cNvPr>
            <p:cNvSpPr/>
            <p:nvPr/>
          </p:nvSpPr>
          <p:spPr>
            <a:xfrm>
              <a:off x="2122891" y="5672230"/>
              <a:ext cx="68368" cy="68368"/>
            </a:xfrm>
            <a:prstGeom prst="ellipse">
              <a:avLst/>
            </a:prstGeom>
            <a:solidFill>
              <a:srgbClr val="9EAABE">
                <a:alpha val="5019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</p:grpSp>
      <p:sp>
        <p:nvSpPr>
          <p:cNvPr id="97" name="New York Project">
            <a:extLst>
              <a:ext uri="{FF2B5EF4-FFF2-40B4-BE49-F238E27FC236}">
                <a16:creationId xmlns:a16="http://schemas.microsoft.com/office/drawing/2014/main" id="{359BBAE0-20E1-43C3-A985-E42E5E4950D6}"/>
              </a:ext>
            </a:extLst>
          </p:cNvPr>
          <p:cNvSpPr txBox="1"/>
          <p:nvPr/>
        </p:nvSpPr>
        <p:spPr>
          <a:xfrm>
            <a:off x="9400469" y="6079767"/>
            <a:ext cx="1784240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ctr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r>
              <a:rPr lang="en-US" sz="1000" b="1" dirty="0">
                <a:solidFill>
                  <a:srgbClr val="9EAABE"/>
                </a:solidFill>
                <a:latin typeface="Century Gothic" panose="020B0502020202020204" pitchFamily="34" charset="0"/>
              </a:rPr>
              <a:t>90 DAY PLAN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690FCF1-EE6B-4539-A9BA-193D1A641740}"/>
              </a:ext>
            </a:extLst>
          </p:cNvPr>
          <p:cNvGrpSpPr/>
          <p:nvPr/>
        </p:nvGrpSpPr>
        <p:grpSpPr>
          <a:xfrm>
            <a:off x="8555335" y="6173824"/>
            <a:ext cx="936940" cy="68368"/>
            <a:chOff x="1254319" y="5672230"/>
            <a:chExt cx="936940" cy="68368"/>
          </a:xfrm>
          <a:solidFill>
            <a:srgbClr val="00D7A0"/>
          </a:solidFill>
        </p:grpSpPr>
        <p:sp>
          <p:nvSpPr>
            <p:cNvPr id="109" name="Circle">
              <a:extLst>
                <a:ext uri="{FF2B5EF4-FFF2-40B4-BE49-F238E27FC236}">
                  <a16:creationId xmlns:a16="http://schemas.microsoft.com/office/drawing/2014/main" id="{6356AD52-A3D4-4EE1-92DC-202524DE3863}"/>
                </a:ext>
              </a:extLst>
            </p:cNvPr>
            <p:cNvSpPr/>
            <p:nvPr/>
          </p:nvSpPr>
          <p:spPr>
            <a:xfrm>
              <a:off x="1254319" y="5672230"/>
              <a:ext cx="68367" cy="68368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110" name="Circle">
              <a:extLst>
                <a:ext uri="{FF2B5EF4-FFF2-40B4-BE49-F238E27FC236}">
                  <a16:creationId xmlns:a16="http://schemas.microsoft.com/office/drawing/2014/main" id="{09214F57-0799-45C4-A352-8D049561DC1C}"/>
                </a:ext>
              </a:extLst>
            </p:cNvPr>
            <p:cNvSpPr/>
            <p:nvPr/>
          </p:nvSpPr>
          <p:spPr>
            <a:xfrm>
              <a:off x="1362890" y="5672230"/>
              <a:ext cx="68368" cy="68368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111" name="Circle">
              <a:extLst>
                <a:ext uri="{FF2B5EF4-FFF2-40B4-BE49-F238E27FC236}">
                  <a16:creationId xmlns:a16="http://schemas.microsoft.com/office/drawing/2014/main" id="{F1A13D3A-AB00-499F-833D-9FCB1C1E75B7}"/>
                </a:ext>
              </a:extLst>
            </p:cNvPr>
            <p:cNvSpPr/>
            <p:nvPr/>
          </p:nvSpPr>
          <p:spPr>
            <a:xfrm>
              <a:off x="1471462" y="5672230"/>
              <a:ext cx="68368" cy="68368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112" name="Circle">
              <a:extLst>
                <a:ext uri="{FF2B5EF4-FFF2-40B4-BE49-F238E27FC236}">
                  <a16:creationId xmlns:a16="http://schemas.microsoft.com/office/drawing/2014/main" id="{6800A770-37B1-4721-8B39-7F4400CC7196}"/>
                </a:ext>
              </a:extLst>
            </p:cNvPr>
            <p:cNvSpPr/>
            <p:nvPr/>
          </p:nvSpPr>
          <p:spPr>
            <a:xfrm>
              <a:off x="1580034" y="5672230"/>
              <a:ext cx="68367" cy="68368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113" name="Circle">
              <a:extLst>
                <a:ext uri="{FF2B5EF4-FFF2-40B4-BE49-F238E27FC236}">
                  <a16:creationId xmlns:a16="http://schemas.microsoft.com/office/drawing/2014/main" id="{7425026A-2750-4953-90F2-8C109F0A5F3E}"/>
                </a:ext>
              </a:extLst>
            </p:cNvPr>
            <p:cNvSpPr/>
            <p:nvPr/>
          </p:nvSpPr>
          <p:spPr>
            <a:xfrm>
              <a:off x="1688605" y="5672230"/>
              <a:ext cx="68368" cy="68368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114" name="Circle">
              <a:extLst>
                <a:ext uri="{FF2B5EF4-FFF2-40B4-BE49-F238E27FC236}">
                  <a16:creationId xmlns:a16="http://schemas.microsoft.com/office/drawing/2014/main" id="{CE2FFA1B-3565-4311-9AFD-AB71BB97183D}"/>
                </a:ext>
              </a:extLst>
            </p:cNvPr>
            <p:cNvSpPr/>
            <p:nvPr/>
          </p:nvSpPr>
          <p:spPr>
            <a:xfrm>
              <a:off x="1797177" y="5672230"/>
              <a:ext cx="68368" cy="68368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115" name="Circle">
              <a:extLst>
                <a:ext uri="{FF2B5EF4-FFF2-40B4-BE49-F238E27FC236}">
                  <a16:creationId xmlns:a16="http://schemas.microsoft.com/office/drawing/2014/main" id="{409A0D63-7B40-453F-8109-7E17C53F501F}"/>
                </a:ext>
              </a:extLst>
            </p:cNvPr>
            <p:cNvSpPr/>
            <p:nvPr/>
          </p:nvSpPr>
          <p:spPr>
            <a:xfrm>
              <a:off x="1905749" y="5672230"/>
              <a:ext cx="68367" cy="68368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116" name="Circle">
              <a:extLst>
                <a:ext uri="{FF2B5EF4-FFF2-40B4-BE49-F238E27FC236}">
                  <a16:creationId xmlns:a16="http://schemas.microsoft.com/office/drawing/2014/main" id="{A18D582C-1F6B-4B95-8EF3-98CD2E64F32C}"/>
                </a:ext>
              </a:extLst>
            </p:cNvPr>
            <p:cNvSpPr/>
            <p:nvPr/>
          </p:nvSpPr>
          <p:spPr>
            <a:xfrm>
              <a:off x="2014320" y="5672230"/>
              <a:ext cx="68368" cy="68368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sp>
          <p:nvSpPr>
            <p:cNvPr id="117" name="Circle">
              <a:extLst>
                <a:ext uri="{FF2B5EF4-FFF2-40B4-BE49-F238E27FC236}">
                  <a16:creationId xmlns:a16="http://schemas.microsoft.com/office/drawing/2014/main" id="{FE72358C-9D00-4E1E-BCDE-E15D5173DD73}"/>
                </a:ext>
              </a:extLst>
            </p:cNvPr>
            <p:cNvSpPr/>
            <p:nvPr/>
          </p:nvSpPr>
          <p:spPr>
            <a:xfrm>
              <a:off x="2122891" y="5672230"/>
              <a:ext cx="68368" cy="68368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</p:grp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7627B19C-0B6A-4351-8D41-86AEF7884B2B}"/>
              </a:ext>
            </a:extLst>
          </p:cNvPr>
          <p:cNvSpPr/>
          <p:nvPr/>
        </p:nvSpPr>
        <p:spPr>
          <a:xfrm>
            <a:off x="1174352" y="2253207"/>
            <a:ext cx="2800604" cy="3709091"/>
          </a:xfrm>
          <a:prstGeom prst="roundRect">
            <a:avLst>
              <a:gd name="adj" fmla="val 8881"/>
            </a:avLst>
          </a:prstGeom>
          <a:solidFill>
            <a:srgbClr val="FFFFFF"/>
          </a:solidFill>
          <a:ln w="12700" cap="flat">
            <a:noFill/>
            <a:miter lim="400000"/>
          </a:ln>
          <a:effectLst>
            <a:outerShdw blurRad="292100" dist="110334" dir="5400000" rotWithShape="0">
              <a:srgbClr val="475D84">
                <a:alpha val="21640"/>
              </a:srgbClr>
            </a:outerShdw>
          </a:effectLst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  <a:defRPr sz="3200" baseline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200"/>
          </a:p>
        </p:txBody>
      </p:sp>
      <p:sp>
        <p:nvSpPr>
          <p:cNvPr id="36" name="Circle">
            <a:extLst>
              <a:ext uri="{FF2B5EF4-FFF2-40B4-BE49-F238E27FC236}">
                <a16:creationId xmlns:a16="http://schemas.microsoft.com/office/drawing/2014/main" id="{B7343C91-20FD-4779-A26D-48BF3E7DD7C9}"/>
              </a:ext>
            </a:extLst>
          </p:cNvPr>
          <p:cNvSpPr/>
          <p:nvPr/>
        </p:nvSpPr>
        <p:spPr>
          <a:xfrm>
            <a:off x="921676" y="2534431"/>
            <a:ext cx="507053" cy="507053"/>
          </a:xfrm>
          <a:prstGeom prst="ellipse">
            <a:avLst/>
          </a:pr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12700" cap="flat">
            <a:noFill/>
            <a:miter lim="400000"/>
          </a:ln>
          <a:effectLst/>
        </p:spPr>
        <p:txBody>
          <a:bodyPr wrap="square" lIns="50800" tIns="0" rIns="50800" bIns="9144" numCol="1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30</a:t>
            </a:r>
            <a:endParaRPr sz="1400" b="1" dirty="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53" name="New York Project">
            <a:extLst>
              <a:ext uri="{FF2B5EF4-FFF2-40B4-BE49-F238E27FC236}">
                <a16:creationId xmlns:a16="http://schemas.microsoft.com/office/drawing/2014/main" id="{FB28BDCF-2148-4A90-8DD4-365E8BD92CCA}"/>
              </a:ext>
            </a:extLst>
          </p:cNvPr>
          <p:cNvSpPr txBox="1"/>
          <p:nvPr/>
        </p:nvSpPr>
        <p:spPr>
          <a:xfrm>
            <a:off x="1575600" y="2634069"/>
            <a:ext cx="1093569" cy="307777"/>
          </a:xfrm>
          <a:prstGeom prst="rect">
            <a:avLst/>
          </a:prstGeom>
          <a:noFill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>
                <a:gradFill>
                  <a:gsLst>
                    <a:gs pos="0">
                      <a:srgbClr val="54B2DB"/>
                    </a:gs>
                    <a:gs pos="100000">
                      <a:srgbClr val="4983D0"/>
                    </a:gs>
                  </a:gsLst>
                  <a:lin ang="5400000" scaled="1"/>
                </a:gra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JUNE 23RD</a:t>
            </a:r>
            <a:endParaRPr dirty="0"/>
          </a:p>
        </p:txBody>
      </p:sp>
      <p:sp>
        <p:nvSpPr>
          <p:cNvPr id="54" name="New York Project">
            <a:extLst>
              <a:ext uri="{FF2B5EF4-FFF2-40B4-BE49-F238E27FC236}">
                <a16:creationId xmlns:a16="http://schemas.microsoft.com/office/drawing/2014/main" id="{E85E76EF-F04E-4722-941C-AFFEA3F6B0B7}"/>
              </a:ext>
            </a:extLst>
          </p:cNvPr>
          <p:cNvSpPr txBox="1"/>
          <p:nvPr/>
        </p:nvSpPr>
        <p:spPr>
          <a:xfrm>
            <a:off x="1402722" y="3109301"/>
            <a:ext cx="2400719" cy="7312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  <a:spcAft>
                <a:spcPts val="600"/>
              </a:spcAft>
            </a:pPr>
            <a:r>
              <a:rPr lang="en-US" sz="9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PRIMER:</a:t>
            </a:r>
          </a:p>
          <a:p>
            <a:pPr algn="l">
              <a:lnSpc>
                <a:spcPts val="1500"/>
              </a:lnSpc>
              <a:spcAft>
                <a:spcPts val="600"/>
              </a:spcAft>
            </a:pPr>
            <a:r>
              <a:rPr lang="en-US" sz="800" dirty="0">
                <a:solidFill>
                  <a:srgbClr val="000000"/>
                </a:solidFill>
                <a:latin typeface="Century Gothic" panose="020B0502020202020204" pitchFamily="34" charset="0"/>
              </a:rPr>
              <a:t>This is the summary of the first month of work. What will you learn during this period?</a:t>
            </a:r>
            <a:endParaRPr sz="8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56" name="New York Project">
            <a:extLst>
              <a:ext uri="{FF2B5EF4-FFF2-40B4-BE49-F238E27FC236}">
                <a16:creationId xmlns:a16="http://schemas.microsoft.com/office/drawing/2014/main" id="{5470E750-9BEB-492B-9DD3-85FA3F3BB72F}"/>
              </a:ext>
            </a:extLst>
          </p:cNvPr>
          <p:cNvSpPr txBox="1"/>
          <p:nvPr/>
        </p:nvSpPr>
        <p:spPr>
          <a:xfrm>
            <a:off x="1402722" y="3967558"/>
            <a:ext cx="2400719" cy="271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</a:pPr>
            <a:r>
              <a:rPr lang="en-US" sz="9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THEME:</a:t>
            </a:r>
          </a:p>
        </p:txBody>
      </p:sp>
      <p:sp>
        <p:nvSpPr>
          <p:cNvPr id="57" name="New York Project">
            <a:extLst>
              <a:ext uri="{FF2B5EF4-FFF2-40B4-BE49-F238E27FC236}">
                <a16:creationId xmlns:a16="http://schemas.microsoft.com/office/drawing/2014/main" id="{2A852F88-A3CF-459D-B0B9-EC859AB01D4F}"/>
              </a:ext>
            </a:extLst>
          </p:cNvPr>
          <p:cNvSpPr txBox="1"/>
          <p:nvPr/>
        </p:nvSpPr>
        <p:spPr>
          <a:xfrm>
            <a:off x="1402722" y="4292568"/>
            <a:ext cx="2400719" cy="2696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</a:pPr>
            <a:r>
              <a:rPr lang="en-US" sz="800" dirty="0">
                <a:solidFill>
                  <a:srgbClr val="000000"/>
                </a:solidFill>
                <a:latin typeface="Century Gothic" panose="020B0502020202020204" pitchFamily="34" charset="0"/>
              </a:rPr>
              <a:t>Learning Goals:</a:t>
            </a:r>
          </a:p>
        </p:txBody>
      </p:sp>
      <p:sp>
        <p:nvSpPr>
          <p:cNvPr id="58" name="New York Project">
            <a:extLst>
              <a:ext uri="{FF2B5EF4-FFF2-40B4-BE49-F238E27FC236}">
                <a16:creationId xmlns:a16="http://schemas.microsoft.com/office/drawing/2014/main" id="{A71F8093-C3CD-4CB1-B0E9-EA0DAAD4A55B}"/>
              </a:ext>
            </a:extLst>
          </p:cNvPr>
          <p:cNvSpPr txBox="1"/>
          <p:nvPr/>
        </p:nvSpPr>
        <p:spPr>
          <a:xfrm>
            <a:off x="1402722" y="4653602"/>
            <a:ext cx="2400719" cy="2696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</a:pPr>
            <a:r>
              <a:rPr lang="en-US" sz="800" dirty="0">
                <a:solidFill>
                  <a:srgbClr val="000000"/>
                </a:solidFill>
                <a:latin typeface="Century Gothic" panose="020B0502020202020204" pitchFamily="34" charset="0"/>
              </a:rPr>
              <a:t>Performance Goals:</a:t>
            </a:r>
          </a:p>
        </p:txBody>
      </p:sp>
      <p:sp>
        <p:nvSpPr>
          <p:cNvPr id="59" name="New York Project">
            <a:extLst>
              <a:ext uri="{FF2B5EF4-FFF2-40B4-BE49-F238E27FC236}">
                <a16:creationId xmlns:a16="http://schemas.microsoft.com/office/drawing/2014/main" id="{6928405E-4DC5-42FA-B297-F1256402AD1F}"/>
              </a:ext>
            </a:extLst>
          </p:cNvPr>
          <p:cNvSpPr txBox="1"/>
          <p:nvPr/>
        </p:nvSpPr>
        <p:spPr>
          <a:xfrm>
            <a:off x="1402722" y="5014636"/>
            <a:ext cx="2400719" cy="2696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</a:pPr>
            <a:r>
              <a:rPr lang="en-US" sz="800" dirty="0">
                <a:solidFill>
                  <a:srgbClr val="000000"/>
                </a:solidFill>
                <a:latin typeface="Century Gothic" panose="020B0502020202020204" pitchFamily="34" charset="0"/>
              </a:rPr>
              <a:t>Initiative Goals:</a:t>
            </a:r>
          </a:p>
        </p:txBody>
      </p:sp>
      <p:sp>
        <p:nvSpPr>
          <p:cNvPr id="60" name="New York Project">
            <a:extLst>
              <a:ext uri="{FF2B5EF4-FFF2-40B4-BE49-F238E27FC236}">
                <a16:creationId xmlns:a16="http://schemas.microsoft.com/office/drawing/2014/main" id="{A05C74C1-8C4C-41FB-A07A-883FAEAFDEF4}"/>
              </a:ext>
            </a:extLst>
          </p:cNvPr>
          <p:cNvSpPr txBox="1"/>
          <p:nvPr/>
        </p:nvSpPr>
        <p:spPr>
          <a:xfrm>
            <a:off x="1402722" y="5375671"/>
            <a:ext cx="2400719" cy="2696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</a:pPr>
            <a:r>
              <a:rPr lang="en-US" sz="800" dirty="0">
                <a:solidFill>
                  <a:srgbClr val="000000"/>
                </a:solidFill>
                <a:latin typeface="Century Gothic" panose="020B0502020202020204" pitchFamily="34" charset="0"/>
              </a:rPr>
              <a:t>Personal Goals: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86F8183-56DC-42C0-8069-2D940BF44D12}"/>
              </a:ext>
            </a:extLst>
          </p:cNvPr>
          <p:cNvCxnSpPr>
            <a:cxnSpLocks/>
          </p:cNvCxnSpPr>
          <p:nvPr/>
        </p:nvCxnSpPr>
        <p:spPr>
          <a:xfrm>
            <a:off x="1357203" y="5329966"/>
            <a:ext cx="2434903" cy="0"/>
          </a:xfrm>
          <a:prstGeom prst="line">
            <a:avLst/>
          </a:prstGeom>
          <a:ln w="6350" cap="rnd">
            <a:solidFill>
              <a:srgbClr val="C4CCD7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D8B8B2F-7894-4E06-98B5-105F11A898D3}"/>
              </a:ext>
            </a:extLst>
          </p:cNvPr>
          <p:cNvCxnSpPr>
            <a:cxnSpLocks/>
          </p:cNvCxnSpPr>
          <p:nvPr/>
        </p:nvCxnSpPr>
        <p:spPr>
          <a:xfrm>
            <a:off x="1357203" y="4968932"/>
            <a:ext cx="2434903" cy="0"/>
          </a:xfrm>
          <a:prstGeom prst="line">
            <a:avLst/>
          </a:prstGeom>
          <a:ln w="6350" cap="rnd">
            <a:solidFill>
              <a:srgbClr val="C4CCD7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A6FDE62-220A-4C89-A909-48FD8B25C363}"/>
              </a:ext>
            </a:extLst>
          </p:cNvPr>
          <p:cNvCxnSpPr>
            <a:cxnSpLocks/>
          </p:cNvCxnSpPr>
          <p:nvPr/>
        </p:nvCxnSpPr>
        <p:spPr>
          <a:xfrm>
            <a:off x="1357203" y="4607898"/>
            <a:ext cx="2434903" cy="0"/>
          </a:xfrm>
          <a:prstGeom prst="line">
            <a:avLst/>
          </a:prstGeom>
          <a:ln w="6350" cap="rnd">
            <a:solidFill>
              <a:srgbClr val="C4CCD7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">
            <a:extLst>
              <a:ext uri="{FF2B5EF4-FFF2-40B4-BE49-F238E27FC236}">
                <a16:creationId xmlns:a16="http://schemas.microsoft.com/office/drawing/2014/main" id="{1D1351F0-5F2D-4BDC-97B1-754147A5755E}"/>
              </a:ext>
            </a:extLst>
          </p:cNvPr>
          <p:cNvSpPr/>
          <p:nvPr/>
        </p:nvSpPr>
        <p:spPr>
          <a:xfrm>
            <a:off x="4822036" y="2253207"/>
            <a:ext cx="2800604" cy="3709091"/>
          </a:xfrm>
          <a:prstGeom prst="roundRect">
            <a:avLst>
              <a:gd name="adj" fmla="val 8881"/>
            </a:avLst>
          </a:prstGeom>
          <a:solidFill>
            <a:srgbClr val="FFFFFF"/>
          </a:solidFill>
          <a:ln w="12700" cap="flat">
            <a:noFill/>
            <a:miter lim="400000"/>
          </a:ln>
          <a:effectLst>
            <a:outerShdw blurRad="292100" dist="110334" dir="5400000" rotWithShape="0">
              <a:srgbClr val="475D84">
                <a:alpha val="21640"/>
              </a:srgbClr>
            </a:outerShdw>
          </a:effectLst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  <a:defRPr sz="3200" baseline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200"/>
          </a:p>
        </p:txBody>
      </p:sp>
      <p:sp>
        <p:nvSpPr>
          <p:cNvPr id="72" name="Circle">
            <a:extLst>
              <a:ext uri="{FF2B5EF4-FFF2-40B4-BE49-F238E27FC236}">
                <a16:creationId xmlns:a16="http://schemas.microsoft.com/office/drawing/2014/main" id="{0875D8DB-2BF9-4E90-B451-A28AA3A1E2C2}"/>
              </a:ext>
            </a:extLst>
          </p:cNvPr>
          <p:cNvSpPr/>
          <p:nvPr/>
        </p:nvSpPr>
        <p:spPr>
          <a:xfrm>
            <a:off x="4569360" y="2534431"/>
            <a:ext cx="507053" cy="507053"/>
          </a:xfrm>
          <a:prstGeom prst="ellipse">
            <a:avLst/>
          </a:pr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12700" cap="flat">
            <a:noFill/>
            <a:miter lim="400000"/>
          </a:ln>
          <a:effectLst/>
        </p:spPr>
        <p:txBody>
          <a:bodyPr wrap="square" lIns="50800" tIns="0" rIns="50800" bIns="9144" numCol="1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60</a:t>
            </a:r>
            <a:endParaRPr sz="1400" b="1" dirty="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75" name="New York Project">
            <a:extLst>
              <a:ext uri="{FF2B5EF4-FFF2-40B4-BE49-F238E27FC236}">
                <a16:creationId xmlns:a16="http://schemas.microsoft.com/office/drawing/2014/main" id="{1FE25CB8-F58E-40D1-9D9D-F91BD5E12F3F}"/>
              </a:ext>
            </a:extLst>
          </p:cNvPr>
          <p:cNvSpPr txBox="1"/>
          <p:nvPr/>
        </p:nvSpPr>
        <p:spPr>
          <a:xfrm>
            <a:off x="5223284" y="2634069"/>
            <a:ext cx="1056700" cy="307777"/>
          </a:xfrm>
          <a:prstGeom prst="rect">
            <a:avLst/>
          </a:prstGeom>
          <a:noFill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>
                <a:gradFill>
                  <a:gsLst>
                    <a:gs pos="0">
                      <a:srgbClr val="54B2DB"/>
                    </a:gs>
                    <a:gs pos="100000">
                      <a:srgbClr val="4983D0"/>
                    </a:gs>
                  </a:gsLst>
                  <a:lin ang="5400000" scaled="1"/>
                </a:gra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JULY 23RD</a:t>
            </a:r>
            <a:endParaRPr dirty="0"/>
          </a:p>
        </p:txBody>
      </p:sp>
      <p:sp>
        <p:nvSpPr>
          <p:cNvPr id="76" name="New York Project">
            <a:extLst>
              <a:ext uri="{FF2B5EF4-FFF2-40B4-BE49-F238E27FC236}">
                <a16:creationId xmlns:a16="http://schemas.microsoft.com/office/drawing/2014/main" id="{564BA378-FC0D-4B86-9697-6E418141F3F9}"/>
              </a:ext>
            </a:extLst>
          </p:cNvPr>
          <p:cNvSpPr txBox="1"/>
          <p:nvPr/>
        </p:nvSpPr>
        <p:spPr>
          <a:xfrm>
            <a:off x="5050406" y="3109301"/>
            <a:ext cx="2400719" cy="7312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  <a:spcAft>
                <a:spcPts val="600"/>
              </a:spcAft>
            </a:pPr>
            <a:r>
              <a:rPr lang="en-US" sz="9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PRIMER:</a:t>
            </a:r>
          </a:p>
          <a:p>
            <a:pPr algn="l">
              <a:lnSpc>
                <a:spcPts val="1500"/>
              </a:lnSpc>
              <a:spcAft>
                <a:spcPts val="600"/>
              </a:spcAft>
            </a:pPr>
            <a:r>
              <a:rPr lang="en-US" sz="800" dirty="0">
                <a:solidFill>
                  <a:srgbClr val="000000"/>
                </a:solidFill>
                <a:latin typeface="Century Gothic" panose="020B0502020202020204" pitchFamily="34" charset="0"/>
              </a:rPr>
              <a:t>This is the summary of the second month of work. What will you contribute in this period?</a:t>
            </a:r>
            <a:endParaRPr sz="8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77" name="New York Project">
            <a:extLst>
              <a:ext uri="{FF2B5EF4-FFF2-40B4-BE49-F238E27FC236}">
                <a16:creationId xmlns:a16="http://schemas.microsoft.com/office/drawing/2014/main" id="{A328A717-2CA1-4F59-A210-3EAA971F758B}"/>
              </a:ext>
            </a:extLst>
          </p:cNvPr>
          <p:cNvSpPr txBox="1"/>
          <p:nvPr/>
        </p:nvSpPr>
        <p:spPr>
          <a:xfrm>
            <a:off x="5050406" y="3967558"/>
            <a:ext cx="2400719" cy="271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</a:pPr>
            <a:r>
              <a:rPr lang="en-US" sz="9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THEME:</a:t>
            </a:r>
          </a:p>
        </p:txBody>
      </p:sp>
      <p:sp>
        <p:nvSpPr>
          <p:cNvPr id="78" name="New York Project">
            <a:extLst>
              <a:ext uri="{FF2B5EF4-FFF2-40B4-BE49-F238E27FC236}">
                <a16:creationId xmlns:a16="http://schemas.microsoft.com/office/drawing/2014/main" id="{FB09BBF8-4B9A-4C40-8542-877BF21EFA8A}"/>
              </a:ext>
            </a:extLst>
          </p:cNvPr>
          <p:cNvSpPr txBox="1"/>
          <p:nvPr/>
        </p:nvSpPr>
        <p:spPr>
          <a:xfrm>
            <a:off x="5050406" y="4292568"/>
            <a:ext cx="2400719" cy="2696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</a:pPr>
            <a:r>
              <a:rPr lang="en-US" sz="800" dirty="0">
                <a:solidFill>
                  <a:srgbClr val="000000"/>
                </a:solidFill>
                <a:latin typeface="Century Gothic" panose="020B0502020202020204" pitchFamily="34" charset="0"/>
              </a:rPr>
              <a:t>Learning Goals:</a:t>
            </a:r>
          </a:p>
        </p:txBody>
      </p:sp>
      <p:sp>
        <p:nvSpPr>
          <p:cNvPr id="79" name="New York Project">
            <a:extLst>
              <a:ext uri="{FF2B5EF4-FFF2-40B4-BE49-F238E27FC236}">
                <a16:creationId xmlns:a16="http://schemas.microsoft.com/office/drawing/2014/main" id="{1D510F58-205B-4C60-B993-BFA5BB610DEB}"/>
              </a:ext>
            </a:extLst>
          </p:cNvPr>
          <p:cNvSpPr txBox="1"/>
          <p:nvPr/>
        </p:nvSpPr>
        <p:spPr>
          <a:xfrm>
            <a:off x="5050406" y="4653602"/>
            <a:ext cx="2400719" cy="2696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</a:pPr>
            <a:r>
              <a:rPr lang="en-US" sz="800" dirty="0">
                <a:solidFill>
                  <a:srgbClr val="000000"/>
                </a:solidFill>
                <a:latin typeface="Century Gothic" panose="020B0502020202020204" pitchFamily="34" charset="0"/>
              </a:rPr>
              <a:t>Performance Goals:</a:t>
            </a:r>
          </a:p>
        </p:txBody>
      </p:sp>
      <p:sp>
        <p:nvSpPr>
          <p:cNvPr id="80" name="New York Project">
            <a:extLst>
              <a:ext uri="{FF2B5EF4-FFF2-40B4-BE49-F238E27FC236}">
                <a16:creationId xmlns:a16="http://schemas.microsoft.com/office/drawing/2014/main" id="{AC9E7A5D-DA11-4F56-BDAE-56D70ECDF729}"/>
              </a:ext>
            </a:extLst>
          </p:cNvPr>
          <p:cNvSpPr txBox="1"/>
          <p:nvPr/>
        </p:nvSpPr>
        <p:spPr>
          <a:xfrm>
            <a:off x="5050406" y="5014636"/>
            <a:ext cx="2400719" cy="2696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</a:pPr>
            <a:r>
              <a:rPr lang="en-US" sz="800" dirty="0">
                <a:solidFill>
                  <a:srgbClr val="000000"/>
                </a:solidFill>
                <a:latin typeface="Century Gothic" panose="020B0502020202020204" pitchFamily="34" charset="0"/>
              </a:rPr>
              <a:t>Initiative Goals:</a:t>
            </a:r>
          </a:p>
        </p:txBody>
      </p:sp>
      <p:sp>
        <p:nvSpPr>
          <p:cNvPr id="81" name="New York Project">
            <a:extLst>
              <a:ext uri="{FF2B5EF4-FFF2-40B4-BE49-F238E27FC236}">
                <a16:creationId xmlns:a16="http://schemas.microsoft.com/office/drawing/2014/main" id="{4F5D9E1C-B72F-446C-95D3-CAEDEB327D22}"/>
              </a:ext>
            </a:extLst>
          </p:cNvPr>
          <p:cNvSpPr txBox="1"/>
          <p:nvPr/>
        </p:nvSpPr>
        <p:spPr>
          <a:xfrm>
            <a:off x="5050406" y="5375671"/>
            <a:ext cx="2400719" cy="2696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</a:pPr>
            <a:r>
              <a:rPr lang="en-US" sz="800" dirty="0">
                <a:solidFill>
                  <a:srgbClr val="000000"/>
                </a:solidFill>
                <a:latin typeface="Century Gothic" panose="020B0502020202020204" pitchFamily="34" charset="0"/>
              </a:rPr>
              <a:t>Personal Goals: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DCD0843-3E8F-4D15-8BF1-6DBF08B0B020}"/>
              </a:ext>
            </a:extLst>
          </p:cNvPr>
          <p:cNvCxnSpPr>
            <a:cxnSpLocks/>
          </p:cNvCxnSpPr>
          <p:nvPr/>
        </p:nvCxnSpPr>
        <p:spPr>
          <a:xfrm>
            <a:off x="5004887" y="5329966"/>
            <a:ext cx="2434903" cy="0"/>
          </a:xfrm>
          <a:prstGeom prst="line">
            <a:avLst/>
          </a:prstGeom>
          <a:ln w="6350" cap="rnd">
            <a:solidFill>
              <a:srgbClr val="C4CCD7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B808B91-560D-4C47-BDB0-06662B9BBAB8}"/>
              </a:ext>
            </a:extLst>
          </p:cNvPr>
          <p:cNvCxnSpPr>
            <a:cxnSpLocks/>
          </p:cNvCxnSpPr>
          <p:nvPr/>
        </p:nvCxnSpPr>
        <p:spPr>
          <a:xfrm>
            <a:off x="5004887" y="4968932"/>
            <a:ext cx="2434903" cy="0"/>
          </a:xfrm>
          <a:prstGeom prst="line">
            <a:avLst/>
          </a:prstGeom>
          <a:ln w="6350" cap="rnd">
            <a:solidFill>
              <a:srgbClr val="C4CCD7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C742D6A-2A1E-495A-A950-2DBBB55A7F61}"/>
              </a:ext>
            </a:extLst>
          </p:cNvPr>
          <p:cNvCxnSpPr>
            <a:cxnSpLocks/>
          </p:cNvCxnSpPr>
          <p:nvPr/>
        </p:nvCxnSpPr>
        <p:spPr>
          <a:xfrm>
            <a:off x="5004887" y="4607898"/>
            <a:ext cx="2434903" cy="0"/>
          </a:xfrm>
          <a:prstGeom prst="line">
            <a:avLst/>
          </a:prstGeom>
          <a:ln w="6350" cap="rnd">
            <a:solidFill>
              <a:srgbClr val="C4CCD7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">
            <a:extLst>
              <a:ext uri="{FF2B5EF4-FFF2-40B4-BE49-F238E27FC236}">
                <a16:creationId xmlns:a16="http://schemas.microsoft.com/office/drawing/2014/main" id="{4CC4CF74-1FFE-4C45-A1E2-21CF1B0F9BF4}"/>
              </a:ext>
            </a:extLst>
          </p:cNvPr>
          <p:cNvSpPr/>
          <p:nvPr/>
        </p:nvSpPr>
        <p:spPr>
          <a:xfrm>
            <a:off x="8469720" y="2253207"/>
            <a:ext cx="2800604" cy="3709091"/>
          </a:xfrm>
          <a:prstGeom prst="roundRect">
            <a:avLst>
              <a:gd name="adj" fmla="val 8881"/>
            </a:avLst>
          </a:prstGeom>
          <a:solidFill>
            <a:srgbClr val="FFFFFF"/>
          </a:solidFill>
          <a:ln w="12700" cap="flat">
            <a:noFill/>
            <a:miter lim="400000"/>
          </a:ln>
          <a:effectLst>
            <a:outerShdw blurRad="292100" dist="110334" dir="5400000" rotWithShape="0">
              <a:srgbClr val="475D84">
                <a:alpha val="21640"/>
              </a:srgbClr>
            </a:outerShdw>
          </a:effectLst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  <a:defRPr sz="3200" baseline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200"/>
          </a:p>
        </p:txBody>
      </p:sp>
      <p:sp>
        <p:nvSpPr>
          <p:cNvPr id="96" name="Circle">
            <a:extLst>
              <a:ext uri="{FF2B5EF4-FFF2-40B4-BE49-F238E27FC236}">
                <a16:creationId xmlns:a16="http://schemas.microsoft.com/office/drawing/2014/main" id="{A09A5DE1-E4F2-46C8-B70B-84D37645DC83}"/>
              </a:ext>
            </a:extLst>
          </p:cNvPr>
          <p:cNvSpPr/>
          <p:nvPr/>
        </p:nvSpPr>
        <p:spPr>
          <a:xfrm>
            <a:off x="8217044" y="2534431"/>
            <a:ext cx="507053" cy="507053"/>
          </a:xfrm>
          <a:prstGeom prst="ellipse">
            <a:avLst/>
          </a:pr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12700" cap="flat">
            <a:noFill/>
            <a:miter lim="400000"/>
          </a:ln>
          <a:effectLst/>
        </p:spPr>
        <p:txBody>
          <a:bodyPr wrap="square" lIns="50800" tIns="0" rIns="50800" bIns="9144" numCol="1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90</a:t>
            </a:r>
            <a:endParaRPr sz="1400" b="1" dirty="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99" name="New York Project">
            <a:extLst>
              <a:ext uri="{FF2B5EF4-FFF2-40B4-BE49-F238E27FC236}">
                <a16:creationId xmlns:a16="http://schemas.microsoft.com/office/drawing/2014/main" id="{0CB81C55-A56D-4F30-AEDE-1532C64069F1}"/>
              </a:ext>
            </a:extLst>
          </p:cNvPr>
          <p:cNvSpPr txBox="1"/>
          <p:nvPr/>
        </p:nvSpPr>
        <p:spPr>
          <a:xfrm>
            <a:off x="8870968" y="2634069"/>
            <a:ext cx="1348446" cy="307777"/>
          </a:xfrm>
          <a:prstGeom prst="rect">
            <a:avLst/>
          </a:prstGeom>
          <a:noFill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>
                <a:gradFill>
                  <a:gsLst>
                    <a:gs pos="0">
                      <a:srgbClr val="54B2DB"/>
                    </a:gs>
                    <a:gs pos="100000">
                      <a:srgbClr val="4983D0"/>
                    </a:gs>
                  </a:gsLst>
                  <a:lin ang="5400000" scaled="1"/>
                </a:gra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AUGUST 23RD</a:t>
            </a:r>
            <a:endParaRPr dirty="0"/>
          </a:p>
        </p:txBody>
      </p:sp>
      <p:sp>
        <p:nvSpPr>
          <p:cNvPr id="100" name="New York Project">
            <a:extLst>
              <a:ext uri="{FF2B5EF4-FFF2-40B4-BE49-F238E27FC236}">
                <a16:creationId xmlns:a16="http://schemas.microsoft.com/office/drawing/2014/main" id="{A9067BFA-3015-4DAD-A528-897CCC60F145}"/>
              </a:ext>
            </a:extLst>
          </p:cNvPr>
          <p:cNvSpPr txBox="1"/>
          <p:nvPr/>
        </p:nvSpPr>
        <p:spPr>
          <a:xfrm>
            <a:off x="8698090" y="3109301"/>
            <a:ext cx="2400719" cy="7312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  <a:spcAft>
                <a:spcPts val="600"/>
              </a:spcAft>
            </a:pPr>
            <a:r>
              <a:rPr lang="en-US" sz="9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PRIMER:</a:t>
            </a:r>
          </a:p>
          <a:p>
            <a:pPr algn="l">
              <a:lnSpc>
                <a:spcPts val="1500"/>
              </a:lnSpc>
              <a:spcAft>
                <a:spcPts val="600"/>
              </a:spcAft>
            </a:pPr>
            <a:r>
              <a:rPr lang="en-US" sz="800" dirty="0">
                <a:solidFill>
                  <a:srgbClr val="000000"/>
                </a:solidFill>
                <a:latin typeface="Century Gothic" panose="020B0502020202020204" pitchFamily="34" charset="0"/>
              </a:rPr>
              <a:t>This is the summary of the third month of work. How will you become a leader in this period?</a:t>
            </a:r>
            <a:endParaRPr sz="8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01" name="New York Project">
            <a:extLst>
              <a:ext uri="{FF2B5EF4-FFF2-40B4-BE49-F238E27FC236}">
                <a16:creationId xmlns:a16="http://schemas.microsoft.com/office/drawing/2014/main" id="{71494F50-B12E-4CB9-87ED-C8F3D7E91761}"/>
              </a:ext>
            </a:extLst>
          </p:cNvPr>
          <p:cNvSpPr txBox="1"/>
          <p:nvPr/>
        </p:nvSpPr>
        <p:spPr>
          <a:xfrm>
            <a:off x="8698090" y="3967558"/>
            <a:ext cx="2400719" cy="271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</a:pPr>
            <a:r>
              <a:rPr lang="en-US" sz="9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THEME:</a:t>
            </a:r>
          </a:p>
        </p:txBody>
      </p:sp>
      <p:sp>
        <p:nvSpPr>
          <p:cNvPr id="102" name="New York Project">
            <a:extLst>
              <a:ext uri="{FF2B5EF4-FFF2-40B4-BE49-F238E27FC236}">
                <a16:creationId xmlns:a16="http://schemas.microsoft.com/office/drawing/2014/main" id="{C5DE9501-B36F-4DC0-865E-F14BFBD6B53E}"/>
              </a:ext>
            </a:extLst>
          </p:cNvPr>
          <p:cNvSpPr txBox="1"/>
          <p:nvPr/>
        </p:nvSpPr>
        <p:spPr>
          <a:xfrm>
            <a:off x="8698090" y="4292568"/>
            <a:ext cx="2400719" cy="2696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</a:pPr>
            <a:r>
              <a:rPr lang="en-US" sz="800" dirty="0">
                <a:solidFill>
                  <a:srgbClr val="000000"/>
                </a:solidFill>
                <a:latin typeface="Century Gothic" panose="020B0502020202020204" pitchFamily="34" charset="0"/>
              </a:rPr>
              <a:t>Learning Goals:</a:t>
            </a:r>
          </a:p>
        </p:txBody>
      </p:sp>
      <p:sp>
        <p:nvSpPr>
          <p:cNvPr id="103" name="New York Project">
            <a:extLst>
              <a:ext uri="{FF2B5EF4-FFF2-40B4-BE49-F238E27FC236}">
                <a16:creationId xmlns:a16="http://schemas.microsoft.com/office/drawing/2014/main" id="{A1E53B7E-7EEE-429E-93F3-979E06442D3F}"/>
              </a:ext>
            </a:extLst>
          </p:cNvPr>
          <p:cNvSpPr txBox="1"/>
          <p:nvPr/>
        </p:nvSpPr>
        <p:spPr>
          <a:xfrm>
            <a:off x="8698090" y="4653602"/>
            <a:ext cx="2400719" cy="2696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</a:pPr>
            <a:r>
              <a:rPr lang="en-US" sz="800" dirty="0">
                <a:solidFill>
                  <a:srgbClr val="000000"/>
                </a:solidFill>
                <a:latin typeface="Century Gothic" panose="020B0502020202020204" pitchFamily="34" charset="0"/>
              </a:rPr>
              <a:t>Performance Goals:</a:t>
            </a:r>
          </a:p>
        </p:txBody>
      </p:sp>
      <p:sp>
        <p:nvSpPr>
          <p:cNvPr id="104" name="New York Project">
            <a:extLst>
              <a:ext uri="{FF2B5EF4-FFF2-40B4-BE49-F238E27FC236}">
                <a16:creationId xmlns:a16="http://schemas.microsoft.com/office/drawing/2014/main" id="{5B3DC08B-5A90-4EC4-BF1D-213CE9319E57}"/>
              </a:ext>
            </a:extLst>
          </p:cNvPr>
          <p:cNvSpPr txBox="1"/>
          <p:nvPr/>
        </p:nvSpPr>
        <p:spPr>
          <a:xfrm>
            <a:off x="8698090" y="5014636"/>
            <a:ext cx="2400719" cy="2696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</a:pPr>
            <a:r>
              <a:rPr lang="en-US" sz="800" dirty="0">
                <a:solidFill>
                  <a:srgbClr val="000000"/>
                </a:solidFill>
                <a:latin typeface="Century Gothic" panose="020B0502020202020204" pitchFamily="34" charset="0"/>
              </a:rPr>
              <a:t>Initiative Goals:</a:t>
            </a:r>
          </a:p>
        </p:txBody>
      </p:sp>
      <p:sp>
        <p:nvSpPr>
          <p:cNvPr id="105" name="New York Project">
            <a:extLst>
              <a:ext uri="{FF2B5EF4-FFF2-40B4-BE49-F238E27FC236}">
                <a16:creationId xmlns:a16="http://schemas.microsoft.com/office/drawing/2014/main" id="{9E9D35F9-3B78-46D4-AC30-FA08F32513B0}"/>
              </a:ext>
            </a:extLst>
          </p:cNvPr>
          <p:cNvSpPr txBox="1"/>
          <p:nvPr/>
        </p:nvSpPr>
        <p:spPr>
          <a:xfrm>
            <a:off x="8698090" y="5375671"/>
            <a:ext cx="2400719" cy="2696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numCol="1" anchor="t" anchorCtr="0">
            <a:spAutoFit/>
          </a:bodyPr>
          <a:lstStyle>
            <a:lvl1pPr algn="r">
              <a:lnSpc>
                <a:spcPct val="100000"/>
              </a:lnSpc>
              <a:defRPr baseline="0">
                <a:solidFill>
                  <a:srgbClr val="475D84"/>
                </a:solidFill>
              </a:defRPr>
            </a:lvl1pPr>
          </a:lstStyle>
          <a:p>
            <a:pPr algn="l">
              <a:lnSpc>
                <a:spcPts val="1500"/>
              </a:lnSpc>
            </a:pPr>
            <a:r>
              <a:rPr lang="en-US" sz="800" dirty="0">
                <a:solidFill>
                  <a:srgbClr val="000000"/>
                </a:solidFill>
                <a:latin typeface="Century Gothic" panose="020B0502020202020204" pitchFamily="34" charset="0"/>
              </a:rPr>
              <a:t>Personal Goals:</a:t>
            </a: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12ECB07-296C-4349-B3A4-EAC6DB6F865C}"/>
              </a:ext>
            </a:extLst>
          </p:cNvPr>
          <p:cNvCxnSpPr>
            <a:cxnSpLocks/>
          </p:cNvCxnSpPr>
          <p:nvPr/>
        </p:nvCxnSpPr>
        <p:spPr>
          <a:xfrm>
            <a:off x="8652571" y="5329966"/>
            <a:ext cx="2434903" cy="0"/>
          </a:xfrm>
          <a:prstGeom prst="line">
            <a:avLst/>
          </a:prstGeom>
          <a:ln w="6350" cap="rnd">
            <a:solidFill>
              <a:srgbClr val="C4CCD7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B0AD9E1-F294-44A0-B614-F63EB22983EC}"/>
              </a:ext>
            </a:extLst>
          </p:cNvPr>
          <p:cNvCxnSpPr>
            <a:cxnSpLocks/>
          </p:cNvCxnSpPr>
          <p:nvPr/>
        </p:nvCxnSpPr>
        <p:spPr>
          <a:xfrm>
            <a:off x="8652571" y="4968932"/>
            <a:ext cx="2434903" cy="0"/>
          </a:xfrm>
          <a:prstGeom prst="line">
            <a:avLst/>
          </a:prstGeom>
          <a:ln w="6350" cap="rnd">
            <a:solidFill>
              <a:srgbClr val="C4CCD7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BD7C3FF-5DF7-44FF-9B93-5215F28A86E7}"/>
              </a:ext>
            </a:extLst>
          </p:cNvPr>
          <p:cNvCxnSpPr>
            <a:cxnSpLocks/>
          </p:cNvCxnSpPr>
          <p:nvPr/>
        </p:nvCxnSpPr>
        <p:spPr>
          <a:xfrm>
            <a:off x="8652571" y="4607898"/>
            <a:ext cx="2434903" cy="0"/>
          </a:xfrm>
          <a:prstGeom prst="line">
            <a:avLst/>
          </a:prstGeom>
          <a:ln w="6350" cap="rnd">
            <a:solidFill>
              <a:srgbClr val="C4CCD7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56" name="Group 2055">
            <a:extLst>
              <a:ext uri="{FF2B5EF4-FFF2-40B4-BE49-F238E27FC236}">
                <a16:creationId xmlns:a16="http://schemas.microsoft.com/office/drawing/2014/main" id="{21E382D6-D1CE-4D20-9CD7-1FE15D2F0921}"/>
              </a:ext>
            </a:extLst>
          </p:cNvPr>
          <p:cNvGrpSpPr/>
          <p:nvPr/>
        </p:nvGrpSpPr>
        <p:grpSpPr>
          <a:xfrm>
            <a:off x="3202379" y="1572773"/>
            <a:ext cx="5787242" cy="436354"/>
            <a:chOff x="3202379" y="1488382"/>
            <a:chExt cx="5787242" cy="436354"/>
          </a:xfrm>
        </p:grpSpPr>
        <p:sp>
          <p:nvSpPr>
            <p:cNvPr id="126" name="Rounded Rectangle">
              <a:extLst>
                <a:ext uri="{FF2B5EF4-FFF2-40B4-BE49-F238E27FC236}">
                  <a16:creationId xmlns:a16="http://schemas.microsoft.com/office/drawing/2014/main" id="{96DEB8DE-4FF7-4A3D-8F87-9EEB8DBECCD6}"/>
                </a:ext>
              </a:extLst>
            </p:cNvPr>
            <p:cNvSpPr/>
            <p:nvPr/>
          </p:nvSpPr>
          <p:spPr>
            <a:xfrm>
              <a:off x="3202379" y="1488382"/>
              <a:ext cx="5787242" cy="436354"/>
            </a:xfrm>
            <a:prstGeom prst="roundRect">
              <a:avLst>
                <a:gd name="adj" fmla="val 50000"/>
              </a:avLst>
            </a:prstGeom>
            <a:solidFill>
              <a:srgbClr val="C4CCD7">
                <a:alpha val="2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200"/>
            </a:p>
          </p:txBody>
        </p:sp>
        <p:grpSp>
          <p:nvGrpSpPr>
            <p:cNvPr id="2055" name="Group 2054">
              <a:extLst>
                <a:ext uri="{FF2B5EF4-FFF2-40B4-BE49-F238E27FC236}">
                  <a16:creationId xmlns:a16="http://schemas.microsoft.com/office/drawing/2014/main" id="{306CE6D0-85CF-4D87-9869-186DFF1ED715}"/>
                </a:ext>
              </a:extLst>
            </p:cNvPr>
            <p:cNvGrpSpPr/>
            <p:nvPr/>
          </p:nvGrpSpPr>
          <p:grpSpPr>
            <a:xfrm>
              <a:off x="3857718" y="1557709"/>
              <a:ext cx="4476565" cy="272382"/>
              <a:chOff x="3637795" y="1557709"/>
              <a:chExt cx="4476565" cy="272382"/>
            </a:xfrm>
          </p:grpSpPr>
          <p:sp>
            <p:nvSpPr>
              <p:cNvPr id="121" name="New York Project">
                <a:extLst>
                  <a:ext uri="{FF2B5EF4-FFF2-40B4-BE49-F238E27FC236}">
                    <a16:creationId xmlns:a16="http://schemas.microsoft.com/office/drawing/2014/main" id="{56B597D5-F0E4-4D28-9E0B-9E38C5814DE2}"/>
                  </a:ext>
                </a:extLst>
              </p:cNvPr>
              <p:cNvSpPr txBox="1"/>
              <p:nvPr/>
            </p:nvSpPr>
            <p:spPr>
              <a:xfrm>
                <a:off x="3637795" y="1557709"/>
                <a:ext cx="2515693" cy="27238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 anchorCtr="0">
                <a:spAutoFit/>
              </a:bodyPr>
              <a:lstStyle>
                <a:lvl1pPr algn="r">
                  <a:lnSpc>
                    <a:spcPct val="100000"/>
                  </a:lnSpc>
                  <a:defRPr baseline="0">
                    <a:solidFill>
                      <a:srgbClr val="475D84"/>
                    </a:solidFill>
                  </a:defRPr>
                </a:lvl1pPr>
              </a:lstStyle>
              <a:p>
                <a:pPr algn="l" defTabSz="628650">
                  <a:lnSpc>
                    <a:spcPts val="1500"/>
                  </a:lnSpc>
                  <a:spcAft>
                    <a:spcPts val="600"/>
                  </a:spcAft>
                </a:pPr>
                <a:r>
                  <a:rPr lang="en-US" sz="900" b="1" dirty="0">
                    <a:solidFill>
                      <a:srgbClr val="8796AF"/>
                    </a:solidFill>
                    <a:latin typeface="Century Gothic" panose="020B0502020202020204" pitchFamily="34" charset="0"/>
                  </a:rPr>
                  <a:t>Name of Employer:	</a:t>
                </a:r>
                <a:r>
                  <a:rPr lang="en-US" sz="900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Our Company Inc.</a:t>
                </a:r>
              </a:p>
            </p:txBody>
          </p:sp>
          <p:sp>
            <p:nvSpPr>
              <p:cNvPr id="123" name="New York Project">
                <a:extLst>
                  <a:ext uri="{FF2B5EF4-FFF2-40B4-BE49-F238E27FC236}">
                    <a16:creationId xmlns:a16="http://schemas.microsoft.com/office/drawing/2014/main" id="{624927A1-0DA2-4FD0-8F20-36E309A13177}"/>
                  </a:ext>
                </a:extLst>
              </p:cNvPr>
              <p:cNvSpPr txBox="1"/>
              <p:nvPr/>
            </p:nvSpPr>
            <p:spPr>
              <a:xfrm>
                <a:off x="6153488" y="1557709"/>
                <a:ext cx="1960872" cy="27238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 anchorCtr="0">
                <a:spAutoFit/>
              </a:bodyPr>
              <a:lstStyle>
                <a:defPPr>
                  <a:defRPr lang="en-US"/>
                </a:defPPr>
                <a:lvl1pPr defTabSz="628650">
                  <a:lnSpc>
                    <a:spcPts val="1500"/>
                  </a:lnSpc>
                  <a:spcAft>
                    <a:spcPts val="600"/>
                  </a:spcAft>
                  <a:defRPr sz="900" b="1" baseline="0">
                    <a:solidFill>
                      <a:srgbClr val="8796AF"/>
                    </a:solidFill>
                    <a:latin typeface="Century Gothic" panose="020B0502020202020204" pitchFamily="34" charset="0"/>
                  </a:defRPr>
                </a:lvl1pPr>
              </a:lstStyle>
              <a:p>
                <a:r>
                  <a:rPr lang="en-US" dirty="0"/>
                  <a:t>Name of Manager:	</a:t>
                </a:r>
                <a:r>
                  <a:rPr lang="en-US" b="0" dirty="0">
                    <a:solidFill>
                      <a:srgbClr val="000000"/>
                    </a:solidFill>
                  </a:rPr>
                  <a:t>John</a:t>
                </a:r>
                <a:r>
                  <a:rPr lang="en-US" dirty="0"/>
                  <a:t> </a:t>
                </a:r>
                <a:r>
                  <a:rPr lang="en-US" b="0" dirty="0">
                    <a:solidFill>
                      <a:srgbClr val="000000"/>
                    </a:solidFill>
                  </a:rPr>
                  <a:t>Doe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1038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B0843A7-F5AE-4D9C-843F-CCB9B97D5343}"/>
              </a:ext>
            </a:extLst>
          </p:cNvPr>
          <p:cNvCxnSpPr>
            <a:cxnSpLocks/>
          </p:cNvCxnSpPr>
          <p:nvPr/>
        </p:nvCxnSpPr>
        <p:spPr>
          <a:xfrm>
            <a:off x="952236" y="3219685"/>
            <a:ext cx="10023369" cy="0"/>
          </a:xfrm>
          <a:prstGeom prst="line">
            <a:avLst/>
          </a:prstGeom>
          <a:ln w="12700" cap="rnd" cmpd="sng">
            <a:solidFill>
              <a:srgbClr val="9EAABE"/>
            </a:solidFill>
            <a:prstDash val="dash"/>
            <a:round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5050C16-A225-496C-9057-E6885A7412C0}"/>
              </a:ext>
            </a:extLst>
          </p:cNvPr>
          <p:cNvCxnSpPr>
            <a:cxnSpLocks/>
          </p:cNvCxnSpPr>
          <p:nvPr/>
        </p:nvCxnSpPr>
        <p:spPr>
          <a:xfrm>
            <a:off x="952236" y="5029117"/>
            <a:ext cx="10023369" cy="0"/>
          </a:xfrm>
          <a:prstGeom prst="line">
            <a:avLst/>
          </a:prstGeom>
          <a:ln w="12700" cap="rnd" cmpd="sng">
            <a:solidFill>
              <a:srgbClr val="9EAABE"/>
            </a:solidFill>
            <a:prstDash val="dash"/>
            <a:round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476F8D-B355-4B83-9ECF-EFA860ECACB0}"/>
              </a:ext>
            </a:extLst>
          </p:cNvPr>
          <p:cNvCxnSpPr>
            <a:cxnSpLocks/>
          </p:cNvCxnSpPr>
          <p:nvPr/>
        </p:nvCxnSpPr>
        <p:spPr>
          <a:xfrm>
            <a:off x="952236" y="4124401"/>
            <a:ext cx="10023369" cy="0"/>
          </a:xfrm>
          <a:prstGeom prst="line">
            <a:avLst/>
          </a:prstGeom>
          <a:ln w="12700" cap="rnd" cmpd="sng">
            <a:solidFill>
              <a:srgbClr val="9EAABE"/>
            </a:solidFill>
            <a:prstDash val="dash"/>
            <a:round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C3586E-8A88-46C2-8DF0-A939B74C7971}"/>
              </a:ext>
            </a:extLst>
          </p:cNvPr>
          <p:cNvSpPr/>
          <p:nvPr/>
        </p:nvSpPr>
        <p:spPr>
          <a:xfrm>
            <a:off x="2709111" y="2106946"/>
            <a:ext cx="8466890" cy="3836237"/>
          </a:xfrm>
          <a:prstGeom prst="roundRect">
            <a:avLst>
              <a:gd name="adj" fmla="val 5739"/>
            </a:avLst>
          </a:prstGeom>
          <a:solidFill>
            <a:srgbClr val="FFFFFF">
              <a:alpha val="70000"/>
            </a:srgbClr>
          </a:solidFill>
          <a:ln w="12700">
            <a:noFill/>
            <a:miter lim="400000"/>
          </a:ln>
          <a:effectLst>
            <a:outerShdw blurRad="292100" dist="110334" dir="5400000" rotWithShape="0">
              <a:srgbClr val="475D84">
                <a:alpha val="21640"/>
              </a:srgbClr>
            </a:outerShdw>
          </a:effectLst>
        </p:spPr>
        <p:txBody>
          <a:bodyPr lIns="50800" tIns="50800" rIns="50800" bIns="50800" anchor="ctr"/>
          <a:lstStyle/>
          <a:p>
            <a:pPr algn="ctr"/>
            <a:endParaRPr lang="en-US" sz="3200">
              <a:solidFill>
                <a:srgbClr val="FFFFFF"/>
              </a:solidFill>
              <a:latin typeface="Helvetica Light"/>
            </a:endParaRPr>
          </a:p>
        </p:txBody>
      </p:sp>
      <p:grpSp>
        <p:nvGrpSpPr>
          <p:cNvPr id="5121" name="Group 5120">
            <a:extLst>
              <a:ext uri="{FF2B5EF4-FFF2-40B4-BE49-F238E27FC236}">
                <a16:creationId xmlns:a16="http://schemas.microsoft.com/office/drawing/2014/main" id="{432E31D1-2AC9-44C4-92C0-3A465E2FC1E6}"/>
              </a:ext>
            </a:extLst>
          </p:cNvPr>
          <p:cNvGrpSpPr/>
          <p:nvPr/>
        </p:nvGrpSpPr>
        <p:grpSpPr>
          <a:xfrm>
            <a:off x="1002576" y="2551274"/>
            <a:ext cx="9954969" cy="432106"/>
            <a:chOff x="1275825" y="2523929"/>
            <a:chExt cx="9954969" cy="43210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1644A86-D1C1-461D-AFCA-9A5D10DD0829}"/>
                </a:ext>
              </a:extLst>
            </p:cNvPr>
            <p:cNvSpPr txBox="1"/>
            <p:nvPr/>
          </p:nvSpPr>
          <p:spPr>
            <a:xfrm>
              <a:off x="1275825" y="2609177"/>
              <a:ext cx="1422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rgbClr val="9EAABE"/>
                  </a:solidFill>
                  <a:latin typeface="Century Gothic" panose="020B0502020202020204" pitchFamily="34" charset="0"/>
                </a:rPr>
                <a:t>Learning Goals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A5A4B01-378D-4061-988E-6B22FD5C4192}"/>
                </a:ext>
              </a:extLst>
            </p:cNvPr>
            <p:cNvSpPr txBox="1"/>
            <p:nvPr/>
          </p:nvSpPr>
          <p:spPr>
            <a:xfrm>
              <a:off x="3132275" y="2523929"/>
              <a:ext cx="1571264" cy="432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Formal Training</a:t>
              </a:r>
            </a:p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Presentation Etiquettes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38F1483-34D0-4880-A4FC-8D664DB25F50}"/>
                </a:ext>
              </a:extLst>
            </p:cNvPr>
            <p:cNvSpPr txBox="1"/>
            <p:nvPr/>
          </p:nvSpPr>
          <p:spPr>
            <a:xfrm>
              <a:off x="5230549" y="2523929"/>
              <a:ext cx="1592103" cy="432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Best activities to pursue</a:t>
              </a:r>
            </a:p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Company goal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F486106-6DC2-4063-88A3-116F8F20AD99}"/>
                </a:ext>
              </a:extLst>
            </p:cNvPr>
            <p:cNvSpPr txBox="1"/>
            <p:nvPr/>
          </p:nvSpPr>
          <p:spPr>
            <a:xfrm>
              <a:off x="7328822" y="2523929"/>
              <a:ext cx="1708697" cy="432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Contribution from long-term success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12F2164-A59B-411F-85FA-83880D9B1CC0}"/>
                </a:ext>
              </a:extLst>
            </p:cNvPr>
            <p:cNvSpPr txBox="1"/>
            <p:nvPr/>
          </p:nvSpPr>
          <p:spPr>
            <a:xfrm>
              <a:off x="9427095" y="2523929"/>
              <a:ext cx="1803699" cy="432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Benchmark influencers</a:t>
              </a:r>
            </a:p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External influences (clients)</a:t>
              </a:r>
            </a:p>
          </p:txBody>
        </p:sp>
      </p:grpSp>
      <p:grpSp>
        <p:nvGrpSpPr>
          <p:cNvPr id="5120" name="Group 5119">
            <a:extLst>
              <a:ext uri="{FF2B5EF4-FFF2-40B4-BE49-F238E27FC236}">
                <a16:creationId xmlns:a16="http://schemas.microsoft.com/office/drawing/2014/main" id="{E71CE6F7-2325-48FD-85B9-41CE2B946A16}"/>
              </a:ext>
            </a:extLst>
          </p:cNvPr>
          <p:cNvGrpSpPr/>
          <p:nvPr/>
        </p:nvGrpSpPr>
        <p:grpSpPr>
          <a:xfrm>
            <a:off x="1002576" y="3455990"/>
            <a:ext cx="9863598" cy="432106"/>
            <a:chOff x="1275825" y="3269849"/>
            <a:chExt cx="9863598" cy="43210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79A8E5-D9C2-41FC-8CBE-014BE3378347}"/>
                </a:ext>
              </a:extLst>
            </p:cNvPr>
            <p:cNvSpPr txBox="1"/>
            <p:nvPr/>
          </p:nvSpPr>
          <p:spPr>
            <a:xfrm>
              <a:off x="1275825" y="3355097"/>
              <a:ext cx="1422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rgbClr val="9EAABE"/>
                  </a:solidFill>
                  <a:latin typeface="Century Gothic" panose="020B0502020202020204" pitchFamily="34" charset="0"/>
                </a:rPr>
                <a:t>Initiative Goals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07E93C9-FB12-481B-B404-87265E8D13F7}"/>
                </a:ext>
              </a:extLst>
            </p:cNvPr>
            <p:cNvSpPr txBox="1"/>
            <p:nvPr/>
          </p:nvSpPr>
          <p:spPr>
            <a:xfrm>
              <a:off x="3132275" y="3269849"/>
              <a:ext cx="1640193" cy="432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Mission, vision and goals</a:t>
              </a:r>
            </a:p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Complete milestone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E5FA7FB-B5D5-4EE1-8DA8-11C2707A2973}"/>
                </a:ext>
              </a:extLst>
            </p:cNvPr>
            <p:cNvSpPr txBox="1"/>
            <p:nvPr/>
          </p:nvSpPr>
          <p:spPr>
            <a:xfrm>
              <a:off x="5230549" y="3269849"/>
              <a:ext cx="1829347" cy="432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Understanding competition</a:t>
              </a:r>
            </a:p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Creating new strategy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1D0D7D2-BA5A-4AEB-A372-81024719FC52}"/>
                </a:ext>
              </a:extLst>
            </p:cNvPr>
            <p:cNvSpPr txBox="1"/>
            <p:nvPr/>
          </p:nvSpPr>
          <p:spPr>
            <a:xfrm>
              <a:off x="7328822" y="3269849"/>
              <a:ext cx="1636987" cy="432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Set up planning process</a:t>
              </a:r>
            </a:p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New product creation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F509917-4399-4F00-AFDC-FD6766AC4B23}"/>
                </a:ext>
              </a:extLst>
            </p:cNvPr>
            <p:cNvSpPr txBox="1"/>
            <p:nvPr/>
          </p:nvSpPr>
          <p:spPr>
            <a:xfrm>
              <a:off x="9427095" y="3269849"/>
              <a:ext cx="1712328" cy="432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Set change expectations</a:t>
              </a:r>
            </a:p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Regular meetings</a:t>
              </a:r>
            </a:p>
          </p:txBody>
        </p:sp>
      </p:grpSp>
      <p:grpSp>
        <p:nvGrpSpPr>
          <p:cNvPr id="5124" name="Group 5123">
            <a:extLst>
              <a:ext uri="{FF2B5EF4-FFF2-40B4-BE49-F238E27FC236}">
                <a16:creationId xmlns:a16="http://schemas.microsoft.com/office/drawing/2014/main" id="{D326AC51-5EA0-4EC1-BA94-0D31AE6B55A0}"/>
              </a:ext>
            </a:extLst>
          </p:cNvPr>
          <p:cNvGrpSpPr/>
          <p:nvPr/>
        </p:nvGrpSpPr>
        <p:grpSpPr>
          <a:xfrm>
            <a:off x="1002576" y="4360706"/>
            <a:ext cx="9752993" cy="432106"/>
            <a:chOff x="1134656" y="3773614"/>
            <a:chExt cx="9752993" cy="43210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2DD4C00-EB96-44E6-8C01-101637073906}"/>
                </a:ext>
              </a:extLst>
            </p:cNvPr>
            <p:cNvSpPr txBox="1"/>
            <p:nvPr/>
          </p:nvSpPr>
          <p:spPr>
            <a:xfrm>
              <a:off x="1134656" y="3858862"/>
              <a:ext cx="1422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rgbClr val="9EAABE"/>
                  </a:solidFill>
                  <a:latin typeface="Century Gothic" panose="020B0502020202020204" pitchFamily="34" charset="0"/>
                </a:rPr>
                <a:t>Personal Goals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79C38F0-0F28-4226-8E90-519381DEA471}"/>
                </a:ext>
              </a:extLst>
            </p:cNvPr>
            <p:cNvSpPr txBox="1"/>
            <p:nvPr/>
          </p:nvSpPr>
          <p:spPr>
            <a:xfrm>
              <a:off x="2991106" y="3773614"/>
              <a:ext cx="1571264" cy="432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Organization structure</a:t>
              </a:r>
            </a:p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HR Management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A9D87BF-110E-4833-A10F-7D67DE4E9B5F}"/>
                </a:ext>
              </a:extLst>
            </p:cNvPr>
            <p:cNvSpPr txBox="1"/>
            <p:nvPr/>
          </p:nvSpPr>
          <p:spPr>
            <a:xfrm>
              <a:off x="5089380" y="3773614"/>
              <a:ext cx="1712328" cy="432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Set change expectations</a:t>
              </a:r>
            </a:p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Regular meetings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E325A5-7126-46DB-B11A-0B81566C5A6C}"/>
                </a:ext>
              </a:extLst>
            </p:cNvPr>
            <p:cNvSpPr txBox="1"/>
            <p:nvPr/>
          </p:nvSpPr>
          <p:spPr>
            <a:xfrm>
              <a:off x="7187653" y="3773614"/>
              <a:ext cx="1601721" cy="432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Regular feedback loop</a:t>
              </a:r>
            </a:p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Customer service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2DFC422-B77A-47C9-9C60-55FABF0F5318}"/>
                </a:ext>
              </a:extLst>
            </p:cNvPr>
            <p:cNvSpPr txBox="1"/>
            <p:nvPr/>
          </p:nvSpPr>
          <p:spPr>
            <a:xfrm>
              <a:off x="9285927" y="3773614"/>
              <a:ext cx="1601722" cy="432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Contribution from long-term success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EACC122-7A73-4355-A5FE-71B0340A87EF}"/>
              </a:ext>
            </a:extLst>
          </p:cNvPr>
          <p:cNvGrpSpPr/>
          <p:nvPr/>
        </p:nvGrpSpPr>
        <p:grpSpPr>
          <a:xfrm>
            <a:off x="1002575" y="5265422"/>
            <a:ext cx="9658415" cy="432106"/>
            <a:chOff x="1275824" y="4761688"/>
            <a:chExt cx="9658415" cy="43210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C4498EA-0698-48E4-A378-760E91BE4CD9}"/>
                </a:ext>
              </a:extLst>
            </p:cNvPr>
            <p:cNvSpPr txBox="1"/>
            <p:nvPr/>
          </p:nvSpPr>
          <p:spPr>
            <a:xfrm>
              <a:off x="1275824" y="4846937"/>
              <a:ext cx="169551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rgbClr val="9EAABE"/>
                  </a:solidFill>
                  <a:latin typeface="Century Gothic" panose="020B0502020202020204" pitchFamily="34" charset="0"/>
                </a:rPr>
                <a:t>Performance Goals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11333A0-0417-470E-9324-6E82BC9DF79D}"/>
                </a:ext>
              </a:extLst>
            </p:cNvPr>
            <p:cNvSpPr txBox="1"/>
            <p:nvPr/>
          </p:nvSpPr>
          <p:spPr>
            <a:xfrm>
              <a:off x="3132275" y="4761688"/>
              <a:ext cx="1803699" cy="432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Benchmark influencers</a:t>
              </a:r>
            </a:p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External influences (clients)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580D56F-3E7A-42C8-982E-AD27FC5E90C4}"/>
                </a:ext>
              </a:extLst>
            </p:cNvPr>
            <p:cNvSpPr txBox="1"/>
            <p:nvPr/>
          </p:nvSpPr>
          <p:spPr>
            <a:xfrm>
              <a:off x="5230549" y="4761688"/>
              <a:ext cx="1507144" cy="432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Establish key metrics</a:t>
              </a:r>
            </a:p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Project management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7C4E4E9-57AF-41A8-998C-16811D1E7F47}"/>
                </a:ext>
              </a:extLst>
            </p:cNvPr>
            <p:cNvSpPr txBox="1"/>
            <p:nvPr/>
          </p:nvSpPr>
          <p:spPr>
            <a:xfrm>
              <a:off x="7328822" y="4761688"/>
              <a:ext cx="1571264" cy="432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Demonstrate learning</a:t>
              </a:r>
            </a:p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Company visions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285BBFE-E628-46FA-AEFA-8FDECCD8BF10}"/>
                </a:ext>
              </a:extLst>
            </p:cNvPr>
            <p:cNvSpPr txBox="1"/>
            <p:nvPr/>
          </p:nvSpPr>
          <p:spPr>
            <a:xfrm>
              <a:off x="9427095" y="4761688"/>
              <a:ext cx="1507144" cy="432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Establish key metrics</a:t>
              </a:r>
            </a:p>
            <a:p>
              <a:pPr marL="114300" indent="-114300">
                <a:lnSpc>
                  <a:spcPts val="14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Century Gothic" panose="020B0502020202020204" pitchFamily="34" charset="0"/>
                </a:rPr>
                <a:t>Project management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9BF4C933-5B96-478C-8E70-F748D5F45770}"/>
              </a:ext>
            </a:extLst>
          </p:cNvPr>
          <p:cNvSpPr txBox="1"/>
          <p:nvPr/>
        </p:nvSpPr>
        <p:spPr>
          <a:xfrm>
            <a:off x="4512875" y="707411"/>
            <a:ext cx="3166251" cy="489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500" b="1" dirty="0">
                <a:latin typeface="Century Gothic" panose="020B0502020202020204" pitchFamily="34" charset="0"/>
              </a:rPr>
              <a:t>30-60-90 DAY PLAN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FF5C76D-95FF-4FD7-A51C-97408D8A6CE2}"/>
              </a:ext>
            </a:extLst>
          </p:cNvPr>
          <p:cNvSpPr/>
          <p:nvPr/>
        </p:nvSpPr>
        <p:spPr>
          <a:xfrm>
            <a:off x="4807384" y="1906837"/>
            <a:ext cx="1976829" cy="400217"/>
          </a:xfrm>
          <a:custGeom>
            <a:avLst/>
            <a:gdLst>
              <a:gd name="connsiteX0" fmla="*/ 1541405 w 1552575"/>
              <a:gd name="connsiteY0" fmla="*/ 131731 h 314325"/>
              <a:gd name="connsiteX1" fmla="*/ 1387291 w 1552575"/>
              <a:gd name="connsiteY1" fmla="*/ 286 h 314325"/>
              <a:gd name="connsiteX2" fmla="*/ 1387291 w 1552575"/>
              <a:gd name="connsiteY2" fmla="*/ 0 h 314325"/>
              <a:gd name="connsiteX3" fmla="*/ 32169 w 1552575"/>
              <a:gd name="connsiteY3" fmla="*/ 0 h 314325"/>
              <a:gd name="connsiteX4" fmla="*/ 4070 w 1552575"/>
              <a:gd name="connsiteY4" fmla="*/ 14192 h 314325"/>
              <a:gd name="connsiteX5" fmla="*/ 7976 w 1552575"/>
              <a:gd name="connsiteY5" fmla="*/ 43434 h 314325"/>
              <a:gd name="connsiteX6" fmla="*/ 111608 w 1552575"/>
              <a:gd name="connsiteY6" fmla="*/ 131731 h 314325"/>
              <a:gd name="connsiteX7" fmla="*/ 123800 w 1552575"/>
              <a:gd name="connsiteY7" fmla="*/ 159068 h 314325"/>
              <a:gd name="connsiteX8" fmla="*/ 111608 w 1552575"/>
              <a:gd name="connsiteY8" fmla="*/ 186404 h 314325"/>
              <a:gd name="connsiteX9" fmla="*/ 7880 w 1552575"/>
              <a:gd name="connsiteY9" fmla="*/ 274796 h 314325"/>
              <a:gd name="connsiteX10" fmla="*/ 3975 w 1552575"/>
              <a:gd name="connsiteY10" fmla="*/ 304038 h 314325"/>
              <a:gd name="connsiteX11" fmla="*/ 32074 w 1552575"/>
              <a:gd name="connsiteY11" fmla="*/ 318230 h 314325"/>
              <a:gd name="connsiteX12" fmla="*/ 1387196 w 1552575"/>
              <a:gd name="connsiteY12" fmla="*/ 318230 h 314325"/>
              <a:gd name="connsiteX13" fmla="*/ 1387196 w 1552575"/>
              <a:gd name="connsiteY13" fmla="*/ 317945 h 314325"/>
              <a:gd name="connsiteX14" fmla="*/ 1541310 w 1552575"/>
              <a:gd name="connsiteY14" fmla="*/ 186499 h 314325"/>
              <a:gd name="connsiteX15" fmla="*/ 1553502 w 1552575"/>
              <a:gd name="connsiteY15" fmla="*/ 159163 h 314325"/>
              <a:gd name="connsiteX16" fmla="*/ 1541405 w 1552575"/>
              <a:gd name="connsiteY16" fmla="*/ 131731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52575" h="314325">
                <a:moveTo>
                  <a:pt x="1541405" y="131731"/>
                </a:moveTo>
                <a:lnTo>
                  <a:pt x="1387291" y="286"/>
                </a:lnTo>
                <a:lnTo>
                  <a:pt x="1387291" y="0"/>
                </a:lnTo>
                <a:lnTo>
                  <a:pt x="32169" y="0"/>
                </a:lnTo>
                <a:cubicBezTo>
                  <a:pt x="20644" y="0"/>
                  <a:pt x="10357" y="5524"/>
                  <a:pt x="4070" y="14192"/>
                </a:cubicBezTo>
                <a:cubicBezTo>
                  <a:pt x="-2597" y="23241"/>
                  <a:pt x="-597" y="36100"/>
                  <a:pt x="7976" y="43434"/>
                </a:cubicBezTo>
                <a:lnTo>
                  <a:pt x="111608" y="131731"/>
                </a:lnTo>
                <a:cubicBezTo>
                  <a:pt x="120085" y="138874"/>
                  <a:pt x="124085" y="149066"/>
                  <a:pt x="123800" y="159068"/>
                </a:cubicBezTo>
                <a:cubicBezTo>
                  <a:pt x="124085" y="169164"/>
                  <a:pt x="119990" y="179261"/>
                  <a:pt x="111608" y="186404"/>
                </a:cubicBezTo>
                <a:lnTo>
                  <a:pt x="7880" y="274796"/>
                </a:lnTo>
                <a:cubicBezTo>
                  <a:pt x="-692" y="282131"/>
                  <a:pt x="-2692" y="294989"/>
                  <a:pt x="3975" y="304038"/>
                </a:cubicBezTo>
                <a:cubicBezTo>
                  <a:pt x="10357" y="312611"/>
                  <a:pt x="20549" y="318230"/>
                  <a:pt x="32074" y="318230"/>
                </a:cubicBezTo>
                <a:lnTo>
                  <a:pt x="1387196" y="318230"/>
                </a:lnTo>
                <a:lnTo>
                  <a:pt x="1387196" y="317945"/>
                </a:lnTo>
                <a:lnTo>
                  <a:pt x="1541310" y="186499"/>
                </a:lnTo>
                <a:cubicBezTo>
                  <a:pt x="1549787" y="179356"/>
                  <a:pt x="1553788" y="169164"/>
                  <a:pt x="1553502" y="159163"/>
                </a:cubicBezTo>
                <a:cubicBezTo>
                  <a:pt x="1553883" y="148971"/>
                  <a:pt x="1549883" y="138874"/>
                  <a:pt x="1541405" y="131731"/>
                </a:cubicBezTo>
                <a:close/>
              </a:path>
            </a:pathLst>
          </a:cu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12700" cap="flat">
            <a:noFill/>
            <a:miter lim="400000"/>
          </a:ln>
          <a:effectLst>
            <a:outerShdw blurRad="279400" dist="112866" dir="5466904" rotWithShape="0">
              <a:srgbClr val="4983D0">
                <a:alpha val="26000"/>
              </a:srgbClr>
            </a:outerShdw>
          </a:effectLst>
        </p:spPr>
        <p:txBody>
          <a:bodyPr rot="0" spcFirstLastPara="0" vertOverflow="overflow" horzOverflow="overflow" vert="horz" wrap="square" lIns="0" tIns="0" rIns="50800" bIns="91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1ST MONTH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22916E6-1454-406D-AE7A-F1EDBC1A9BCF}"/>
              </a:ext>
            </a:extLst>
          </p:cNvPr>
          <p:cNvSpPr/>
          <p:nvPr/>
        </p:nvSpPr>
        <p:spPr>
          <a:xfrm>
            <a:off x="2709111" y="1906838"/>
            <a:ext cx="1976829" cy="400217"/>
          </a:xfrm>
          <a:custGeom>
            <a:avLst/>
            <a:gdLst>
              <a:gd name="connsiteX0" fmla="*/ 1544193 w 1552575"/>
              <a:gd name="connsiteY0" fmla="*/ 131731 h 314325"/>
              <a:gd name="connsiteX1" fmla="*/ 1544193 w 1552575"/>
              <a:gd name="connsiteY1" fmla="*/ 184785 h 314325"/>
              <a:gd name="connsiteX2" fmla="*/ 1390079 w 1552575"/>
              <a:gd name="connsiteY2" fmla="*/ 316230 h 314325"/>
              <a:gd name="connsiteX3" fmla="*/ 1390079 w 1552575"/>
              <a:gd name="connsiteY3" fmla="*/ 318135 h 314325"/>
              <a:gd name="connsiteX4" fmla="*/ 34957 w 1552575"/>
              <a:gd name="connsiteY4" fmla="*/ 318135 h 314325"/>
              <a:gd name="connsiteX5" fmla="*/ 0 w 1552575"/>
              <a:gd name="connsiteY5" fmla="*/ 283274 h 314325"/>
              <a:gd name="connsiteX6" fmla="*/ 0 w 1552575"/>
              <a:gd name="connsiteY6" fmla="*/ 34957 h 314325"/>
              <a:gd name="connsiteX7" fmla="*/ 34957 w 1552575"/>
              <a:gd name="connsiteY7" fmla="*/ 0 h 314325"/>
              <a:gd name="connsiteX8" fmla="*/ 1390079 w 1552575"/>
              <a:gd name="connsiteY8" fmla="*/ 0 h 314325"/>
              <a:gd name="connsiteX9" fmla="*/ 1390079 w 1552575"/>
              <a:gd name="connsiteY9" fmla="*/ 286 h 314325"/>
              <a:gd name="connsiteX10" fmla="*/ 1544193 w 1552575"/>
              <a:gd name="connsiteY10" fmla="*/ 131731 h 314325"/>
              <a:gd name="connsiteX11" fmla="*/ 1544193 w 1552575"/>
              <a:gd name="connsiteY11" fmla="*/ 131731 h 314325"/>
              <a:gd name="connsiteX12" fmla="*/ 1544193 w 1552575"/>
              <a:gd name="connsiteY12" fmla="*/ 131731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52575" h="314325">
                <a:moveTo>
                  <a:pt x="1544193" y="131731"/>
                </a:moveTo>
                <a:cubicBezTo>
                  <a:pt x="1560576" y="145637"/>
                  <a:pt x="1560576" y="170879"/>
                  <a:pt x="1544193" y="184785"/>
                </a:cubicBezTo>
                <a:lnTo>
                  <a:pt x="1390079" y="316230"/>
                </a:lnTo>
                <a:lnTo>
                  <a:pt x="1390079" y="318135"/>
                </a:lnTo>
                <a:lnTo>
                  <a:pt x="34957" y="318135"/>
                </a:lnTo>
                <a:cubicBezTo>
                  <a:pt x="15621" y="318230"/>
                  <a:pt x="0" y="302609"/>
                  <a:pt x="0" y="283274"/>
                </a:cubicBezTo>
                <a:lnTo>
                  <a:pt x="0" y="34957"/>
                </a:lnTo>
                <a:cubicBezTo>
                  <a:pt x="0" y="15621"/>
                  <a:pt x="15621" y="0"/>
                  <a:pt x="34957" y="0"/>
                </a:cubicBezTo>
                <a:lnTo>
                  <a:pt x="1390079" y="0"/>
                </a:lnTo>
                <a:lnTo>
                  <a:pt x="1390079" y="286"/>
                </a:lnTo>
                <a:lnTo>
                  <a:pt x="1544193" y="131731"/>
                </a:lnTo>
                <a:lnTo>
                  <a:pt x="1544193" y="131731"/>
                </a:lnTo>
                <a:lnTo>
                  <a:pt x="1544193" y="131731"/>
                </a:lnTo>
                <a:close/>
              </a:path>
            </a:pathLst>
          </a:custGeom>
          <a:gradFill flip="none" rotWithShape="1">
            <a:gsLst>
              <a:gs pos="0">
                <a:srgbClr val="00D7A0"/>
              </a:gs>
              <a:gs pos="99000">
                <a:srgbClr val="24C6BE"/>
              </a:gs>
            </a:gsLst>
            <a:lin ang="2277912" scaled="0"/>
          </a:gradFill>
          <a:ln w="12700" cap="flat">
            <a:noFill/>
            <a:miter lim="400000"/>
          </a:ln>
          <a:effectLst>
            <a:outerShdw blurRad="279400" dist="112866" dir="5466904" rotWithShape="0">
              <a:srgbClr val="00D7A0">
                <a:alpha val="26000"/>
              </a:srgbClr>
            </a:outerShdw>
          </a:effectLst>
        </p:spPr>
        <p:txBody>
          <a:bodyPr wrap="square" lIns="0" tIns="0" rIns="50800" bIns="9144" numCol="1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PRE-ENTRY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8AF6C1F4-EF83-40F7-8278-2E33F495C59F}"/>
              </a:ext>
            </a:extLst>
          </p:cNvPr>
          <p:cNvSpPr/>
          <p:nvPr/>
        </p:nvSpPr>
        <p:spPr>
          <a:xfrm>
            <a:off x="6905657" y="1906837"/>
            <a:ext cx="1976829" cy="400217"/>
          </a:xfrm>
          <a:custGeom>
            <a:avLst/>
            <a:gdLst>
              <a:gd name="connsiteX0" fmla="*/ 1541405 w 1552575"/>
              <a:gd name="connsiteY0" fmla="*/ 131731 h 314325"/>
              <a:gd name="connsiteX1" fmla="*/ 1387291 w 1552575"/>
              <a:gd name="connsiteY1" fmla="*/ 286 h 314325"/>
              <a:gd name="connsiteX2" fmla="*/ 1387291 w 1552575"/>
              <a:gd name="connsiteY2" fmla="*/ 0 h 314325"/>
              <a:gd name="connsiteX3" fmla="*/ 32169 w 1552575"/>
              <a:gd name="connsiteY3" fmla="*/ 0 h 314325"/>
              <a:gd name="connsiteX4" fmla="*/ 4070 w 1552575"/>
              <a:gd name="connsiteY4" fmla="*/ 14192 h 314325"/>
              <a:gd name="connsiteX5" fmla="*/ 7976 w 1552575"/>
              <a:gd name="connsiteY5" fmla="*/ 43434 h 314325"/>
              <a:gd name="connsiteX6" fmla="*/ 111608 w 1552575"/>
              <a:gd name="connsiteY6" fmla="*/ 131731 h 314325"/>
              <a:gd name="connsiteX7" fmla="*/ 123800 w 1552575"/>
              <a:gd name="connsiteY7" fmla="*/ 159068 h 314325"/>
              <a:gd name="connsiteX8" fmla="*/ 111608 w 1552575"/>
              <a:gd name="connsiteY8" fmla="*/ 186404 h 314325"/>
              <a:gd name="connsiteX9" fmla="*/ 7880 w 1552575"/>
              <a:gd name="connsiteY9" fmla="*/ 274796 h 314325"/>
              <a:gd name="connsiteX10" fmla="*/ 3975 w 1552575"/>
              <a:gd name="connsiteY10" fmla="*/ 304038 h 314325"/>
              <a:gd name="connsiteX11" fmla="*/ 32074 w 1552575"/>
              <a:gd name="connsiteY11" fmla="*/ 318230 h 314325"/>
              <a:gd name="connsiteX12" fmla="*/ 1387196 w 1552575"/>
              <a:gd name="connsiteY12" fmla="*/ 318230 h 314325"/>
              <a:gd name="connsiteX13" fmla="*/ 1387196 w 1552575"/>
              <a:gd name="connsiteY13" fmla="*/ 317945 h 314325"/>
              <a:gd name="connsiteX14" fmla="*/ 1541310 w 1552575"/>
              <a:gd name="connsiteY14" fmla="*/ 186499 h 314325"/>
              <a:gd name="connsiteX15" fmla="*/ 1553502 w 1552575"/>
              <a:gd name="connsiteY15" fmla="*/ 159163 h 314325"/>
              <a:gd name="connsiteX16" fmla="*/ 1541405 w 1552575"/>
              <a:gd name="connsiteY16" fmla="*/ 131731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52575" h="314325">
                <a:moveTo>
                  <a:pt x="1541405" y="131731"/>
                </a:moveTo>
                <a:lnTo>
                  <a:pt x="1387291" y="286"/>
                </a:lnTo>
                <a:lnTo>
                  <a:pt x="1387291" y="0"/>
                </a:lnTo>
                <a:lnTo>
                  <a:pt x="32169" y="0"/>
                </a:lnTo>
                <a:cubicBezTo>
                  <a:pt x="20644" y="0"/>
                  <a:pt x="10357" y="5524"/>
                  <a:pt x="4070" y="14192"/>
                </a:cubicBezTo>
                <a:cubicBezTo>
                  <a:pt x="-2597" y="23241"/>
                  <a:pt x="-597" y="36100"/>
                  <a:pt x="7976" y="43434"/>
                </a:cubicBezTo>
                <a:lnTo>
                  <a:pt x="111608" y="131731"/>
                </a:lnTo>
                <a:cubicBezTo>
                  <a:pt x="120085" y="138874"/>
                  <a:pt x="124085" y="149066"/>
                  <a:pt x="123800" y="159068"/>
                </a:cubicBezTo>
                <a:cubicBezTo>
                  <a:pt x="124085" y="169164"/>
                  <a:pt x="119990" y="179261"/>
                  <a:pt x="111608" y="186404"/>
                </a:cubicBezTo>
                <a:lnTo>
                  <a:pt x="7880" y="274796"/>
                </a:lnTo>
                <a:cubicBezTo>
                  <a:pt x="-692" y="282131"/>
                  <a:pt x="-2692" y="294989"/>
                  <a:pt x="3975" y="304038"/>
                </a:cubicBezTo>
                <a:cubicBezTo>
                  <a:pt x="10357" y="312611"/>
                  <a:pt x="20549" y="318230"/>
                  <a:pt x="32074" y="318230"/>
                </a:cubicBezTo>
                <a:lnTo>
                  <a:pt x="1387196" y="318230"/>
                </a:lnTo>
                <a:lnTo>
                  <a:pt x="1387196" y="317945"/>
                </a:lnTo>
                <a:lnTo>
                  <a:pt x="1541310" y="186499"/>
                </a:lnTo>
                <a:cubicBezTo>
                  <a:pt x="1549787" y="179356"/>
                  <a:pt x="1553788" y="169164"/>
                  <a:pt x="1553502" y="159163"/>
                </a:cubicBezTo>
                <a:cubicBezTo>
                  <a:pt x="1553883" y="148971"/>
                  <a:pt x="1549883" y="138874"/>
                  <a:pt x="1541405" y="131731"/>
                </a:cubicBezTo>
                <a:close/>
              </a:path>
            </a:pathLst>
          </a:cu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12700" cap="flat">
            <a:noFill/>
            <a:miter lim="400000"/>
          </a:ln>
          <a:effectLst>
            <a:outerShdw blurRad="279400" dist="112866" dir="5466904" rotWithShape="0">
              <a:srgbClr val="4983D0">
                <a:alpha val="26000"/>
              </a:srgbClr>
            </a:outerShdw>
          </a:effectLst>
        </p:spPr>
        <p:txBody>
          <a:bodyPr rot="0" spcFirstLastPara="0" vertOverflow="overflow" horzOverflow="overflow" vert="horz" wrap="square" lIns="0" tIns="0" rIns="50800" bIns="91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2ND MONTH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43695314-8915-4A1B-AFD5-D841C7B52656}"/>
              </a:ext>
            </a:extLst>
          </p:cNvPr>
          <p:cNvSpPr/>
          <p:nvPr/>
        </p:nvSpPr>
        <p:spPr>
          <a:xfrm>
            <a:off x="9003929" y="1906837"/>
            <a:ext cx="1976829" cy="400217"/>
          </a:xfrm>
          <a:custGeom>
            <a:avLst/>
            <a:gdLst>
              <a:gd name="connsiteX0" fmla="*/ 1541405 w 1552575"/>
              <a:gd name="connsiteY0" fmla="*/ 131731 h 314325"/>
              <a:gd name="connsiteX1" fmla="*/ 1387291 w 1552575"/>
              <a:gd name="connsiteY1" fmla="*/ 286 h 314325"/>
              <a:gd name="connsiteX2" fmla="*/ 1387291 w 1552575"/>
              <a:gd name="connsiteY2" fmla="*/ 0 h 314325"/>
              <a:gd name="connsiteX3" fmla="*/ 32169 w 1552575"/>
              <a:gd name="connsiteY3" fmla="*/ 0 h 314325"/>
              <a:gd name="connsiteX4" fmla="*/ 4070 w 1552575"/>
              <a:gd name="connsiteY4" fmla="*/ 14192 h 314325"/>
              <a:gd name="connsiteX5" fmla="*/ 7976 w 1552575"/>
              <a:gd name="connsiteY5" fmla="*/ 43434 h 314325"/>
              <a:gd name="connsiteX6" fmla="*/ 111608 w 1552575"/>
              <a:gd name="connsiteY6" fmla="*/ 131731 h 314325"/>
              <a:gd name="connsiteX7" fmla="*/ 123800 w 1552575"/>
              <a:gd name="connsiteY7" fmla="*/ 159068 h 314325"/>
              <a:gd name="connsiteX8" fmla="*/ 111608 w 1552575"/>
              <a:gd name="connsiteY8" fmla="*/ 186404 h 314325"/>
              <a:gd name="connsiteX9" fmla="*/ 7880 w 1552575"/>
              <a:gd name="connsiteY9" fmla="*/ 274796 h 314325"/>
              <a:gd name="connsiteX10" fmla="*/ 3975 w 1552575"/>
              <a:gd name="connsiteY10" fmla="*/ 304038 h 314325"/>
              <a:gd name="connsiteX11" fmla="*/ 32074 w 1552575"/>
              <a:gd name="connsiteY11" fmla="*/ 318230 h 314325"/>
              <a:gd name="connsiteX12" fmla="*/ 1387196 w 1552575"/>
              <a:gd name="connsiteY12" fmla="*/ 318230 h 314325"/>
              <a:gd name="connsiteX13" fmla="*/ 1387196 w 1552575"/>
              <a:gd name="connsiteY13" fmla="*/ 317945 h 314325"/>
              <a:gd name="connsiteX14" fmla="*/ 1541310 w 1552575"/>
              <a:gd name="connsiteY14" fmla="*/ 186499 h 314325"/>
              <a:gd name="connsiteX15" fmla="*/ 1553502 w 1552575"/>
              <a:gd name="connsiteY15" fmla="*/ 159163 h 314325"/>
              <a:gd name="connsiteX16" fmla="*/ 1541405 w 1552575"/>
              <a:gd name="connsiteY16" fmla="*/ 131731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52575" h="314325">
                <a:moveTo>
                  <a:pt x="1541405" y="131731"/>
                </a:moveTo>
                <a:lnTo>
                  <a:pt x="1387291" y="286"/>
                </a:lnTo>
                <a:lnTo>
                  <a:pt x="1387291" y="0"/>
                </a:lnTo>
                <a:lnTo>
                  <a:pt x="32169" y="0"/>
                </a:lnTo>
                <a:cubicBezTo>
                  <a:pt x="20644" y="0"/>
                  <a:pt x="10357" y="5524"/>
                  <a:pt x="4070" y="14192"/>
                </a:cubicBezTo>
                <a:cubicBezTo>
                  <a:pt x="-2597" y="23241"/>
                  <a:pt x="-597" y="36100"/>
                  <a:pt x="7976" y="43434"/>
                </a:cubicBezTo>
                <a:lnTo>
                  <a:pt x="111608" y="131731"/>
                </a:lnTo>
                <a:cubicBezTo>
                  <a:pt x="120085" y="138874"/>
                  <a:pt x="124085" y="149066"/>
                  <a:pt x="123800" y="159068"/>
                </a:cubicBezTo>
                <a:cubicBezTo>
                  <a:pt x="124085" y="169164"/>
                  <a:pt x="119990" y="179261"/>
                  <a:pt x="111608" y="186404"/>
                </a:cubicBezTo>
                <a:lnTo>
                  <a:pt x="7880" y="274796"/>
                </a:lnTo>
                <a:cubicBezTo>
                  <a:pt x="-692" y="282131"/>
                  <a:pt x="-2692" y="294989"/>
                  <a:pt x="3975" y="304038"/>
                </a:cubicBezTo>
                <a:cubicBezTo>
                  <a:pt x="10357" y="312611"/>
                  <a:pt x="20549" y="318230"/>
                  <a:pt x="32074" y="318230"/>
                </a:cubicBezTo>
                <a:lnTo>
                  <a:pt x="1387196" y="318230"/>
                </a:lnTo>
                <a:lnTo>
                  <a:pt x="1387196" y="317945"/>
                </a:lnTo>
                <a:lnTo>
                  <a:pt x="1541310" y="186499"/>
                </a:lnTo>
                <a:cubicBezTo>
                  <a:pt x="1549787" y="179356"/>
                  <a:pt x="1553788" y="169164"/>
                  <a:pt x="1553502" y="159163"/>
                </a:cubicBezTo>
                <a:cubicBezTo>
                  <a:pt x="1553883" y="148971"/>
                  <a:pt x="1549883" y="138874"/>
                  <a:pt x="1541405" y="131731"/>
                </a:cubicBezTo>
                <a:close/>
              </a:path>
            </a:pathLst>
          </a:cu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12700" cap="flat">
            <a:noFill/>
            <a:miter lim="400000"/>
          </a:ln>
          <a:effectLst>
            <a:outerShdw blurRad="279400" dist="112866" dir="5466904" rotWithShape="0">
              <a:srgbClr val="4983D0">
                <a:alpha val="26000"/>
              </a:srgbClr>
            </a:outerShdw>
          </a:effectLst>
        </p:spPr>
        <p:txBody>
          <a:bodyPr rot="0" spcFirstLastPara="0" vertOverflow="overflow" horzOverflow="overflow" vert="horz" wrap="square" lIns="0" tIns="0" rIns="50800" bIns="91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3RD MONTH</a:t>
            </a:r>
          </a:p>
        </p:txBody>
      </p:sp>
    </p:spTree>
    <p:extLst>
      <p:ext uri="{BB962C8B-B14F-4D97-AF65-F5344CB8AC3E}">
        <p14:creationId xmlns:p14="http://schemas.microsoft.com/office/powerpoint/2010/main" val="2670149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1DD51B6-9D9C-4559-86B1-D9380A6BB58A}"/>
              </a:ext>
            </a:extLst>
          </p:cNvPr>
          <p:cNvCxnSpPr>
            <a:cxnSpLocks/>
          </p:cNvCxnSpPr>
          <p:nvPr/>
        </p:nvCxnSpPr>
        <p:spPr>
          <a:xfrm>
            <a:off x="-1128" y="5236912"/>
            <a:ext cx="12192000" cy="0"/>
          </a:xfrm>
          <a:prstGeom prst="line">
            <a:avLst/>
          </a:prstGeom>
          <a:noFill/>
          <a:ln w="38100" cap="rnd">
            <a:solidFill>
              <a:srgbClr val="9EAABE"/>
            </a:solidFill>
            <a:prstDash val="solid"/>
            <a:round/>
          </a:ln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E68A2F5-FBFB-4A05-ABAD-09ED8119250C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1230112" y="2115580"/>
            <a:ext cx="0" cy="2972107"/>
          </a:xfrm>
          <a:prstGeom prst="line">
            <a:avLst/>
          </a:prstGeom>
          <a:pattFill prst="pct5">
            <a:fgClr>
              <a:srgbClr val="54B2DB"/>
            </a:fgClr>
            <a:bgClr>
              <a:srgbClr val="EDF0F3"/>
            </a:bgClr>
          </a:pattFill>
          <a:ln w="19050" cap="rnd">
            <a:gradFill>
              <a:gsLst>
                <a:gs pos="0">
                  <a:srgbClr val="00D7A0"/>
                </a:gs>
                <a:gs pos="100000">
                  <a:srgbClr val="24C6BE"/>
                </a:gs>
              </a:gsLst>
              <a:lin ang="5400000" scaled="0"/>
            </a:gradFill>
            <a:prstDash val="solid"/>
            <a:round/>
          </a:ln>
        </p:spPr>
      </p:cxnSp>
      <p:sp>
        <p:nvSpPr>
          <p:cNvPr id="37" name="Graphic 3">
            <a:extLst>
              <a:ext uri="{FF2B5EF4-FFF2-40B4-BE49-F238E27FC236}">
                <a16:creationId xmlns:a16="http://schemas.microsoft.com/office/drawing/2014/main" id="{99E8A179-019E-4DE3-96B6-C674F7E05AFD}"/>
              </a:ext>
            </a:extLst>
          </p:cNvPr>
          <p:cNvSpPr/>
          <p:nvPr/>
        </p:nvSpPr>
        <p:spPr>
          <a:xfrm>
            <a:off x="1220589" y="1875477"/>
            <a:ext cx="2063750" cy="480206"/>
          </a:xfrm>
          <a:custGeom>
            <a:avLst/>
            <a:gdLst>
              <a:gd name="connsiteX0" fmla="*/ 1960245 w 1971675"/>
              <a:gd name="connsiteY0" fmla="*/ 169545 h 409575"/>
              <a:gd name="connsiteX1" fmla="*/ 1960245 w 1971675"/>
              <a:gd name="connsiteY1" fmla="*/ 237839 h 409575"/>
              <a:gd name="connsiteX2" fmla="*/ 1762125 w 1971675"/>
              <a:gd name="connsiteY2" fmla="*/ 407099 h 409575"/>
              <a:gd name="connsiteX3" fmla="*/ 1762125 w 1971675"/>
              <a:gd name="connsiteY3" fmla="*/ 409575 h 409575"/>
              <a:gd name="connsiteX4" fmla="*/ 44958 w 1971675"/>
              <a:gd name="connsiteY4" fmla="*/ 409575 h 409575"/>
              <a:gd name="connsiteX5" fmla="*/ 0 w 1971675"/>
              <a:gd name="connsiteY5" fmla="*/ 364617 h 409575"/>
              <a:gd name="connsiteX6" fmla="*/ 0 w 1971675"/>
              <a:gd name="connsiteY6" fmla="*/ 44958 h 409575"/>
              <a:gd name="connsiteX7" fmla="*/ 44958 w 1971675"/>
              <a:gd name="connsiteY7" fmla="*/ 0 h 409575"/>
              <a:gd name="connsiteX8" fmla="*/ 1762125 w 1971675"/>
              <a:gd name="connsiteY8" fmla="*/ 0 h 409575"/>
              <a:gd name="connsiteX9" fmla="*/ 1762125 w 1971675"/>
              <a:gd name="connsiteY9" fmla="*/ 381 h 409575"/>
              <a:gd name="connsiteX10" fmla="*/ 1960245 w 1971675"/>
              <a:gd name="connsiteY10" fmla="*/ 169545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71675" h="409575">
                <a:moveTo>
                  <a:pt x="1960245" y="169545"/>
                </a:moveTo>
                <a:cubicBezTo>
                  <a:pt x="1981295" y="187452"/>
                  <a:pt x="1981295" y="219932"/>
                  <a:pt x="1960245" y="237839"/>
                </a:cubicBezTo>
                <a:lnTo>
                  <a:pt x="1762125" y="407099"/>
                </a:lnTo>
                <a:lnTo>
                  <a:pt x="1762125" y="409575"/>
                </a:lnTo>
                <a:lnTo>
                  <a:pt x="44958" y="409575"/>
                </a:lnTo>
                <a:cubicBezTo>
                  <a:pt x="20098" y="409575"/>
                  <a:pt x="0" y="389477"/>
                  <a:pt x="0" y="364617"/>
                </a:cubicBezTo>
                <a:lnTo>
                  <a:pt x="0" y="44958"/>
                </a:lnTo>
                <a:cubicBezTo>
                  <a:pt x="0" y="20098"/>
                  <a:pt x="20098" y="0"/>
                  <a:pt x="44958" y="0"/>
                </a:cubicBezTo>
                <a:lnTo>
                  <a:pt x="1762125" y="0"/>
                </a:lnTo>
                <a:lnTo>
                  <a:pt x="1762125" y="381"/>
                </a:lnTo>
                <a:lnTo>
                  <a:pt x="1960245" y="169545"/>
                </a:lnTo>
                <a:close/>
              </a:path>
            </a:pathLst>
          </a:custGeom>
          <a:gradFill flip="none" rotWithShape="1">
            <a:gsLst>
              <a:gs pos="0">
                <a:srgbClr val="00D7A0"/>
              </a:gs>
              <a:gs pos="73000">
                <a:srgbClr val="24C6BE"/>
              </a:gs>
            </a:gsLst>
            <a:lin ang="2277912" scaled="0"/>
          </a:gradFill>
          <a:ln w="12700" cap="flat">
            <a:noFill/>
            <a:miter lim="400000"/>
          </a:ln>
          <a:effectLst>
            <a:outerShdw blurRad="279400" dist="112866" dir="5466904" rotWithShape="0">
              <a:srgbClr val="4983D0">
                <a:alpha val="26000"/>
              </a:srgbClr>
            </a:outerShdw>
          </a:effectLst>
        </p:spPr>
        <p:txBody>
          <a:bodyPr wrap="square" lIns="0" tIns="0" rIns="50800" bIns="9144" numCol="1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LEARNING GOALS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48E2EF5E-27E9-4FF5-9193-31B257F90236}"/>
              </a:ext>
            </a:extLst>
          </p:cNvPr>
          <p:cNvSpPr>
            <a:spLocks noChangeAspect="1"/>
          </p:cNvSpPr>
          <p:nvPr/>
        </p:nvSpPr>
        <p:spPr>
          <a:xfrm>
            <a:off x="1177099" y="2812672"/>
            <a:ext cx="92600" cy="91440"/>
          </a:xfrm>
          <a:prstGeom prst="ellipse">
            <a:avLst/>
          </a:prstGeom>
          <a:gradFill flip="none" rotWithShape="1">
            <a:gsLst>
              <a:gs pos="0">
                <a:srgbClr val="00D7A0"/>
              </a:gs>
              <a:gs pos="100000">
                <a:srgbClr val="24C6BE"/>
              </a:gs>
            </a:gsLst>
            <a:lin ang="2277912" scaled="0"/>
          </a:gradFill>
          <a:ln w="79375" cap="flat">
            <a:gradFill>
              <a:gsLst>
                <a:gs pos="0">
                  <a:srgbClr val="00D7A0">
                    <a:alpha val="25000"/>
                  </a:srgbClr>
                </a:gs>
                <a:gs pos="100000">
                  <a:srgbClr val="24C6BE">
                    <a:alpha val="25000"/>
                  </a:srgbClr>
                </a:gs>
              </a:gsLst>
              <a:lin ang="5400000" scaled="1"/>
            </a:gra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200" baseline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4DD5F77-0688-43CF-918E-1AC75E7D1B5B}"/>
              </a:ext>
            </a:extLst>
          </p:cNvPr>
          <p:cNvSpPr txBox="1"/>
          <p:nvPr/>
        </p:nvSpPr>
        <p:spPr>
          <a:xfrm>
            <a:off x="1410293" y="2691992"/>
            <a:ext cx="1495922" cy="432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Formal Training</a:t>
            </a:r>
          </a:p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Presentation Etiquettes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5F38763B-5BCA-46A6-81AA-5C17B61FE18B}"/>
              </a:ext>
            </a:extLst>
          </p:cNvPr>
          <p:cNvSpPr>
            <a:spLocks noChangeAspect="1"/>
          </p:cNvSpPr>
          <p:nvPr/>
        </p:nvSpPr>
        <p:spPr>
          <a:xfrm>
            <a:off x="1177099" y="3513588"/>
            <a:ext cx="92600" cy="91440"/>
          </a:xfrm>
          <a:prstGeom prst="ellipse">
            <a:avLst/>
          </a:prstGeom>
          <a:gradFill flip="none" rotWithShape="1">
            <a:gsLst>
              <a:gs pos="0">
                <a:srgbClr val="00D7A0"/>
              </a:gs>
              <a:gs pos="100000">
                <a:srgbClr val="24C6BE"/>
              </a:gs>
            </a:gsLst>
            <a:lin ang="2277912" scaled="0"/>
          </a:gradFill>
          <a:ln w="79375" cap="flat">
            <a:gradFill>
              <a:gsLst>
                <a:gs pos="0">
                  <a:srgbClr val="00D7A0">
                    <a:alpha val="25000"/>
                  </a:srgbClr>
                </a:gs>
                <a:gs pos="100000">
                  <a:srgbClr val="24C6BE">
                    <a:alpha val="25000"/>
                  </a:srgbClr>
                </a:gs>
              </a:gsLst>
              <a:lin ang="5400000" scaled="1"/>
            </a:gra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200" baseline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59E97B2-0527-4CD4-A44F-43F7EC38D8E4}"/>
              </a:ext>
            </a:extLst>
          </p:cNvPr>
          <p:cNvSpPr txBox="1"/>
          <p:nvPr/>
        </p:nvSpPr>
        <p:spPr>
          <a:xfrm>
            <a:off x="1410293" y="3392908"/>
            <a:ext cx="1495922" cy="432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Best activities to pursue</a:t>
            </a:r>
          </a:p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Company goal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1A17D0E7-C8FE-44CC-B3A7-4ADA4D3DFF7C}"/>
              </a:ext>
            </a:extLst>
          </p:cNvPr>
          <p:cNvSpPr>
            <a:spLocks noChangeAspect="1"/>
          </p:cNvSpPr>
          <p:nvPr/>
        </p:nvSpPr>
        <p:spPr>
          <a:xfrm>
            <a:off x="1177099" y="4214505"/>
            <a:ext cx="92600" cy="91440"/>
          </a:xfrm>
          <a:prstGeom prst="ellipse">
            <a:avLst/>
          </a:prstGeom>
          <a:gradFill flip="none" rotWithShape="1">
            <a:gsLst>
              <a:gs pos="0">
                <a:srgbClr val="00D7A0"/>
              </a:gs>
              <a:gs pos="100000">
                <a:srgbClr val="24C6BE"/>
              </a:gs>
            </a:gsLst>
            <a:lin ang="2277912" scaled="0"/>
          </a:gradFill>
          <a:ln w="79375" cap="flat">
            <a:gradFill>
              <a:gsLst>
                <a:gs pos="0">
                  <a:srgbClr val="00D7A0">
                    <a:alpha val="25000"/>
                  </a:srgbClr>
                </a:gs>
                <a:gs pos="100000">
                  <a:srgbClr val="24C6BE">
                    <a:alpha val="25000"/>
                  </a:srgbClr>
                </a:gs>
              </a:gsLst>
              <a:lin ang="5400000" scaled="1"/>
            </a:gra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200" baseline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FE910BD-E7FE-4EEC-8313-71FEF7A3507E}"/>
              </a:ext>
            </a:extLst>
          </p:cNvPr>
          <p:cNvSpPr txBox="1"/>
          <p:nvPr/>
        </p:nvSpPr>
        <p:spPr>
          <a:xfrm>
            <a:off x="1410294" y="4093825"/>
            <a:ext cx="1530892" cy="432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Contribution from long-term success</a:t>
            </a: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B35C6230-F77E-4AE2-B6E9-E29FD481A3B0}"/>
              </a:ext>
            </a:extLst>
          </p:cNvPr>
          <p:cNvCxnSpPr>
            <a:cxnSpLocks/>
            <a:endCxn id="170" idx="0"/>
          </p:cNvCxnSpPr>
          <p:nvPr/>
        </p:nvCxnSpPr>
        <p:spPr>
          <a:xfrm>
            <a:off x="9195567" y="2115580"/>
            <a:ext cx="0" cy="2972107"/>
          </a:xfrm>
          <a:prstGeom prst="line">
            <a:avLst/>
          </a:prstGeom>
          <a:pattFill prst="pct5">
            <a:fgClr>
              <a:srgbClr val="54B2DB"/>
            </a:fgClr>
            <a:bgClr>
              <a:srgbClr val="EDF0F3"/>
            </a:bgClr>
          </a:pattFill>
          <a:ln w="19050" cap="rnd">
            <a:gradFill>
              <a:gsLst>
                <a:gs pos="0">
                  <a:srgbClr val="54B2DB"/>
                </a:gs>
                <a:gs pos="100000">
                  <a:srgbClr val="4983D0"/>
                </a:gs>
              </a:gsLst>
              <a:lin ang="5400000" scaled="0"/>
            </a:gradFill>
            <a:prstDash val="solid"/>
            <a:round/>
          </a:ln>
        </p:spPr>
      </p:cxnSp>
      <p:sp>
        <p:nvSpPr>
          <p:cNvPr id="169" name="Graphic 3">
            <a:extLst>
              <a:ext uri="{FF2B5EF4-FFF2-40B4-BE49-F238E27FC236}">
                <a16:creationId xmlns:a16="http://schemas.microsoft.com/office/drawing/2014/main" id="{3C4D872D-B10D-45E9-83AA-DDB6F55A538B}"/>
              </a:ext>
            </a:extLst>
          </p:cNvPr>
          <p:cNvSpPr/>
          <p:nvPr/>
        </p:nvSpPr>
        <p:spPr>
          <a:xfrm>
            <a:off x="9186044" y="1875477"/>
            <a:ext cx="2063750" cy="480206"/>
          </a:xfrm>
          <a:custGeom>
            <a:avLst/>
            <a:gdLst>
              <a:gd name="connsiteX0" fmla="*/ 1960245 w 1971675"/>
              <a:gd name="connsiteY0" fmla="*/ 169545 h 409575"/>
              <a:gd name="connsiteX1" fmla="*/ 1960245 w 1971675"/>
              <a:gd name="connsiteY1" fmla="*/ 237839 h 409575"/>
              <a:gd name="connsiteX2" fmla="*/ 1762125 w 1971675"/>
              <a:gd name="connsiteY2" fmla="*/ 407099 h 409575"/>
              <a:gd name="connsiteX3" fmla="*/ 1762125 w 1971675"/>
              <a:gd name="connsiteY3" fmla="*/ 409575 h 409575"/>
              <a:gd name="connsiteX4" fmla="*/ 44958 w 1971675"/>
              <a:gd name="connsiteY4" fmla="*/ 409575 h 409575"/>
              <a:gd name="connsiteX5" fmla="*/ 0 w 1971675"/>
              <a:gd name="connsiteY5" fmla="*/ 364617 h 409575"/>
              <a:gd name="connsiteX6" fmla="*/ 0 w 1971675"/>
              <a:gd name="connsiteY6" fmla="*/ 44958 h 409575"/>
              <a:gd name="connsiteX7" fmla="*/ 44958 w 1971675"/>
              <a:gd name="connsiteY7" fmla="*/ 0 h 409575"/>
              <a:gd name="connsiteX8" fmla="*/ 1762125 w 1971675"/>
              <a:gd name="connsiteY8" fmla="*/ 0 h 409575"/>
              <a:gd name="connsiteX9" fmla="*/ 1762125 w 1971675"/>
              <a:gd name="connsiteY9" fmla="*/ 381 h 409575"/>
              <a:gd name="connsiteX10" fmla="*/ 1960245 w 1971675"/>
              <a:gd name="connsiteY10" fmla="*/ 169545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71675" h="409575">
                <a:moveTo>
                  <a:pt x="1960245" y="169545"/>
                </a:moveTo>
                <a:cubicBezTo>
                  <a:pt x="1981295" y="187452"/>
                  <a:pt x="1981295" y="219932"/>
                  <a:pt x="1960245" y="237839"/>
                </a:cubicBezTo>
                <a:lnTo>
                  <a:pt x="1762125" y="407099"/>
                </a:lnTo>
                <a:lnTo>
                  <a:pt x="1762125" y="409575"/>
                </a:lnTo>
                <a:lnTo>
                  <a:pt x="44958" y="409575"/>
                </a:lnTo>
                <a:cubicBezTo>
                  <a:pt x="20098" y="409575"/>
                  <a:pt x="0" y="389477"/>
                  <a:pt x="0" y="364617"/>
                </a:cubicBezTo>
                <a:lnTo>
                  <a:pt x="0" y="44958"/>
                </a:lnTo>
                <a:cubicBezTo>
                  <a:pt x="0" y="20098"/>
                  <a:pt x="20098" y="0"/>
                  <a:pt x="44958" y="0"/>
                </a:cubicBezTo>
                <a:lnTo>
                  <a:pt x="1762125" y="0"/>
                </a:lnTo>
                <a:lnTo>
                  <a:pt x="1762125" y="381"/>
                </a:lnTo>
                <a:lnTo>
                  <a:pt x="1960245" y="169545"/>
                </a:lnTo>
                <a:close/>
              </a:path>
            </a:pathLst>
          </a:cu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12700" cap="flat">
            <a:noFill/>
            <a:miter lim="400000"/>
          </a:ln>
          <a:effectLst>
            <a:outerShdw blurRad="279400" dist="112866" dir="5466904" rotWithShape="0">
              <a:srgbClr val="4983D0">
                <a:alpha val="26000"/>
              </a:srgbClr>
            </a:outerShdw>
          </a:effectLst>
        </p:spPr>
        <p:txBody>
          <a:bodyPr wrap="square" lIns="0" tIns="0" rIns="50800" bIns="9144" numCol="1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PERFORMANCE GOALS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2B53977E-B39E-461A-9CB9-C22EDC3CE103}"/>
              </a:ext>
            </a:extLst>
          </p:cNvPr>
          <p:cNvSpPr>
            <a:spLocks noChangeAspect="1"/>
          </p:cNvSpPr>
          <p:nvPr/>
        </p:nvSpPr>
        <p:spPr>
          <a:xfrm>
            <a:off x="9142554" y="2812672"/>
            <a:ext cx="92600" cy="91440"/>
          </a:xfrm>
          <a:prstGeom prst="ellipse">
            <a:avLst/>
          </a:pr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79375" cap="flat">
            <a:gradFill>
              <a:gsLst>
                <a:gs pos="0">
                  <a:srgbClr val="54B2DB">
                    <a:alpha val="25000"/>
                  </a:srgbClr>
                </a:gs>
                <a:gs pos="100000">
                  <a:srgbClr val="4983D0">
                    <a:alpha val="25000"/>
                  </a:srgbClr>
                </a:gs>
              </a:gsLst>
              <a:lin ang="5400000" scaled="1"/>
            </a:gra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200" baseline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ED200C4-31FA-4555-B1F2-9CE3B9536BC6}"/>
              </a:ext>
            </a:extLst>
          </p:cNvPr>
          <p:cNvSpPr txBox="1"/>
          <p:nvPr/>
        </p:nvSpPr>
        <p:spPr>
          <a:xfrm>
            <a:off x="9375748" y="2691992"/>
            <a:ext cx="1688283" cy="432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Benchmark influencers</a:t>
            </a:r>
          </a:p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External influences (clients)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29DD0CCC-286C-41AB-8B3E-35020F85AA65}"/>
              </a:ext>
            </a:extLst>
          </p:cNvPr>
          <p:cNvSpPr>
            <a:spLocks noChangeAspect="1"/>
          </p:cNvSpPr>
          <p:nvPr/>
        </p:nvSpPr>
        <p:spPr>
          <a:xfrm>
            <a:off x="9142554" y="3513588"/>
            <a:ext cx="92600" cy="91440"/>
          </a:xfrm>
          <a:prstGeom prst="ellipse">
            <a:avLst/>
          </a:pr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79375" cap="flat">
            <a:gradFill>
              <a:gsLst>
                <a:gs pos="0">
                  <a:srgbClr val="54B2DB">
                    <a:alpha val="25000"/>
                  </a:srgbClr>
                </a:gs>
                <a:gs pos="100000">
                  <a:srgbClr val="4983D0">
                    <a:alpha val="25000"/>
                  </a:srgbClr>
                </a:gs>
              </a:gsLst>
              <a:lin ang="5400000" scaled="1"/>
            </a:gra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200" baseline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4F046AC-D69E-4178-A87C-34AAC0499CEF}"/>
              </a:ext>
            </a:extLst>
          </p:cNvPr>
          <p:cNvSpPr txBox="1"/>
          <p:nvPr/>
        </p:nvSpPr>
        <p:spPr>
          <a:xfrm>
            <a:off x="9375748" y="3392908"/>
            <a:ext cx="1391728" cy="432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Establish key metrics</a:t>
            </a:r>
          </a:p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Project management</a:t>
            </a: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7AD2DCFB-24F8-49ED-A08C-90A13367A17E}"/>
              </a:ext>
            </a:extLst>
          </p:cNvPr>
          <p:cNvSpPr>
            <a:spLocks noChangeAspect="1"/>
          </p:cNvSpPr>
          <p:nvPr/>
        </p:nvSpPr>
        <p:spPr>
          <a:xfrm>
            <a:off x="9142554" y="4214505"/>
            <a:ext cx="92600" cy="91440"/>
          </a:xfrm>
          <a:prstGeom prst="ellipse">
            <a:avLst/>
          </a:pr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79375" cap="flat">
            <a:gradFill>
              <a:gsLst>
                <a:gs pos="0">
                  <a:srgbClr val="54B2DB">
                    <a:alpha val="25000"/>
                  </a:srgbClr>
                </a:gs>
                <a:gs pos="100000">
                  <a:srgbClr val="4983D0">
                    <a:alpha val="25000"/>
                  </a:srgbClr>
                </a:gs>
              </a:gsLst>
              <a:lin ang="5400000" scaled="1"/>
            </a:gra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200" baseline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95994AFF-86F0-4AEE-9C67-BF92F08C41FD}"/>
              </a:ext>
            </a:extLst>
          </p:cNvPr>
          <p:cNvSpPr txBox="1"/>
          <p:nvPr/>
        </p:nvSpPr>
        <p:spPr>
          <a:xfrm>
            <a:off x="9375749" y="4093825"/>
            <a:ext cx="1530892" cy="432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Demonstrate learning</a:t>
            </a:r>
          </a:p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Company visions</a:t>
            </a:r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B5258A7D-1CED-4664-8371-44DE0F33A9AF}"/>
              </a:ext>
            </a:extLst>
          </p:cNvPr>
          <p:cNvCxnSpPr>
            <a:cxnSpLocks/>
            <a:endCxn id="185" idx="0"/>
          </p:cNvCxnSpPr>
          <p:nvPr/>
        </p:nvCxnSpPr>
        <p:spPr>
          <a:xfrm>
            <a:off x="6540416" y="2115580"/>
            <a:ext cx="0" cy="2972107"/>
          </a:xfrm>
          <a:prstGeom prst="line">
            <a:avLst/>
          </a:prstGeom>
          <a:pattFill prst="pct5">
            <a:fgClr>
              <a:srgbClr val="54B2DB"/>
            </a:fgClr>
            <a:bgClr>
              <a:srgbClr val="EDF0F3"/>
            </a:bgClr>
          </a:pattFill>
          <a:ln w="19050" cap="rnd">
            <a:gradFill>
              <a:gsLst>
                <a:gs pos="0">
                  <a:srgbClr val="00D7A0"/>
                </a:gs>
                <a:gs pos="100000">
                  <a:srgbClr val="24C6BE"/>
                </a:gs>
              </a:gsLst>
              <a:lin ang="5400000" scaled="0"/>
            </a:gradFill>
            <a:prstDash val="solid"/>
            <a:round/>
          </a:ln>
        </p:spPr>
      </p:cxnSp>
      <p:sp>
        <p:nvSpPr>
          <p:cNvPr id="184" name="Graphic 3">
            <a:extLst>
              <a:ext uri="{FF2B5EF4-FFF2-40B4-BE49-F238E27FC236}">
                <a16:creationId xmlns:a16="http://schemas.microsoft.com/office/drawing/2014/main" id="{0CB492FC-AE3C-47D8-BEB9-7E4F2C633AF3}"/>
              </a:ext>
            </a:extLst>
          </p:cNvPr>
          <p:cNvSpPr/>
          <p:nvPr/>
        </p:nvSpPr>
        <p:spPr>
          <a:xfrm>
            <a:off x="6530893" y="1875477"/>
            <a:ext cx="2063750" cy="480206"/>
          </a:xfrm>
          <a:custGeom>
            <a:avLst/>
            <a:gdLst>
              <a:gd name="connsiteX0" fmla="*/ 1960245 w 1971675"/>
              <a:gd name="connsiteY0" fmla="*/ 169545 h 409575"/>
              <a:gd name="connsiteX1" fmla="*/ 1960245 w 1971675"/>
              <a:gd name="connsiteY1" fmla="*/ 237839 h 409575"/>
              <a:gd name="connsiteX2" fmla="*/ 1762125 w 1971675"/>
              <a:gd name="connsiteY2" fmla="*/ 407099 h 409575"/>
              <a:gd name="connsiteX3" fmla="*/ 1762125 w 1971675"/>
              <a:gd name="connsiteY3" fmla="*/ 409575 h 409575"/>
              <a:gd name="connsiteX4" fmla="*/ 44958 w 1971675"/>
              <a:gd name="connsiteY4" fmla="*/ 409575 h 409575"/>
              <a:gd name="connsiteX5" fmla="*/ 0 w 1971675"/>
              <a:gd name="connsiteY5" fmla="*/ 364617 h 409575"/>
              <a:gd name="connsiteX6" fmla="*/ 0 w 1971675"/>
              <a:gd name="connsiteY6" fmla="*/ 44958 h 409575"/>
              <a:gd name="connsiteX7" fmla="*/ 44958 w 1971675"/>
              <a:gd name="connsiteY7" fmla="*/ 0 h 409575"/>
              <a:gd name="connsiteX8" fmla="*/ 1762125 w 1971675"/>
              <a:gd name="connsiteY8" fmla="*/ 0 h 409575"/>
              <a:gd name="connsiteX9" fmla="*/ 1762125 w 1971675"/>
              <a:gd name="connsiteY9" fmla="*/ 381 h 409575"/>
              <a:gd name="connsiteX10" fmla="*/ 1960245 w 1971675"/>
              <a:gd name="connsiteY10" fmla="*/ 169545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71675" h="409575">
                <a:moveTo>
                  <a:pt x="1960245" y="169545"/>
                </a:moveTo>
                <a:cubicBezTo>
                  <a:pt x="1981295" y="187452"/>
                  <a:pt x="1981295" y="219932"/>
                  <a:pt x="1960245" y="237839"/>
                </a:cubicBezTo>
                <a:lnTo>
                  <a:pt x="1762125" y="407099"/>
                </a:lnTo>
                <a:lnTo>
                  <a:pt x="1762125" y="409575"/>
                </a:lnTo>
                <a:lnTo>
                  <a:pt x="44958" y="409575"/>
                </a:lnTo>
                <a:cubicBezTo>
                  <a:pt x="20098" y="409575"/>
                  <a:pt x="0" y="389477"/>
                  <a:pt x="0" y="364617"/>
                </a:cubicBezTo>
                <a:lnTo>
                  <a:pt x="0" y="44958"/>
                </a:lnTo>
                <a:cubicBezTo>
                  <a:pt x="0" y="20098"/>
                  <a:pt x="20098" y="0"/>
                  <a:pt x="44958" y="0"/>
                </a:cubicBezTo>
                <a:lnTo>
                  <a:pt x="1762125" y="0"/>
                </a:lnTo>
                <a:lnTo>
                  <a:pt x="1762125" y="381"/>
                </a:lnTo>
                <a:lnTo>
                  <a:pt x="1960245" y="169545"/>
                </a:lnTo>
                <a:close/>
              </a:path>
            </a:pathLst>
          </a:custGeom>
          <a:gradFill flip="none" rotWithShape="1">
            <a:gsLst>
              <a:gs pos="0">
                <a:srgbClr val="00D7A0"/>
              </a:gs>
              <a:gs pos="73000">
                <a:srgbClr val="24C6BE"/>
              </a:gs>
            </a:gsLst>
            <a:lin ang="2277912" scaled="0"/>
          </a:gradFill>
          <a:ln w="12700" cap="flat">
            <a:noFill/>
            <a:miter lim="400000"/>
          </a:ln>
          <a:effectLst>
            <a:outerShdw blurRad="279400" dist="112866" dir="5466904" rotWithShape="0">
              <a:srgbClr val="4983D0">
                <a:alpha val="26000"/>
              </a:srgbClr>
            </a:outerShdw>
          </a:effectLst>
        </p:spPr>
        <p:txBody>
          <a:bodyPr wrap="square" lIns="0" tIns="0" rIns="50800" bIns="9144" numCol="1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PERSONAL GOALS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3BB4162-FC3E-4D3E-9060-EB48AA4920E6}"/>
              </a:ext>
            </a:extLst>
          </p:cNvPr>
          <p:cNvSpPr>
            <a:spLocks noChangeAspect="1"/>
          </p:cNvSpPr>
          <p:nvPr/>
        </p:nvSpPr>
        <p:spPr>
          <a:xfrm>
            <a:off x="6487403" y="2812672"/>
            <a:ext cx="92600" cy="91440"/>
          </a:xfrm>
          <a:prstGeom prst="ellipse">
            <a:avLst/>
          </a:prstGeom>
          <a:gradFill flip="none" rotWithShape="1">
            <a:gsLst>
              <a:gs pos="0">
                <a:srgbClr val="00D7A0"/>
              </a:gs>
              <a:gs pos="100000">
                <a:srgbClr val="24C6BE"/>
              </a:gs>
            </a:gsLst>
            <a:lin ang="2277912" scaled="0"/>
          </a:gradFill>
          <a:ln w="79375" cap="flat">
            <a:gradFill>
              <a:gsLst>
                <a:gs pos="0">
                  <a:srgbClr val="00D7A0">
                    <a:alpha val="25000"/>
                  </a:srgbClr>
                </a:gs>
                <a:gs pos="100000">
                  <a:srgbClr val="24C6BE">
                    <a:alpha val="25000"/>
                  </a:srgbClr>
                </a:gs>
              </a:gsLst>
              <a:lin ang="5400000" scaled="1"/>
            </a:gra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200" baseline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D9C4EB3-3190-436F-A0AD-B30CC2A3C985}"/>
              </a:ext>
            </a:extLst>
          </p:cNvPr>
          <p:cNvSpPr txBox="1"/>
          <p:nvPr/>
        </p:nvSpPr>
        <p:spPr>
          <a:xfrm>
            <a:off x="6720597" y="2691992"/>
            <a:ext cx="1420582" cy="432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Organization structure</a:t>
            </a:r>
          </a:p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HR Management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C4C6E525-16F2-490E-B115-B11B6DEAAE2F}"/>
              </a:ext>
            </a:extLst>
          </p:cNvPr>
          <p:cNvSpPr>
            <a:spLocks noChangeAspect="1"/>
          </p:cNvSpPr>
          <p:nvPr/>
        </p:nvSpPr>
        <p:spPr>
          <a:xfrm>
            <a:off x="6487403" y="3513588"/>
            <a:ext cx="92600" cy="91440"/>
          </a:xfrm>
          <a:prstGeom prst="ellipse">
            <a:avLst/>
          </a:prstGeom>
          <a:gradFill flip="none" rotWithShape="1">
            <a:gsLst>
              <a:gs pos="0">
                <a:srgbClr val="00D7A0"/>
              </a:gs>
              <a:gs pos="100000">
                <a:srgbClr val="24C6BE"/>
              </a:gs>
            </a:gsLst>
            <a:lin ang="2277912" scaled="0"/>
          </a:gradFill>
          <a:ln w="79375" cap="flat">
            <a:gradFill>
              <a:gsLst>
                <a:gs pos="0">
                  <a:srgbClr val="00D7A0">
                    <a:alpha val="25000"/>
                  </a:srgbClr>
                </a:gs>
                <a:gs pos="100000">
                  <a:srgbClr val="24C6BE">
                    <a:alpha val="25000"/>
                  </a:srgbClr>
                </a:gs>
              </a:gsLst>
              <a:lin ang="5400000" scaled="1"/>
            </a:gra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200" baseline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CB3BBF3-6384-46DE-A73F-3D135C8DF54F}"/>
              </a:ext>
            </a:extLst>
          </p:cNvPr>
          <p:cNvSpPr txBox="1"/>
          <p:nvPr/>
        </p:nvSpPr>
        <p:spPr>
          <a:xfrm>
            <a:off x="6720597" y="3392908"/>
            <a:ext cx="1596912" cy="432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Set change expectations</a:t>
            </a:r>
          </a:p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Regular meetings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7B8EEEC8-FBAA-4664-ABD4-35CF157B2189}"/>
              </a:ext>
            </a:extLst>
          </p:cNvPr>
          <p:cNvSpPr>
            <a:spLocks noChangeAspect="1"/>
          </p:cNvSpPr>
          <p:nvPr/>
        </p:nvSpPr>
        <p:spPr>
          <a:xfrm>
            <a:off x="6487403" y="4214505"/>
            <a:ext cx="92600" cy="91440"/>
          </a:xfrm>
          <a:prstGeom prst="ellipse">
            <a:avLst/>
          </a:prstGeom>
          <a:gradFill flip="none" rotWithShape="1">
            <a:gsLst>
              <a:gs pos="0">
                <a:srgbClr val="00D7A0"/>
              </a:gs>
              <a:gs pos="100000">
                <a:srgbClr val="24C6BE"/>
              </a:gs>
            </a:gsLst>
            <a:lin ang="2277912" scaled="0"/>
          </a:gradFill>
          <a:ln w="79375" cap="flat">
            <a:gradFill>
              <a:gsLst>
                <a:gs pos="0">
                  <a:srgbClr val="00D7A0">
                    <a:alpha val="25000"/>
                  </a:srgbClr>
                </a:gs>
                <a:gs pos="100000">
                  <a:srgbClr val="24C6BE">
                    <a:alpha val="25000"/>
                  </a:srgbClr>
                </a:gs>
              </a:gsLst>
              <a:lin ang="5400000" scaled="1"/>
            </a:gra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200" baseline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3C03EB58-1268-4B15-BB78-5A44DBAE7FF8}"/>
              </a:ext>
            </a:extLst>
          </p:cNvPr>
          <p:cNvSpPr txBox="1"/>
          <p:nvPr/>
        </p:nvSpPr>
        <p:spPr>
          <a:xfrm>
            <a:off x="6720598" y="4093825"/>
            <a:ext cx="1530892" cy="432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Regular feedback loop</a:t>
            </a:r>
          </a:p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Customer service</a:t>
            </a:r>
          </a:p>
        </p:txBody>
      </p: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D1FD9A3F-0C06-4401-A689-28F1727018FC}"/>
              </a:ext>
            </a:extLst>
          </p:cNvPr>
          <p:cNvCxnSpPr>
            <a:cxnSpLocks/>
            <a:endCxn id="200" idx="0"/>
          </p:cNvCxnSpPr>
          <p:nvPr/>
        </p:nvCxnSpPr>
        <p:spPr>
          <a:xfrm>
            <a:off x="3885264" y="2115580"/>
            <a:ext cx="0" cy="2972107"/>
          </a:xfrm>
          <a:prstGeom prst="line">
            <a:avLst/>
          </a:prstGeom>
          <a:pattFill prst="pct5">
            <a:fgClr>
              <a:srgbClr val="54B2DB"/>
            </a:fgClr>
            <a:bgClr>
              <a:srgbClr val="EDF0F3"/>
            </a:bgClr>
          </a:pattFill>
          <a:ln w="19050" cap="rnd">
            <a:gradFill>
              <a:gsLst>
                <a:gs pos="0">
                  <a:srgbClr val="54B2DB"/>
                </a:gs>
                <a:gs pos="100000">
                  <a:srgbClr val="4983D0"/>
                </a:gs>
              </a:gsLst>
              <a:lin ang="5400000" scaled="0"/>
            </a:gradFill>
            <a:prstDash val="solid"/>
            <a:round/>
          </a:ln>
        </p:spPr>
      </p:cxnSp>
      <p:sp>
        <p:nvSpPr>
          <p:cNvPr id="199" name="Graphic 3">
            <a:extLst>
              <a:ext uri="{FF2B5EF4-FFF2-40B4-BE49-F238E27FC236}">
                <a16:creationId xmlns:a16="http://schemas.microsoft.com/office/drawing/2014/main" id="{EF76FCD9-C504-4625-AB05-16F1B96964CE}"/>
              </a:ext>
            </a:extLst>
          </p:cNvPr>
          <p:cNvSpPr/>
          <p:nvPr/>
        </p:nvSpPr>
        <p:spPr>
          <a:xfrm>
            <a:off x="3875741" y="1875477"/>
            <a:ext cx="2063750" cy="480206"/>
          </a:xfrm>
          <a:custGeom>
            <a:avLst/>
            <a:gdLst>
              <a:gd name="connsiteX0" fmla="*/ 1960245 w 1971675"/>
              <a:gd name="connsiteY0" fmla="*/ 169545 h 409575"/>
              <a:gd name="connsiteX1" fmla="*/ 1960245 w 1971675"/>
              <a:gd name="connsiteY1" fmla="*/ 237839 h 409575"/>
              <a:gd name="connsiteX2" fmla="*/ 1762125 w 1971675"/>
              <a:gd name="connsiteY2" fmla="*/ 407099 h 409575"/>
              <a:gd name="connsiteX3" fmla="*/ 1762125 w 1971675"/>
              <a:gd name="connsiteY3" fmla="*/ 409575 h 409575"/>
              <a:gd name="connsiteX4" fmla="*/ 44958 w 1971675"/>
              <a:gd name="connsiteY4" fmla="*/ 409575 h 409575"/>
              <a:gd name="connsiteX5" fmla="*/ 0 w 1971675"/>
              <a:gd name="connsiteY5" fmla="*/ 364617 h 409575"/>
              <a:gd name="connsiteX6" fmla="*/ 0 w 1971675"/>
              <a:gd name="connsiteY6" fmla="*/ 44958 h 409575"/>
              <a:gd name="connsiteX7" fmla="*/ 44958 w 1971675"/>
              <a:gd name="connsiteY7" fmla="*/ 0 h 409575"/>
              <a:gd name="connsiteX8" fmla="*/ 1762125 w 1971675"/>
              <a:gd name="connsiteY8" fmla="*/ 0 h 409575"/>
              <a:gd name="connsiteX9" fmla="*/ 1762125 w 1971675"/>
              <a:gd name="connsiteY9" fmla="*/ 381 h 409575"/>
              <a:gd name="connsiteX10" fmla="*/ 1960245 w 1971675"/>
              <a:gd name="connsiteY10" fmla="*/ 169545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71675" h="409575">
                <a:moveTo>
                  <a:pt x="1960245" y="169545"/>
                </a:moveTo>
                <a:cubicBezTo>
                  <a:pt x="1981295" y="187452"/>
                  <a:pt x="1981295" y="219932"/>
                  <a:pt x="1960245" y="237839"/>
                </a:cubicBezTo>
                <a:lnTo>
                  <a:pt x="1762125" y="407099"/>
                </a:lnTo>
                <a:lnTo>
                  <a:pt x="1762125" y="409575"/>
                </a:lnTo>
                <a:lnTo>
                  <a:pt x="44958" y="409575"/>
                </a:lnTo>
                <a:cubicBezTo>
                  <a:pt x="20098" y="409575"/>
                  <a:pt x="0" y="389477"/>
                  <a:pt x="0" y="364617"/>
                </a:cubicBezTo>
                <a:lnTo>
                  <a:pt x="0" y="44958"/>
                </a:lnTo>
                <a:cubicBezTo>
                  <a:pt x="0" y="20098"/>
                  <a:pt x="20098" y="0"/>
                  <a:pt x="44958" y="0"/>
                </a:cubicBezTo>
                <a:lnTo>
                  <a:pt x="1762125" y="0"/>
                </a:lnTo>
                <a:lnTo>
                  <a:pt x="1762125" y="381"/>
                </a:lnTo>
                <a:lnTo>
                  <a:pt x="1960245" y="169545"/>
                </a:lnTo>
                <a:close/>
              </a:path>
            </a:pathLst>
          </a:cu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12700" cap="flat">
            <a:noFill/>
            <a:miter lim="400000"/>
          </a:ln>
          <a:effectLst>
            <a:outerShdw blurRad="279400" dist="112866" dir="5466904" rotWithShape="0">
              <a:srgbClr val="4983D0">
                <a:alpha val="26000"/>
              </a:srgbClr>
            </a:outerShdw>
          </a:effectLst>
        </p:spPr>
        <p:txBody>
          <a:bodyPr wrap="square" lIns="0" tIns="0" rIns="50800" bIns="9144" numCol="1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EXECUTION GOALS</a:t>
            </a: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8F0033E1-A812-4DE9-9FE5-F935ACE87561}"/>
              </a:ext>
            </a:extLst>
          </p:cNvPr>
          <p:cNvSpPr>
            <a:spLocks noChangeAspect="1"/>
          </p:cNvSpPr>
          <p:nvPr/>
        </p:nvSpPr>
        <p:spPr>
          <a:xfrm>
            <a:off x="3832251" y="2812672"/>
            <a:ext cx="92600" cy="91440"/>
          </a:xfrm>
          <a:prstGeom prst="ellipse">
            <a:avLst/>
          </a:pr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79375" cap="flat">
            <a:gradFill>
              <a:gsLst>
                <a:gs pos="0">
                  <a:srgbClr val="54B2DB">
                    <a:alpha val="25000"/>
                  </a:srgbClr>
                </a:gs>
                <a:gs pos="100000">
                  <a:srgbClr val="4983D0">
                    <a:alpha val="25000"/>
                  </a:srgbClr>
                </a:gs>
              </a:gsLst>
              <a:lin ang="5400000" scaled="1"/>
            </a:gra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200" baseline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14062A56-11CF-4177-BB87-FF937BCE76DC}"/>
              </a:ext>
            </a:extLst>
          </p:cNvPr>
          <p:cNvSpPr txBox="1"/>
          <p:nvPr/>
        </p:nvSpPr>
        <p:spPr>
          <a:xfrm>
            <a:off x="4065445" y="2691992"/>
            <a:ext cx="1564852" cy="432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Mission, vision and goals</a:t>
            </a:r>
          </a:p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Complete milestone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D160DC73-8D51-4E24-92FB-12BED1012E63}"/>
              </a:ext>
            </a:extLst>
          </p:cNvPr>
          <p:cNvSpPr>
            <a:spLocks noChangeAspect="1"/>
          </p:cNvSpPr>
          <p:nvPr/>
        </p:nvSpPr>
        <p:spPr>
          <a:xfrm>
            <a:off x="3832251" y="3513588"/>
            <a:ext cx="92600" cy="91440"/>
          </a:xfrm>
          <a:prstGeom prst="ellipse">
            <a:avLst/>
          </a:pr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79375" cap="flat">
            <a:gradFill>
              <a:gsLst>
                <a:gs pos="0">
                  <a:srgbClr val="54B2DB">
                    <a:alpha val="25000"/>
                  </a:srgbClr>
                </a:gs>
                <a:gs pos="100000">
                  <a:srgbClr val="4983D0">
                    <a:alpha val="25000"/>
                  </a:srgbClr>
                </a:gs>
              </a:gsLst>
              <a:lin ang="5400000" scaled="1"/>
            </a:gra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200" baseline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2C3C19E-C251-44CC-8B75-16E8E8690DA3}"/>
              </a:ext>
            </a:extLst>
          </p:cNvPr>
          <p:cNvSpPr txBox="1"/>
          <p:nvPr/>
        </p:nvSpPr>
        <p:spPr>
          <a:xfrm>
            <a:off x="4065445" y="3392908"/>
            <a:ext cx="1754006" cy="432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Understanding competition</a:t>
            </a:r>
          </a:p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Creating new strategy</a:t>
            </a: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1EEBCD68-F65D-423E-99EC-7BC54FAA8D50}"/>
              </a:ext>
            </a:extLst>
          </p:cNvPr>
          <p:cNvSpPr>
            <a:spLocks noChangeAspect="1"/>
          </p:cNvSpPr>
          <p:nvPr/>
        </p:nvSpPr>
        <p:spPr>
          <a:xfrm>
            <a:off x="3832251" y="4214505"/>
            <a:ext cx="92600" cy="91440"/>
          </a:xfrm>
          <a:prstGeom prst="ellipse">
            <a:avLst/>
          </a:pr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79375" cap="flat">
            <a:gradFill>
              <a:gsLst>
                <a:gs pos="0">
                  <a:srgbClr val="54B2DB">
                    <a:alpha val="25000"/>
                  </a:srgbClr>
                </a:gs>
                <a:gs pos="100000">
                  <a:srgbClr val="4983D0">
                    <a:alpha val="25000"/>
                  </a:srgbClr>
                </a:gs>
              </a:gsLst>
              <a:lin ang="5400000" scaled="1"/>
            </a:gradFill>
            <a:miter lim="400000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200" baseline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39CEBB1-7771-45D8-8BB6-B0AA12A7DC50}"/>
              </a:ext>
            </a:extLst>
          </p:cNvPr>
          <p:cNvSpPr txBox="1"/>
          <p:nvPr/>
        </p:nvSpPr>
        <p:spPr>
          <a:xfrm>
            <a:off x="4065446" y="4093825"/>
            <a:ext cx="1530892" cy="432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Set up planning process</a:t>
            </a:r>
          </a:p>
          <a:p>
            <a:pPr>
              <a:lnSpc>
                <a:spcPts val="1400"/>
              </a:lnSpc>
            </a:pPr>
            <a:r>
              <a:rPr lang="en-US" sz="900" dirty="0">
                <a:latin typeface="Century Gothic" panose="020B0502020202020204" pitchFamily="34" charset="0"/>
              </a:rPr>
              <a:t>New product creation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51E3F76-71EC-B948-8E88-E8DFC52FF5F8}"/>
              </a:ext>
            </a:extLst>
          </p:cNvPr>
          <p:cNvGrpSpPr/>
          <p:nvPr/>
        </p:nvGrpSpPr>
        <p:grpSpPr>
          <a:xfrm>
            <a:off x="939950" y="5010795"/>
            <a:ext cx="585417" cy="683066"/>
            <a:chOff x="939950" y="5010795"/>
            <a:chExt cx="585417" cy="683066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E1CA77F-81CB-4A07-AE51-A63A93552BE5}"/>
                </a:ext>
              </a:extLst>
            </p:cNvPr>
            <p:cNvSpPr txBox="1"/>
            <p:nvPr/>
          </p:nvSpPr>
          <p:spPr>
            <a:xfrm>
              <a:off x="939950" y="5463029"/>
              <a:ext cx="58541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latin typeface="Century Gothic" panose="020B0502020202020204" pitchFamily="34" charset="0"/>
                </a:rPr>
                <a:t>DAY 61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1252859-C305-3A45-A87A-2E24CDE1A496}"/>
                </a:ext>
              </a:extLst>
            </p:cNvPr>
            <p:cNvGrpSpPr/>
            <p:nvPr/>
          </p:nvGrpSpPr>
          <p:grpSpPr>
            <a:xfrm>
              <a:off x="985636" y="5010795"/>
              <a:ext cx="488952" cy="452234"/>
              <a:chOff x="985636" y="5010795"/>
              <a:chExt cx="488952" cy="4522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A37EA88-9FDD-4036-895A-BF8E3B2D4FAD}"/>
                  </a:ext>
                </a:extLst>
              </p:cNvPr>
              <p:cNvSpPr/>
              <p:nvPr/>
            </p:nvSpPr>
            <p:spPr>
              <a:xfrm>
                <a:off x="985636" y="5047868"/>
                <a:ext cx="488952" cy="378088"/>
              </a:xfrm>
              <a:prstGeom prst="ellipse">
                <a:avLst/>
              </a:prstGeom>
              <a:solidFill>
                <a:srgbClr val="9EAABE"/>
              </a:solidFill>
              <a:ln w="19050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4F948BCA-C3D9-4977-AC77-5C5A79423479}"/>
                  </a:ext>
                </a:extLst>
              </p:cNvPr>
              <p:cNvSpPr/>
              <p:nvPr/>
            </p:nvSpPr>
            <p:spPr>
              <a:xfrm>
                <a:off x="1003995" y="5010795"/>
                <a:ext cx="452234" cy="452234"/>
              </a:xfrm>
              <a:prstGeom prst="ellipse">
                <a:avLst/>
              </a:prstGeom>
              <a:solidFill>
                <a:srgbClr val="EDF0F3"/>
              </a:solidFill>
              <a:ln w="19050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256E8B2-A973-4410-8CE5-8640C6AD3937}"/>
                  </a:ext>
                </a:extLst>
              </p:cNvPr>
              <p:cNvSpPr/>
              <p:nvPr/>
            </p:nvSpPr>
            <p:spPr>
              <a:xfrm>
                <a:off x="1080887" y="5087687"/>
                <a:ext cx="298450" cy="298450"/>
              </a:xfrm>
              <a:prstGeom prst="ellipse">
                <a:avLst/>
              </a:prstGeom>
              <a:pattFill prst="pct10">
                <a:fgClr>
                  <a:srgbClr val="00D7A0"/>
                </a:fgClr>
                <a:bgClr>
                  <a:srgbClr val="EDF0F3"/>
                </a:bgClr>
              </a:pattFill>
              <a:ln w="19050" cap="rnd">
                <a:gradFill>
                  <a:gsLst>
                    <a:gs pos="0">
                      <a:srgbClr val="00D7A0"/>
                    </a:gs>
                    <a:gs pos="61000">
                      <a:srgbClr val="24C6BE"/>
                    </a:gs>
                  </a:gsLst>
                  <a:lin ang="16200000" scaled="0"/>
                </a:gradFill>
                <a:prstDash val="solid"/>
                <a:round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FCE95B9-A9E4-E441-95E1-C59FBF7957B7}"/>
              </a:ext>
            </a:extLst>
          </p:cNvPr>
          <p:cNvGrpSpPr/>
          <p:nvPr/>
        </p:nvGrpSpPr>
        <p:grpSpPr>
          <a:xfrm>
            <a:off x="8907008" y="5010795"/>
            <a:ext cx="582211" cy="683066"/>
            <a:chOff x="8907008" y="5010795"/>
            <a:chExt cx="582211" cy="683066"/>
          </a:xfrm>
        </p:grpSpPr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4F08C6A-CFCA-4857-B0FD-3C8860942A21}"/>
                </a:ext>
              </a:extLst>
            </p:cNvPr>
            <p:cNvSpPr/>
            <p:nvPr/>
          </p:nvSpPr>
          <p:spPr>
            <a:xfrm>
              <a:off x="8951091" y="5047868"/>
              <a:ext cx="488952" cy="378088"/>
            </a:xfrm>
            <a:prstGeom prst="ellipse">
              <a:avLst/>
            </a:prstGeom>
            <a:solidFill>
              <a:srgbClr val="9EAABE"/>
            </a:solidFill>
            <a:ln w="19050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4F0F704-ED25-4144-A5B9-12AFB8066A02}"/>
                </a:ext>
              </a:extLst>
            </p:cNvPr>
            <p:cNvSpPr/>
            <p:nvPr/>
          </p:nvSpPr>
          <p:spPr>
            <a:xfrm>
              <a:off x="8969450" y="5010795"/>
              <a:ext cx="452234" cy="452234"/>
            </a:xfrm>
            <a:prstGeom prst="ellipse">
              <a:avLst/>
            </a:prstGeom>
            <a:solidFill>
              <a:srgbClr val="EDF0F3"/>
            </a:solidFill>
            <a:ln w="19050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5E4F35F5-BC21-4ADE-915B-BA911A610F1A}"/>
                </a:ext>
              </a:extLst>
            </p:cNvPr>
            <p:cNvSpPr txBox="1"/>
            <p:nvPr/>
          </p:nvSpPr>
          <p:spPr>
            <a:xfrm>
              <a:off x="8907008" y="5463029"/>
              <a:ext cx="58221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latin typeface="Century Gothic" panose="020B0502020202020204" pitchFamily="34" charset="0"/>
                </a:rPr>
                <a:t>DAY 90</a:t>
              </a:r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606112C7-AE2A-43AC-AA0A-584A68E5E8A6}"/>
                </a:ext>
              </a:extLst>
            </p:cNvPr>
            <p:cNvSpPr/>
            <p:nvPr/>
          </p:nvSpPr>
          <p:spPr>
            <a:xfrm>
              <a:off x="9046342" y="5087687"/>
              <a:ext cx="298450" cy="298450"/>
            </a:xfrm>
            <a:prstGeom prst="ellipse">
              <a:avLst/>
            </a:prstGeom>
            <a:pattFill prst="pct10">
              <a:fgClr>
                <a:srgbClr val="54B2DB"/>
              </a:fgClr>
              <a:bgClr>
                <a:srgbClr val="EDF0F3"/>
              </a:bgClr>
            </a:pattFill>
            <a:ln w="19050" cap="rnd">
              <a:gradFill>
                <a:gsLst>
                  <a:gs pos="0">
                    <a:srgbClr val="54B2DB"/>
                  </a:gs>
                  <a:gs pos="100000">
                    <a:srgbClr val="4983D0"/>
                  </a:gs>
                </a:gsLst>
                <a:lin ang="162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0E144BF-61BE-634B-8BC2-F4C776A9B109}"/>
              </a:ext>
            </a:extLst>
          </p:cNvPr>
          <p:cNvGrpSpPr/>
          <p:nvPr/>
        </p:nvGrpSpPr>
        <p:grpSpPr>
          <a:xfrm>
            <a:off x="6251857" y="5010795"/>
            <a:ext cx="582211" cy="683066"/>
            <a:chOff x="6251857" y="5010795"/>
            <a:chExt cx="582211" cy="68306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14A4BAB2-2308-4938-9375-E88FEB732FFD}"/>
                </a:ext>
              </a:extLst>
            </p:cNvPr>
            <p:cNvSpPr/>
            <p:nvPr/>
          </p:nvSpPr>
          <p:spPr>
            <a:xfrm>
              <a:off x="6295940" y="5047868"/>
              <a:ext cx="488952" cy="378088"/>
            </a:xfrm>
            <a:prstGeom prst="ellipse">
              <a:avLst/>
            </a:prstGeom>
            <a:solidFill>
              <a:srgbClr val="9EAABE"/>
            </a:solidFill>
            <a:ln w="19050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F8D129A7-F12A-4592-9B8F-4C6AB77267EA}"/>
                </a:ext>
              </a:extLst>
            </p:cNvPr>
            <p:cNvSpPr/>
            <p:nvPr/>
          </p:nvSpPr>
          <p:spPr>
            <a:xfrm>
              <a:off x="6314299" y="5010795"/>
              <a:ext cx="452234" cy="452234"/>
            </a:xfrm>
            <a:prstGeom prst="ellipse">
              <a:avLst/>
            </a:prstGeom>
            <a:solidFill>
              <a:srgbClr val="EDF0F3"/>
            </a:solidFill>
            <a:ln w="19050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8C54A098-AA45-4B60-9897-73E9388498D4}"/>
                </a:ext>
              </a:extLst>
            </p:cNvPr>
            <p:cNvSpPr txBox="1"/>
            <p:nvPr/>
          </p:nvSpPr>
          <p:spPr>
            <a:xfrm>
              <a:off x="6251857" y="5463029"/>
              <a:ext cx="58221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latin typeface="Century Gothic" panose="020B0502020202020204" pitchFamily="34" charset="0"/>
                </a:rPr>
                <a:t>DAY 80</a:t>
              </a:r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4B5CE910-F6D5-45AD-8FE1-706507037807}"/>
                </a:ext>
              </a:extLst>
            </p:cNvPr>
            <p:cNvSpPr/>
            <p:nvPr/>
          </p:nvSpPr>
          <p:spPr>
            <a:xfrm>
              <a:off x="6391191" y="5087687"/>
              <a:ext cx="298450" cy="298450"/>
            </a:xfrm>
            <a:prstGeom prst="ellipse">
              <a:avLst/>
            </a:prstGeom>
            <a:pattFill prst="pct10">
              <a:fgClr>
                <a:srgbClr val="00D7A0"/>
              </a:fgClr>
              <a:bgClr>
                <a:srgbClr val="EDF0F3"/>
              </a:bgClr>
            </a:pattFill>
            <a:ln w="19050" cap="rnd">
              <a:gradFill>
                <a:gsLst>
                  <a:gs pos="0">
                    <a:srgbClr val="00D7A0"/>
                  </a:gs>
                  <a:gs pos="61000">
                    <a:srgbClr val="24C6BE"/>
                  </a:gs>
                </a:gsLst>
                <a:lin ang="162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0CB41D8-D121-444D-951B-FA3D3FE88E92}"/>
              </a:ext>
            </a:extLst>
          </p:cNvPr>
          <p:cNvGrpSpPr/>
          <p:nvPr/>
        </p:nvGrpSpPr>
        <p:grpSpPr>
          <a:xfrm>
            <a:off x="3596705" y="5010795"/>
            <a:ext cx="582211" cy="683066"/>
            <a:chOff x="3596705" y="5010795"/>
            <a:chExt cx="582211" cy="683066"/>
          </a:xfrm>
        </p:grpSpPr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44B87178-F1F7-410D-A03B-57C8B01E4894}"/>
                </a:ext>
              </a:extLst>
            </p:cNvPr>
            <p:cNvSpPr/>
            <p:nvPr/>
          </p:nvSpPr>
          <p:spPr>
            <a:xfrm>
              <a:off x="3640788" y="5047868"/>
              <a:ext cx="488952" cy="378088"/>
            </a:xfrm>
            <a:prstGeom prst="ellipse">
              <a:avLst/>
            </a:prstGeom>
            <a:solidFill>
              <a:srgbClr val="9EAABE"/>
            </a:solidFill>
            <a:ln w="19050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55862F44-3B59-45AD-89C4-8E4481086C16}"/>
                </a:ext>
              </a:extLst>
            </p:cNvPr>
            <p:cNvSpPr/>
            <p:nvPr/>
          </p:nvSpPr>
          <p:spPr>
            <a:xfrm>
              <a:off x="3659147" y="5010795"/>
              <a:ext cx="452234" cy="452234"/>
            </a:xfrm>
            <a:prstGeom prst="ellipse">
              <a:avLst/>
            </a:prstGeom>
            <a:solidFill>
              <a:srgbClr val="EDF0F3"/>
            </a:solidFill>
            <a:ln w="19050" cap="rnd">
              <a:noFill/>
              <a:prstDash val="solid"/>
              <a:round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3C08C7ED-25DB-465F-B486-2E3CE1ABFC37}"/>
                </a:ext>
              </a:extLst>
            </p:cNvPr>
            <p:cNvSpPr txBox="1"/>
            <p:nvPr/>
          </p:nvSpPr>
          <p:spPr>
            <a:xfrm>
              <a:off x="3596705" y="5463029"/>
              <a:ext cx="58221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>
                  <a:latin typeface="Century Gothic" panose="020B0502020202020204" pitchFamily="34" charset="0"/>
                </a:rPr>
                <a:t>DAY 70</a:t>
              </a:r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B669195B-1538-40D9-A228-B2421EE4954D}"/>
                </a:ext>
              </a:extLst>
            </p:cNvPr>
            <p:cNvSpPr/>
            <p:nvPr/>
          </p:nvSpPr>
          <p:spPr>
            <a:xfrm>
              <a:off x="3736039" y="5087687"/>
              <a:ext cx="298450" cy="298450"/>
            </a:xfrm>
            <a:prstGeom prst="ellipse">
              <a:avLst/>
            </a:prstGeom>
            <a:pattFill prst="pct10">
              <a:fgClr>
                <a:srgbClr val="54B2DB"/>
              </a:fgClr>
              <a:bgClr>
                <a:srgbClr val="EDF0F3"/>
              </a:bgClr>
            </a:pattFill>
            <a:ln w="19050" cap="rnd">
              <a:gradFill>
                <a:gsLst>
                  <a:gs pos="0">
                    <a:srgbClr val="54B2DB"/>
                  </a:gs>
                  <a:gs pos="100000">
                    <a:srgbClr val="4983D0"/>
                  </a:gs>
                </a:gsLst>
                <a:lin ang="162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2" name="TextBox 201">
            <a:extLst>
              <a:ext uri="{FF2B5EF4-FFF2-40B4-BE49-F238E27FC236}">
                <a16:creationId xmlns:a16="http://schemas.microsoft.com/office/drawing/2014/main" id="{5DE62E50-03EC-4C41-956F-0B7DB909EB98}"/>
              </a:ext>
            </a:extLst>
          </p:cNvPr>
          <p:cNvSpPr txBox="1"/>
          <p:nvPr/>
        </p:nvSpPr>
        <p:spPr>
          <a:xfrm>
            <a:off x="4512875" y="707411"/>
            <a:ext cx="3166251" cy="489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500" b="1" dirty="0">
                <a:latin typeface="Century Gothic" panose="020B0502020202020204" pitchFamily="34" charset="0"/>
              </a:rPr>
              <a:t>30-60-90 DAY PLAN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A4BBAE1-51FE-8244-8CD6-011C154941DB}"/>
              </a:ext>
            </a:extLst>
          </p:cNvPr>
          <p:cNvGrpSpPr/>
          <p:nvPr/>
        </p:nvGrpSpPr>
        <p:grpSpPr>
          <a:xfrm>
            <a:off x="12319" y="5238592"/>
            <a:ext cx="12192000" cy="1637644"/>
            <a:chOff x="-1128" y="5238592"/>
            <a:chExt cx="12192000" cy="1637644"/>
          </a:xfrm>
        </p:grpSpPr>
        <p:sp>
          <p:nvSpPr>
            <p:cNvPr id="201" name="Rectangle: Rounded Corners 200">
              <a:extLst>
                <a:ext uri="{FF2B5EF4-FFF2-40B4-BE49-F238E27FC236}">
                  <a16:creationId xmlns:a16="http://schemas.microsoft.com/office/drawing/2014/main" id="{93BF7DD9-BA86-45D3-9CF8-C28E81D9EDA0}"/>
                </a:ext>
              </a:extLst>
            </p:cNvPr>
            <p:cNvSpPr/>
            <p:nvPr/>
          </p:nvSpPr>
          <p:spPr>
            <a:xfrm>
              <a:off x="-1128" y="5238592"/>
              <a:ext cx="12192000" cy="1637644"/>
            </a:xfrm>
            <a:prstGeom prst="roundRect">
              <a:avLst>
                <a:gd name="adj" fmla="val 0"/>
              </a:avLst>
            </a:prstGeom>
            <a:solidFill>
              <a:srgbClr val="9EAABE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35F067E4-CC67-4E3D-B2C8-64EE2D2E02FA}"/>
                </a:ext>
              </a:extLst>
            </p:cNvPr>
            <p:cNvSpPr txBox="1"/>
            <p:nvPr/>
          </p:nvSpPr>
          <p:spPr>
            <a:xfrm>
              <a:off x="4514833" y="6273468"/>
              <a:ext cx="31854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Century Gothic" panose="020B0502020202020204" pitchFamily="34" charset="0"/>
                </a:rPr>
                <a:t>90 DAY KEY GOAL: </a:t>
              </a:r>
              <a:r>
                <a:rPr lang="en-US" sz="1100" dirty="0">
                  <a:latin typeface="Century Gothic" panose="020B0502020202020204" pitchFamily="34" charset="0"/>
                </a:rPr>
                <a:t>BECOME A TEAM LEADER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3484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1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5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3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0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7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1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0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5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0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9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0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3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97" grpId="0" animBg="1"/>
      <p:bldP spid="98" grpId="0"/>
      <p:bldP spid="103" grpId="0" animBg="1"/>
      <p:bldP spid="104" grpId="0"/>
      <p:bldP spid="106" grpId="0" animBg="1"/>
      <p:bldP spid="107" grpId="0"/>
      <p:bldP spid="169" grpId="0" animBg="1"/>
      <p:bldP spid="160" grpId="0" animBg="1"/>
      <p:bldP spid="161" grpId="0"/>
      <p:bldP spid="162" grpId="0" animBg="1"/>
      <p:bldP spid="163" grpId="0"/>
      <p:bldP spid="164" grpId="0" animBg="1"/>
      <p:bldP spid="165" grpId="0"/>
      <p:bldP spid="184" grpId="0" animBg="1"/>
      <p:bldP spid="175" grpId="0" animBg="1"/>
      <p:bldP spid="176" grpId="0"/>
      <p:bldP spid="177" grpId="0" animBg="1"/>
      <p:bldP spid="178" grpId="0"/>
      <p:bldP spid="179" grpId="0" animBg="1"/>
      <p:bldP spid="180" grpId="0"/>
      <p:bldP spid="199" grpId="0" animBg="1"/>
      <p:bldP spid="190" grpId="0" animBg="1"/>
      <p:bldP spid="191" grpId="0"/>
      <p:bldP spid="192" grpId="0" animBg="1"/>
      <p:bldP spid="193" grpId="0"/>
      <p:bldP spid="194" grpId="0" animBg="1"/>
      <p:bldP spid="19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roup 152">
            <a:extLst>
              <a:ext uri="{FF2B5EF4-FFF2-40B4-BE49-F238E27FC236}">
                <a16:creationId xmlns:a16="http://schemas.microsoft.com/office/drawing/2014/main" id="{0B9AB846-AC9F-C642-9FF2-93375A42DCB7}"/>
              </a:ext>
            </a:extLst>
          </p:cNvPr>
          <p:cNvGrpSpPr/>
          <p:nvPr/>
        </p:nvGrpSpPr>
        <p:grpSpPr>
          <a:xfrm rot="15388980">
            <a:off x="6695290" y="2352288"/>
            <a:ext cx="2847448" cy="2847448"/>
            <a:chOff x="15725719" y="1959892"/>
            <a:chExt cx="6720338" cy="6720338"/>
          </a:xfrm>
        </p:grpSpPr>
        <p:sp>
          <p:nvSpPr>
            <p:cNvPr id="154" name="Circle">
              <a:extLst>
                <a:ext uri="{FF2B5EF4-FFF2-40B4-BE49-F238E27FC236}">
                  <a16:creationId xmlns:a16="http://schemas.microsoft.com/office/drawing/2014/main" id="{CAB92998-1AD7-1E42-AFCA-36113B8DBA6B}"/>
                </a:ext>
              </a:extLst>
            </p:cNvPr>
            <p:cNvSpPr/>
            <p:nvPr/>
          </p:nvSpPr>
          <p:spPr>
            <a:xfrm>
              <a:off x="18032677" y="4271737"/>
              <a:ext cx="2106417" cy="2106417"/>
            </a:xfrm>
            <a:prstGeom prst="ellipse">
              <a:avLst/>
            </a:prstGeom>
            <a:noFill/>
            <a:ln w="6350" cap="flat">
              <a:solidFill>
                <a:schemeClr val="bg1">
                  <a:lumMod val="75000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55" name="Circle">
              <a:extLst>
                <a:ext uri="{FF2B5EF4-FFF2-40B4-BE49-F238E27FC236}">
                  <a16:creationId xmlns:a16="http://schemas.microsoft.com/office/drawing/2014/main" id="{A9E7CEBB-07CD-E049-9DB3-A95803773384}"/>
                </a:ext>
              </a:extLst>
            </p:cNvPr>
            <p:cNvSpPr/>
            <p:nvPr/>
          </p:nvSpPr>
          <p:spPr>
            <a:xfrm>
              <a:off x="17415749" y="3654808"/>
              <a:ext cx="3340276" cy="3340275"/>
            </a:xfrm>
            <a:prstGeom prst="ellipse">
              <a:avLst/>
            </a:prstGeom>
            <a:noFill/>
            <a:ln w="6350" cap="flat">
              <a:solidFill>
                <a:schemeClr val="bg1">
                  <a:lumMod val="75000"/>
                  <a:alpha val="70000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56" name="Circle">
              <a:extLst>
                <a:ext uri="{FF2B5EF4-FFF2-40B4-BE49-F238E27FC236}">
                  <a16:creationId xmlns:a16="http://schemas.microsoft.com/office/drawing/2014/main" id="{F05DEEF3-A9AF-C94F-B4B2-61502D254CFB}"/>
                </a:ext>
              </a:extLst>
            </p:cNvPr>
            <p:cNvSpPr/>
            <p:nvPr/>
          </p:nvSpPr>
          <p:spPr>
            <a:xfrm>
              <a:off x="16764656" y="3003715"/>
              <a:ext cx="4642463" cy="4642463"/>
            </a:xfrm>
            <a:prstGeom prst="ellipse">
              <a:avLst/>
            </a:prstGeom>
            <a:noFill/>
            <a:ln w="6350" cap="flat">
              <a:solidFill>
                <a:schemeClr val="bg1">
                  <a:lumMod val="75000"/>
                  <a:alpha val="44000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57" name="Circle">
              <a:extLst>
                <a:ext uri="{FF2B5EF4-FFF2-40B4-BE49-F238E27FC236}">
                  <a16:creationId xmlns:a16="http://schemas.microsoft.com/office/drawing/2014/main" id="{46E738BC-77F4-4345-8E75-54258838F39F}"/>
                </a:ext>
              </a:extLst>
            </p:cNvPr>
            <p:cNvSpPr/>
            <p:nvPr/>
          </p:nvSpPr>
          <p:spPr>
            <a:xfrm>
              <a:off x="15725719" y="1959892"/>
              <a:ext cx="6720338" cy="6720338"/>
            </a:xfrm>
            <a:prstGeom prst="ellipse">
              <a:avLst/>
            </a:prstGeom>
            <a:noFill/>
            <a:ln w="6350" cap="flat">
              <a:solidFill>
                <a:srgbClr val="D9DDE0">
                  <a:alpha val="22249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58" name="Circle">
              <a:extLst>
                <a:ext uri="{FF2B5EF4-FFF2-40B4-BE49-F238E27FC236}">
                  <a16:creationId xmlns:a16="http://schemas.microsoft.com/office/drawing/2014/main" id="{5FAC04A0-7D36-284F-B532-9E223A986C49}"/>
                </a:ext>
              </a:extLst>
            </p:cNvPr>
            <p:cNvSpPr/>
            <p:nvPr/>
          </p:nvSpPr>
          <p:spPr>
            <a:xfrm>
              <a:off x="20002075" y="5100655"/>
              <a:ext cx="189410" cy="1894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59" name="Circle">
              <a:extLst>
                <a:ext uri="{FF2B5EF4-FFF2-40B4-BE49-F238E27FC236}">
                  <a16:creationId xmlns:a16="http://schemas.microsoft.com/office/drawing/2014/main" id="{3A58C14B-F8C5-8A47-9C70-457465BB84FF}"/>
                </a:ext>
              </a:extLst>
            </p:cNvPr>
            <p:cNvSpPr/>
            <p:nvPr/>
          </p:nvSpPr>
          <p:spPr>
            <a:xfrm>
              <a:off x="17870027" y="3992239"/>
              <a:ext cx="189409" cy="18940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9FDBDCA-DF5A-F248-9CC9-F8F31FF51343}"/>
              </a:ext>
            </a:extLst>
          </p:cNvPr>
          <p:cNvGrpSpPr/>
          <p:nvPr/>
        </p:nvGrpSpPr>
        <p:grpSpPr>
          <a:xfrm rot="644072">
            <a:off x="3214311" y="2354340"/>
            <a:ext cx="2847448" cy="2847448"/>
            <a:chOff x="15725719" y="1959892"/>
            <a:chExt cx="6720338" cy="6720338"/>
          </a:xfrm>
        </p:grpSpPr>
        <p:sp>
          <p:nvSpPr>
            <p:cNvPr id="91" name="Circle">
              <a:extLst>
                <a:ext uri="{FF2B5EF4-FFF2-40B4-BE49-F238E27FC236}">
                  <a16:creationId xmlns:a16="http://schemas.microsoft.com/office/drawing/2014/main" id="{06456CDF-5969-9D42-82D7-2EEB4A22862B}"/>
                </a:ext>
              </a:extLst>
            </p:cNvPr>
            <p:cNvSpPr/>
            <p:nvPr/>
          </p:nvSpPr>
          <p:spPr>
            <a:xfrm>
              <a:off x="18032677" y="4271737"/>
              <a:ext cx="2106417" cy="2106417"/>
            </a:xfrm>
            <a:prstGeom prst="ellipse">
              <a:avLst/>
            </a:prstGeom>
            <a:noFill/>
            <a:ln w="6350" cap="flat">
              <a:solidFill>
                <a:schemeClr val="bg1">
                  <a:lumMod val="75000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40" name="Circle">
              <a:extLst>
                <a:ext uri="{FF2B5EF4-FFF2-40B4-BE49-F238E27FC236}">
                  <a16:creationId xmlns:a16="http://schemas.microsoft.com/office/drawing/2014/main" id="{EE96A236-D391-C742-A2BD-61657AAF412B}"/>
                </a:ext>
              </a:extLst>
            </p:cNvPr>
            <p:cNvSpPr/>
            <p:nvPr/>
          </p:nvSpPr>
          <p:spPr>
            <a:xfrm>
              <a:off x="17415749" y="3654808"/>
              <a:ext cx="3340276" cy="3340275"/>
            </a:xfrm>
            <a:prstGeom prst="ellipse">
              <a:avLst/>
            </a:prstGeom>
            <a:noFill/>
            <a:ln w="6350" cap="flat">
              <a:solidFill>
                <a:schemeClr val="bg1">
                  <a:lumMod val="75000"/>
                  <a:alpha val="70000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41" name="Circle">
              <a:extLst>
                <a:ext uri="{FF2B5EF4-FFF2-40B4-BE49-F238E27FC236}">
                  <a16:creationId xmlns:a16="http://schemas.microsoft.com/office/drawing/2014/main" id="{2A049504-6F2A-A74C-A27C-40006D845EDB}"/>
                </a:ext>
              </a:extLst>
            </p:cNvPr>
            <p:cNvSpPr/>
            <p:nvPr/>
          </p:nvSpPr>
          <p:spPr>
            <a:xfrm>
              <a:off x="16764656" y="3003715"/>
              <a:ext cx="4642463" cy="4642463"/>
            </a:xfrm>
            <a:prstGeom prst="ellipse">
              <a:avLst/>
            </a:prstGeom>
            <a:noFill/>
            <a:ln w="6350" cap="flat">
              <a:solidFill>
                <a:schemeClr val="bg1">
                  <a:lumMod val="75000"/>
                  <a:alpha val="44000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42" name="Circle">
              <a:extLst>
                <a:ext uri="{FF2B5EF4-FFF2-40B4-BE49-F238E27FC236}">
                  <a16:creationId xmlns:a16="http://schemas.microsoft.com/office/drawing/2014/main" id="{47FC45BD-D86B-5E40-B688-AEB5F5D1A60A}"/>
                </a:ext>
              </a:extLst>
            </p:cNvPr>
            <p:cNvSpPr/>
            <p:nvPr/>
          </p:nvSpPr>
          <p:spPr>
            <a:xfrm>
              <a:off x="15725719" y="1959892"/>
              <a:ext cx="6720338" cy="6720338"/>
            </a:xfrm>
            <a:prstGeom prst="ellipse">
              <a:avLst/>
            </a:prstGeom>
            <a:noFill/>
            <a:ln w="6350" cap="flat">
              <a:solidFill>
                <a:srgbClr val="D9DDE0">
                  <a:alpha val="22249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44" name="Circle">
              <a:extLst>
                <a:ext uri="{FF2B5EF4-FFF2-40B4-BE49-F238E27FC236}">
                  <a16:creationId xmlns:a16="http://schemas.microsoft.com/office/drawing/2014/main" id="{96FAD514-1DD9-D342-BC0C-6E6D584C5329}"/>
                </a:ext>
              </a:extLst>
            </p:cNvPr>
            <p:cNvSpPr/>
            <p:nvPr/>
          </p:nvSpPr>
          <p:spPr>
            <a:xfrm>
              <a:off x="20002075" y="5100655"/>
              <a:ext cx="189410" cy="1894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145" name="Circle">
              <a:extLst>
                <a:ext uri="{FF2B5EF4-FFF2-40B4-BE49-F238E27FC236}">
                  <a16:creationId xmlns:a16="http://schemas.microsoft.com/office/drawing/2014/main" id="{C17BF621-F301-FD40-AF17-E30C144392C1}"/>
                </a:ext>
              </a:extLst>
            </p:cNvPr>
            <p:cNvSpPr/>
            <p:nvPr/>
          </p:nvSpPr>
          <p:spPr>
            <a:xfrm>
              <a:off x="17870027" y="3992239"/>
              <a:ext cx="189409" cy="18940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110" name="Rounded Rectangle">
            <a:extLst>
              <a:ext uri="{FF2B5EF4-FFF2-40B4-BE49-F238E27FC236}">
                <a16:creationId xmlns:a16="http://schemas.microsoft.com/office/drawing/2014/main" id="{6A4551C0-EF3D-497F-94EB-AB025970EE3C}"/>
              </a:ext>
            </a:extLst>
          </p:cNvPr>
          <p:cNvSpPr/>
          <p:nvPr/>
        </p:nvSpPr>
        <p:spPr>
          <a:xfrm>
            <a:off x="8096736" y="1977700"/>
            <a:ext cx="2800604" cy="3945726"/>
          </a:xfrm>
          <a:prstGeom prst="roundRect">
            <a:avLst>
              <a:gd name="adj" fmla="val 8428"/>
            </a:avLst>
          </a:prstGeom>
          <a:solidFill>
            <a:srgbClr val="FFFFFF"/>
          </a:solidFill>
          <a:ln w="12700" cap="flat">
            <a:noFill/>
            <a:miter lim="400000"/>
          </a:ln>
          <a:effectLst>
            <a:outerShdw blurRad="292100" dist="110334" dir="5400000" rotWithShape="0">
              <a:srgbClr val="475D84">
                <a:alpha val="21640"/>
              </a:srgbClr>
            </a:outerShdw>
          </a:effectLst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  <a:defRPr sz="3200" baseline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200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93C2CE0-C38A-4225-8B40-1A61FBE6AF63}"/>
              </a:ext>
            </a:extLst>
          </p:cNvPr>
          <p:cNvGrpSpPr/>
          <p:nvPr/>
        </p:nvGrpSpPr>
        <p:grpSpPr>
          <a:xfrm>
            <a:off x="7870067" y="3555125"/>
            <a:ext cx="2086029" cy="455036"/>
            <a:chOff x="947683" y="2831919"/>
            <a:chExt cx="2086029" cy="455036"/>
          </a:xfrm>
        </p:grpSpPr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00475C3F-A942-4DE4-A04A-8E75620FF765}"/>
                </a:ext>
              </a:extLst>
            </p:cNvPr>
            <p:cNvSpPr/>
            <p:nvPr/>
          </p:nvSpPr>
          <p:spPr>
            <a:xfrm>
              <a:off x="947683" y="2831919"/>
              <a:ext cx="2086029" cy="45503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D7A0">
                    <a:alpha val="20000"/>
                  </a:srgbClr>
                </a:gs>
                <a:gs pos="100000">
                  <a:srgbClr val="24C6BE">
                    <a:alpha val="20000"/>
                  </a:srgbClr>
                </a:gs>
              </a:gsLst>
              <a:lin ang="2277912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/>
              <a:endParaRPr lang="en-US" sz="3200">
                <a:solidFill>
                  <a:srgbClr val="FFFFFF"/>
                </a:solidFill>
                <a:latin typeface="Helvetica Light"/>
              </a:endParaRPr>
            </a:p>
          </p:txBody>
        </p:sp>
        <p:sp>
          <p:nvSpPr>
            <p:cNvPr id="124" name="Circle">
              <a:extLst>
                <a:ext uri="{FF2B5EF4-FFF2-40B4-BE49-F238E27FC236}">
                  <a16:creationId xmlns:a16="http://schemas.microsoft.com/office/drawing/2014/main" id="{5EBAE293-231A-4230-89B4-D252254AA2C1}"/>
                </a:ext>
              </a:extLst>
            </p:cNvPr>
            <p:cNvSpPr/>
            <p:nvPr/>
          </p:nvSpPr>
          <p:spPr>
            <a:xfrm>
              <a:off x="1021313" y="2905548"/>
              <a:ext cx="307780" cy="307778"/>
            </a:xfrm>
            <a:prstGeom prst="ellipse">
              <a:avLst/>
            </a:prstGeom>
            <a:gradFill flip="none" rotWithShape="1">
              <a:gsLst>
                <a:gs pos="0">
                  <a:srgbClr val="00D7A0"/>
                </a:gs>
                <a:gs pos="100000">
                  <a:srgbClr val="24C6BE"/>
                </a:gs>
              </a:gsLst>
              <a:lin ang="2277912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9144" numCol="1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Century Gothic" panose="020B0502020202020204" pitchFamily="34" charset="0"/>
                </a:rPr>
                <a:t>03</a:t>
              </a:r>
              <a:endParaRPr sz="1000" b="1" dirty="0">
                <a:solidFill>
                  <a:srgbClr val="FFFFFF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25" name="New York Project">
              <a:extLst>
                <a:ext uri="{FF2B5EF4-FFF2-40B4-BE49-F238E27FC236}">
                  <a16:creationId xmlns:a16="http://schemas.microsoft.com/office/drawing/2014/main" id="{A2CDE492-8C08-4CCE-8187-04FFF7ED5A64}"/>
                </a:ext>
              </a:extLst>
            </p:cNvPr>
            <p:cNvSpPr txBox="1"/>
            <p:nvPr/>
          </p:nvSpPr>
          <p:spPr>
            <a:xfrm>
              <a:off x="1575600" y="2905548"/>
              <a:ext cx="1064715" cy="307777"/>
            </a:xfrm>
            <a:prstGeom prst="rect">
              <a:avLst/>
            </a:prstGeom>
            <a:noFill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400" b="1">
                  <a:gradFill>
                    <a:gsLst>
                      <a:gs pos="0">
                        <a:srgbClr val="54B2DB"/>
                      </a:gs>
                      <a:gs pos="100000">
                        <a:srgbClr val="4983D0"/>
                      </a:gs>
                    </a:gsLst>
                    <a:lin ang="5400000" scaled="1"/>
                  </a:gradFill>
                  <a:latin typeface="Century Gothic" panose="020B0502020202020204" pitchFamily="34" charset="0"/>
                </a:defRPr>
              </a:lvl1pPr>
            </a:lstStyle>
            <a:p>
              <a:r>
                <a:rPr lang="en-US" dirty="0">
                  <a:solidFill>
                    <a:srgbClr val="24C6BE"/>
                  </a:solidFill>
                </a:rPr>
                <a:t>AUG 23RD</a:t>
              </a:r>
              <a:endParaRPr dirty="0">
                <a:solidFill>
                  <a:srgbClr val="24C6BE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38AEC7A-DA1C-E443-AAB8-A10CA03F8320}"/>
              </a:ext>
            </a:extLst>
          </p:cNvPr>
          <p:cNvGrpSpPr/>
          <p:nvPr/>
        </p:nvGrpSpPr>
        <p:grpSpPr>
          <a:xfrm>
            <a:off x="8273919" y="2783210"/>
            <a:ext cx="2446238" cy="2804271"/>
            <a:chOff x="8273919" y="2783210"/>
            <a:chExt cx="2446238" cy="2804271"/>
          </a:xfrm>
        </p:grpSpPr>
        <p:sp>
          <p:nvSpPr>
            <p:cNvPr id="112" name="New York Project">
              <a:extLst>
                <a:ext uri="{FF2B5EF4-FFF2-40B4-BE49-F238E27FC236}">
                  <a16:creationId xmlns:a16="http://schemas.microsoft.com/office/drawing/2014/main" id="{77BFC885-6E51-4998-B284-BE037E2BD386}"/>
                </a:ext>
              </a:extLst>
            </p:cNvPr>
            <p:cNvSpPr txBox="1"/>
            <p:nvPr/>
          </p:nvSpPr>
          <p:spPr>
            <a:xfrm>
              <a:off x="8285494" y="2783210"/>
              <a:ext cx="2400719" cy="461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 anchorCtr="0">
              <a:spAutoFit/>
            </a:bodyPr>
            <a:lstStyle>
              <a:lvl1pPr algn="r">
                <a:lnSpc>
                  <a:spcPct val="100000"/>
                </a:lnSpc>
                <a:defRPr baseline="0">
                  <a:solidFill>
                    <a:srgbClr val="475D84"/>
                  </a:solidFill>
                </a:defRPr>
              </a:lvl1pPr>
            </a:lstStyle>
            <a:p>
              <a:pPr algn="l">
                <a:lnSpc>
                  <a:spcPts val="1500"/>
                </a:lnSpc>
                <a:spcAft>
                  <a:spcPts val="600"/>
                </a:spcAft>
              </a:pPr>
              <a:r>
                <a:rPr lang="en-US" sz="800" dirty="0">
                  <a:solidFill>
                    <a:srgbClr val="9EAABE"/>
                  </a:solidFill>
                  <a:latin typeface="Century Gothic" panose="020B0502020202020204" pitchFamily="34" charset="0"/>
                </a:rPr>
                <a:t>This is the summery of the third month of work. How will you become a leader in this period?</a:t>
              </a:r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CF0678B7-9B57-463B-9526-77BD8EA967B7}"/>
                </a:ext>
              </a:extLst>
            </p:cNvPr>
            <p:cNvGrpSpPr/>
            <p:nvPr/>
          </p:nvGrpSpPr>
          <p:grpSpPr>
            <a:xfrm>
              <a:off x="8273919" y="4234752"/>
              <a:ext cx="2446238" cy="1352729"/>
              <a:chOff x="5004887" y="4292568"/>
              <a:chExt cx="2446238" cy="1352729"/>
            </a:xfrm>
          </p:grpSpPr>
          <p:sp>
            <p:nvSpPr>
              <p:cNvPr id="116" name="New York Project">
                <a:extLst>
                  <a:ext uri="{FF2B5EF4-FFF2-40B4-BE49-F238E27FC236}">
                    <a16:creationId xmlns:a16="http://schemas.microsoft.com/office/drawing/2014/main" id="{626BCBEF-9CC3-4B92-ABAB-3E40373714E5}"/>
                  </a:ext>
                </a:extLst>
              </p:cNvPr>
              <p:cNvSpPr txBox="1"/>
              <p:nvPr/>
            </p:nvSpPr>
            <p:spPr>
              <a:xfrm>
                <a:off x="5050406" y="4292568"/>
                <a:ext cx="2400719" cy="269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 anchorCtr="0">
                <a:spAutoFit/>
              </a:bodyPr>
              <a:lstStyle>
                <a:lvl1pPr algn="r">
                  <a:lnSpc>
                    <a:spcPct val="100000"/>
                  </a:lnSpc>
                  <a:defRPr baseline="0">
                    <a:solidFill>
                      <a:srgbClr val="475D84"/>
                    </a:solidFill>
                  </a:defRPr>
                </a:lvl1pPr>
              </a:lstStyle>
              <a:p>
                <a:pPr algn="l">
                  <a:lnSpc>
                    <a:spcPts val="1500"/>
                  </a:lnSpc>
                </a:pPr>
                <a:r>
                  <a:rPr lang="en-US" sz="800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Learning Goals:</a:t>
                </a:r>
              </a:p>
            </p:txBody>
          </p:sp>
          <p:sp>
            <p:nvSpPr>
              <p:cNvPr id="117" name="New York Project">
                <a:extLst>
                  <a:ext uri="{FF2B5EF4-FFF2-40B4-BE49-F238E27FC236}">
                    <a16:creationId xmlns:a16="http://schemas.microsoft.com/office/drawing/2014/main" id="{386014A1-395D-4172-80A0-63E9E457CB4D}"/>
                  </a:ext>
                </a:extLst>
              </p:cNvPr>
              <p:cNvSpPr txBox="1"/>
              <p:nvPr/>
            </p:nvSpPr>
            <p:spPr>
              <a:xfrm>
                <a:off x="5050406" y="4653602"/>
                <a:ext cx="2400719" cy="269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 anchorCtr="0">
                <a:spAutoFit/>
              </a:bodyPr>
              <a:lstStyle>
                <a:lvl1pPr algn="r">
                  <a:lnSpc>
                    <a:spcPct val="100000"/>
                  </a:lnSpc>
                  <a:defRPr baseline="0">
                    <a:solidFill>
                      <a:srgbClr val="475D84"/>
                    </a:solidFill>
                  </a:defRPr>
                </a:lvl1pPr>
              </a:lstStyle>
              <a:p>
                <a:pPr algn="l">
                  <a:lnSpc>
                    <a:spcPts val="1500"/>
                  </a:lnSpc>
                </a:pPr>
                <a:r>
                  <a:rPr lang="en-US" sz="800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Performance Goals:</a:t>
                </a:r>
              </a:p>
            </p:txBody>
          </p:sp>
          <p:sp>
            <p:nvSpPr>
              <p:cNvPr id="118" name="New York Project">
                <a:extLst>
                  <a:ext uri="{FF2B5EF4-FFF2-40B4-BE49-F238E27FC236}">
                    <a16:creationId xmlns:a16="http://schemas.microsoft.com/office/drawing/2014/main" id="{5EACEDD7-0A38-4480-AE70-102DF1A82A42}"/>
                  </a:ext>
                </a:extLst>
              </p:cNvPr>
              <p:cNvSpPr txBox="1"/>
              <p:nvPr/>
            </p:nvSpPr>
            <p:spPr>
              <a:xfrm>
                <a:off x="5050406" y="5014636"/>
                <a:ext cx="2400719" cy="269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 anchorCtr="0">
                <a:spAutoFit/>
              </a:bodyPr>
              <a:lstStyle>
                <a:lvl1pPr algn="r">
                  <a:lnSpc>
                    <a:spcPct val="100000"/>
                  </a:lnSpc>
                  <a:defRPr baseline="0">
                    <a:solidFill>
                      <a:srgbClr val="475D84"/>
                    </a:solidFill>
                  </a:defRPr>
                </a:lvl1pPr>
              </a:lstStyle>
              <a:p>
                <a:pPr algn="l">
                  <a:lnSpc>
                    <a:spcPts val="1500"/>
                  </a:lnSpc>
                </a:pPr>
                <a:r>
                  <a:rPr lang="en-US" sz="800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Initiative Goals:</a:t>
                </a:r>
              </a:p>
            </p:txBody>
          </p:sp>
          <p:sp>
            <p:nvSpPr>
              <p:cNvPr id="119" name="New York Project">
                <a:extLst>
                  <a:ext uri="{FF2B5EF4-FFF2-40B4-BE49-F238E27FC236}">
                    <a16:creationId xmlns:a16="http://schemas.microsoft.com/office/drawing/2014/main" id="{72906FF8-1F64-4F9F-9981-B57B32D165BD}"/>
                  </a:ext>
                </a:extLst>
              </p:cNvPr>
              <p:cNvSpPr txBox="1"/>
              <p:nvPr/>
            </p:nvSpPr>
            <p:spPr>
              <a:xfrm>
                <a:off x="5050406" y="5375671"/>
                <a:ext cx="2400719" cy="269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 anchorCtr="0">
                <a:spAutoFit/>
              </a:bodyPr>
              <a:lstStyle>
                <a:lvl1pPr algn="r">
                  <a:lnSpc>
                    <a:spcPct val="100000"/>
                  </a:lnSpc>
                  <a:defRPr baseline="0">
                    <a:solidFill>
                      <a:srgbClr val="475D84"/>
                    </a:solidFill>
                  </a:defRPr>
                </a:lvl1pPr>
              </a:lstStyle>
              <a:p>
                <a:pPr algn="l">
                  <a:lnSpc>
                    <a:spcPts val="1500"/>
                  </a:lnSpc>
                </a:pPr>
                <a:r>
                  <a:rPr lang="en-US" sz="800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Personal Goals:</a:t>
                </a:r>
              </a:p>
            </p:txBody>
          </p: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428EAF60-1B2E-4362-9E05-B739764C41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4887" y="5329966"/>
                <a:ext cx="2434903" cy="0"/>
              </a:xfrm>
              <a:prstGeom prst="line">
                <a:avLst/>
              </a:prstGeom>
              <a:ln w="6350" cap="rnd">
                <a:solidFill>
                  <a:srgbClr val="C4CCD7"/>
                </a:solidFill>
                <a:prstDash val="sys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23BE7390-2608-49FF-BDC1-0C0BD03476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4887" y="4968932"/>
                <a:ext cx="2434903" cy="0"/>
              </a:xfrm>
              <a:prstGeom prst="line">
                <a:avLst/>
              </a:prstGeom>
              <a:ln w="6350" cap="rnd">
                <a:solidFill>
                  <a:srgbClr val="C4CCD7"/>
                </a:solidFill>
                <a:prstDash val="sys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BACC47EB-EEF1-4869-AFA9-EB1172813F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4887" y="4607898"/>
                <a:ext cx="2434903" cy="0"/>
              </a:xfrm>
              <a:prstGeom prst="line">
                <a:avLst/>
              </a:prstGeom>
              <a:ln w="6350" cap="rnd">
                <a:solidFill>
                  <a:srgbClr val="C4CCD7"/>
                </a:solidFill>
                <a:prstDash val="sys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4" name="Rounded Rectangle">
            <a:extLst>
              <a:ext uri="{FF2B5EF4-FFF2-40B4-BE49-F238E27FC236}">
                <a16:creationId xmlns:a16="http://schemas.microsoft.com/office/drawing/2014/main" id="{C15C29D4-0675-43D9-BD15-552357996910}"/>
              </a:ext>
            </a:extLst>
          </p:cNvPr>
          <p:cNvSpPr/>
          <p:nvPr/>
        </p:nvSpPr>
        <p:spPr>
          <a:xfrm>
            <a:off x="8096736" y="1977698"/>
            <a:ext cx="2800604" cy="539094"/>
          </a:xfrm>
          <a:prstGeom prst="round2SameRect">
            <a:avLst>
              <a:gd name="adj1" fmla="val 45526"/>
              <a:gd name="adj2" fmla="val 0"/>
            </a:avLst>
          </a:pr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12700" cap="flat">
            <a:noFill/>
            <a:miter lim="400000"/>
          </a:ln>
          <a:effectLst/>
        </p:spPr>
        <p:txBody>
          <a:bodyPr wrap="square" lIns="50800" tIns="0" rIns="50800" bIns="50800" numCol="1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90 DAY - OPTIMIZE</a:t>
            </a:r>
          </a:p>
        </p:txBody>
      </p:sp>
      <p:sp>
        <p:nvSpPr>
          <p:cNvPr id="93" name="Rounded Rectangle">
            <a:extLst>
              <a:ext uri="{FF2B5EF4-FFF2-40B4-BE49-F238E27FC236}">
                <a16:creationId xmlns:a16="http://schemas.microsoft.com/office/drawing/2014/main" id="{D38A0625-3E5C-491C-A503-9F226B808514}"/>
              </a:ext>
            </a:extLst>
          </p:cNvPr>
          <p:cNvSpPr/>
          <p:nvPr/>
        </p:nvSpPr>
        <p:spPr>
          <a:xfrm>
            <a:off x="4614429" y="1977700"/>
            <a:ext cx="2800604" cy="3945726"/>
          </a:xfrm>
          <a:prstGeom prst="roundRect">
            <a:avLst>
              <a:gd name="adj" fmla="val 8428"/>
            </a:avLst>
          </a:prstGeom>
          <a:solidFill>
            <a:srgbClr val="FFFFFF"/>
          </a:solidFill>
          <a:ln w="12700" cap="flat">
            <a:noFill/>
            <a:miter lim="400000"/>
          </a:ln>
          <a:effectLst>
            <a:outerShdw blurRad="292100" dist="110334" dir="5400000" rotWithShape="0">
              <a:srgbClr val="475D84">
                <a:alpha val="21640"/>
              </a:srgbClr>
            </a:outerShdw>
          </a:effectLst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  <a:defRPr sz="3200" baseline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20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53C995E-0A5F-4A07-88EE-F279D3B8D9A9}"/>
              </a:ext>
            </a:extLst>
          </p:cNvPr>
          <p:cNvGrpSpPr/>
          <p:nvPr/>
        </p:nvGrpSpPr>
        <p:grpSpPr>
          <a:xfrm>
            <a:off x="4387760" y="3555125"/>
            <a:ext cx="2086029" cy="455036"/>
            <a:chOff x="947683" y="2831919"/>
            <a:chExt cx="2086029" cy="455036"/>
          </a:xfrm>
        </p:grpSpPr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010D51AB-7611-4C71-A589-19FB574AD246}"/>
                </a:ext>
              </a:extLst>
            </p:cNvPr>
            <p:cNvSpPr/>
            <p:nvPr/>
          </p:nvSpPr>
          <p:spPr>
            <a:xfrm>
              <a:off x="947683" y="2831919"/>
              <a:ext cx="2086029" cy="45503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D7A0">
                    <a:alpha val="20000"/>
                  </a:srgbClr>
                </a:gs>
                <a:gs pos="100000">
                  <a:srgbClr val="24C6BE">
                    <a:alpha val="20000"/>
                  </a:srgbClr>
                </a:gs>
              </a:gsLst>
              <a:lin ang="2277912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/>
              <a:endParaRPr lang="en-US" sz="3200">
                <a:solidFill>
                  <a:srgbClr val="FFFFFF"/>
                </a:solidFill>
                <a:latin typeface="Helvetica Light"/>
              </a:endParaRPr>
            </a:p>
          </p:txBody>
        </p:sp>
        <p:sp>
          <p:nvSpPr>
            <p:cNvPr id="107" name="Circle">
              <a:extLst>
                <a:ext uri="{FF2B5EF4-FFF2-40B4-BE49-F238E27FC236}">
                  <a16:creationId xmlns:a16="http://schemas.microsoft.com/office/drawing/2014/main" id="{EB86ABC8-38AE-4ED5-8A76-4C8899422AAC}"/>
                </a:ext>
              </a:extLst>
            </p:cNvPr>
            <p:cNvSpPr/>
            <p:nvPr/>
          </p:nvSpPr>
          <p:spPr>
            <a:xfrm>
              <a:off x="1021313" y="2905548"/>
              <a:ext cx="307780" cy="307778"/>
            </a:xfrm>
            <a:prstGeom prst="ellipse">
              <a:avLst/>
            </a:prstGeom>
            <a:gradFill flip="none" rotWithShape="1">
              <a:gsLst>
                <a:gs pos="0">
                  <a:srgbClr val="00D7A0"/>
                </a:gs>
                <a:gs pos="100000">
                  <a:srgbClr val="24C6BE"/>
                </a:gs>
              </a:gsLst>
              <a:lin ang="2277912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9144" numCol="1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Century Gothic" panose="020B0502020202020204" pitchFamily="34" charset="0"/>
                </a:rPr>
                <a:t>02</a:t>
              </a:r>
              <a:endParaRPr sz="1000" b="1" dirty="0">
                <a:solidFill>
                  <a:srgbClr val="FFFFFF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08" name="New York Project">
              <a:extLst>
                <a:ext uri="{FF2B5EF4-FFF2-40B4-BE49-F238E27FC236}">
                  <a16:creationId xmlns:a16="http://schemas.microsoft.com/office/drawing/2014/main" id="{C06B51C1-F923-4F24-804B-8AAB47D92320}"/>
                </a:ext>
              </a:extLst>
            </p:cNvPr>
            <p:cNvSpPr txBox="1"/>
            <p:nvPr/>
          </p:nvSpPr>
          <p:spPr>
            <a:xfrm>
              <a:off x="1575600" y="2905548"/>
              <a:ext cx="946093" cy="307777"/>
            </a:xfrm>
            <a:prstGeom prst="rect">
              <a:avLst/>
            </a:prstGeom>
            <a:noFill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400" b="1">
                  <a:gradFill>
                    <a:gsLst>
                      <a:gs pos="0">
                        <a:srgbClr val="54B2DB"/>
                      </a:gs>
                      <a:gs pos="100000">
                        <a:srgbClr val="4983D0"/>
                      </a:gs>
                    </a:gsLst>
                    <a:lin ang="5400000" scaled="1"/>
                  </a:gradFill>
                  <a:latin typeface="Century Gothic" panose="020B0502020202020204" pitchFamily="34" charset="0"/>
                </a:defRPr>
              </a:lvl1pPr>
            </a:lstStyle>
            <a:p>
              <a:r>
                <a:rPr lang="en-US" dirty="0">
                  <a:solidFill>
                    <a:srgbClr val="24C6BE"/>
                  </a:solidFill>
                </a:rPr>
                <a:t>JUL 23RD</a:t>
              </a:r>
              <a:endParaRPr dirty="0">
                <a:solidFill>
                  <a:srgbClr val="24C6BE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FA9749-6BCA-664E-867C-C284336AB632}"/>
              </a:ext>
            </a:extLst>
          </p:cNvPr>
          <p:cNvGrpSpPr/>
          <p:nvPr/>
        </p:nvGrpSpPr>
        <p:grpSpPr>
          <a:xfrm>
            <a:off x="4791612" y="2783210"/>
            <a:ext cx="2446238" cy="2804271"/>
            <a:chOff x="4791612" y="2783210"/>
            <a:chExt cx="2446238" cy="2804271"/>
          </a:xfrm>
        </p:grpSpPr>
        <p:sp>
          <p:nvSpPr>
            <p:cNvPr id="95" name="New York Project">
              <a:extLst>
                <a:ext uri="{FF2B5EF4-FFF2-40B4-BE49-F238E27FC236}">
                  <a16:creationId xmlns:a16="http://schemas.microsoft.com/office/drawing/2014/main" id="{75359768-6E66-4D29-8D4E-9223E2339BA3}"/>
                </a:ext>
              </a:extLst>
            </p:cNvPr>
            <p:cNvSpPr txBox="1"/>
            <p:nvPr/>
          </p:nvSpPr>
          <p:spPr>
            <a:xfrm>
              <a:off x="4803187" y="2783210"/>
              <a:ext cx="2400719" cy="461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 anchorCtr="0">
              <a:spAutoFit/>
            </a:bodyPr>
            <a:lstStyle>
              <a:lvl1pPr algn="r">
                <a:lnSpc>
                  <a:spcPct val="100000"/>
                </a:lnSpc>
                <a:defRPr baseline="0">
                  <a:solidFill>
                    <a:srgbClr val="475D84"/>
                  </a:solidFill>
                </a:defRPr>
              </a:lvl1pPr>
            </a:lstStyle>
            <a:p>
              <a:pPr algn="l">
                <a:lnSpc>
                  <a:spcPts val="1500"/>
                </a:lnSpc>
                <a:spcAft>
                  <a:spcPts val="600"/>
                </a:spcAft>
              </a:pPr>
              <a:r>
                <a:rPr lang="en-US" sz="800" dirty="0">
                  <a:solidFill>
                    <a:srgbClr val="9EAABE"/>
                  </a:solidFill>
                  <a:latin typeface="Century Gothic" panose="020B0502020202020204" pitchFamily="34" charset="0"/>
                </a:rPr>
                <a:t>This is the summery of the second month of work. What will you contribute in this period?</a:t>
              </a: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8134B2A-2678-429D-9B22-CDB687B0D05C}"/>
                </a:ext>
              </a:extLst>
            </p:cNvPr>
            <p:cNvGrpSpPr/>
            <p:nvPr/>
          </p:nvGrpSpPr>
          <p:grpSpPr>
            <a:xfrm>
              <a:off x="4791612" y="4234752"/>
              <a:ext cx="2446238" cy="1352729"/>
              <a:chOff x="5004887" y="4292568"/>
              <a:chExt cx="2446238" cy="1352729"/>
            </a:xfrm>
          </p:grpSpPr>
          <p:sp>
            <p:nvSpPr>
              <p:cNvPr id="99" name="New York Project">
                <a:extLst>
                  <a:ext uri="{FF2B5EF4-FFF2-40B4-BE49-F238E27FC236}">
                    <a16:creationId xmlns:a16="http://schemas.microsoft.com/office/drawing/2014/main" id="{9EFD460F-7DFA-4230-A640-0424CFEF6CFE}"/>
                  </a:ext>
                </a:extLst>
              </p:cNvPr>
              <p:cNvSpPr txBox="1"/>
              <p:nvPr/>
            </p:nvSpPr>
            <p:spPr>
              <a:xfrm>
                <a:off x="5050406" y="4292568"/>
                <a:ext cx="2400719" cy="269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 anchorCtr="0">
                <a:spAutoFit/>
              </a:bodyPr>
              <a:lstStyle>
                <a:lvl1pPr algn="r">
                  <a:lnSpc>
                    <a:spcPct val="100000"/>
                  </a:lnSpc>
                  <a:defRPr baseline="0">
                    <a:solidFill>
                      <a:srgbClr val="475D84"/>
                    </a:solidFill>
                  </a:defRPr>
                </a:lvl1pPr>
              </a:lstStyle>
              <a:p>
                <a:pPr algn="l">
                  <a:lnSpc>
                    <a:spcPts val="1500"/>
                  </a:lnSpc>
                </a:pPr>
                <a:r>
                  <a:rPr lang="en-US" sz="800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Learning Goals:</a:t>
                </a:r>
              </a:p>
            </p:txBody>
          </p:sp>
          <p:sp>
            <p:nvSpPr>
              <p:cNvPr id="100" name="New York Project">
                <a:extLst>
                  <a:ext uri="{FF2B5EF4-FFF2-40B4-BE49-F238E27FC236}">
                    <a16:creationId xmlns:a16="http://schemas.microsoft.com/office/drawing/2014/main" id="{B1590AB7-1F5D-484D-9130-71081CD13621}"/>
                  </a:ext>
                </a:extLst>
              </p:cNvPr>
              <p:cNvSpPr txBox="1"/>
              <p:nvPr/>
            </p:nvSpPr>
            <p:spPr>
              <a:xfrm>
                <a:off x="5050406" y="4653602"/>
                <a:ext cx="2400719" cy="269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 anchorCtr="0">
                <a:spAutoFit/>
              </a:bodyPr>
              <a:lstStyle>
                <a:lvl1pPr algn="r">
                  <a:lnSpc>
                    <a:spcPct val="100000"/>
                  </a:lnSpc>
                  <a:defRPr baseline="0">
                    <a:solidFill>
                      <a:srgbClr val="475D84"/>
                    </a:solidFill>
                  </a:defRPr>
                </a:lvl1pPr>
              </a:lstStyle>
              <a:p>
                <a:pPr algn="l">
                  <a:lnSpc>
                    <a:spcPts val="1500"/>
                  </a:lnSpc>
                </a:pPr>
                <a:r>
                  <a:rPr lang="en-US" sz="800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Performance Goals:</a:t>
                </a:r>
              </a:p>
            </p:txBody>
          </p:sp>
          <p:sp>
            <p:nvSpPr>
              <p:cNvPr id="101" name="New York Project">
                <a:extLst>
                  <a:ext uri="{FF2B5EF4-FFF2-40B4-BE49-F238E27FC236}">
                    <a16:creationId xmlns:a16="http://schemas.microsoft.com/office/drawing/2014/main" id="{85C9D263-6315-4C8C-8C0D-D97B95E44D45}"/>
                  </a:ext>
                </a:extLst>
              </p:cNvPr>
              <p:cNvSpPr txBox="1"/>
              <p:nvPr/>
            </p:nvSpPr>
            <p:spPr>
              <a:xfrm>
                <a:off x="5050406" y="5014636"/>
                <a:ext cx="2400719" cy="269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 anchorCtr="0">
                <a:spAutoFit/>
              </a:bodyPr>
              <a:lstStyle>
                <a:lvl1pPr algn="r">
                  <a:lnSpc>
                    <a:spcPct val="100000"/>
                  </a:lnSpc>
                  <a:defRPr baseline="0">
                    <a:solidFill>
                      <a:srgbClr val="475D84"/>
                    </a:solidFill>
                  </a:defRPr>
                </a:lvl1pPr>
              </a:lstStyle>
              <a:p>
                <a:pPr algn="l">
                  <a:lnSpc>
                    <a:spcPts val="1500"/>
                  </a:lnSpc>
                </a:pPr>
                <a:r>
                  <a:rPr lang="en-US" sz="800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Initiative Goals:</a:t>
                </a:r>
              </a:p>
            </p:txBody>
          </p:sp>
          <p:sp>
            <p:nvSpPr>
              <p:cNvPr id="102" name="New York Project">
                <a:extLst>
                  <a:ext uri="{FF2B5EF4-FFF2-40B4-BE49-F238E27FC236}">
                    <a16:creationId xmlns:a16="http://schemas.microsoft.com/office/drawing/2014/main" id="{B7BEEA22-6FED-43DF-805D-1A49157A5937}"/>
                  </a:ext>
                </a:extLst>
              </p:cNvPr>
              <p:cNvSpPr txBox="1"/>
              <p:nvPr/>
            </p:nvSpPr>
            <p:spPr>
              <a:xfrm>
                <a:off x="5050406" y="5375671"/>
                <a:ext cx="2400719" cy="269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 anchorCtr="0">
                <a:spAutoFit/>
              </a:bodyPr>
              <a:lstStyle>
                <a:lvl1pPr algn="r">
                  <a:lnSpc>
                    <a:spcPct val="100000"/>
                  </a:lnSpc>
                  <a:defRPr baseline="0">
                    <a:solidFill>
                      <a:srgbClr val="475D84"/>
                    </a:solidFill>
                  </a:defRPr>
                </a:lvl1pPr>
              </a:lstStyle>
              <a:p>
                <a:pPr algn="l">
                  <a:lnSpc>
                    <a:spcPts val="1500"/>
                  </a:lnSpc>
                </a:pPr>
                <a:r>
                  <a:rPr lang="en-US" sz="800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Personal Goals:</a:t>
                </a:r>
              </a:p>
            </p:txBody>
          </p: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CAF1D6E6-B4B4-44FF-A20A-88763560B3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4887" y="5329966"/>
                <a:ext cx="2434903" cy="0"/>
              </a:xfrm>
              <a:prstGeom prst="line">
                <a:avLst/>
              </a:prstGeom>
              <a:ln w="6350" cap="rnd">
                <a:solidFill>
                  <a:srgbClr val="C4CCD7"/>
                </a:solidFill>
                <a:prstDash val="sys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83FD2A64-0A48-455E-92A3-CDCCA99942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4887" y="4968932"/>
                <a:ext cx="2434903" cy="0"/>
              </a:xfrm>
              <a:prstGeom prst="line">
                <a:avLst/>
              </a:prstGeom>
              <a:ln w="6350" cap="rnd">
                <a:solidFill>
                  <a:srgbClr val="C4CCD7"/>
                </a:solidFill>
                <a:prstDash val="sys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80871167-33E9-46B4-8172-C787C4FABF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4887" y="4607898"/>
                <a:ext cx="2434903" cy="0"/>
              </a:xfrm>
              <a:prstGeom prst="line">
                <a:avLst/>
              </a:prstGeom>
              <a:ln w="6350" cap="rnd">
                <a:solidFill>
                  <a:srgbClr val="C4CCD7"/>
                </a:solidFill>
                <a:prstDash val="sys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7" name="Rounded Rectangle">
            <a:extLst>
              <a:ext uri="{FF2B5EF4-FFF2-40B4-BE49-F238E27FC236}">
                <a16:creationId xmlns:a16="http://schemas.microsoft.com/office/drawing/2014/main" id="{0125F416-846C-4D20-8F78-EB22452736D4}"/>
              </a:ext>
            </a:extLst>
          </p:cNvPr>
          <p:cNvSpPr/>
          <p:nvPr/>
        </p:nvSpPr>
        <p:spPr>
          <a:xfrm>
            <a:off x="4614429" y="1977698"/>
            <a:ext cx="2800604" cy="539094"/>
          </a:xfrm>
          <a:prstGeom prst="round2SameRect">
            <a:avLst>
              <a:gd name="adj1" fmla="val 45526"/>
              <a:gd name="adj2" fmla="val 0"/>
            </a:avLst>
          </a:pr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12700" cap="flat">
            <a:noFill/>
            <a:miter lim="400000"/>
          </a:ln>
          <a:effectLst/>
        </p:spPr>
        <p:txBody>
          <a:bodyPr wrap="square" lIns="50800" tIns="0" rIns="50800" bIns="50800" numCol="1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60 DAY - ASSESS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CAE2D45-A50C-417E-9B77-02E36F57896C}"/>
              </a:ext>
            </a:extLst>
          </p:cNvPr>
          <p:cNvGrpSpPr/>
          <p:nvPr/>
        </p:nvGrpSpPr>
        <p:grpSpPr>
          <a:xfrm rot="18197214">
            <a:off x="-225058" y="2354113"/>
            <a:ext cx="2847448" cy="2847448"/>
            <a:chOff x="15725719" y="1959892"/>
            <a:chExt cx="6720338" cy="6720338"/>
          </a:xfrm>
        </p:grpSpPr>
        <p:sp>
          <p:nvSpPr>
            <p:cNvPr id="4" name="Circle">
              <a:extLst>
                <a:ext uri="{FF2B5EF4-FFF2-40B4-BE49-F238E27FC236}">
                  <a16:creationId xmlns:a16="http://schemas.microsoft.com/office/drawing/2014/main" id="{03E6695C-30C6-46A4-AD0E-13B97E4D08F2}"/>
                </a:ext>
              </a:extLst>
            </p:cNvPr>
            <p:cNvSpPr/>
            <p:nvPr/>
          </p:nvSpPr>
          <p:spPr>
            <a:xfrm>
              <a:off x="18032677" y="4271737"/>
              <a:ext cx="2106417" cy="2106417"/>
            </a:xfrm>
            <a:prstGeom prst="ellipse">
              <a:avLst/>
            </a:prstGeom>
            <a:noFill/>
            <a:ln w="6350" cap="flat">
              <a:solidFill>
                <a:schemeClr val="bg1">
                  <a:lumMod val="75000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5" name="Circle">
              <a:extLst>
                <a:ext uri="{FF2B5EF4-FFF2-40B4-BE49-F238E27FC236}">
                  <a16:creationId xmlns:a16="http://schemas.microsoft.com/office/drawing/2014/main" id="{55B208C3-B14B-4E71-861A-B4666465794B}"/>
                </a:ext>
              </a:extLst>
            </p:cNvPr>
            <p:cNvSpPr/>
            <p:nvPr/>
          </p:nvSpPr>
          <p:spPr>
            <a:xfrm>
              <a:off x="17415749" y="3654808"/>
              <a:ext cx="3340276" cy="3340275"/>
            </a:xfrm>
            <a:prstGeom prst="ellipse">
              <a:avLst/>
            </a:prstGeom>
            <a:noFill/>
            <a:ln w="6350" cap="flat">
              <a:solidFill>
                <a:schemeClr val="bg1">
                  <a:lumMod val="75000"/>
                  <a:alpha val="70000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6" name="Circle">
              <a:extLst>
                <a:ext uri="{FF2B5EF4-FFF2-40B4-BE49-F238E27FC236}">
                  <a16:creationId xmlns:a16="http://schemas.microsoft.com/office/drawing/2014/main" id="{29D25877-3198-4A27-910C-213FDCB7F1EE}"/>
                </a:ext>
              </a:extLst>
            </p:cNvPr>
            <p:cNvSpPr/>
            <p:nvPr/>
          </p:nvSpPr>
          <p:spPr>
            <a:xfrm>
              <a:off x="16764656" y="3003715"/>
              <a:ext cx="4642463" cy="4642463"/>
            </a:xfrm>
            <a:prstGeom prst="ellipse">
              <a:avLst/>
            </a:prstGeom>
            <a:noFill/>
            <a:ln w="6350" cap="flat">
              <a:solidFill>
                <a:schemeClr val="bg1">
                  <a:lumMod val="75000"/>
                  <a:alpha val="44000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7" name="Circle">
              <a:extLst>
                <a:ext uri="{FF2B5EF4-FFF2-40B4-BE49-F238E27FC236}">
                  <a16:creationId xmlns:a16="http://schemas.microsoft.com/office/drawing/2014/main" id="{4BB613EC-D011-46A8-91D0-6CDC8158DB50}"/>
                </a:ext>
              </a:extLst>
            </p:cNvPr>
            <p:cNvSpPr/>
            <p:nvPr/>
          </p:nvSpPr>
          <p:spPr>
            <a:xfrm>
              <a:off x="15725719" y="1959892"/>
              <a:ext cx="6720338" cy="6720338"/>
            </a:xfrm>
            <a:prstGeom prst="ellipse">
              <a:avLst/>
            </a:prstGeom>
            <a:noFill/>
            <a:ln w="6350" cap="flat">
              <a:solidFill>
                <a:srgbClr val="D9DDE0">
                  <a:alpha val="22249"/>
                </a:srgb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8" name="Circle">
              <a:extLst>
                <a:ext uri="{FF2B5EF4-FFF2-40B4-BE49-F238E27FC236}">
                  <a16:creationId xmlns:a16="http://schemas.microsoft.com/office/drawing/2014/main" id="{A7BBD669-6D92-4376-A77B-64114E885774}"/>
                </a:ext>
              </a:extLst>
            </p:cNvPr>
            <p:cNvSpPr/>
            <p:nvPr/>
          </p:nvSpPr>
          <p:spPr>
            <a:xfrm>
              <a:off x="20002075" y="5100655"/>
              <a:ext cx="189410" cy="18941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9" name="Circle">
              <a:extLst>
                <a:ext uri="{FF2B5EF4-FFF2-40B4-BE49-F238E27FC236}">
                  <a16:creationId xmlns:a16="http://schemas.microsoft.com/office/drawing/2014/main" id="{7C865D32-CFCB-47BC-BADC-C642A1195B8C}"/>
                </a:ext>
              </a:extLst>
            </p:cNvPr>
            <p:cNvSpPr/>
            <p:nvPr/>
          </p:nvSpPr>
          <p:spPr>
            <a:xfrm>
              <a:off x="17870027" y="3992239"/>
              <a:ext cx="189409" cy="18940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algn="ctr">
                <a:lnSpc>
                  <a:spcPct val="100000"/>
                </a:lnSpc>
                <a:defRPr sz="3200" baseline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17" name="Rounded Rectangle">
            <a:extLst>
              <a:ext uri="{FF2B5EF4-FFF2-40B4-BE49-F238E27FC236}">
                <a16:creationId xmlns:a16="http://schemas.microsoft.com/office/drawing/2014/main" id="{2B4EED53-A30C-41BE-BD36-1B0276584EDE}"/>
              </a:ext>
            </a:extLst>
          </p:cNvPr>
          <p:cNvSpPr/>
          <p:nvPr/>
        </p:nvSpPr>
        <p:spPr>
          <a:xfrm>
            <a:off x="1174352" y="1977700"/>
            <a:ext cx="2800604" cy="3945726"/>
          </a:xfrm>
          <a:prstGeom prst="roundRect">
            <a:avLst>
              <a:gd name="adj" fmla="val 8428"/>
            </a:avLst>
          </a:prstGeom>
          <a:solidFill>
            <a:srgbClr val="FFFFFF"/>
          </a:solidFill>
          <a:ln w="12700" cap="flat">
            <a:noFill/>
            <a:miter lim="400000"/>
          </a:ln>
          <a:effectLst>
            <a:outerShdw blurRad="292100" dist="110334" dir="5400000" rotWithShape="0">
              <a:srgbClr val="475D84">
                <a:alpha val="21640"/>
              </a:srgbClr>
            </a:outerShdw>
          </a:effectLst>
        </p:spPr>
        <p:txBody>
          <a:bodyPr wrap="square" lIns="50800" tIns="50800" rIns="50800" bIns="50800" numCol="1" anchor="ctr">
            <a:noAutofit/>
          </a:bodyPr>
          <a:lstStyle/>
          <a:p>
            <a:pPr algn="ctr">
              <a:lnSpc>
                <a:spcPct val="100000"/>
              </a:lnSpc>
              <a:defRPr sz="3200" baseline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20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416F2E6-9836-41E4-B590-62453D0FFC3D}"/>
              </a:ext>
            </a:extLst>
          </p:cNvPr>
          <p:cNvGrpSpPr/>
          <p:nvPr/>
        </p:nvGrpSpPr>
        <p:grpSpPr>
          <a:xfrm>
            <a:off x="947683" y="3555125"/>
            <a:ext cx="2086029" cy="455036"/>
            <a:chOff x="947683" y="2831919"/>
            <a:chExt cx="2086029" cy="45503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6E3BB36A-F489-41F2-B329-58CAB3BAB175}"/>
                </a:ext>
              </a:extLst>
            </p:cNvPr>
            <p:cNvSpPr/>
            <p:nvPr/>
          </p:nvSpPr>
          <p:spPr>
            <a:xfrm>
              <a:off x="947683" y="2831919"/>
              <a:ext cx="2086029" cy="45503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D7A0">
                    <a:alpha val="20000"/>
                  </a:srgbClr>
                </a:gs>
                <a:gs pos="99000">
                  <a:srgbClr val="24C6BE">
                    <a:alpha val="20000"/>
                  </a:srgbClr>
                </a:gs>
              </a:gsLst>
              <a:lin ang="2277912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/>
              <a:endParaRPr lang="en-US" sz="3200">
                <a:solidFill>
                  <a:srgbClr val="FFFFFF"/>
                </a:solidFill>
                <a:latin typeface="Helvetica Light"/>
              </a:endParaRPr>
            </a:p>
          </p:txBody>
        </p:sp>
        <p:sp>
          <p:nvSpPr>
            <p:cNvPr id="18" name="Circle">
              <a:extLst>
                <a:ext uri="{FF2B5EF4-FFF2-40B4-BE49-F238E27FC236}">
                  <a16:creationId xmlns:a16="http://schemas.microsoft.com/office/drawing/2014/main" id="{A5A513C7-9A55-4071-9F18-F993C1664085}"/>
                </a:ext>
              </a:extLst>
            </p:cNvPr>
            <p:cNvSpPr/>
            <p:nvPr/>
          </p:nvSpPr>
          <p:spPr>
            <a:xfrm>
              <a:off x="1021313" y="2905548"/>
              <a:ext cx="307780" cy="307778"/>
            </a:xfrm>
            <a:prstGeom prst="ellipse">
              <a:avLst/>
            </a:prstGeom>
            <a:gradFill flip="none" rotWithShape="1">
              <a:gsLst>
                <a:gs pos="0">
                  <a:srgbClr val="00D7A0"/>
                </a:gs>
                <a:gs pos="100000">
                  <a:srgbClr val="24C6BE"/>
                </a:gs>
              </a:gsLst>
              <a:lin ang="2277912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9144" numCol="1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Century Gothic" panose="020B0502020202020204" pitchFamily="34" charset="0"/>
                </a:rPr>
                <a:t>01</a:t>
              </a:r>
              <a:endParaRPr sz="1000" b="1" dirty="0">
                <a:solidFill>
                  <a:srgbClr val="FFFFFF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9" name="New York Project">
              <a:extLst>
                <a:ext uri="{FF2B5EF4-FFF2-40B4-BE49-F238E27FC236}">
                  <a16:creationId xmlns:a16="http://schemas.microsoft.com/office/drawing/2014/main" id="{03482838-1E66-4EA2-93D6-6679E8D1D05B}"/>
                </a:ext>
              </a:extLst>
            </p:cNvPr>
            <p:cNvSpPr txBox="1"/>
            <p:nvPr/>
          </p:nvSpPr>
          <p:spPr>
            <a:xfrm>
              <a:off x="1575600" y="2905548"/>
              <a:ext cx="1000595" cy="307777"/>
            </a:xfrm>
            <a:prstGeom prst="rect">
              <a:avLst/>
            </a:prstGeom>
            <a:noFill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400" b="1">
                  <a:gradFill>
                    <a:gsLst>
                      <a:gs pos="0">
                        <a:srgbClr val="54B2DB"/>
                      </a:gs>
                      <a:gs pos="100000">
                        <a:srgbClr val="4983D0"/>
                      </a:gs>
                    </a:gsLst>
                    <a:lin ang="5400000" scaled="1"/>
                  </a:gradFill>
                  <a:latin typeface="Century Gothic" panose="020B0502020202020204" pitchFamily="34" charset="0"/>
                </a:defRPr>
              </a:lvl1pPr>
            </a:lstStyle>
            <a:p>
              <a:r>
                <a:rPr lang="en-US" dirty="0">
                  <a:solidFill>
                    <a:srgbClr val="24C6BE"/>
                  </a:solidFill>
                </a:rPr>
                <a:t>JUN 23RD</a:t>
              </a:r>
              <a:endParaRPr dirty="0">
                <a:solidFill>
                  <a:srgbClr val="24C6BE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91C764-FAA6-EC42-B012-18410F4C5D92}"/>
              </a:ext>
            </a:extLst>
          </p:cNvPr>
          <p:cNvGrpSpPr/>
          <p:nvPr/>
        </p:nvGrpSpPr>
        <p:grpSpPr>
          <a:xfrm>
            <a:off x="1351535" y="2783210"/>
            <a:ext cx="2446238" cy="2804271"/>
            <a:chOff x="1351535" y="2783210"/>
            <a:chExt cx="2446238" cy="2804271"/>
          </a:xfrm>
        </p:grpSpPr>
        <p:sp>
          <p:nvSpPr>
            <p:cNvPr id="20" name="New York Project">
              <a:extLst>
                <a:ext uri="{FF2B5EF4-FFF2-40B4-BE49-F238E27FC236}">
                  <a16:creationId xmlns:a16="http://schemas.microsoft.com/office/drawing/2014/main" id="{82149CF1-2344-4090-8BA4-6A86EA1E9950}"/>
                </a:ext>
              </a:extLst>
            </p:cNvPr>
            <p:cNvSpPr txBox="1"/>
            <p:nvPr/>
          </p:nvSpPr>
          <p:spPr>
            <a:xfrm>
              <a:off x="1363110" y="2783210"/>
              <a:ext cx="2400719" cy="4619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 anchorCtr="0">
              <a:spAutoFit/>
            </a:bodyPr>
            <a:lstStyle>
              <a:lvl1pPr algn="r">
                <a:lnSpc>
                  <a:spcPct val="100000"/>
                </a:lnSpc>
                <a:defRPr baseline="0">
                  <a:solidFill>
                    <a:srgbClr val="475D84"/>
                  </a:solidFill>
                </a:defRPr>
              </a:lvl1pPr>
            </a:lstStyle>
            <a:p>
              <a:pPr algn="l">
                <a:lnSpc>
                  <a:spcPts val="1500"/>
                </a:lnSpc>
                <a:spcAft>
                  <a:spcPts val="600"/>
                </a:spcAft>
              </a:pPr>
              <a:r>
                <a:rPr lang="en-US" sz="800" dirty="0">
                  <a:solidFill>
                    <a:srgbClr val="9EAABE"/>
                  </a:solidFill>
                  <a:latin typeface="Century Gothic" panose="020B0502020202020204" pitchFamily="34" charset="0"/>
                </a:rPr>
                <a:t>This is the summery of the first month of work. What will you learn during this period?</a:t>
              </a:r>
              <a:endParaRPr sz="800" dirty="0">
                <a:solidFill>
                  <a:srgbClr val="9EAABE"/>
                </a:solidFill>
                <a:latin typeface="Century Gothic" panose="020B0502020202020204" pitchFamily="34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24DDB7AE-0EC5-4D59-9B5B-DA19265AE9AA}"/>
                </a:ext>
              </a:extLst>
            </p:cNvPr>
            <p:cNvGrpSpPr/>
            <p:nvPr/>
          </p:nvGrpSpPr>
          <p:grpSpPr>
            <a:xfrm>
              <a:off x="1351535" y="4234752"/>
              <a:ext cx="2446238" cy="1352729"/>
              <a:chOff x="5004887" y="4292568"/>
              <a:chExt cx="2446238" cy="1352729"/>
            </a:xfrm>
          </p:grpSpPr>
          <p:sp>
            <p:nvSpPr>
              <p:cNvPr id="34" name="New York Project">
                <a:extLst>
                  <a:ext uri="{FF2B5EF4-FFF2-40B4-BE49-F238E27FC236}">
                    <a16:creationId xmlns:a16="http://schemas.microsoft.com/office/drawing/2014/main" id="{A911DB96-80A3-4748-BE01-8A567DAFD9C4}"/>
                  </a:ext>
                </a:extLst>
              </p:cNvPr>
              <p:cNvSpPr txBox="1"/>
              <p:nvPr/>
            </p:nvSpPr>
            <p:spPr>
              <a:xfrm>
                <a:off x="5050406" y="4292568"/>
                <a:ext cx="2400719" cy="269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 anchorCtr="0">
                <a:spAutoFit/>
              </a:bodyPr>
              <a:lstStyle>
                <a:lvl1pPr algn="r">
                  <a:lnSpc>
                    <a:spcPct val="100000"/>
                  </a:lnSpc>
                  <a:defRPr baseline="0">
                    <a:solidFill>
                      <a:srgbClr val="475D84"/>
                    </a:solidFill>
                  </a:defRPr>
                </a:lvl1pPr>
              </a:lstStyle>
              <a:p>
                <a:pPr algn="l">
                  <a:lnSpc>
                    <a:spcPts val="1500"/>
                  </a:lnSpc>
                </a:pPr>
                <a:r>
                  <a:rPr lang="en-US" sz="800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Learning Goals:</a:t>
                </a:r>
              </a:p>
            </p:txBody>
          </p:sp>
          <p:sp>
            <p:nvSpPr>
              <p:cNvPr id="35" name="New York Project">
                <a:extLst>
                  <a:ext uri="{FF2B5EF4-FFF2-40B4-BE49-F238E27FC236}">
                    <a16:creationId xmlns:a16="http://schemas.microsoft.com/office/drawing/2014/main" id="{5E4590B2-B17F-4013-A50E-17FA5BE787D1}"/>
                  </a:ext>
                </a:extLst>
              </p:cNvPr>
              <p:cNvSpPr txBox="1"/>
              <p:nvPr/>
            </p:nvSpPr>
            <p:spPr>
              <a:xfrm>
                <a:off x="5050406" y="4653602"/>
                <a:ext cx="2400719" cy="269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 anchorCtr="0">
                <a:spAutoFit/>
              </a:bodyPr>
              <a:lstStyle>
                <a:lvl1pPr algn="r">
                  <a:lnSpc>
                    <a:spcPct val="100000"/>
                  </a:lnSpc>
                  <a:defRPr baseline="0">
                    <a:solidFill>
                      <a:srgbClr val="475D84"/>
                    </a:solidFill>
                  </a:defRPr>
                </a:lvl1pPr>
              </a:lstStyle>
              <a:p>
                <a:pPr algn="l">
                  <a:lnSpc>
                    <a:spcPts val="1500"/>
                  </a:lnSpc>
                </a:pPr>
                <a:r>
                  <a:rPr lang="en-US" sz="800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Performance Goals:</a:t>
                </a:r>
              </a:p>
            </p:txBody>
          </p:sp>
          <p:sp>
            <p:nvSpPr>
              <p:cNvPr id="36" name="New York Project">
                <a:extLst>
                  <a:ext uri="{FF2B5EF4-FFF2-40B4-BE49-F238E27FC236}">
                    <a16:creationId xmlns:a16="http://schemas.microsoft.com/office/drawing/2014/main" id="{4453F520-0432-47CF-B142-409C9CB5C601}"/>
                  </a:ext>
                </a:extLst>
              </p:cNvPr>
              <p:cNvSpPr txBox="1"/>
              <p:nvPr/>
            </p:nvSpPr>
            <p:spPr>
              <a:xfrm>
                <a:off x="5050406" y="5014636"/>
                <a:ext cx="2400719" cy="269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 anchorCtr="0">
                <a:spAutoFit/>
              </a:bodyPr>
              <a:lstStyle>
                <a:lvl1pPr algn="r">
                  <a:lnSpc>
                    <a:spcPct val="100000"/>
                  </a:lnSpc>
                  <a:defRPr baseline="0">
                    <a:solidFill>
                      <a:srgbClr val="475D84"/>
                    </a:solidFill>
                  </a:defRPr>
                </a:lvl1pPr>
              </a:lstStyle>
              <a:p>
                <a:pPr algn="l">
                  <a:lnSpc>
                    <a:spcPts val="1500"/>
                  </a:lnSpc>
                </a:pPr>
                <a:r>
                  <a:rPr lang="en-US" sz="800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Initiative Goals:</a:t>
                </a:r>
              </a:p>
            </p:txBody>
          </p:sp>
          <p:sp>
            <p:nvSpPr>
              <p:cNvPr id="37" name="New York Project">
                <a:extLst>
                  <a:ext uri="{FF2B5EF4-FFF2-40B4-BE49-F238E27FC236}">
                    <a16:creationId xmlns:a16="http://schemas.microsoft.com/office/drawing/2014/main" id="{C94E23F3-C860-492B-A310-9AE05581280C}"/>
                  </a:ext>
                </a:extLst>
              </p:cNvPr>
              <p:cNvSpPr txBox="1"/>
              <p:nvPr/>
            </p:nvSpPr>
            <p:spPr>
              <a:xfrm>
                <a:off x="5050406" y="5375671"/>
                <a:ext cx="2400719" cy="2696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 anchorCtr="0">
                <a:spAutoFit/>
              </a:bodyPr>
              <a:lstStyle>
                <a:lvl1pPr algn="r">
                  <a:lnSpc>
                    <a:spcPct val="100000"/>
                  </a:lnSpc>
                  <a:defRPr baseline="0">
                    <a:solidFill>
                      <a:srgbClr val="475D84"/>
                    </a:solidFill>
                  </a:defRPr>
                </a:lvl1pPr>
              </a:lstStyle>
              <a:p>
                <a:pPr algn="l">
                  <a:lnSpc>
                    <a:spcPts val="1500"/>
                  </a:lnSpc>
                </a:pPr>
                <a:r>
                  <a:rPr lang="en-US" sz="800" dirty="0">
                    <a:solidFill>
                      <a:srgbClr val="000000"/>
                    </a:solidFill>
                    <a:latin typeface="Century Gothic" panose="020B0502020202020204" pitchFamily="34" charset="0"/>
                  </a:rPr>
                  <a:t>Personal Goals:</a:t>
                </a: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C207234-CC74-4534-833D-D91C9D8BF0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4887" y="5329966"/>
                <a:ext cx="2434903" cy="0"/>
              </a:xfrm>
              <a:prstGeom prst="line">
                <a:avLst/>
              </a:prstGeom>
              <a:ln w="6350" cap="rnd">
                <a:solidFill>
                  <a:srgbClr val="C4CCD7"/>
                </a:solidFill>
                <a:prstDash val="sys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81BAD3E-44DC-4E48-9AF1-C20EA94E7F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4887" y="4968932"/>
                <a:ext cx="2434903" cy="0"/>
              </a:xfrm>
              <a:prstGeom prst="line">
                <a:avLst/>
              </a:prstGeom>
              <a:ln w="6350" cap="rnd">
                <a:solidFill>
                  <a:srgbClr val="C4CCD7"/>
                </a:solidFill>
                <a:prstDash val="sys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0EC59B54-609C-4F5D-9129-BEAAC4F0C4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4887" y="4607898"/>
                <a:ext cx="2434903" cy="0"/>
              </a:xfrm>
              <a:prstGeom prst="line">
                <a:avLst/>
              </a:prstGeom>
              <a:ln w="6350" cap="rnd">
                <a:solidFill>
                  <a:srgbClr val="C4CCD7"/>
                </a:solidFill>
                <a:prstDash val="sysDash"/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Rounded Rectangle">
            <a:extLst>
              <a:ext uri="{FF2B5EF4-FFF2-40B4-BE49-F238E27FC236}">
                <a16:creationId xmlns:a16="http://schemas.microsoft.com/office/drawing/2014/main" id="{8873868D-84A0-4DF3-A73B-43E56A12AD31}"/>
              </a:ext>
            </a:extLst>
          </p:cNvPr>
          <p:cNvSpPr/>
          <p:nvPr/>
        </p:nvSpPr>
        <p:spPr>
          <a:xfrm>
            <a:off x="1174352" y="1977698"/>
            <a:ext cx="2800604" cy="539094"/>
          </a:xfrm>
          <a:prstGeom prst="round2SameRect">
            <a:avLst>
              <a:gd name="adj1" fmla="val 45526"/>
              <a:gd name="adj2" fmla="val 0"/>
            </a:avLst>
          </a:prstGeom>
          <a:gradFill flip="none" rotWithShape="1">
            <a:gsLst>
              <a:gs pos="0">
                <a:srgbClr val="54B2DB"/>
              </a:gs>
              <a:gs pos="100000">
                <a:srgbClr val="4983D0"/>
              </a:gs>
            </a:gsLst>
            <a:lin ang="2277912" scaled="0"/>
          </a:gradFill>
          <a:ln w="12700" cap="flat">
            <a:noFill/>
            <a:miter lim="400000"/>
          </a:ln>
          <a:effectLst/>
        </p:spPr>
        <p:txBody>
          <a:bodyPr wrap="square" lIns="50800" tIns="0" rIns="50800" bIns="50800" numCol="1" anchor="ctr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30 DAY - UNDERSTAND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469410F-E00A-4891-B2A8-D1264E6F43B3}"/>
              </a:ext>
            </a:extLst>
          </p:cNvPr>
          <p:cNvSpPr txBox="1"/>
          <p:nvPr/>
        </p:nvSpPr>
        <p:spPr>
          <a:xfrm>
            <a:off x="4512875" y="707411"/>
            <a:ext cx="3166251" cy="489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500" b="1" dirty="0">
                <a:latin typeface="Century Gothic" panose="020B0502020202020204" pitchFamily="34" charset="0"/>
              </a:rPr>
              <a:t>30-60-90 DAY PLAN</a:t>
            </a:r>
          </a:p>
        </p:txBody>
      </p:sp>
    </p:spTree>
    <p:extLst>
      <p:ext uri="{BB962C8B-B14F-4D97-AF65-F5344CB8AC3E}">
        <p14:creationId xmlns:p14="http://schemas.microsoft.com/office/powerpoint/2010/main" val="319171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27" dur="1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-21600000">
                                      <p:cBhvr>
                                        <p:cTn id="29" dur="1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31" dur="10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1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1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1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114" grpId="0" animBg="1"/>
      <p:bldP spid="93" grpId="0" animBg="1"/>
      <p:bldP spid="97" grpId="0" animBg="1"/>
      <p:bldP spid="17" grpId="0" animBg="1"/>
      <p:bldP spid="8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quare"/>
          <p:cNvSpPr/>
          <p:nvPr/>
        </p:nvSpPr>
        <p:spPr>
          <a:xfrm rot="5400000">
            <a:off x="626782" y="1676242"/>
            <a:ext cx="391574" cy="39157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miter lim="400000"/>
          </a:ln>
        </p:spPr>
        <p:txBody>
          <a:bodyPr lIns="25359" tIns="25359" rIns="25359" bIns="25359" anchor="ctr"/>
          <a:lstStyle/>
          <a:p>
            <a:pPr marL="0" marR="0" lvl="0" indent="0" algn="l" defTabSz="91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/>
            </a:pPr>
            <a:endParaRPr kumimoji="0" sz="359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Helvetica Neue"/>
              <a:cs typeface="Helvetica Neue"/>
              <a:sym typeface="Century Gothic"/>
            </a:endParaRPr>
          </a:p>
        </p:txBody>
      </p:sp>
      <p:sp>
        <p:nvSpPr>
          <p:cNvPr id="321" name="Square"/>
          <p:cNvSpPr/>
          <p:nvPr/>
        </p:nvSpPr>
        <p:spPr>
          <a:xfrm rot="5400000">
            <a:off x="778722" y="1863027"/>
            <a:ext cx="3035543" cy="3035544"/>
          </a:xfrm>
          <a:prstGeom prst="rect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  <p:txBody>
          <a:bodyPr lIns="25359" tIns="25359" rIns="25359" bIns="25359" anchor="ctr"/>
          <a:lstStyle/>
          <a:p>
            <a:pPr marL="0" marR="0" lvl="0" indent="0" algn="l" defTabSz="91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/>
            </a:pPr>
            <a:endParaRPr kumimoji="0" sz="359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Helvetica Neue"/>
              <a:cs typeface="Helvetica Neue"/>
              <a:sym typeface="Century Gothic"/>
            </a:endParaRPr>
          </a:p>
        </p:txBody>
      </p:sp>
      <p:pic>
        <p:nvPicPr>
          <p:cNvPr id="10" name="Picture 9">
            <a:hlinkClick r:id="rId2"/>
            <a:extLst>
              <a:ext uri="{FF2B5EF4-FFF2-40B4-BE49-F238E27FC236}">
                <a16:creationId xmlns:a16="http://schemas.microsoft.com/office/drawing/2014/main" id="{F921670C-8E22-5944-8322-C80E0A915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7890" y="2844931"/>
            <a:ext cx="3727780" cy="10717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11F5FE-7B27-744E-9FDE-586AB9B0AFC1}"/>
              </a:ext>
            </a:extLst>
          </p:cNvPr>
          <p:cNvSpPr txBox="1"/>
          <p:nvPr/>
        </p:nvSpPr>
        <p:spPr>
          <a:xfrm>
            <a:off x="5536204" y="853965"/>
            <a:ext cx="5843116" cy="1644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2847" rtl="0" eaLnBrk="1" fontAlgn="auto" latinLnBrk="0" hangingPunct="1">
              <a:lnSpc>
                <a:spcPts val="42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9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Helvetica Neue"/>
                <a:cs typeface="Helvetica Neue"/>
                <a:sym typeface="Century Gothic"/>
              </a:rPr>
              <a:t>Get the </a:t>
            </a:r>
            <a:r>
              <a:rPr kumimoji="0" lang="en-US" sz="249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Helvetica Neue"/>
                <a:cs typeface="Helvetica Neue"/>
                <a:sym typeface="Century Gothic"/>
              </a:rPr>
              <a:t>full</a:t>
            </a:r>
            <a:r>
              <a:rPr kumimoji="0" lang="en-US" sz="249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Helvetica Neue"/>
                <a:cs typeface="Helvetica Neue"/>
                <a:sym typeface="Century Gothic"/>
              </a:rPr>
              <a:t> version of this presentation and access our library of hundreds of corporate resources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FBBC22-36DF-084B-8829-047B0472472A}"/>
              </a:ext>
            </a:extLst>
          </p:cNvPr>
          <p:cNvSpPr txBox="1"/>
          <p:nvPr/>
        </p:nvSpPr>
        <p:spPr>
          <a:xfrm>
            <a:off x="6023946" y="2948021"/>
            <a:ext cx="4857818" cy="1152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284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9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Helvetica Neue"/>
                <a:cs typeface="Helvetica Neue"/>
                <a:sym typeface="Century Gothic"/>
              </a:rPr>
              <a:t>Join You Exec </a:t>
            </a:r>
            <a:r>
              <a:rPr kumimoji="0" lang="en-US" sz="1598" b="0" i="0" u="none" strike="noStrike" kern="1200" cap="none" spc="0" normalizeH="0" baseline="0" noProof="0" dirty="0">
                <a:ln>
                  <a:noFill/>
                </a:ln>
                <a:solidFill>
                  <a:srgbClr val="0044FF"/>
                </a:solidFill>
                <a:effectLst/>
                <a:uLnTx/>
                <a:uFillTx/>
                <a:latin typeface="Century Gothic" panose="020B0502020202020204" pitchFamily="34" charset="0"/>
                <a:ea typeface="Helvetica Neue"/>
                <a:cs typeface="Helvetica Neue"/>
                <a:sym typeface="Century Gothic"/>
              </a:rPr>
              <a:t>Plus</a:t>
            </a:r>
            <a:r>
              <a:rPr kumimoji="0" lang="en-US" sz="159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Helvetica Neue"/>
                <a:cs typeface="Helvetica Neue"/>
                <a:sym typeface="Century Gothic"/>
              </a:rPr>
              <a:t> today and take your career to new heights. Receive premium corporate resources in your inbox every week.</a:t>
            </a:r>
          </a:p>
        </p:txBody>
      </p:sp>
      <p:sp>
        <p:nvSpPr>
          <p:cNvPr id="15" name="Rounded Rectangle 14">
            <a:hlinkClick r:id="rId2"/>
            <a:extLst>
              <a:ext uri="{FF2B5EF4-FFF2-40B4-BE49-F238E27FC236}">
                <a16:creationId xmlns:a16="http://schemas.microsoft.com/office/drawing/2014/main" id="{46713F1D-4D14-9C48-AAB5-37AB772F3CA3}"/>
              </a:ext>
            </a:extLst>
          </p:cNvPr>
          <p:cNvSpPr/>
          <p:nvPr/>
        </p:nvSpPr>
        <p:spPr bwMode="auto">
          <a:xfrm>
            <a:off x="6476185" y="4761927"/>
            <a:ext cx="3970399" cy="690671"/>
          </a:xfrm>
          <a:prstGeom prst="roundRect">
            <a:avLst>
              <a:gd name="adj" fmla="val 9962"/>
            </a:avLst>
          </a:prstGeom>
          <a:solidFill>
            <a:srgbClr val="0044FF"/>
          </a:solidFill>
          <a:ln w="9525">
            <a:noFill/>
            <a:round/>
            <a:headEnd/>
            <a:tailEnd/>
          </a:ln>
        </p:spPr>
        <p:txBody>
          <a:bodyPr vert="horz" wrap="square" lIns="121719" tIns="60860" rIns="121719" bIns="6086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28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8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Helvetica Neue"/>
                <a:cs typeface="Helvetica Neue"/>
                <a:sym typeface="Century Gothic"/>
              </a:rPr>
              <a:t>Start today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FD50A9-A9CB-104E-B4F3-20C923B107C5}"/>
              </a:ext>
            </a:extLst>
          </p:cNvPr>
          <p:cNvGrpSpPr/>
          <p:nvPr/>
        </p:nvGrpSpPr>
        <p:grpSpPr>
          <a:xfrm>
            <a:off x="3327683" y="4450928"/>
            <a:ext cx="791869" cy="730838"/>
            <a:chOff x="3323111" y="4452614"/>
            <a:chExt cx="793175" cy="732044"/>
          </a:xfrm>
        </p:grpSpPr>
        <p:sp>
          <p:nvSpPr>
            <p:cNvPr id="322" name="Square"/>
            <p:cNvSpPr/>
            <p:nvPr/>
          </p:nvSpPr>
          <p:spPr>
            <a:xfrm rot="5400000">
              <a:off x="3384242" y="4452614"/>
              <a:ext cx="732044" cy="732044"/>
            </a:xfrm>
            <a:prstGeom prst="rect">
              <a:avLst/>
            </a:prstGeom>
            <a:ln w="12700">
              <a:solidFill>
                <a:srgbClr val="000000">
                  <a:alpha val="22000"/>
                </a:srgbClr>
              </a:solidFill>
              <a:miter lim="400000"/>
            </a:ln>
          </p:spPr>
          <p:txBody>
            <a:bodyPr lIns="25359" tIns="25359" rIns="25359" bIns="25359" anchor="ctr"/>
            <a:lstStyle/>
            <a:p>
              <a:pPr marL="0" marR="0" lvl="0" indent="0" algn="l" defTabSz="9128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600"/>
              </a:pPr>
              <a:endParaRPr kumimoji="0" sz="359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Helvetica Neue"/>
                <a:cs typeface="Helvetica Neue"/>
                <a:sym typeface="Century Gothic"/>
              </a:endParaRPr>
            </a:p>
          </p:txBody>
        </p:sp>
        <p:sp>
          <p:nvSpPr>
            <p:cNvPr id="320" name="Square"/>
            <p:cNvSpPr/>
            <p:nvPr/>
          </p:nvSpPr>
          <p:spPr>
            <a:xfrm rot="5400000">
              <a:off x="3323111" y="4977096"/>
              <a:ext cx="124013" cy="12401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miter lim="400000"/>
            </a:ln>
          </p:spPr>
          <p:txBody>
            <a:bodyPr lIns="25359" tIns="25359" rIns="25359" bIns="25359" anchor="ctr"/>
            <a:lstStyle/>
            <a:p>
              <a:pPr marL="0" marR="0" lvl="0" indent="0" algn="l" defTabSz="9128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600"/>
              </a:pPr>
              <a:endParaRPr kumimoji="0" sz="359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Helvetica Neue"/>
                <a:cs typeface="Helvetica Neue"/>
                <a:sym typeface="Century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20050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450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8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6" dur="3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" grpId="0" animBg="1"/>
      <p:bldP spid="319" grpId="1" animBg="1"/>
      <p:bldP spid="321" grpId="0" animBg="1"/>
      <p:bldP spid="321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1961</TotalTime>
  <Words>968</Words>
  <Application>Microsoft Macintosh PowerPoint</Application>
  <PresentationFormat>Widescreen</PresentationFormat>
  <Paragraphs>220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Roboto Regular</vt:lpstr>
      <vt:lpstr>Segoe UI</vt:lpstr>
      <vt:lpstr>Arial</vt:lpstr>
      <vt:lpstr>Calibri</vt:lpstr>
      <vt:lpstr>Calibri Light</vt:lpstr>
      <vt:lpstr>Century Gothic</vt:lpstr>
      <vt:lpstr>Helvetica Light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You Exec (https://youexec.com/resources)</Manager>
  <Company>You Exec (https://youexec.com/resources)</Company>
  <LinksUpToDate>false</LinksUpToDate>
  <SharedDoc>false</SharedDoc>
  <HyperlinkBase>You Exec (https://youexec.com/resources)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30-60-90 Day Plan</dc:title>
  <dc:subject>30-60-90 Day Plan</dc:subject>
  <dc:creator>You Exec (https://youexec.com/resources)</dc:creator>
  <cp:keywords>You Exec (https://youexec.com/resources)</cp:keywords>
  <dc:description>You Exec (https://youexec.com/resources)</dc:description>
  <cp:lastModifiedBy>Microsoft Office User</cp:lastModifiedBy>
  <cp:revision>1167</cp:revision>
  <dcterms:created xsi:type="dcterms:W3CDTF">2020-08-13T16:53:10Z</dcterms:created>
  <dcterms:modified xsi:type="dcterms:W3CDTF">2020-08-18T22:26:50Z</dcterms:modified>
  <cp:category>You Exec (https://youexec.com/resources)</cp:category>
</cp:coreProperties>
</file>