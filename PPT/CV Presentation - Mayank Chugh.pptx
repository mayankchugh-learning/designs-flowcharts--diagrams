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9"/>
    <p:restoredTop sz="96291"/>
  </p:normalViewPr>
  <p:slideViewPr>
    <p:cSldViewPr snapToGrid="0">
      <p:cViewPr varScale="1">
        <p:scale>
          <a:sx n="122" d="100"/>
          <a:sy n="122" d="100"/>
        </p:scale>
        <p:origin x="7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CAE47-238A-254B-B927-B96FE3A35105}" type="datetimeFigureOut">
              <a:rPr lang="en-US" smtClean="0"/>
              <a:t>8/29/22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CF82-C402-324B-9199-B102A1DC4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0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CF82-C402-324B-9199-B102A1DC4D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03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1AFE-19F0-7E1E-7A36-C449EF301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ECEBD-C898-D254-AD4F-FBB224B8D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97501-2F42-BC33-1BF1-7E07936A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ED7A-70EF-DB7F-9342-8E73ACD2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7F3C0-340A-5301-1082-7CB9932F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8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835D-B612-5700-AAEA-FBA36671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BC2B2-08CC-3A12-877F-A1B979926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09162-BB27-39F6-3DD5-092DE413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DC6AC-2B23-AD11-59AB-81519601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BFBF0-332D-07CB-1D2E-C89971AD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9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8020-00BF-A480-12CE-3D0E35080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38B75-4E06-2988-12EC-2AC7FDBCB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5160B-96D2-1702-15F2-D6775B1D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3907-A590-7BC6-90A5-6DFFAF0A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72415-9260-DBED-02B3-6B6B5F90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1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D202-13C0-2414-0624-1C0C9D8E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3161F-E9A0-21B0-D30E-C1DFC597E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2637B-9F15-AF32-B70D-683AC473F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9B6B9-5E22-A459-E4E2-9036F76F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89145-8E91-FE07-A653-31E3D45C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13463-DC8B-8E99-A14B-E99FAB40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77AC-A5A9-D762-23A5-52A82143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7D38B-C24D-429B-927B-64D74055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B42C3-79B4-F960-748D-B823D2FE7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56D0D-5EBF-B127-5B2E-978E0B75E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67ECF-719B-11B4-F619-99770FE53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F760C-C0E5-2D43-130E-5AD1DBF5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1BA997-0446-9D14-B5F5-0A63E0DA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7B694-14F5-8832-CF2D-B9C13A62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1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D581-EAE8-3783-54AC-54D47FF7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E1D02-D08D-0F7A-15BA-BAFADC829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FFA78-BE55-0DDA-5D7B-54868EBE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A66A9-329D-A793-3C1B-F8DE123A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8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53DA30-6C74-1E4A-5D20-8CD72C84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0B2DB-E10D-9239-394D-8A497673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CFE57-57FC-1103-D497-FC752A67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2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5B7C-CCCB-AC37-C7EE-2F288C27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590B-FC8B-822A-1E12-017B8884C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989D8-4053-5E36-39F8-F136639A8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66426-BC04-0073-C552-92A8D64B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811DC-D68F-2959-793D-81B6826F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0B746-817C-79DD-42A0-5520CC91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6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8815-E94D-FDAF-27DF-30827A66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D5D77-F795-B735-101F-B3C5AD631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FCF73-A1BD-018D-E9ED-1F384F8E5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9E4D6-65B3-835F-32A1-BDB5FFD9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5D2F2-02CA-AE56-706B-8A49A361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F76AB-21F1-6740-9744-E49D5B10E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0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DCF7-22A6-1BF9-0BCB-16FD5308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354A3-8F6E-D0CE-A164-D30DB877A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B8C43-F93B-DDA1-1A4D-C3779A0B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A2D7D-5D0E-9F90-CF50-B0B85EDF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B0566-0D4E-440E-159F-66772C93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3E3769-040D-EACD-FF4D-80CF85D6B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6C8CE-1DA6-C3EB-65CF-A3FC8A40D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BED72-DCF9-1053-66B5-53455632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C182-3354-11B4-50BF-F27C0BB0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92608-5B91-E941-2863-BE51FF81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5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73128-B7B8-4A22-9B3C-0115D941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87941-0CE6-764E-C7DE-7A15D8B77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6B628-E9BE-3C23-3239-1695E2E8D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B651E-FDD7-BC44-99D2-AD52EE0F33A9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0D32B-072E-EB61-235A-F936FB7DF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F808A-051F-B607-75A3-DF37F3D64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DC73A-305D-2C4F-A2FD-B726892D2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2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mayankchugh1977" TargetMode="Externa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6" Type="http://schemas.openxmlformats.org/officeDocument/2006/relationships/hyperlink" Target="http://www.linkedin.com/in/mchugh44" TargetMode="External"/><Relationship Id="rId5" Type="http://schemas.openxmlformats.org/officeDocument/2006/relationships/hyperlink" Target="mailto:mayankchugh.jobathk@gmail.com" TargetMode="External"/><Relationship Id="rId4" Type="http://schemas.openxmlformats.org/officeDocument/2006/relationships/image" Target="../media/image1.jpe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E8F3864-636B-7298-1D86-47673991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522" y="8847"/>
            <a:ext cx="12192000" cy="1236111"/>
          </a:xfrm>
        </p:spPr>
        <p:txBody>
          <a:bodyPr>
            <a:normAutofit/>
          </a:bodyPr>
          <a:lstStyle/>
          <a:p>
            <a:r>
              <a:rPr lang="en-US" sz="1000"/>
              <a:t>	</a:t>
            </a:r>
            <a:endParaRPr lang="en-US" sz="100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99D79B5-B3AD-DED8-CB4A-E99D947E2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60416"/>
            <a:ext cx="6019800" cy="93465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HK" sz="1050" i="1" dirty="0"/>
              <a:t>Hands-on solution-driven IT professional with 18+ years of extensive experience as a consultant, solution architect, Security Designs, project manager, team lead, and senior engineer for multiple software development projects. Focus on pre-sales, product scoping &amp; pricing, solution development, project management, release management, network engineering, and systems administration. Energetic and recognized for having excellent communication and problem-solving skills spanning multiple technical towers and global enterprises.</a:t>
            </a:r>
            <a:r>
              <a:rPr lang="en-HK" sz="1050" dirty="0"/>
              <a:t> </a:t>
            </a:r>
            <a:endParaRPr lang="en-US" sz="1050" dirty="0"/>
          </a:p>
          <a:p>
            <a:endParaRPr lang="en-US" sz="1050" dirty="0"/>
          </a:p>
        </p:txBody>
      </p:sp>
      <p:pic>
        <p:nvPicPr>
          <p:cNvPr id="16" name="Picture 15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B303859D-9B12-1727-D3C4-DA3F521EAD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0" b="24250"/>
          <a:stretch/>
        </p:blipFill>
        <p:spPr>
          <a:xfrm>
            <a:off x="84017" y="59707"/>
            <a:ext cx="1179252" cy="1028963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28651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EDDE0B2-0A35-CBB8-4649-194CD444C23B}"/>
              </a:ext>
            </a:extLst>
          </p:cNvPr>
          <p:cNvSpPr txBox="1">
            <a:spLocks/>
          </p:cNvSpPr>
          <p:nvPr/>
        </p:nvSpPr>
        <p:spPr>
          <a:xfrm>
            <a:off x="1424808" y="36573"/>
            <a:ext cx="2596088" cy="39465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Mayank </a:t>
            </a:r>
            <a:r>
              <a:rPr lang="en-US" sz="2400" dirty="0" err="1"/>
              <a:t>Chugh</a:t>
            </a:r>
            <a:endParaRPr lang="en-US" sz="2400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DBFB714-22D3-A7A0-B51C-BBCBFA60F424}"/>
              </a:ext>
            </a:extLst>
          </p:cNvPr>
          <p:cNvSpPr txBox="1">
            <a:spLocks/>
          </p:cNvSpPr>
          <p:nvPr/>
        </p:nvSpPr>
        <p:spPr>
          <a:xfrm>
            <a:off x="1429115" y="412899"/>
            <a:ext cx="2833275" cy="2718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50" dirty="0"/>
              <a:t>Senior Technical Manager (Cloud + Application)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ACEFC4A6-B8D1-7FBE-7CE8-F8AE96C5E51E}"/>
              </a:ext>
            </a:extLst>
          </p:cNvPr>
          <p:cNvSpPr txBox="1">
            <a:spLocks/>
          </p:cNvSpPr>
          <p:nvPr/>
        </p:nvSpPr>
        <p:spPr>
          <a:xfrm>
            <a:off x="1424809" y="684721"/>
            <a:ext cx="2618692" cy="4632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Email: </a:t>
            </a:r>
            <a:r>
              <a:rPr lang="en-US" sz="1050" dirty="0">
                <a:hlinkClick r:id="rId5"/>
              </a:rPr>
              <a:t>mayankchugh.jobathk@gmail.com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/>
              <a:t>Mobile: +852 84812040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1594F9-1614-9883-CC27-2203AC0744E7}"/>
              </a:ext>
            </a:extLst>
          </p:cNvPr>
          <p:cNvSpPr txBox="1"/>
          <p:nvPr/>
        </p:nvSpPr>
        <p:spPr>
          <a:xfrm>
            <a:off x="9580155" y="662538"/>
            <a:ext cx="26186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LinkedIn:</a:t>
            </a:r>
            <a:r>
              <a:rPr lang="en-HK" sz="1050" u="sng" dirty="0"/>
              <a:t> </a:t>
            </a:r>
            <a:r>
              <a:rPr lang="en-HK" sz="1050" dirty="0">
                <a:hlinkClick r:id="rId6"/>
              </a:rPr>
              <a:t>www.linkedin.com/in/mchugh44</a:t>
            </a:r>
            <a:r>
              <a:rPr lang="en-HK" sz="1050" dirty="0"/>
              <a:t> </a:t>
            </a:r>
          </a:p>
          <a:p>
            <a:r>
              <a:rPr lang="en-HK" sz="1050" dirty="0"/>
              <a:t>Git: </a:t>
            </a:r>
            <a:r>
              <a:rPr lang="en-HK" sz="1050" u="sng" dirty="0">
                <a:hlinkClick r:id="rId7"/>
              </a:rPr>
              <a:t>https://github.com/mayankchugh1977</a:t>
            </a:r>
            <a:endParaRPr lang="en-HK" sz="1050" u="sng" dirty="0"/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794030AC-E56D-783A-DA24-C00CEE8EAFED}"/>
              </a:ext>
            </a:extLst>
          </p:cNvPr>
          <p:cNvSpPr txBox="1">
            <a:spLocks/>
          </p:cNvSpPr>
          <p:nvPr/>
        </p:nvSpPr>
        <p:spPr>
          <a:xfrm>
            <a:off x="11301" y="1223797"/>
            <a:ext cx="6019800" cy="227214"/>
          </a:xfrm>
          <a:prstGeom prst="rect">
            <a:avLst/>
          </a:prstGeom>
          <a:solidFill>
            <a:srgbClr val="002060"/>
          </a:solidFill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5E86A172-CC2C-521C-6BE6-A566CE1EB0B6}"/>
              </a:ext>
            </a:extLst>
          </p:cNvPr>
          <p:cNvSpPr txBox="1">
            <a:spLocks/>
          </p:cNvSpPr>
          <p:nvPr/>
        </p:nvSpPr>
        <p:spPr>
          <a:xfrm>
            <a:off x="0" y="3512318"/>
            <a:ext cx="6019800" cy="1248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spcBef>
                <a:spcPts val="0"/>
              </a:spcBef>
              <a:buNone/>
            </a:pPr>
            <a:r>
              <a:rPr lang="en-HK" sz="1050" b="1" dirty="0"/>
              <a:t>Cloud Services: </a:t>
            </a:r>
            <a:r>
              <a:rPr lang="en-HK" sz="1050" dirty="0"/>
              <a:t>AWS EC2, ELB, EBS, S3, VPC, SES, SNS, IAM, RDS, Cloud Watch, Cloud Front, AWS CLI, AWS IOT MQTT (pub/sub)</a:t>
            </a:r>
            <a:r>
              <a:rPr lang="en-US" sz="1050" dirty="0"/>
              <a:t>;</a:t>
            </a:r>
            <a:r>
              <a:rPr lang="en-HK" sz="1050" b="1" dirty="0"/>
              <a:t>DevOps:</a:t>
            </a:r>
            <a:r>
              <a:rPr lang="en-HK" sz="1050" dirty="0"/>
              <a:t> GIT, Jenkins pipeline, AWS CI/CD pipeline, dockers, Ansible, AWS ECS, EKS cluster, K8S, Terraform; </a:t>
            </a:r>
            <a:r>
              <a:rPr lang="en-HK" sz="1050" b="1" dirty="0"/>
              <a:t>Languages</a:t>
            </a:r>
            <a:r>
              <a:rPr lang="en-HK" sz="1050" dirty="0"/>
              <a:t>: Java / J2EE, EJB, Spring Boot, JavaScript, ReactJS, Struts 1.x MVC, PL/SQL, Python;</a:t>
            </a:r>
            <a:r>
              <a:rPr lang="en-US" sz="1050" dirty="0"/>
              <a:t> </a:t>
            </a:r>
            <a:r>
              <a:rPr lang="en-HK" sz="1050" b="1" dirty="0"/>
              <a:t>Databases</a:t>
            </a:r>
            <a:r>
              <a:rPr lang="en-HK" sz="1050" dirty="0"/>
              <a:t>: Oracle, </a:t>
            </a:r>
            <a:r>
              <a:rPr lang="en-HK" sz="1050" dirty="0" err="1"/>
              <a:t>MySql</a:t>
            </a:r>
            <a:r>
              <a:rPr lang="en-HK" sz="1050" dirty="0"/>
              <a:t>, Postgres; </a:t>
            </a:r>
            <a:r>
              <a:rPr lang="en-HK" sz="1050" b="1" dirty="0"/>
              <a:t>Reporting</a:t>
            </a:r>
            <a:r>
              <a:rPr lang="en-HK" sz="1050" dirty="0"/>
              <a:t>: iReport, Jasper Report;; </a:t>
            </a:r>
            <a:r>
              <a:rPr lang="en-HK" sz="1050" b="1" dirty="0"/>
              <a:t>Version Control: </a:t>
            </a:r>
            <a:r>
              <a:rPr lang="en-HK" sz="1050" dirty="0"/>
              <a:t>GIT, SVN, VSS; </a:t>
            </a:r>
            <a:r>
              <a:rPr lang="en-HK" sz="1050" b="1" dirty="0"/>
              <a:t>Web Services</a:t>
            </a:r>
            <a:r>
              <a:rPr lang="en-HK" sz="1050" dirty="0"/>
              <a:t>: Soap, Rest API Development, Swagger API; </a:t>
            </a:r>
            <a:r>
              <a:rPr lang="en-HK" sz="1050" b="1" dirty="0"/>
              <a:t>Management Tool</a:t>
            </a:r>
            <a:r>
              <a:rPr lang="en-HK" sz="1050" dirty="0"/>
              <a:t>: JIRA, Maximo, Confluence; Bugzilla, Mantis;</a:t>
            </a:r>
            <a:r>
              <a:rPr lang="en-US" sz="1050" dirty="0"/>
              <a:t> </a:t>
            </a:r>
            <a:r>
              <a:rPr lang="en-HK" sz="1050" b="1" dirty="0"/>
              <a:t>Machine Learning: </a:t>
            </a:r>
            <a:r>
              <a:rPr lang="en-HK" sz="1050" dirty="0"/>
              <a:t>Supervised Learning – Linear/Logistic Regression, Decision Tree, Random Forrest Tree; </a:t>
            </a:r>
            <a:r>
              <a:rPr lang="en-HK" sz="1050" b="1" dirty="0"/>
              <a:t>Operating Systems:</a:t>
            </a:r>
            <a:r>
              <a:rPr lang="en-HK" sz="1050" dirty="0"/>
              <a:t> Windows (XP, 10), </a:t>
            </a:r>
            <a:r>
              <a:rPr lang="en-HK" sz="1050" dirty="0" err="1"/>
              <a:t>Lunix</a:t>
            </a:r>
            <a:r>
              <a:rPr lang="en-HK" sz="1050" dirty="0"/>
              <a:t> and Ubuntu; </a:t>
            </a:r>
            <a:r>
              <a:rPr lang="en-HK" sz="1050" b="1" dirty="0"/>
              <a:t>Methodologies</a:t>
            </a:r>
            <a:r>
              <a:rPr lang="en-HK" sz="1050" dirty="0"/>
              <a:t>: Agile, Iterative, Waterfall Model </a:t>
            </a:r>
            <a:endParaRPr lang="en-US" sz="1050" dirty="0"/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FFE59981-997F-EB06-DEB0-3FEC97FFFB29}"/>
              </a:ext>
            </a:extLst>
          </p:cNvPr>
          <p:cNvSpPr txBox="1">
            <a:spLocks/>
          </p:cNvSpPr>
          <p:nvPr/>
        </p:nvSpPr>
        <p:spPr>
          <a:xfrm>
            <a:off x="11301" y="2428166"/>
            <a:ext cx="6019800" cy="227214"/>
          </a:xfrm>
          <a:prstGeom prst="rect">
            <a:avLst/>
          </a:prstGeom>
          <a:solidFill>
            <a:srgbClr val="002060"/>
          </a:solidFill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400"/>
              <a:t>Skills</a:t>
            </a:r>
            <a:endParaRPr lang="en-US" sz="1400" dirty="0"/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57432FE2-6A71-6039-AF51-D1E1C0545104}"/>
              </a:ext>
            </a:extLst>
          </p:cNvPr>
          <p:cNvSpPr txBox="1">
            <a:spLocks/>
          </p:cNvSpPr>
          <p:nvPr/>
        </p:nvSpPr>
        <p:spPr>
          <a:xfrm>
            <a:off x="11301" y="4975886"/>
            <a:ext cx="6019800" cy="934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1000" dirty="0"/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D0AB6DDF-EA69-1FD6-A104-9623698F31D5}"/>
              </a:ext>
            </a:extLst>
          </p:cNvPr>
          <p:cNvSpPr txBox="1">
            <a:spLocks/>
          </p:cNvSpPr>
          <p:nvPr/>
        </p:nvSpPr>
        <p:spPr>
          <a:xfrm>
            <a:off x="23084" y="4807716"/>
            <a:ext cx="6019800" cy="227214"/>
          </a:xfrm>
          <a:prstGeom prst="rect">
            <a:avLst/>
          </a:prstGeom>
          <a:solidFill>
            <a:srgbClr val="002060"/>
          </a:solidFill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Education</a:t>
            </a:r>
            <a:endParaRPr lang="en-US" dirty="0"/>
          </a:p>
        </p:txBody>
      </p:sp>
      <p:sp>
        <p:nvSpPr>
          <p:cNvPr id="32" name="Content Placeholder 13">
            <a:extLst>
              <a:ext uri="{FF2B5EF4-FFF2-40B4-BE49-F238E27FC236}">
                <a16:creationId xmlns:a16="http://schemas.microsoft.com/office/drawing/2014/main" id="{09F9A262-89D2-2A81-68E5-BC4FD972C411}"/>
              </a:ext>
            </a:extLst>
          </p:cNvPr>
          <p:cNvSpPr txBox="1">
            <a:spLocks/>
          </p:cNvSpPr>
          <p:nvPr/>
        </p:nvSpPr>
        <p:spPr>
          <a:xfrm>
            <a:off x="6160899" y="1217996"/>
            <a:ext cx="6019800" cy="227214"/>
          </a:xfrm>
          <a:prstGeom prst="rect">
            <a:avLst/>
          </a:prstGeom>
          <a:solidFill>
            <a:srgbClr val="002060"/>
          </a:solidFill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Relevant Experience</a:t>
            </a:r>
            <a:endParaRPr lang="en-US" dirty="0"/>
          </a:p>
        </p:txBody>
      </p:sp>
      <p:sp>
        <p:nvSpPr>
          <p:cNvPr id="34" name="Content Placeholder 13">
            <a:extLst>
              <a:ext uri="{FF2B5EF4-FFF2-40B4-BE49-F238E27FC236}">
                <a16:creationId xmlns:a16="http://schemas.microsoft.com/office/drawing/2014/main" id="{9E78D7D8-2879-FFF1-F7CD-90C3BA904407}"/>
              </a:ext>
            </a:extLst>
          </p:cNvPr>
          <p:cNvSpPr txBox="1">
            <a:spLocks/>
          </p:cNvSpPr>
          <p:nvPr/>
        </p:nvSpPr>
        <p:spPr>
          <a:xfrm>
            <a:off x="6149116" y="1460416"/>
            <a:ext cx="6019800" cy="5397584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HK" sz="1050" dirty="0"/>
              <a:t>Client: </a:t>
            </a:r>
            <a:r>
              <a:rPr lang="en-HK" sz="1050" b="1" dirty="0"/>
              <a:t>CHANEL</a:t>
            </a:r>
          </a:p>
          <a:p>
            <a:pPr lvl="0" algn="just">
              <a:lnSpc>
                <a:spcPct val="110000"/>
              </a:lnSpc>
              <a:spcBef>
                <a:spcPts val="0"/>
              </a:spcBef>
            </a:pPr>
            <a:r>
              <a:rPr lang="en-HK" sz="1050" dirty="0"/>
              <a:t>Participated in Pre-sales activity for providing High availability, Fault tolerant and resilience application to the client. </a:t>
            </a:r>
          </a:p>
          <a:p>
            <a:pPr lvl="0" algn="just">
              <a:lnSpc>
                <a:spcPct val="110000"/>
              </a:lnSpc>
              <a:spcBef>
                <a:spcPts val="0"/>
              </a:spcBef>
            </a:pPr>
            <a:r>
              <a:rPr lang="en-HK" sz="1050" dirty="0"/>
              <a:t>Contributing as SME for application implementation and Azure cloud for accepted SLA, RPO and RTO.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HK" sz="1050" dirty="0"/>
              <a:t>Working closely with delivery head, fellow Architects and other members for delivering complete IT solutions.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HK" sz="1050" dirty="0"/>
              <a:t>Client: </a:t>
            </a:r>
            <a:r>
              <a:rPr lang="en-HK" sz="1050" b="1" dirty="0"/>
              <a:t>HSBC</a:t>
            </a:r>
          </a:p>
          <a:p>
            <a:pPr lvl="0" algn="just">
              <a:spcBef>
                <a:spcPts val="0"/>
              </a:spcBef>
            </a:pPr>
            <a:r>
              <a:rPr lang="en-HK" sz="1050" dirty="0"/>
              <a:t>Gathered project requirements for setting up application on Cloud through interactions, meetings, and walkthroughs with potential application users functional and non-functional requirements. </a:t>
            </a:r>
          </a:p>
          <a:p>
            <a:pPr lvl="0" algn="just">
              <a:spcBef>
                <a:spcPts val="0"/>
              </a:spcBef>
            </a:pPr>
            <a:r>
              <a:rPr lang="en-HK" sz="1050" dirty="0"/>
              <a:t>Server side API designing, Security Patterns designs decision and Providing AWS architecture for setting up AWS EKS cluster having Jenkins CI/CD pipeline.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HK" sz="1050" dirty="0"/>
              <a:t>Client: </a:t>
            </a:r>
            <a:r>
              <a:rPr lang="en-HK" sz="1050" b="1" dirty="0"/>
              <a:t>Cathay Pacific Cargo Terminal &amp; Asia Airfreight Terminal </a:t>
            </a:r>
          </a:p>
          <a:p>
            <a:pPr lvl="0" algn="just">
              <a:spcBef>
                <a:spcPts val="0"/>
              </a:spcBef>
            </a:pPr>
            <a:r>
              <a:rPr lang="en-HK" sz="1050" dirty="0"/>
              <a:t>Gathered project requirements (150+ of AAT and 35+ of CPSL) through interactions, meetings, and walkthroughs with potential application users and develop business requirements documents (BRD), functional requirements documents (FRD), and user mock-ups. Also, I created 55+ technical responses to Requests for Quotes (RFQs) for customers.</a:t>
            </a:r>
          </a:p>
          <a:p>
            <a:pPr lvl="0" algn="just">
              <a:spcBef>
                <a:spcPts val="0"/>
              </a:spcBef>
            </a:pPr>
            <a:r>
              <a:rPr lang="en-HK" sz="1050" dirty="0"/>
              <a:t>I Provided winning solutions as part of the pre-sales team, which included responding to RFPs and RFIs from existing and prospective clients. Recently, involved in a proposal for the migration of Monolithic to cloud study. Conducted a few POCs for the same Participated in both pre-sales and post-sales activities, including establishing statements of work, responsibility matrixes, and overseeing the technical realization of solutions by delivery teams.</a:t>
            </a:r>
          </a:p>
          <a:p>
            <a:pPr lvl="0" algn="just">
              <a:spcBef>
                <a:spcPts val="0"/>
              </a:spcBef>
            </a:pPr>
            <a:r>
              <a:rPr lang="en-HK" sz="1050" dirty="0"/>
              <a:t>Worked closely with executive sales teams to deliver quotes and full IT solutions in networking, computing, storage, and virtual cloud infrastructure. Also, Designed and developed projects: On-premise Storage move to AWS, OCR using AI Computer vision, AWS IOT using MQTT (pub/sub) for controlling Cold Box for warehouse cargo application.  </a:t>
            </a:r>
          </a:p>
          <a:p>
            <a:pPr lvl="0" algn="just">
              <a:spcBef>
                <a:spcPts val="0"/>
              </a:spcBef>
            </a:pPr>
            <a:r>
              <a:rPr lang="en-HK" sz="1050" dirty="0"/>
              <a:t>Monitor SLA and tested application performance to identify potential bottlenecks, develop solutions, and collaborate with developers on solution implementation for 5 Web, 3 Mobile applications.  Provided 2nd and 3rd level technical support and troubleshooting to internal and external clients. Team Size - 4 - on-site resources, 4 - offshore resources. </a:t>
            </a:r>
          </a:p>
          <a:p>
            <a:pPr lvl="0" algn="just">
              <a:spcBef>
                <a:spcPts val="0"/>
              </a:spcBef>
            </a:pPr>
            <a:r>
              <a:rPr lang="en-HK" sz="1050" dirty="0"/>
              <a:t>Successfully managed multimillion-dollar revenue accounts including focus on several Completed 15.5K days of works. I have managing releases during all phases of software development life cycle, from requirements analysis through system implementation for more than 2 enterprises projects. Worked closely with customers, internal staff and other stakeholders to determine planning, implementation and integration of system-oriented projects. System development of RESTful API for having interface with HKIA.</a:t>
            </a:r>
          </a:p>
        </p:txBody>
      </p:sp>
      <p:sp>
        <p:nvSpPr>
          <p:cNvPr id="36" name="Content Placeholder 13">
            <a:extLst>
              <a:ext uri="{FF2B5EF4-FFF2-40B4-BE49-F238E27FC236}">
                <a16:creationId xmlns:a16="http://schemas.microsoft.com/office/drawing/2014/main" id="{732EF027-BC1C-37CF-2DBC-9A2079473128}"/>
              </a:ext>
            </a:extLst>
          </p:cNvPr>
          <p:cNvSpPr txBox="1">
            <a:spLocks/>
          </p:cNvSpPr>
          <p:nvPr/>
        </p:nvSpPr>
        <p:spPr>
          <a:xfrm>
            <a:off x="11301" y="2674808"/>
            <a:ext cx="6031101" cy="683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HK" sz="1050" dirty="0"/>
              <a:t>Project lifecycle management; Project manager supervision; Release management; Technical project planning; Project requirements analysis; Build technical teams; Technical documentation understanding; Solution Technical architecture (Application + Cloud); Security Designs/Patterns; Project scheduling and budgeting; Custom software development and database design; System migration/integration; Quality assurance</a:t>
            </a:r>
            <a:r>
              <a:rPr lang="en-HK" sz="1050" dirty="0">
                <a:effectLst/>
              </a:rPr>
              <a:t> </a:t>
            </a:r>
            <a:endParaRPr lang="en-US" sz="1050" dirty="0"/>
          </a:p>
        </p:txBody>
      </p:sp>
      <p:sp>
        <p:nvSpPr>
          <p:cNvPr id="37" name="Content Placeholder 13">
            <a:extLst>
              <a:ext uri="{FF2B5EF4-FFF2-40B4-BE49-F238E27FC236}">
                <a16:creationId xmlns:a16="http://schemas.microsoft.com/office/drawing/2014/main" id="{FD57F944-A566-422E-0E86-14518E6CBE09}"/>
              </a:ext>
            </a:extLst>
          </p:cNvPr>
          <p:cNvSpPr txBox="1">
            <a:spLocks/>
          </p:cNvSpPr>
          <p:nvPr/>
        </p:nvSpPr>
        <p:spPr>
          <a:xfrm flipV="1">
            <a:off x="0" y="3441784"/>
            <a:ext cx="6019800" cy="5415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ACB5A0-3B5D-3729-80F2-26DD139C63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84" y="5082219"/>
            <a:ext cx="6019318" cy="17757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FED9A0-1D86-C966-3338-3C428175B9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9779" y="37762"/>
            <a:ext cx="3997810" cy="59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1624</TotalTime>
  <Words>817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Calibri Light</vt:lpstr>
      <vt:lpstr>Office Theme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Mayank Chugh</dc:creator>
  <cp:lastModifiedBy>Mayank Chugh</cp:lastModifiedBy>
  <cp:revision>44</cp:revision>
  <dcterms:created xsi:type="dcterms:W3CDTF">2022-08-22T08:06:07Z</dcterms:created>
  <dcterms:modified xsi:type="dcterms:W3CDTF">2022-08-29T04:13:18Z</dcterms:modified>
</cp:coreProperties>
</file>