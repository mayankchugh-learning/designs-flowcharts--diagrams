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8" r:id="rId2"/>
    <p:sldId id="269" r:id="rId3"/>
    <p:sldId id="256" r:id="rId4"/>
    <p:sldId id="257" r:id="rId5"/>
    <p:sldId id="259" r:id="rId6"/>
    <p:sldId id="260" r:id="rId7"/>
    <p:sldId id="261" r:id="rId8"/>
    <p:sldId id="262" r:id="rId9"/>
    <p:sldId id="263" r:id="rId10"/>
    <p:sldId id="264" r:id="rId11"/>
    <p:sldId id="266" r:id="rId12"/>
    <p:sldId id="265" r:id="rId13"/>
    <p:sldId id="267" r:id="rId14"/>
    <p:sldId id="268"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1"/>
    <p:restoredTop sz="55168"/>
  </p:normalViewPr>
  <p:slideViewPr>
    <p:cSldViewPr snapToGrid="0">
      <p:cViewPr>
        <p:scale>
          <a:sx n="54" d="100"/>
          <a:sy n="54" d="100"/>
        </p:scale>
        <p:origin x="456" y="568"/>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62C58-48F0-7648-A941-D4051F89E3CD}" type="datetimeFigureOut">
              <a:rPr lang="en-US" smtClean="0"/>
              <a:t>6/25/24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285F7-750F-684C-9B39-7077A46B5CDE}" type="slidenum">
              <a:rPr lang="en-US" smtClean="0"/>
              <a:t>‹#›</a:t>
            </a:fld>
            <a:endParaRPr lang="en-US"/>
          </a:p>
        </p:txBody>
      </p:sp>
    </p:spTree>
    <p:extLst>
      <p:ext uri="{BB962C8B-B14F-4D97-AF65-F5344CB8AC3E}">
        <p14:creationId xmlns:p14="http://schemas.microsoft.com/office/powerpoint/2010/main" val="217920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ee5efcbb4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g26ee5efcbb4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1" name="Google Shape;71;g26ee5efcbb4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3</a:t>
            </a:fld>
            <a:endParaRPr lang="en-US"/>
          </a:p>
        </p:txBody>
      </p:sp>
    </p:spTree>
    <p:extLst>
      <p:ext uri="{BB962C8B-B14F-4D97-AF65-F5344CB8AC3E}">
        <p14:creationId xmlns:p14="http://schemas.microsoft.com/office/powerpoint/2010/main" val="499705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4</a:t>
            </a:fld>
            <a:endParaRPr lang="en-US"/>
          </a:p>
        </p:txBody>
      </p:sp>
    </p:spTree>
    <p:extLst>
      <p:ext uri="{BB962C8B-B14F-4D97-AF65-F5344CB8AC3E}">
        <p14:creationId xmlns:p14="http://schemas.microsoft.com/office/powerpoint/2010/main" val="310629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5</a:t>
            </a:fld>
            <a:endParaRPr lang="en-US"/>
          </a:p>
        </p:txBody>
      </p:sp>
    </p:spTree>
    <p:extLst>
      <p:ext uri="{BB962C8B-B14F-4D97-AF65-F5344CB8AC3E}">
        <p14:creationId xmlns:p14="http://schemas.microsoft.com/office/powerpoint/2010/main" val="291976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6</a:t>
            </a:fld>
            <a:endParaRPr lang="en-US"/>
          </a:p>
        </p:txBody>
      </p:sp>
    </p:spTree>
    <p:extLst>
      <p:ext uri="{BB962C8B-B14F-4D97-AF65-F5344CB8AC3E}">
        <p14:creationId xmlns:p14="http://schemas.microsoft.com/office/powerpoint/2010/main" val="1472194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7</a:t>
            </a:fld>
            <a:endParaRPr lang="en-US"/>
          </a:p>
        </p:txBody>
      </p:sp>
    </p:spTree>
    <p:extLst>
      <p:ext uri="{BB962C8B-B14F-4D97-AF65-F5344CB8AC3E}">
        <p14:creationId xmlns:p14="http://schemas.microsoft.com/office/powerpoint/2010/main" val="2838200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8</a:t>
            </a:fld>
            <a:endParaRPr lang="en-US"/>
          </a:p>
        </p:txBody>
      </p:sp>
    </p:spTree>
    <p:extLst>
      <p:ext uri="{BB962C8B-B14F-4D97-AF65-F5344CB8AC3E}">
        <p14:creationId xmlns:p14="http://schemas.microsoft.com/office/powerpoint/2010/main" val="560275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12</a:t>
            </a:fld>
            <a:endParaRPr lang="en-US"/>
          </a:p>
        </p:txBody>
      </p:sp>
    </p:spTree>
    <p:extLst>
      <p:ext uri="{BB962C8B-B14F-4D97-AF65-F5344CB8AC3E}">
        <p14:creationId xmlns:p14="http://schemas.microsoft.com/office/powerpoint/2010/main" val="2174288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14</a:t>
            </a:fld>
            <a:endParaRPr lang="en-US"/>
          </a:p>
        </p:txBody>
      </p:sp>
    </p:spTree>
    <p:extLst>
      <p:ext uri="{BB962C8B-B14F-4D97-AF65-F5344CB8AC3E}">
        <p14:creationId xmlns:p14="http://schemas.microsoft.com/office/powerpoint/2010/main" val="1940931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15</a:t>
            </a:fld>
            <a:endParaRPr lang="en-US"/>
          </a:p>
        </p:txBody>
      </p:sp>
    </p:spTree>
    <p:extLst>
      <p:ext uri="{BB962C8B-B14F-4D97-AF65-F5344CB8AC3E}">
        <p14:creationId xmlns:p14="http://schemas.microsoft.com/office/powerpoint/2010/main" val="2965742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16</a:t>
            </a:fld>
            <a:endParaRPr lang="en-US"/>
          </a:p>
        </p:txBody>
      </p:sp>
    </p:spTree>
    <p:extLst>
      <p:ext uri="{BB962C8B-B14F-4D97-AF65-F5344CB8AC3E}">
        <p14:creationId xmlns:p14="http://schemas.microsoft.com/office/powerpoint/2010/main" val="1783442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285F7-750F-684C-9B39-7077A46B5CDE}" type="slidenum">
              <a:rPr lang="en-US" smtClean="0"/>
              <a:t>17</a:t>
            </a:fld>
            <a:endParaRPr lang="en-US"/>
          </a:p>
        </p:txBody>
      </p:sp>
    </p:spTree>
    <p:extLst>
      <p:ext uri="{BB962C8B-B14F-4D97-AF65-F5344CB8AC3E}">
        <p14:creationId xmlns:p14="http://schemas.microsoft.com/office/powerpoint/2010/main" val="754827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840BF-97DE-3A73-8992-16E457797E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7065F12-C776-990C-4C27-645AD17C17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3F65F77-85B8-BF10-F338-448648ECB736}"/>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325686C2-B450-2D45-390D-175BC48E69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8BA2A-F612-5BEA-6DC9-784C6502EFCD}"/>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61222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3AD9-2BC3-3E36-4810-B94BFE28E8C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2A0BF-6E30-9BF8-A0AD-C9755C3647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016EEC-601F-579F-81C9-8CD09FBDB9CB}"/>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6AFDC9AB-402B-AC6F-6DC9-C8D146A73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EAD9F-30F4-DBBE-B31B-5DEB8823B380}"/>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865213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73E-3DA6-C25B-1E9A-F719C9561E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D83BDC-7F9F-3594-704B-F34AB42CD7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56B8A5-7C60-6B89-EF52-56B80F6E43DB}"/>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8D34CA74-7865-4242-0FD2-8B7532FA7D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F05C3-52AD-D1A4-BB99-4A4A7E2E51A4}"/>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320882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A7D6-69EF-73D9-D428-7A66C53542B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E6C0B5-55AC-262B-49FC-7DEB09E93B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DF83E60-4EFB-7977-C700-F64E79141A1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0EB522-0282-2292-D670-9FE1E5F6543A}"/>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6" name="Footer Placeholder 5">
            <a:extLst>
              <a:ext uri="{FF2B5EF4-FFF2-40B4-BE49-F238E27FC236}">
                <a16:creationId xmlns:a16="http://schemas.microsoft.com/office/drawing/2014/main" id="{20262924-ECBC-5DD0-F92F-C112A806C8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CFB800-96CE-0692-E2D8-327DFDD4C66F}"/>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76295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64FDC-B214-E39B-29FC-D2D992E1E85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EA4F230-6916-2F2C-6431-BF5E698EEB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09F9D9D-D5CF-5CAB-F5C5-7103486D3CD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6E43F5-8E64-E017-A93E-69C5B4501B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BDD4C81-4722-8CD5-C5DC-20638E430D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821297E-DC42-3C26-3D68-A54F54DE7A9E}"/>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8" name="Footer Placeholder 7">
            <a:extLst>
              <a:ext uri="{FF2B5EF4-FFF2-40B4-BE49-F238E27FC236}">
                <a16:creationId xmlns:a16="http://schemas.microsoft.com/office/drawing/2014/main" id="{B9F5F0FA-DB7E-B2C4-6AFE-5A66964ADA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6ED072-8817-8187-397B-CAFDF22980E0}"/>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11230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C6B94-A083-030F-6367-59A2DC51A11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0E17A5-8149-3144-0A39-A057D810AE3D}"/>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4" name="Footer Placeholder 3">
            <a:extLst>
              <a:ext uri="{FF2B5EF4-FFF2-40B4-BE49-F238E27FC236}">
                <a16:creationId xmlns:a16="http://schemas.microsoft.com/office/drawing/2014/main" id="{34B92523-7904-CF0B-825B-C8A0BF049B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47A823-00EA-0DD3-0E51-8FDF7BDAC41E}"/>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63430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DE9609-1BBA-8AC5-69BA-D0E0EC384508}"/>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3" name="Footer Placeholder 2">
            <a:extLst>
              <a:ext uri="{FF2B5EF4-FFF2-40B4-BE49-F238E27FC236}">
                <a16:creationId xmlns:a16="http://schemas.microsoft.com/office/drawing/2014/main" id="{E518F12D-9716-A7F1-9250-F5CEB5443C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8C1FDE-A341-CF9D-BBE4-1C1941EA3B81}"/>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833115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4D9B3-9164-B647-E464-5A3C06AF8BE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565C53D-3F62-2C76-A50C-41DBEF555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105145D-7ADD-D1D5-9CB6-6A35478FF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E8BA78-0422-FF74-1C3A-F2F27EDB3033}"/>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6" name="Footer Placeholder 5">
            <a:extLst>
              <a:ext uri="{FF2B5EF4-FFF2-40B4-BE49-F238E27FC236}">
                <a16:creationId xmlns:a16="http://schemas.microsoft.com/office/drawing/2014/main" id="{9692D7D4-FC5C-4D95-3E05-503CB8C96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F094EC-F105-A6D5-44A9-59841C60E4C3}"/>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3942189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EC60-AFD8-6B99-C8FF-34E19A70A9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D8F184E-8B9C-E3A0-CFD2-6A0A50D2F5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96284F-0CC5-434A-57B1-158FAB4164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F287B5-3BC9-7BB6-568C-FA732C8CAD8F}"/>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6" name="Footer Placeholder 5">
            <a:extLst>
              <a:ext uri="{FF2B5EF4-FFF2-40B4-BE49-F238E27FC236}">
                <a16:creationId xmlns:a16="http://schemas.microsoft.com/office/drawing/2014/main" id="{306598B3-A86F-F7B2-C164-6066CFF79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6D71E-47DC-033E-4765-C79A36F65EEF}"/>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1181145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FA87-D0E1-8F59-030C-07E9FCF199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D360FB-D70E-FC46-6525-26E27B088FD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46D314-C6A9-83DA-BF28-D6E817842FBF}"/>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7D366F2E-23D8-EEC2-764C-3F2BA76DE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39CAE1-070C-2FE1-FF03-5CB05EB5102E}"/>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415420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63C39A-5F5C-8DA4-B9E4-380178CF74F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F6CED6-9EF2-968E-9E17-A3C1364B14C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05DF59-50D4-DF39-7F0A-B9FE416A2E0F}"/>
              </a:ext>
            </a:extLst>
          </p:cNvPr>
          <p:cNvSpPr>
            <a:spLocks noGrp="1"/>
          </p:cNvSpPr>
          <p:nvPr>
            <p:ph type="dt" sz="half" idx="10"/>
          </p:nvPr>
        </p:nvSpPr>
        <p:spPr/>
        <p:txBody>
          <a:body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3D39A24D-B7FC-7EDC-4783-A05AACCA1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CAC89-737C-D1EE-A502-E8CDD5AD42FB}"/>
              </a:ext>
            </a:extLst>
          </p:cNvPr>
          <p:cNvSpPr>
            <a:spLocks noGrp="1"/>
          </p:cNvSpPr>
          <p:nvPr>
            <p:ph type="sldNum" sz="quarter" idx="12"/>
          </p:nvPr>
        </p:nvSpPr>
        <p:spPr/>
        <p:txBody>
          <a:bodyPr/>
          <a:lstStyle/>
          <a:p>
            <a:fld id="{C9E4A4F4-CEBC-8E48-9436-D8683B24354D}" type="slidenum">
              <a:rPr lang="en-US" smtClean="0"/>
              <a:t>‹#›</a:t>
            </a:fld>
            <a:endParaRPr lang="en-US"/>
          </a:p>
        </p:txBody>
      </p:sp>
    </p:spTree>
    <p:extLst>
      <p:ext uri="{BB962C8B-B14F-4D97-AF65-F5344CB8AC3E}">
        <p14:creationId xmlns:p14="http://schemas.microsoft.com/office/powerpoint/2010/main" val="2648035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8"/>
        <p:cNvGrpSpPr/>
        <p:nvPr/>
      </p:nvGrpSpPr>
      <p:grpSpPr>
        <a:xfrm>
          <a:off x="0" y="0"/>
          <a:ext cx="0" cy="0"/>
          <a:chOff x="0" y="0"/>
          <a:chExt cx="0" cy="0"/>
        </a:xfrm>
      </p:grpSpPr>
      <p:sp>
        <p:nvSpPr>
          <p:cNvPr id="40" name="Google Shape;40;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41" name="Google Shape;41;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2" name="Google Shape;42;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3" name="Google Shape;43;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3681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BE4861-1BD5-3D7A-8DA7-7A1342397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E53AEE6-F6AC-5DD8-9404-35351BEE6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89AFEBF-7C42-29B4-336D-54C83C9D64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1800F5-7B5A-4F4D-876D-3B8175E9E9C5}" type="datetimeFigureOut">
              <a:rPr lang="en-US" smtClean="0"/>
              <a:t>6/25/24</a:t>
            </a:fld>
            <a:endParaRPr lang="en-US"/>
          </a:p>
        </p:txBody>
      </p:sp>
      <p:sp>
        <p:nvSpPr>
          <p:cNvPr id="5" name="Footer Placeholder 4">
            <a:extLst>
              <a:ext uri="{FF2B5EF4-FFF2-40B4-BE49-F238E27FC236}">
                <a16:creationId xmlns:a16="http://schemas.microsoft.com/office/drawing/2014/main" id="{FABA8EA9-B915-7C11-C052-ABCFB34B49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7EDAEF-924C-8862-4A85-7D51A70374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E4A4F4-CEBC-8E48-9436-D8683B24354D}" type="slidenum">
              <a:rPr lang="en-US" smtClean="0"/>
              <a:t>‹#›</a:t>
            </a:fld>
            <a:endParaRPr lang="en-US"/>
          </a:p>
        </p:txBody>
      </p:sp>
    </p:spTree>
    <p:extLst>
      <p:ext uri="{BB962C8B-B14F-4D97-AF65-F5344CB8AC3E}">
        <p14:creationId xmlns:p14="http://schemas.microsoft.com/office/powerpoint/2010/main" val="2320573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1217EBE-27DA-894F-C58D-4254770B94F6}"/>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effectLst/>
                <a:highlight>
                  <a:srgbClr val="FFFFFF"/>
                </a:highlight>
              </a:rPr>
              <a:t>Generative AI &amp; </a:t>
            </a:r>
            <a:r>
              <a:rPr lang="en-US" sz="5400">
                <a:solidFill>
                  <a:schemeClr val="bg1">
                    <a:lumMod val="95000"/>
                    <a:lumOff val="5000"/>
                  </a:schemeClr>
                </a:solidFill>
                <a:effectLst/>
                <a:highlight>
                  <a:srgbClr val="FFFFFF"/>
                </a:highlight>
              </a:rPr>
              <a:t>Prompt Engineering </a:t>
            </a:r>
            <a:r>
              <a:rPr lang="en-US" sz="5400" dirty="0">
                <a:solidFill>
                  <a:schemeClr val="bg1">
                    <a:lumMod val="95000"/>
                    <a:lumOff val="5000"/>
                  </a:schemeClr>
                </a:solidFill>
                <a:effectLst/>
                <a:highlight>
                  <a:srgbClr val="FFFFFF"/>
                </a:highlight>
              </a:rPr>
              <a:t>- An Introduction</a:t>
            </a:r>
            <a:endParaRPr lang="en-US" sz="5400" dirty="0">
              <a:solidFill>
                <a:schemeClr val="bg1">
                  <a:lumMod val="95000"/>
                  <a:lumOff val="5000"/>
                </a:schemeClr>
              </a:solidFill>
            </a:endParaRPr>
          </a:p>
        </p:txBody>
      </p:sp>
    </p:spTree>
    <p:extLst>
      <p:ext uri="{BB962C8B-B14F-4D97-AF65-F5344CB8AC3E}">
        <p14:creationId xmlns:p14="http://schemas.microsoft.com/office/powerpoint/2010/main" val="39249366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p:nvPr/>
        </p:nvSpPr>
        <p:spPr>
          <a:xfrm>
            <a:off x="354000" y="1644233"/>
            <a:ext cx="5393600" cy="1976400"/>
          </a:xfrm>
          <a:prstGeom prst="rect">
            <a:avLst/>
          </a:prstGeom>
          <a:noFill/>
          <a:ln>
            <a:noFill/>
          </a:ln>
        </p:spPr>
        <p:txBody>
          <a:bodyPr spcFirstLastPara="1" wrap="square" lIns="121900" tIns="121900" rIns="121900" bIns="121900" anchor="b" anchorCtr="0">
            <a:normAutofit/>
          </a:bodyPr>
          <a:lstStyle/>
          <a:p>
            <a:pPr algn="ctr">
              <a:spcAft>
                <a:spcPts val="800"/>
              </a:spcAft>
              <a:buClr>
                <a:schemeClr val="dk1"/>
              </a:buClr>
              <a:buSzPts val="4200"/>
            </a:pPr>
            <a:r>
              <a:rPr lang="en-US" sz="5600">
                <a:solidFill>
                  <a:schemeClr val="dk1"/>
                </a:solidFill>
                <a:latin typeface="Arial"/>
                <a:ea typeface="Arial"/>
                <a:cs typeface="Arial"/>
                <a:sym typeface="Arial"/>
              </a:rPr>
              <a:t>Agenda</a:t>
            </a:r>
          </a:p>
          <a:p>
            <a:pPr algn="ctr">
              <a:spcAft>
                <a:spcPts val="800"/>
              </a:spcAft>
              <a:buClr>
                <a:schemeClr val="dk1"/>
              </a:buClr>
              <a:buSzPts val="4200"/>
            </a:pPr>
            <a:endParaRPr lang="en-US" sz="5600">
              <a:solidFill>
                <a:schemeClr val="dk1"/>
              </a:solidFill>
              <a:latin typeface="Arial"/>
              <a:ea typeface="Arial"/>
              <a:cs typeface="Arial"/>
              <a:sym typeface="Arial"/>
            </a:endParaRPr>
          </a:p>
        </p:txBody>
      </p:sp>
      <p:sp>
        <p:nvSpPr>
          <p:cNvPr id="79" name="Subtitle 2">
            <a:extLst>
              <a:ext uri="{FF2B5EF4-FFF2-40B4-BE49-F238E27FC236}">
                <a16:creationId xmlns:a16="http://schemas.microsoft.com/office/drawing/2014/main" id="{5FF8F1B0-827F-127B-2837-8B092B728F62}"/>
              </a:ext>
            </a:extLst>
          </p:cNvPr>
          <p:cNvSpPr>
            <a:spLocks noGrp="1"/>
          </p:cNvSpPr>
          <p:nvPr>
            <p:ph type="subTitle" idx="1"/>
          </p:nvPr>
        </p:nvSpPr>
        <p:spPr/>
        <p:txBody>
          <a:bodyPr/>
          <a:lstStyle/>
          <a:p>
            <a:r>
              <a:rPr lang="en-US" dirty="0"/>
              <a:t>Introduction to Generative AI and Prompt Engineering</a:t>
            </a:r>
          </a:p>
        </p:txBody>
      </p:sp>
      <p:sp>
        <p:nvSpPr>
          <p:cNvPr id="3" name="TextBox 2">
            <a:extLst>
              <a:ext uri="{FF2B5EF4-FFF2-40B4-BE49-F238E27FC236}">
                <a16:creationId xmlns:a16="http://schemas.microsoft.com/office/drawing/2014/main" id="{7096C6E4-B13B-C866-2462-72F5504F4746}"/>
              </a:ext>
            </a:extLst>
          </p:cNvPr>
          <p:cNvSpPr txBox="1"/>
          <p:nvPr/>
        </p:nvSpPr>
        <p:spPr>
          <a:xfrm>
            <a:off x="5747600" y="1185572"/>
            <a:ext cx="6098720" cy="4486856"/>
          </a:xfrm>
          <a:prstGeom prst="rect">
            <a:avLst/>
          </a:prstGeom>
          <a:noFill/>
          <a:ln>
            <a:noFill/>
          </a:ln>
        </p:spPr>
        <p:txBody>
          <a:bodyPr spcFirstLastPara="1" wrap="square" lIns="121900" tIns="121900" rIns="121900" bIns="121900" anchor="ctr" anchorCtr="0">
            <a:normAutofit/>
          </a:bodyPr>
          <a:lstStyle>
            <a:defPPr>
              <a:defRPr lang="en-US"/>
            </a:defPPr>
            <a:lvl1pPr marL="609585" indent="-457189">
              <a:lnSpc>
                <a:spcPct val="115000"/>
              </a:lnSpc>
              <a:spcAft>
                <a:spcPts val="800"/>
              </a:spcAft>
              <a:buClr>
                <a:schemeClr val="dk2"/>
              </a:buClr>
              <a:buSzPts val="1800"/>
              <a:buFont typeface="Arial"/>
              <a:buChar char="●"/>
              <a:defRPr sz="2400">
                <a:solidFill>
                  <a:schemeClr val="dk2"/>
                </a:solidFill>
                <a:latin typeface="Arial"/>
                <a:ea typeface="Arial"/>
                <a:cs typeface="Arial"/>
              </a:defRPr>
            </a:lvl1pPr>
          </a:lstStyle>
          <a:p>
            <a:pPr marL="152396" indent="0">
              <a:buNone/>
            </a:pPr>
            <a:r>
              <a:rPr lang="en-US" sz="2400" dirty="0">
                <a:solidFill>
                  <a:schemeClr val="dk2"/>
                </a:solidFill>
                <a:latin typeface="Arial"/>
                <a:ea typeface="Arial"/>
                <a:cs typeface="Arial"/>
                <a:sym typeface="Arial"/>
              </a:rPr>
              <a:t>In this video, we will discuss:</a:t>
            </a:r>
            <a:endParaRPr lang="en-HK" dirty="0"/>
          </a:p>
          <a:p>
            <a:r>
              <a:rPr lang="en-HK" dirty="0"/>
              <a:t>Introduction to Generative AI </a:t>
            </a:r>
          </a:p>
          <a:p>
            <a:r>
              <a:rPr lang="en-HK" dirty="0"/>
              <a:t>LLMs: A Deep Dive </a:t>
            </a:r>
          </a:p>
          <a:p>
            <a:r>
              <a:rPr lang="en-HK" dirty="0"/>
              <a:t>Using LLMs with </a:t>
            </a:r>
            <a:r>
              <a:rPr lang="en-HK" dirty="0" err="1"/>
              <a:t>Anyscale</a:t>
            </a:r>
            <a:r>
              <a:rPr lang="en-HK" dirty="0"/>
              <a:t> APIs </a:t>
            </a:r>
          </a:p>
          <a:p>
            <a:r>
              <a:rPr lang="en-HK" dirty="0"/>
              <a:t>Prompt Engineering Fundamentals </a:t>
            </a:r>
          </a:p>
          <a:p>
            <a:r>
              <a:rPr lang="en-HK" dirty="0"/>
              <a:t>Using LLMs for classification and summarization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1D64830-2A02-F30A-5960-650729A8701E}"/>
              </a:ext>
            </a:extLst>
          </p:cNvPr>
          <p:cNvSpPr/>
          <p:nvPr/>
        </p:nvSpPr>
        <p:spPr>
          <a:xfrm>
            <a:off x="1388679" y="643467"/>
            <a:ext cx="4268355" cy="55710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62C4142-D5D7-E590-DE9D-29CB13699549}"/>
              </a:ext>
            </a:extLst>
          </p:cNvPr>
          <p:cNvSpPr/>
          <p:nvPr/>
        </p:nvSpPr>
        <p:spPr>
          <a:xfrm>
            <a:off x="1641105" y="1486005"/>
            <a:ext cx="3731254" cy="4608167"/>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2C4652A-3BA2-2435-5B09-DE382AF9C497}"/>
              </a:ext>
            </a:extLst>
          </p:cNvPr>
          <p:cNvSpPr/>
          <p:nvPr/>
        </p:nvSpPr>
        <p:spPr>
          <a:xfrm>
            <a:off x="1906225" y="3005581"/>
            <a:ext cx="3201267" cy="299322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5BABDEC-641E-C9E4-D1F9-91446F044946}"/>
              </a:ext>
            </a:extLst>
          </p:cNvPr>
          <p:cNvSpPr/>
          <p:nvPr/>
        </p:nvSpPr>
        <p:spPr>
          <a:xfrm>
            <a:off x="2375964" y="4513722"/>
            <a:ext cx="2189595" cy="1253165"/>
          </a:xfrm>
          <a:prstGeom prst="ellipse">
            <a:avLst/>
          </a:prstGeom>
          <a:solidFill>
            <a:schemeClr val="accent2">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4AB72ED-D52D-76C4-EED3-9DB939E86B39}"/>
              </a:ext>
            </a:extLst>
          </p:cNvPr>
          <p:cNvSpPr txBox="1"/>
          <p:nvPr/>
        </p:nvSpPr>
        <p:spPr>
          <a:xfrm>
            <a:off x="2615720" y="859195"/>
            <a:ext cx="2270631" cy="316690"/>
          </a:xfrm>
          <a:prstGeom prst="rect">
            <a:avLst/>
          </a:prstGeom>
          <a:noFill/>
        </p:spPr>
        <p:txBody>
          <a:bodyPr wrap="square">
            <a:spAutoFit/>
          </a:bodyPr>
          <a:lstStyle/>
          <a:p>
            <a:pPr defTabSz="740664">
              <a:spcAft>
                <a:spcPts val="600"/>
              </a:spcAft>
            </a:pPr>
            <a:r>
              <a:rPr lang="en-US" sz="1458" b="1" kern="1200" dirty="0">
                <a:solidFill>
                  <a:schemeClr val="bg1"/>
                </a:solidFill>
                <a:latin typeface="+mn-lt"/>
                <a:ea typeface="+mn-ea"/>
                <a:cs typeface="+mn-cs"/>
              </a:rPr>
              <a:t>Artificial Intelligence </a:t>
            </a:r>
            <a:endParaRPr lang="en-US" b="1" dirty="0">
              <a:solidFill>
                <a:schemeClr val="bg1"/>
              </a:solidFill>
            </a:endParaRPr>
          </a:p>
        </p:txBody>
      </p:sp>
      <p:sp>
        <p:nvSpPr>
          <p:cNvPr id="13" name="TextBox 12">
            <a:extLst>
              <a:ext uri="{FF2B5EF4-FFF2-40B4-BE49-F238E27FC236}">
                <a16:creationId xmlns:a16="http://schemas.microsoft.com/office/drawing/2014/main" id="{00B50C97-FD8C-DC24-87B2-728902F7334B}"/>
              </a:ext>
            </a:extLst>
          </p:cNvPr>
          <p:cNvSpPr txBox="1"/>
          <p:nvPr/>
        </p:nvSpPr>
        <p:spPr>
          <a:xfrm>
            <a:off x="2615720" y="2193612"/>
            <a:ext cx="1710082" cy="316690"/>
          </a:xfrm>
          <a:prstGeom prst="rect">
            <a:avLst/>
          </a:prstGeom>
          <a:noFill/>
        </p:spPr>
        <p:txBody>
          <a:bodyPr wrap="square">
            <a:spAutoFit/>
          </a:bodyPr>
          <a:lstStyle/>
          <a:p>
            <a:pPr defTabSz="740664">
              <a:spcAft>
                <a:spcPts val="600"/>
              </a:spcAft>
            </a:pPr>
            <a:r>
              <a:rPr lang="en-US" sz="1458" b="1" kern="1200" dirty="0">
                <a:solidFill>
                  <a:schemeClr val="bg1"/>
                </a:solidFill>
                <a:latin typeface="+mn-lt"/>
                <a:ea typeface="+mn-ea"/>
                <a:cs typeface="+mn-cs"/>
              </a:rPr>
              <a:t>Machine Learning</a:t>
            </a:r>
            <a:endParaRPr lang="en-US" b="1" dirty="0">
              <a:solidFill>
                <a:schemeClr val="bg1"/>
              </a:solidFill>
            </a:endParaRPr>
          </a:p>
        </p:txBody>
      </p:sp>
      <p:sp>
        <p:nvSpPr>
          <p:cNvPr id="15" name="TextBox 14">
            <a:extLst>
              <a:ext uri="{FF2B5EF4-FFF2-40B4-BE49-F238E27FC236}">
                <a16:creationId xmlns:a16="http://schemas.microsoft.com/office/drawing/2014/main" id="{FE71CE1C-C903-3785-FD0A-9B4F69AB50AA}"/>
              </a:ext>
            </a:extLst>
          </p:cNvPr>
          <p:cNvSpPr txBox="1"/>
          <p:nvPr/>
        </p:nvSpPr>
        <p:spPr>
          <a:xfrm>
            <a:off x="2766202" y="3490294"/>
            <a:ext cx="1409119"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Deep Learning </a:t>
            </a:r>
            <a:endParaRPr lang="en-HK" dirty="0"/>
          </a:p>
        </p:txBody>
      </p:sp>
      <p:sp>
        <p:nvSpPr>
          <p:cNvPr id="17" name="TextBox 16">
            <a:extLst>
              <a:ext uri="{FF2B5EF4-FFF2-40B4-BE49-F238E27FC236}">
                <a16:creationId xmlns:a16="http://schemas.microsoft.com/office/drawing/2014/main" id="{A354EFB1-64E1-92A9-91F2-23F79DE4046F}"/>
              </a:ext>
            </a:extLst>
          </p:cNvPr>
          <p:cNvSpPr txBox="1"/>
          <p:nvPr/>
        </p:nvSpPr>
        <p:spPr>
          <a:xfrm>
            <a:off x="2809599" y="5034734"/>
            <a:ext cx="1365722"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Generative AI </a:t>
            </a:r>
            <a:endParaRPr lang="en-HK" dirty="0"/>
          </a:p>
        </p:txBody>
      </p:sp>
      <p:sp>
        <p:nvSpPr>
          <p:cNvPr id="19" name="TextBox 18">
            <a:extLst>
              <a:ext uri="{FF2B5EF4-FFF2-40B4-BE49-F238E27FC236}">
                <a16:creationId xmlns:a16="http://schemas.microsoft.com/office/drawing/2014/main" id="{FE3FDB1D-5843-42F4-21AA-325A41C4F434}"/>
              </a:ext>
            </a:extLst>
          </p:cNvPr>
          <p:cNvSpPr txBox="1"/>
          <p:nvPr/>
        </p:nvSpPr>
        <p:spPr>
          <a:xfrm>
            <a:off x="5848899" y="714220"/>
            <a:ext cx="4954421" cy="92333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b="1" kern="1200" dirty="0">
                <a:solidFill>
                  <a:schemeClr val="tx1"/>
                </a:solidFill>
                <a:latin typeface="+mn-lt"/>
                <a:ea typeface="+mn-ea"/>
                <a:cs typeface="+mn-cs"/>
              </a:rPr>
              <a:t>Design and implement computer programs that can reason, learn and act in complex environments. </a:t>
            </a:r>
            <a:endParaRPr lang="en-HK" dirty="0">
              <a:solidFill>
                <a:schemeClr val="tx1"/>
              </a:solidFill>
            </a:endParaRPr>
          </a:p>
        </p:txBody>
      </p:sp>
      <p:sp>
        <p:nvSpPr>
          <p:cNvPr id="21" name="TextBox 20">
            <a:extLst>
              <a:ext uri="{FF2B5EF4-FFF2-40B4-BE49-F238E27FC236}">
                <a16:creationId xmlns:a16="http://schemas.microsoft.com/office/drawing/2014/main" id="{5860A3F3-8CE6-6FCA-6999-CC53CD440E38}"/>
              </a:ext>
            </a:extLst>
          </p:cNvPr>
          <p:cNvSpPr txBox="1"/>
          <p:nvPr/>
        </p:nvSpPr>
        <p:spPr>
          <a:xfrm>
            <a:off x="5848898" y="1945906"/>
            <a:ext cx="4954421" cy="646331"/>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Design of algorithms that enable computer systems to learn from data efficiently. </a:t>
            </a:r>
            <a:endParaRPr lang="en-HK" dirty="0"/>
          </a:p>
        </p:txBody>
      </p:sp>
      <p:sp>
        <p:nvSpPr>
          <p:cNvPr id="23" name="TextBox 22">
            <a:extLst>
              <a:ext uri="{FF2B5EF4-FFF2-40B4-BE49-F238E27FC236}">
                <a16:creationId xmlns:a16="http://schemas.microsoft.com/office/drawing/2014/main" id="{9C44A477-0BFA-8D35-BA25-3B5A795D9E56}"/>
              </a:ext>
            </a:extLst>
          </p:cNvPr>
          <p:cNvSpPr txBox="1"/>
          <p:nvPr/>
        </p:nvSpPr>
        <p:spPr>
          <a:xfrm>
            <a:off x="5848898" y="3208372"/>
            <a:ext cx="4954421" cy="646331"/>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A subset of ML that uses neural network algorithms for predictive applications. </a:t>
            </a:r>
            <a:endParaRPr lang="en-HK" dirty="0"/>
          </a:p>
        </p:txBody>
      </p:sp>
      <p:sp>
        <p:nvSpPr>
          <p:cNvPr id="25" name="TextBox 24">
            <a:extLst>
              <a:ext uri="{FF2B5EF4-FFF2-40B4-BE49-F238E27FC236}">
                <a16:creationId xmlns:a16="http://schemas.microsoft.com/office/drawing/2014/main" id="{AEE153CC-6B8E-6E17-4770-9C70E23FAF31}"/>
              </a:ext>
            </a:extLst>
          </p:cNvPr>
          <p:cNvSpPr txBox="1"/>
          <p:nvPr/>
        </p:nvSpPr>
        <p:spPr>
          <a:xfrm>
            <a:off x="5842098" y="4513722"/>
            <a:ext cx="4954421" cy="923330"/>
          </a:xfrm>
          <a:prstGeom prst="rect">
            <a:avLst/>
          </a:prstGeom>
          <a:noFill/>
        </p:spPr>
        <p:txBody>
          <a:bodyPr wrap="square">
            <a:spAutoFit/>
          </a:bodyPr>
          <a:lstStyle>
            <a:defPPr>
              <a:defRPr lang="en-US"/>
            </a:defPPr>
            <a:lvl1pPr>
              <a:defRPr b="1"/>
            </a:lvl1pPr>
          </a:lstStyle>
          <a:p>
            <a:pPr defTabSz="740664">
              <a:spcAft>
                <a:spcPts val="600"/>
              </a:spcAft>
            </a:pPr>
            <a:r>
              <a:rPr lang="en-HK" b="1" kern="1200" dirty="0">
                <a:solidFill>
                  <a:schemeClr val="tx1"/>
                </a:solidFill>
                <a:latin typeface="+mn-lt"/>
                <a:ea typeface="+mn-ea"/>
                <a:cs typeface="+mn-cs"/>
              </a:rPr>
              <a:t>Algorithms that generate original content, such as images, text, voice, or music, by learning patterns from a dataset. </a:t>
            </a:r>
            <a:endParaRPr lang="en-HK" dirty="0"/>
          </a:p>
        </p:txBody>
      </p:sp>
      <p:sp>
        <p:nvSpPr>
          <p:cNvPr id="27" name="TextBox 26">
            <a:extLst>
              <a:ext uri="{FF2B5EF4-FFF2-40B4-BE49-F238E27FC236}">
                <a16:creationId xmlns:a16="http://schemas.microsoft.com/office/drawing/2014/main" id="{FDF0C8BF-6080-E023-ABAC-4598581B4B32}"/>
              </a:ext>
            </a:extLst>
          </p:cNvPr>
          <p:cNvSpPr txBox="1"/>
          <p:nvPr/>
        </p:nvSpPr>
        <p:spPr>
          <a:xfrm>
            <a:off x="2881647" y="1215746"/>
            <a:ext cx="1178227" cy="316690"/>
          </a:xfrm>
          <a:prstGeom prst="rect">
            <a:avLst/>
          </a:prstGeom>
          <a:noFill/>
        </p:spPr>
        <p:txBody>
          <a:bodyPr wrap="square">
            <a:spAutoFit/>
          </a:bodyPr>
          <a:lstStyle>
            <a:defPPr>
              <a:defRPr lang="en-US"/>
            </a:defPPr>
            <a:lvl1pPr>
              <a:defRPr b="1">
                <a:solidFill>
                  <a:schemeClr val="bg1"/>
                </a:solidFill>
              </a:defRPr>
            </a:lvl1pPr>
          </a:lstStyle>
          <a:p>
            <a:pPr defTabSz="740664">
              <a:spcAft>
                <a:spcPts val="600"/>
              </a:spcAft>
            </a:pPr>
            <a:r>
              <a:rPr lang="en-HK" sz="1458" b="1" kern="1200" dirty="0">
                <a:latin typeface="+mn-lt"/>
                <a:ea typeface="+mn-ea"/>
                <a:cs typeface="+mn-cs"/>
              </a:rPr>
              <a:t>Superset</a:t>
            </a:r>
            <a:r>
              <a:rPr lang="en-HK" sz="1458" b="1" kern="1200" dirty="0">
                <a:solidFill>
                  <a:srgbClr val="555555"/>
                </a:solidFill>
                <a:latin typeface="+mn-lt"/>
                <a:ea typeface="+mn-ea"/>
                <a:cs typeface="+mn-cs"/>
              </a:rPr>
              <a:t> of </a:t>
            </a:r>
            <a:endParaRPr lang="en-HK" dirty="0"/>
          </a:p>
        </p:txBody>
      </p:sp>
      <p:cxnSp>
        <p:nvCxnSpPr>
          <p:cNvPr id="29" name="Straight Arrow Connector 28">
            <a:extLst>
              <a:ext uri="{FF2B5EF4-FFF2-40B4-BE49-F238E27FC236}">
                <a16:creationId xmlns:a16="http://schemas.microsoft.com/office/drawing/2014/main" id="{256B9DD4-48E4-497E-2286-7304D5519625}"/>
              </a:ext>
            </a:extLst>
          </p:cNvPr>
          <p:cNvCxnSpPr>
            <a:cxnSpLocks/>
            <a:endCxn id="13" idx="0"/>
          </p:cNvCxnSpPr>
          <p:nvPr/>
        </p:nvCxnSpPr>
        <p:spPr>
          <a:xfrm>
            <a:off x="3470760" y="1429247"/>
            <a:ext cx="1" cy="764365"/>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7B041B0B-896F-AA2C-B897-4C2C18A5C9E8}"/>
              </a:ext>
            </a:extLst>
          </p:cNvPr>
          <p:cNvCxnSpPr>
            <a:cxnSpLocks/>
            <a:stCxn id="13" idx="2"/>
            <a:endCxn id="15" idx="0"/>
          </p:cNvCxnSpPr>
          <p:nvPr/>
        </p:nvCxnSpPr>
        <p:spPr>
          <a:xfrm>
            <a:off x="3470761" y="2493406"/>
            <a:ext cx="1" cy="996888"/>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5F114A0F-8B64-F90B-BB6F-057F45CE4059}"/>
              </a:ext>
            </a:extLst>
          </p:cNvPr>
          <p:cNvCxnSpPr>
            <a:cxnSpLocks/>
            <a:stCxn id="15" idx="2"/>
            <a:endCxn id="17" idx="0"/>
          </p:cNvCxnSpPr>
          <p:nvPr/>
        </p:nvCxnSpPr>
        <p:spPr>
          <a:xfrm>
            <a:off x="3470762" y="3806984"/>
            <a:ext cx="21698" cy="1227750"/>
          </a:xfrm>
          <a:prstGeom prst="straightConnector1">
            <a:avLst/>
          </a:prstGeom>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60985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A474011-A49D-4C7A-BF41-0ACD0A269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6D72081E-AD41-4FBB-B02B-698A68DB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ounded Rectangle 3">
            <a:extLst>
              <a:ext uri="{FF2B5EF4-FFF2-40B4-BE49-F238E27FC236}">
                <a16:creationId xmlns:a16="http://schemas.microsoft.com/office/drawing/2014/main" id="{41D4D471-7F5E-B873-A2F7-0E83E9616952}"/>
              </a:ext>
            </a:extLst>
          </p:cNvPr>
          <p:cNvSpPr/>
          <p:nvPr/>
        </p:nvSpPr>
        <p:spPr>
          <a:xfrm>
            <a:off x="1051560" y="4444332"/>
            <a:ext cx="3558466" cy="1645920"/>
          </a:xfrm>
          <a:prstGeom prst="roundRect">
            <a:avLst/>
          </a:prstGeom>
        </p:spPr>
        <p:txBody>
          <a:bodyPr vert="horz" lIns="91440" tIns="45720" rIns="91440" bIns="45720" rtlCol="0" anchor="ctr">
            <a:normAutofit/>
          </a:bodyPr>
          <a:lstStyle/>
          <a:p>
            <a:pPr>
              <a:lnSpc>
                <a:spcPct val="90000"/>
              </a:lnSpc>
              <a:spcBef>
                <a:spcPct val="0"/>
              </a:spcBef>
              <a:spcAft>
                <a:spcPts val="600"/>
              </a:spcAft>
            </a:pPr>
            <a:r>
              <a:rPr lang="en-US" sz="3200" kern="1200">
                <a:solidFill>
                  <a:schemeClr val="tx1"/>
                </a:solidFill>
                <a:highlight>
                  <a:srgbClr val="FFFFFF"/>
                </a:highlight>
                <a:latin typeface="+mj-lt"/>
                <a:ea typeface="+mj-ea"/>
                <a:cs typeface="+mj-cs"/>
              </a:rPr>
              <a:t>Generative AI</a:t>
            </a:r>
          </a:p>
        </p:txBody>
      </p:sp>
      <p:sp>
        <p:nvSpPr>
          <p:cNvPr id="25" name="Rectangle 24">
            <a:extLst>
              <a:ext uri="{FF2B5EF4-FFF2-40B4-BE49-F238E27FC236}">
                <a16:creationId xmlns:a16="http://schemas.microsoft.com/office/drawing/2014/main" id="{716248AD-805F-41BF-9B57-FC53E5B32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1F82758F-B2B3-4F0A-BB90-4BFFEDD1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ounded Rectangle 6">
            <a:extLst>
              <a:ext uri="{FF2B5EF4-FFF2-40B4-BE49-F238E27FC236}">
                <a16:creationId xmlns:a16="http://schemas.microsoft.com/office/drawing/2014/main" id="{0853A395-F7F3-49F1-13FF-070DF65E9015}"/>
              </a:ext>
            </a:extLst>
          </p:cNvPr>
          <p:cNvSpPr/>
          <p:nvPr/>
        </p:nvSpPr>
        <p:spPr>
          <a:xfrm>
            <a:off x="1974832" y="374904"/>
            <a:ext cx="4072798" cy="3609664"/>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8" name="Rounded Rectangle 7">
            <a:extLst>
              <a:ext uri="{FF2B5EF4-FFF2-40B4-BE49-F238E27FC236}">
                <a16:creationId xmlns:a16="http://schemas.microsoft.com/office/drawing/2014/main" id="{78929B06-8189-F715-7DD0-348B90F5174A}"/>
              </a:ext>
            </a:extLst>
          </p:cNvPr>
          <p:cNvSpPr/>
          <p:nvPr/>
        </p:nvSpPr>
        <p:spPr>
          <a:xfrm>
            <a:off x="6076981" y="374905"/>
            <a:ext cx="4228579" cy="3609663"/>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0" name="TextBox 9">
            <a:extLst>
              <a:ext uri="{FF2B5EF4-FFF2-40B4-BE49-F238E27FC236}">
                <a16:creationId xmlns:a16="http://schemas.microsoft.com/office/drawing/2014/main" id="{16CED592-3399-299C-05FD-7FD4CE967247}"/>
              </a:ext>
            </a:extLst>
          </p:cNvPr>
          <p:cNvSpPr txBox="1"/>
          <p:nvPr/>
        </p:nvSpPr>
        <p:spPr>
          <a:xfrm>
            <a:off x="2266068" y="1252973"/>
            <a:ext cx="3490327" cy="2556110"/>
          </a:xfrm>
          <a:prstGeom prst="rect">
            <a:avLst/>
          </a:prstGeom>
          <a:noFill/>
        </p:spPr>
        <p:txBody>
          <a:bodyPr wrap="square">
            <a:spAutoFit/>
          </a:bodyPr>
          <a:lstStyle/>
          <a:p>
            <a:pPr algn="just" defTabSz="658368">
              <a:spcAft>
                <a:spcPts val="600"/>
              </a:spcAft>
            </a:pPr>
            <a:r>
              <a:rPr lang="en-HK" sz="2016" kern="1200" dirty="0">
                <a:solidFill>
                  <a:srgbClr val="7C7C7C"/>
                </a:solidFill>
                <a:highlight>
                  <a:srgbClr val="FFFFFF"/>
                </a:highlight>
                <a:latin typeface="69"/>
                <a:ea typeface="+mn-ea"/>
                <a:cs typeface="+mn-cs"/>
              </a:rPr>
              <a:t>LLMs are trained using language modelling, which involves predicting the next word in a sentence. They have excellent reasoning capabilities and can be used for several natural language tasks (e.g., summarisation). </a:t>
            </a:r>
            <a:endParaRPr lang="en-HK" sz="2800" dirty="0">
              <a:effectLst/>
              <a:highlight>
                <a:srgbClr val="FFFFFF"/>
              </a:highlight>
            </a:endParaRPr>
          </a:p>
        </p:txBody>
      </p:sp>
      <p:sp>
        <p:nvSpPr>
          <p:cNvPr id="12" name="TextBox 11">
            <a:extLst>
              <a:ext uri="{FF2B5EF4-FFF2-40B4-BE49-F238E27FC236}">
                <a16:creationId xmlns:a16="http://schemas.microsoft.com/office/drawing/2014/main" id="{D82C8324-4AFE-B15E-FDA0-C5A13E2CD3BC}"/>
              </a:ext>
            </a:extLst>
          </p:cNvPr>
          <p:cNvSpPr txBox="1"/>
          <p:nvPr/>
        </p:nvSpPr>
        <p:spPr>
          <a:xfrm>
            <a:off x="6354672" y="1252973"/>
            <a:ext cx="3673196" cy="2244932"/>
          </a:xfrm>
          <a:prstGeom prst="rect">
            <a:avLst/>
          </a:prstGeom>
          <a:noFill/>
        </p:spPr>
        <p:txBody>
          <a:bodyPr wrap="square">
            <a:spAutoFit/>
          </a:bodyPr>
          <a:lstStyle>
            <a:defPPr>
              <a:defRPr lang="en-US"/>
            </a:defPPr>
            <a:lvl1pPr algn="just">
              <a:defRPr sz="2800">
                <a:solidFill>
                  <a:srgbClr val="7C7C7C"/>
                </a:solidFill>
                <a:effectLst/>
                <a:highlight>
                  <a:srgbClr val="FFFFFF"/>
                </a:highlight>
                <a:latin typeface="69"/>
              </a:defRPr>
            </a:lvl1pPr>
          </a:lstStyle>
          <a:p>
            <a:pPr defTabSz="658368">
              <a:spcAft>
                <a:spcPts val="600"/>
              </a:spcAft>
            </a:pPr>
            <a:r>
              <a:rPr lang="en-HK" sz="2016" kern="1200">
                <a:solidFill>
                  <a:srgbClr val="7C7C7C"/>
                </a:solidFill>
                <a:effectLst/>
                <a:highlight>
                  <a:srgbClr val="FFFFFF"/>
                </a:highlight>
                <a:latin typeface="69"/>
                <a:ea typeface="+mn-ea"/>
                <a:cs typeface="+mn-cs"/>
              </a:rPr>
              <a:t>Trained using a mixture of images, video and text. LMMs demonstrate a nuanced understanding of multimodal inputs and can be used for several mixed-input tasks (e.g., video summarization) </a:t>
            </a:r>
            <a:endParaRPr lang="en-HK"/>
          </a:p>
        </p:txBody>
      </p:sp>
      <p:sp>
        <p:nvSpPr>
          <p:cNvPr id="14" name="TextBox 13">
            <a:extLst>
              <a:ext uri="{FF2B5EF4-FFF2-40B4-BE49-F238E27FC236}">
                <a16:creationId xmlns:a16="http://schemas.microsoft.com/office/drawing/2014/main" id="{C557E871-E2B5-F35B-FC7F-0F4F27A3E489}"/>
              </a:ext>
            </a:extLst>
          </p:cNvPr>
          <p:cNvSpPr txBox="1"/>
          <p:nvPr/>
        </p:nvSpPr>
        <p:spPr>
          <a:xfrm>
            <a:off x="6507065" y="454811"/>
            <a:ext cx="3363602" cy="712759"/>
          </a:xfrm>
          <a:prstGeom prst="rect">
            <a:avLst/>
          </a:prstGeom>
          <a:noFill/>
        </p:spPr>
        <p:txBody>
          <a:bodyPr wrap="square">
            <a:spAutoFit/>
          </a:bodyPr>
          <a:lstStyle/>
          <a:p>
            <a:pPr algn="ctr" defTabSz="658368">
              <a:spcAft>
                <a:spcPts val="600"/>
              </a:spcAft>
            </a:pPr>
            <a:r>
              <a:rPr lang="en-HK" sz="2016" kern="1200">
                <a:solidFill>
                  <a:schemeClr val="bg1"/>
                </a:solidFill>
                <a:latin typeface="+mn-lt"/>
                <a:ea typeface="+mn-ea"/>
                <a:cs typeface="+mn-cs"/>
              </a:rPr>
              <a:t>Large Multimodal Models (LMMs) </a:t>
            </a:r>
            <a:endParaRPr lang="en-HK" sz="2800">
              <a:solidFill>
                <a:schemeClr val="bg1"/>
              </a:solidFill>
            </a:endParaRPr>
          </a:p>
        </p:txBody>
      </p:sp>
      <p:sp>
        <p:nvSpPr>
          <p:cNvPr id="16" name="TextBox 15">
            <a:extLst>
              <a:ext uri="{FF2B5EF4-FFF2-40B4-BE49-F238E27FC236}">
                <a16:creationId xmlns:a16="http://schemas.microsoft.com/office/drawing/2014/main" id="{EF8F66FD-23D2-BD51-AA5B-4395D1401937}"/>
              </a:ext>
            </a:extLst>
          </p:cNvPr>
          <p:cNvSpPr txBox="1"/>
          <p:nvPr/>
        </p:nvSpPr>
        <p:spPr>
          <a:xfrm>
            <a:off x="2273414" y="445497"/>
            <a:ext cx="3140956" cy="712759"/>
          </a:xfrm>
          <a:prstGeom prst="rect">
            <a:avLst/>
          </a:prstGeom>
          <a:noFill/>
        </p:spPr>
        <p:txBody>
          <a:bodyPr wrap="square">
            <a:spAutoFit/>
          </a:bodyPr>
          <a:lstStyle/>
          <a:p>
            <a:pPr algn="ctr" defTabSz="658368">
              <a:spcAft>
                <a:spcPts val="600"/>
              </a:spcAft>
            </a:pPr>
            <a:r>
              <a:rPr lang="en-HK" sz="2016" kern="1200">
                <a:solidFill>
                  <a:schemeClr val="bg1"/>
                </a:solidFill>
                <a:latin typeface="+mn-lt"/>
                <a:ea typeface="+mn-ea"/>
                <a:cs typeface="+mn-cs"/>
              </a:rPr>
              <a:t>Large Language Models (LLMs) </a:t>
            </a:r>
            <a:endParaRPr lang="en-HK" sz="2800">
              <a:solidFill>
                <a:schemeClr val="bg1"/>
              </a:solidFill>
            </a:endParaRPr>
          </a:p>
        </p:txBody>
      </p:sp>
    </p:spTree>
    <p:extLst>
      <p:ext uri="{BB962C8B-B14F-4D97-AF65-F5344CB8AC3E}">
        <p14:creationId xmlns:p14="http://schemas.microsoft.com/office/powerpoint/2010/main" val="103282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5ABEA-854D-83DE-51F2-DADF3C02FAC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Large Language Models (LLMs)</a:t>
            </a:r>
          </a:p>
        </p:txBody>
      </p:sp>
      <p:sp>
        <p:nvSpPr>
          <p:cNvPr id="3" name="Content Placeholder 2">
            <a:extLst>
              <a:ext uri="{FF2B5EF4-FFF2-40B4-BE49-F238E27FC236}">
                <a16:creationId xmlns:a16="http://schemas.microsoft.com/office/drawing/2014/main" id="{77422B09-F0B6-BAF6-E73F-245F9AE54F58}"/>
              </a:ext>
            </a:extLst>
          </p:cNvPr>
          <p:cNvSpPr>
            <a:spLocks/>
          </p:cNvSpPr>
          <p:nvPr/>
        </p:nvSpPr>
        <p:spPr>
          <a:xfrm>
            <a:off x="644056" y="2202171"/>
            <a:ext cx="10762778" cy="859869"/>
          </a:xfrm>
          <a:prstGeom prst="rect">
            <a:avLst/>
          </a:prstGeom>
        </p:spPr>
        <p:txBody>
          <a:bodyPr>
            <a:normAutofit/>
          </a:bodyPr>
          <a:lstStyle/>
          <a:p>
            <a:pPr defTabSz="932688">
              <a:spcAft>
                <a:spcPts val="600"/>
              </a:spcAft>
            </a:pPr>
            <a:r>
              <a:rPr lang="en-HK" sz="2448" kern="1200">
                <a:solidFill>
                  <a:schemeClr val="tx1"/>
                </a:solidFill>
                <a:highlight>
                  <a:srgbClr val="FFFFFF"/>
                </a:highlight>
                <a:latin typeface="75,Italic"/>
                <a:ea typeface="+mn-ea"/>
                <a:cs typeface="+mn-cs"/>
              </a:rPr>
              <a:t>LLMs are trained using language modeling, that is, predicting the next word in a sequence. They do so by assigning probabilities to a fixed vocabulary. </a:t>
            </a:r>
            <a:endParaRPr lang="en-HK" sz="2400">
              <a:effectLst/>
              <a:highlight>
                <a:srgbClr val="FFFFFF"/>
              </a:highlight>
            </a:endParaRPr>
          </a:p>
        </p:txBody>
      </p:sp>
      <p:sp>
        <p:nvSpPr>
          <p:cNvPr id="6" name="Content Placeholder 2">
            <a:extLst>
              <a:ext uri="{FF2B5EF4-FFF2-40B4-BE49-F238E27FC236}">
                <a16:creationId xmlns:a16="http://schemas.microsoft.com/office/drawing/2014/main" id="{82BB36AA-E65B-27A0-DD1F-E047CD3635B7}"/>
              </a:ext>
            </a:extLst>
          </p:cNvPr>
          <p:cNvSpPr txBox="1">
            <a:spLocks/>
          </p:cNvSpPr>
          <p:nvPr/>
        </p:nvSpPr>
        <p:spPr>
          <a:xfrm>
            <a:off x="644056" y="3988826"/>
            <a:ext cx="7220339" cy="1659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688">
              <a:spcBef>
                <a:spcPts val="1020"/>
              </a:spcBef>
              <a:buNone/>
            </a:pPr>
            <a:r>
              <a:rPr lang="en-HK" sz="2448" kern="1200" dirty="0">
                <a:solidFill>
                  <a:schemeClr val="tx1"/>
                </a:solidFill>
                <a:highlight>
                  <a:srgbClr val="FFFFFF"/>
                </a:highlight>
                <a:latin typeface="75,Italic"/>
                <a:ea typeface="+mn-ea"/>
                <a:cs typeface="+mn-cs"/>
              </a:rPr>
              <a:t>The movie is a </a:t>
            </a:r>
            <a:r>
              <a:rPr lang="en-HK" sz="2448" kern="1200" dirty="0">
                <a:solidFill>
                  <a:schemeClr val="tx1"/>
                </a:solidFill>
                <a:highlight>
                  <a:srgbClr val="FFFF00"/>
                </a:highlight>
                <a:latin typeface="75,Italic"/>
                <a:ea typeface="+mn-ea"/>
                <a:cs typeface="+mn-cs"/>
              </a:rPr>
              <a:t>visually</a:t>
            </a:r>
            <a:r>
              <a:rPr lang="en-HK" sz="2448" kern="1200" dirty="0">
                <a:solidFill>
                  <a:schemeClr val="tx1"/>
                </a:solidFill>
                <a:highlight>
                  <a:srgbClr val="FFFFFF"/>
                </a:highlight>
                <a:latin typeface="75,Italic"/>
                <a:ea typeface="+mn-ea"/>
                <a:cs typeface="+mn-cs"/>
              </a:rPr>
              <a:t> </a:t>
            </a:r>
            <a:r>
              <a:rPr lang="en-HK" sz="2448" kern="1200" dirty="0">
                <a:solidFill>
                  <a:schemeClr val="tx1"/>
                </a:solidFill>
                <a:highlight>
                  <a:srgbClr val="FFFF00"/>
                </a:highlight>
                <a:latin typeface="75,Italic"/>
                <a:ea typeface="+mn-ea"/>
                <a:cs typeface="+mn-cs"/>
              </a:rPr>
              <a:t>stunning</a:t>
            </a:r>
            <a:r>
              <a:rPr lang="en-HK" sz="2448" kern="1200" dirty="0">
                <a:solidFill>
                  <a:schemeClr val="tx1"/>
                </a:solidFill>
                <a:highlight>
                  <a:srgbClr val="FFFFFF"/>
                </a:highlight>
                <a:latin typeface="75,Italic"/>
                <a:ea typeface="+mn-ea"/>
                <a:cs typeface="+mn-cs"/>
              </a:rPr>
              <a:t>, action-packed, and </a:t>
            </a:r>
            <a:r>
              <a:rPr lang="en-HK" sz="2448" kern="1200" dirty="0">
                <a:solidFill>
                  <a:schemeClr val="tx1"/>
                </a:solidFill>
                <a:highlight>
                  <a:srgbClr val="FFFF00"/>
                </a:highlight>
                <a:latin typeface="75,Italic"/>
                <a:ea typeface="+mn-ea"/>
                <a:cs typeface="+mn-cs"/>
              </a:rPr>
              <a:t>emotionally</a:t>
            </a:r>
            <a:r>
              <a:rPr lang="en-HK" sz="2448" kern="1200" dirty="0">
                <a:solidFill>
                  <a:schemeClr val="tx1"/>
                </a:solidFill>
                <a:highlight>
                  <a:srgbClr val="FFFFFF"/>
                </a:highlight>
                <a:latin typeface="75,Italic"/>
                <a:ea typeface="+mn-ea"/>
                <a:cs typeface="+mn-cs"/>
              </a:rPr>
              <a:t> resonant </a:t>
            </a:r>
            <a:r>
              <a:rPr lang="en-HK" sz="2448" kern="1200" dirty="0">
                <a:solidFill>
                  <a:schemeClr val="tx1"/>
                </a:solidFill>
                <a:highlight>
                  <a:srgbClr val="FFFF00"/>
                </a:highlight>
                <a:latin typeface="75,Italic"/>
                <a:ea typeface="+mn-ea"/>
                <a:cs typeface="+mn-cs"/>
              </a:rPr>
              <a:t>thrill ride </a:t>
            </a:r>
            <a:r>
              <a:rPr lang="en-HK" sz="2448" kern="1200" dirty="0">
                <a:solidFill>
                  <a:schemeClr val="tx1"/>
                </a:solidFill>
                <a:highlight>
                  <a:srgbClr val="FFFFFF"/>
                </a:highlight>
                <a:latin typeface="75,Italic"/>
                <a:ea typeface="+mn-ea"/>
                <a:cs typeface="+mn-cs"/>
              </a:rPr>
              <a:t>that will leave you on the </a:t>
            </a:r>
            <a:r>
              <a:rPr lang="en-HK" sz="2448" kern="1200" dirty="0">
                <a:solidFill>
                  <a:schemeClr val="tx1"/>
                </a:solidFill>
                <a:highlight>
                  <a:srgbClr val="FFFF00"/>
                </a:highlight>
                <a:latin typeface="75,Italic"/>
                <a:ea typeface="+mn-ea"/>
                <a:cs typeface="+mn-cs"/>
              </a:rPr>
              <a:t>edge of your seat </a:t>
            </a:r>
            <a:r>
              <a:rPr lang="en-HK" sz="2448" kern="1200" dirty="0">
                <a:solidFill>
                  <a:schemeClr val="tx1"/>
                </a:solidFill>
                <a:highlight>
                  <a:srgbClr val="FFFFFF"/>
                </a:highlight>
                <a:latin typeface="75,Italic"/>
                <a:ea typeface="+mn-ea"/>
                <a:cs typeface="+mn-cs"/>
              </a:rPr>
              <a:t>from beginning to end. Overall, the experience was </a:t>
            </a:r>
            <a:r>
              <a:rPr lang="en-HK" sz="2448" kern="1200" dirty="0">
                <a:solidFill>
                  <a:schemeClr val="bg1">
                    <a:lumMod val="95000"/>
                  </a:schemeClr>
                </a:solidFill>
                <a:highlight>
                  <a:srgbClr val="FFFFFF"/>
                </a:highlight>
                <a:latin typeface="75,Italic"/>
                <a:ea typeface="+mn-ea"/>
                <a:cs typeface="+mn-cs"/>
              </a:rPr>
              <a:t>magical</a:t>
            </a:r>
            <a:r>
              <a:rPr lang="en-HK" sz="2448" kern="1200" dirty="0">
                <a:solidFill>
                  <a:srgbClr val="555555"/>
                </a:solidFill>
                <a:highlight>
                  <a:srgbClr val="FFFFFF"/>
                </a:highlight>
                <a:latin typeface="75,Italic"/>
                <a:ea typeface="+mn-ea"/>
                <a:cs typeface="+mn-cs"/>
              </a:rPr>
              <a:t>.</a:t>
            </a:r>
            <a:endParaRPr lang="en-HK" sz="2400" dirty="0">
              <a:solidFill>
                <a:schemeClr val="bg1">
                  <a:lumMod val="95000"/>
                </a:schemeClr>
              </a:solidFill>
              <a:highlight>
                <a:srgbClr val="FFFFFF"/>
              </a:highlight>
            </a:endParaRPr>
          </a:p>
        </p:txBody>
      </p:sp>
      <p:graphicFrame>
        <p:nvGraphicFramePr>
          <p:cNvPr id="7" name="Table 6">
            <a:extLst>
              <a:ext uri="{FF2B5EF4-FFF2-40B4-BE49-F238E27FC236}">
                <a16:creationId xmlns:a16="http://schemas.microsoft.com/office/drawing/2014/main" id="{8F3498E3-BC59-0F1A-B562-95BD4AA5C3AC}"/>
              </a:ext>
            </a:extLst>
          </p:cNvPr>
          <p:cNvGraphicFramePr>
            <a:graphicFrameLocks noGrp="1"/>
          </p:cNvGraphicFramePr>
          <p:nvPr>
            <p:extLst>
              <p:ext uri="{D42A27DB-BD31-4B8C-83A1-F6EECF244321}">
                <p14:modId xmlns:p14="http://schemas.microsoft.com/office/powerpoint/2010/main" val="2960848465"/>
              </p:ext>
            </p:extLst>
          </p:nvPr>
        </p:nvGraphicFramePr>
        <p:xfrm>
          <a:off x="8513907" y="3558893"/>
          <a:ext cx="2987748" cy="2595880"/>
        </p:xfrm>
        <a:graphic>
          <a:graphicData uri="http://schemas.openxmlformats.org/drawingml/2006/table">
            <a:tbl>
              <a:tblPr firstRow="1" bandRow="1">
                <a:tableStyleId>{2D5ABB26-0587-4C30-8999-92F81FD0307C}</a:tableStyleId>
              </a:tblPr>
              <a:tblGrid>
                <a:gridCol w="1493874">
                  <a:extLst>
                    <a:ext uri="{9D8B030D-6E8A-4147-A177-3AD203B41FA5}">
                      <a16:colId xmlns:a16="http://schemas.microsoft.com/office/drawing/2014/main" val="1416294304"/>
                    </a:ext>
                  </a:extLst>
                </a:gridCol>
                <a:gridCol w="1493874">
                  <a:extLst>
                    <a:ext uri="{9D8B030D-6E8A-4147-A177-3AD203B41FA5}">
                      <a16:colId xmlns:a16="http://schemas.microsoft.com/office/drawing/2014/main" val="1070209701"/>
                    </a:ext>
                  </a:extLst>
                </a:gridCol>
              </a:tblGrid>
              <a:tr h="370840">
                <a:tc>
                  <a:txBody>
                    <a:bodyPr/>
                    <a:lstStyle/>
                    <a:p>
                      <a:r>
                        <a:rPr lang="en-US" dirty="0"/>
                        <a:t>Vocabulary</a:t>
                      </a:r>
                    </a:p>
                  </a:txBody>
                  <a:tcPr/>
                </a:tc>
                <a:tc>
                  <a:txBody>
                    <a:bodyPr/>
                    <a:lstStyle/>
                    <a:p>
                      <a:endParaRPr lang="en-US" dirty="0"/>
                    </a:p>
                  </a:txBody>
                  <a:tcPr/>
                </a:tc>
                <a:extLst>
                  <a:ext uri="{0D108BD9-81ED-4DB2-BD59-A6C34878D82A}">
                    <a16:rowId xmlns:a16="http://schemas.microsoft.com/office/drawing/2014/main" val="3690308509"/>
                  </a:ext>
                </a:extLst>
              </a:tr>
              <a:tr h="370840">
                <a:tc>
                  <a:txBody>
                    <a:bodyPr/>
                    <a:lstStyle/>
                    <a:p>
                      <a:pPr algn="ctr"/>
                      <a:r>
                        <a:rPr lang="en-US" dirty="0">
                          <a:highlight>
                            <a:srgbClr val="00FFFF"/>
                          </a:highlight>
                        </a:rPr>
                        <a:t>positive</a:t>
                      </a:r>
                    </a:p>
                  </a:txBody>
                  <a:tcPr/>
                </a:tc>
                <a:tc>
                  <a:txBody>
                    <a:bodyPr/>
                    <a:lstStyle/>
                    <a:p>
                      <a:r>
                        <a:rPr lang="en-US" dirty="0"/>
                        <a:t>p = .03</a:t>
                      </a:r>
                    </a:p>
                  </a:txBody>
                  <a:tcPr/>
                </a:tc>
                <a:extLst>
                  <a:ext uri="{0D108BD9-81ED-4DB2-BD59-A6C34878D82A}">
                    <a16:rowId xmlns:a16="http://schemas.microsoft.com/office/drawing/2014/main" val="4241478950"/>
                  </a:ext>
                </a:extLst>
              </a:tr>
              <a:tr h="370840">
                <a:tc>
                  <a:txBody>
                    <a:bodyPr/>
                    <a:lstStyle/>
                    <a:p>
                      <a:pPr algn="ctr"/>
                      <a:r>
                        <a:rPr lang="en-US" sz="1800" kern="1200" dirty="0">
                          <a:solidFill>
                            <a:schemeClr val="dk1"/>
                          </a:solidFill>
                          <a:highlight>
                            <a:srgbClr val="FF00FF"/>
                          </a:highlight>
                        </a:rPr>
                        <a:t>negative</a:t>
                      </a:r>
                      <a:endParaRPr lang="en-US" sz="1800" kern="1200" dirty="0">
                        <a:solidFill>
                          <a:schemeClr val="dk1"/>
                        </a:solidFill>
                        <a:highlight>
                          <a:srgbClr val="FF00FF"/>
                        </a:highlight>
                        <a:latin typeface="+mn-lt"/>
                        <a:ea typeface="+mn-ea"/>
                        <a:cs typeface="+mn-cs"/>
                      </a:endParaRPr>
                    </a:p>
                  </a:txBody>
                  <a:tcPr/>
                </a:tc>
                <a:tc>
                  <a:txBody>
                    <a:bodyPr/>
                    <a:lstStyle/>
                    <a:p>
                      <a:r>
                        <a:rPr lang="en-US" dirty="0"/>
                        <a:t>p = .00001</a:t>
                      </a:r>
                    </a:p>
                  </a:txBody>
                  <a:tcPr/>
                </a:tc>
                <a:extLst>
                  <a:ext uri="{0D108BD9-81ED-4DB2-BD59-A6C34878D82A}">
                    <a16:rowId xmlns:a16="http://schemas.microsoft.com/office/drawing/2014/main" val="3687603311"/>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675224907"/>
                  </a:ext>
                </a:extLst>
              </a:tr>
              <a:tr h="370840">
                <a:tc>
                  <a:txBody>
                    <a:bodyPr/>
                    <a:lstStyle/>
                    <a:p>
                      <a:pPr algn="ctr"/>
                      <a:r>
                        <a:rPr lang="en-US" dirty="0"/>
                        <a:t>…</a:t>
                      </a:r>
                    </a:p>
                  </a:txBody>
                  <a:tcPr/>
                </a:tc>
                <a:tc>
                  <a:txBody>
                    <a:bodyPr/>
                    <a:lstStyle/>
                    <a:p>
                      <a:endParaRPr lang="en-US" dirty="0"/>
                    </a:p>
                  </a:txBody>
                  <a:tcPr/>
                </a:tc>
                <a:extLst>
                  <a:ext uri="{0D108BD9-81ED-4DB2-BD59-A6C34878D82A}">
                    <a16:rowId xmlns:a16="http://schemas.microsoft.com/office/drawing/2014/main" val="3046032757"/>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304901379"/>
                  </a:ext>
                </a:extLst>
              </a:tr>
              <a:tr h="370840">
                <a:tc>
                  <a:txBody>
                    <a:bodyPr/>
                    <a:lstStyle/>
                    <a:p>
                      <a:pPr algn="ctr"/>
                      <a:r>
                        <a:rPr lang="en-US" dirty="0">
                          <a:highlight>
                            <a:srgbClr val="00FF00"/>
                          </a:highlight>
                        </a:rPr>
                        <a:t>magical</a:t>
                      </a:r>
                    </a:p>
                  </a:txBody>
                  <a:tcPr/>
                </a:tc>
                <a:tc>
                  <a:txBody>
                    <a:bodyPr/>
                    <a:lstStyle/>
                    <a:p>
                      <a:r>
                        <a:rPr lang="en-US" dirty="0"/>
                        <a:t>p = .83</a:t>
                      </a:r>
                    </a:p>
                  </a:txBody>
                  <a:tcPr/>
                </a:tc>
                <a:extLst>
                  <a:ext uri="{0D108BD9-81ED-4DB2-BD59-A6C34878D82A}">
                    <a16:rowId xmlns:a16="http://schemas.microsoft.com/office/drawing/2014/main" val="3080986445"/>
                  </a:ext>
                </a:extLst>
              </a:tr>
            </a:tbl>
          </a:graphicData>
        </a:graphic>
      </p:graphicFrame>
    </p:spTree>
    <p:extLst>
      <p:ext uri="{BB962C8B-B14F-4D97-AF65-F5344CB8AC3E}">
        <p14:creationId xmlns:p14="http://schemas.microsoft.com/office/powerpoint/2010/main" val="181699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5ABEA-854D-83DE-51F2-DADF3C02FAC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Large Language Models (LLMs)</a:t>
            </a:r>
          </a:p>
        </p:txBody>
      </p:sp>
      <p:sp>
        <p:nvSpPr>
          <p:cNvPr id="3" name="Content Placeholder 2">
            <a:extLst>
              <a:ext uri="{FF2B5EF4-FFF2-40B4-BE49-F238E27FC236}">
                <a16:creationId xmlns:a16="http://schemas.microsoft.com/office/drawing/2014/main" id="{77422B09-F0B6-BAF6-E73F-245F9AE54F58}"/>
              </a:ext>
            </a:extLst>
          </p:cNvPr>
          <p:cNvSpPr>
            <a:spLocks/>
          </p:cNvSpPr>
          <p:nvPr/>
        </p:nvSpPr>
        <p:spPr>
          <a:xfrm>
            <a:off x="644056" y="2157976"/>
            <a:ext cx="10762778" cy="859869"/>
          </a:xfrm>
          <a:prstGeom prst="rect">
            <a:avLst/>
          </a:prstGeom>
        </p:spPr>
        <p:txBody>
          <a:bodyPr>
            <a:normAutofit/>
          </a:bodyPr>
          <a:lstStyle/>
          <a:p>
            <a:pPr defTabSz="932688">
              <a:spcAft>
                <a:spcPts val="600"/>
              </a:spcAft>
            </a:pPr>
            <a:r>
              <a:rPr lang="en-HK" sz="2448" kern="1200">
                <a:solidFill>
                  <a:schemeClr val="tx1"/>
                </a:solidFill>
                <a:highlight>
                  <a:srgbClr val="FFFFFF"/>
                </a:highlight>
                <a:latin typeface="75,Italic"/>
                <a:ea typeface="+mn-ea"/>
                <a:cs typeface="+mn-cs"/>
              </a:rPr>
              <a:t>LLMs are trained using language </a:t>
            </a:r>
            <a:r>
              <a:rPr lang="en-HK" sz="2448" kern="1200" err="1">
                <a:solidFill>
                  <a:schemeClr val="tx1"/>
                </a:solidFill>
                <a:highlight>
                  <a:srgbClr val="FFFFFF"/>
                </a:highlight>
                <a:latin typeface="75,Italic"/>
                <a:ea typeface="+mn-ea"/>
                <a:cs typeface="+mn-cs"/>
              </a:rPr>
              <a:t>modeling</a:t>
            </a:r>
            <a:r>
              <a:rPr lang="en-HK" sz="2448" kern="1200">
                <a:solidFill>
                  <a:schemeClr val="tx1"/>
                </a:solidFill>
                <a:highlight>
                  <a:srgbClr val="FFFFFF"/>
                </a:highlight>
                <a:latin typeface="75,Italic"/>
                <a:ea typeface="+mn-ea"/>
                <a:cs typeface="+mn-cs"/>
              </a:rPr>
              <a:t>, that is, predicting the next word in a sequence. They do so by assigning probabilities to a fixed vocabulary. </a:t>
            </a:r>
            <a:endParaRPr lang="en-HK" sz="2400">
              <a:effectLst/>
              <a:highlight>
                <a:srgbClr val="FFFFFF"/>
              </a:highlight>
            </a:endParaRPr>
          </a:p>
        </p:txBody>
      </p:sp>
      <p:sp>
        <p:nvSpPr>
          <p:cNvPr id="6" name="Content Placeholder 2">
            <a:extLst>
              <a:ext uri="{FF2B5EF4-FFF2-40B4-BE49-F238E27FC236}">
                <a16:creationId xmlns:a16="http://schemas.microsoft.com/office/drawing/2014/main" id="{82BB36AA-E65B-27A0-DD1F-E047CD3635B7}"/>
              </a:ext>
            </a:extLst>
          </p:cNvPr>
          <p:cNvSpPr txBox="1">
            <a:spLocks/>
          </p:cNvSpPr>
          <p:nvPr/>
        </p:nvSpPr>
        <p:spPr>
          <a:xfrm>
            <a:off x="644056" y="3944631"/>
            <a:ext cx="7220339" cy="1659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688">
              <a:spcBef>
                <a:spcPts val="1020"/>
              </a:spcBef>
              <a:buNone/>
            </a:pPr>
            <a:r>
              <a:rPr lang="en-HK" sz="2448" kern="1200">
                <a:solidFill>
                  <a:schemeClr val="tx1"/>
                </a:solidFill>
                <a:highlight>
                  <a:srgbClr val="FFFFFF"/>
                </a:highlight>
                <a:latin typeface="75,Italic"/>
                <a:ea typeface="+mn-ea"/>
                <a:cs typeface="+mn-cs"/>
              </a:rPr>
              <a:t>The movie is a </a:t>
            </a:r>
            <a:r>
              <a:rPr lang="en-HK" sz="2448" kern="1200">
                <a:solidFill>
                  <a:schemeClr val="tx1"/>
                </a:solidFill>
                <a:highlight>
                  <a:srgbClr val="FFFF00"/>
                </a:highlight>
                <a:latin typeface="75,Italic"/>
                <a:ea typeface="+mn-ea"/>
                <a:cs typeface="+mn-cs"/>
              </a:rPr>
              <a:t>visually</a:t>
            </a:r>
            <a:r>
              <a:rPr lang="en-HK" sz="2448" kern="1200">
                <a:solidFill>
                  <a:schemeClr val="tx1"/>
                </a:solidFill>
                <a:highlight>
                  <a:srgbClr val="FFFFFF"/>
                </a:highlight>
                <a:latin typeface="75,Italic"/>
                <a:ea typeface="+mn-ea"/>
                <a:cs typeface="+mn-cs"/>
              </a:rPr>
              <a:t> </a:t>
            </a:r>
            <a:r>
              <a:rPr lang="en-HK" sz="2448" kern="1200">
                <a:solidFill>
                  <a:schemeClr val="tx1"/>
                </a:solidFill>
                <a:highlight>
                  <a:srgbClr val="FFFF00"/>
                </a:highlight>
                <a:latin typeface="75,Italic"/>
                <a:ea typeface="+mn-ea"/>
                <a:cs typeface="+mn-cs"/>
              </a:rPr>
              <a:t>stunning</a:t>
            </a:r>
            <a:r>
              <a:rPr lang="en-HK" sz="2448" kern="1200">
                <a:solidFill>
                  <a:schemeClr val="tx1"/>
                </a:solidFill>
                <a:highlight>
                  <a:srgbClr val="FFFFFF"/>
                </a:highlight>
                <a:latin typeface="75,Italic"/>
                <a:ea typeface="+mn-ea"/>
                <a:cs typeface="+mn-cs"/>
              </a:rPr>
              <a:t>, action-packed, and </a:t>
            </a:r>
            <a:r>
              <a:rPr lang="en-HK" sz="2448" kern="1200">
                <a:solidFill>
                  <a:schemeClr val="tx1"/>
                </a:solidFill>
                <a:highlight>
                  <a:srgbClr val="FFFF00"/>
                </a:highlight>
                <a:latin typeface="75,Italic"/>
                <a:ea typeface="+mn-ea"/>
                <a:cs typeface="+mn-cs"/>
              </a:rPr>
              <a:t>emotionally</a:t>
            </a:r>
            <a:r>
              <a:rPr lang="en-HK" sz="2448" kern="1200">
                <a:solidFill>
                  <a:schemeClr val="tx1"/>
                </a:solidFill>
                <a:highlight>
                  <a:srgbClr val="FFFFFF"/>
                </a:highlight>
                <a:latin typeface="75,Italic"/>
                <a:ea typeface="+mn-ea"/>
                <a:cs typeface="+mn-cs"/>
              </a:rPr>
              <a:t> resonant </a:t>
            </a:r>
            <a:r>
              <a:rPr lang="en-HK" sz="2448" kern="1200">
                <a:solidFill>
                  <a:schemeClr val="tx1"/>
                </a:solidFill>
                <a:highlight>
                  <a:srgbClr val="FFFF00"/>
                </a:highlight>
                <a:latin typeface="75,Italic"/>
                <a:ea typeface="+mn-ea"/>
                <a:cs typeface="+mn-cs"/>
              </a:rPr>
              <a:t>thrill ride </a:t>
            </a:r>
            <a:r>
              <a:rPr lang="en-HK" sz="2448" kern="1200">
                <a:solidFill>
                  <a:schemeClr val="tx1"/>
                </a:solidFill>
                <a:highlight>
                  <a:srgbClr val="FFFFFF"/>
                </a:highlight>
                <a:latin typeface="75,Italic"/>
                <a:ea typeface="+mn-ea"/>
                <a:cs typeface="+mn-cs"/>
              </a:rPr>
              <a:t>that will leave you on the </a:t>
            </a:r>
            <a:r>
              <a:rPr lang="en-HK" sz="2448" kern="1200">
                <a:solidFill>
                  <a:schemeClr val="tx1"/>
                </a:solidFill>
                <a:highlight>
                  <a:srgbClr val="FFFF00"/>
                </a:highlight>
                <a:latin typeface="75,Italic"/>
                <a:ea typeface="+mn-ea"/>
                <a:cs typeface="+mn-cs"/>
              </a:rPr>
              <a:t>edge of your seat </a:t>
            </a:r>
            <a:r>
              <a:rPr lang="en-HK" sz="2448" kern="1200">
                <a:solidFill>
                  <a:schemeClr val="tx1"/>
                </a:solidFill>
                <a:highlight>
                  <a:srgbClr val="FFFFFF"/>
                </a:highlight>
                <a:latin typeface="75,Italic"/>
                <a:ea typeface="+mn-ea"/>
                <a:cs typeface="+mn-cs"/>
              </a:rPr>
              <a:t>from beginning to end. Overall, the experience was magical.</a:t>
            </a:r>
            <a:endParaRPr lang="en-HK" sz="2400">
              <a:highlight>
                <a:srgbClr val="FFFFFF"/>
              </a:highlight>
            </a:endParaRPr>
          </a:p>
        </p:txBody>
      </p:sp>
      <p:graphicFrame>
        <p:nvGraphicFramePr>
          <p:cNvPr id="7" name="Table 6">
            <a:extLst>
              <a:ext uri="{FF2B5EF4-FFF2-40B4-BE49-F238E27FC236}">
                <a16:creationId xmlns:a16="http://schemas.microsoft.com/office/drawing/2014/main" id="{8F3498E3-BC59-0F1A-B562-95BD4AA5C3AC}"/>
              </a:ext>
            </a:extLst>
          </p:cNvPr>
          <p:cNvGraphicFramePr>
            <a:graphicFrameLocks noGrp="1"/>
          </p:cNvGraphicFramePr>
          <p:nvPr>
            <p:extLst>
              <p:ext uri="{D42A27DB-BD31-4B8C-83A1-F6EECF244321}">
                <p14:modId xmlns:p14="http://schemas.microsoft.com/office/powerpoint/2010/main" val="2129875657"/>
              </p:ext>
            </p:extLst>
          </p:nvPr>
        </p:nvGraphicFramePr>
        <p:xfrm>
          <a:off x="8513907" y="3514698"/>
          <a:ext cx="2987748" cy="2682240"/>
        </p:xfrm>
        <a:graphic>
          <a:graphicData uri="http://schemas.openxmlformats.org/drawingml/2006/table">
            <a:tbl>
              <a:tblPr firstRow="1" bandRow="1">
                <a:tableStyleId>{2D5ABB26-0587-4C30-8999-92F81FD0307C}</a:tableStyleId>
              </a:tblPr>
              <a:tblGrid>
                <a:gridCol w="1493874">
                  <a:extLst>
                    <a:ext uri="{9D8B030D-6E8A-4147-A177-3AD203B41FA5}">
                      <a16:colId xmlns:a16="http://schemas.microsoft.com/office/drawing/2014/main" val="1416294304"/>
                    </a:ext>
                  </a:extLst>
                </a:gridCol>
                <a:gridCol w="1493874">
                  <a:extLst>
                    <a:ext uri="{9D8B030D-6E8A-4147-A177-3AD203B41FA5}">
                      <a16:colId xmlns:a16="http://schemas.microsoft.com/office/drawing/2014/main" val="1070209701"/>
                    </a:ext>
                  </a:extLst>
                </a:gridCol>
              </a:tblGrid>
              <a:tr h="370840">
                <a:tc>
                  <a:txBody>
                    <a:bodyPr/>
                    <a:lstStyle/>
                    <a:p>
                      <a:pPr algn="ctr"/>
                      <a:r>
                        <a:rPr lang="en-US" sz="1600" b="1" dirty="0"/>
                        <a:t>Vocabulary</a:t>
                      </a:r>
                    </a:p>
                  </a:txBody>
                  <a:tcPr/>
                </a:tc>
                <a:tc>
                  <a:txBody>
                    <a:bodyPr/>
                    <a:lstStyle/>
                    <a:p>
                      <a:endParaRPr lang="en-US" dirty="0"/>
                    </a:p>
                  </a:txBody>
                  <a:tcPr/>
                </a:tc>
                <a:extLst>
                  <a:ext uri="{0D108BD9-81ED-4DB2-BD59-A6C34878D82A}">
                    <a16:rowId xmlns:a16="http://schemas.microsoft.com/office/drawing/2014/main" val="3690308509"/>
                  </a:ext>
                </a:extLst>
              </a:tr>
              <a:tr h="370840">
                <a:tc>
                  <a:txBody>
                    <a:bodyPr/>
                    <a:lstStyle/>
                    <a:p>
                      <a:pPr algn="ctr"/>
                      <a:r>
                        <a:rPr lang="en-US" dirty="0">
                          <a:highlight>
                            <a:srgbClr val="00FFFF"/>
                          </a:highlight>
                        </a:rPr>
                        <a:t>positive</a:t>
                      </a:r>
                    </a:p>
                  </a:txBody>
                  <a:tcPr/>
                </a:tc>
                <a:tc>
                  <a:txBody>
                    <a:bodyPr/>
                    <a:lstStyle/>
                    <a:p>
                      <a:r>
                        <a:rPr lang="en-US" dirty="0"/>
                        <a:t>p = .03</a:t>
                      </a:r>
                    </a:p>
                  </a:txBody>
                  <a:tcPr/>
                </a:tc>
                <a:extLst>
                  <a:ext uri="{0D108BD9-81ED-4DB2-BD59-A6C34878D82A}">
                    <a16:rowId xmlns:a16="http://schemas.microsoft.com/office/drawing/2014/main" val="4241478950"/>
                  </a:ext>
                </a:extLst>
              </a:tr>
              <a:tr h="370840">
                <a:tc>
                  <a:txBody>
                    <a:bodyPr/>
                    <a:lstStyle/>
                    <a:p>
                      <a:pPr algn="ctr"/>
                      <a:r>
                        <a:rPr lang="en-US" sz="1800" kern="1200" dirty="0">
                          <a:solidFill>
                            <a:schemeClr val="dk1"/>
                          </a:solidFill>
                          <a:highlight>
                            <a:srgbClr val="FF00FF"/>
                          </a:highlight>
                        </a:rPr>
                        <a:t>negative</a:t>
                      </a:r>
                      <a:endParaRPr lang="en-US" sz="1800" kern="1200" dirty="0">
                        <a:solidFill>
                          <a:schemeClr val="dk1"/>
                        </a:solidFill>
                        <a:highlight>
                          <a:srgbClr val="FF00FF"/>
                        </a:highlight>
                        <a:latin typeface="+mn-lt"/>
                        <a:ea typeface="+mn-ea"/>
                        <a:cs typeface="+mn-cs"/>
                      </a:endParaRPr>
                    </a:p>
                  </a:txBody>
                  <a:tcPr/>
                </a:tc>
                <a:tc>
                  <a:txBody>
                    <a:bodyPr/>
                    <a:lstStyle/>
                    <a:p>
                      <a:r>
                        <a:rPr lang="en-US" dirty="0"/>
                        <a:t>p = .00001</a:t>
                      </a:r>
                    </a:p>
                  </a:txBody>
                  <a:tcPr/>
                </a:tc>
                <a:extLst>
                  <a:ext uri="{0D108BD9-81ED-4DB2-BD59-A6C34878D82A}">
                    <a16:rowId xmlns:a16="http://schemas.microsoft.com/office/drawing/2014/main" val="3687603311"/>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675224907"/>
                  </a:ext>
                </a:extLst>
              </a:tr>
              <a:tr h="370840">
                <a:tc>
                  <a:txBody>
                    <a:bodyPr/>
                    <a:lstStyle/>
                    <a:p>
                      <a:pPr algn="ctr"/>
                      <a:r>
                        <a:rPr lang="en-US" sz="2400" b="1" dirty="0"/>
                        <a:t>…</a:t>
                      </a:r>
                    </a:p>
                  </a:txBody>
                  <a:tcPr/>
                </a:tc>
                <a:tc>
                  <a:txBody>
                    <a:bodyPr/>
                    <a:lstStyle/>
                    <a:p>
                      <a:endParaRPr lang="en-US" dirty="0"/>
                    </a:p>
                  </a:txBody>
                  <a:tcPr/>
                </a:tc>
                <a:extLst>
                  <a:ext uri="{0D108BD9-81ED-4DB2-BD59-A6C34878D82A}">
                    <a16:rowId xmlns:a16="http://schemas.microsoft.com/office/drawing/2014/main" val="3046032757"/>
                  </a:ext>
                </a:extLst>
              </a:tr>
              <a:tr h="370840">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304901379"/>
                  </a:ext>
                </a:extLst>
              </a:tr>
              <a:tr h="370840">
                <a:tc>
                  <a:txBody>
                    <a:bodyPr/>
                    <a:lstStyle/>
                    <a:p>
                      <a:pPr algn="ctr"/>
                      <a:r>
                        <a:rPr lang="en-US" dirty="0">
                          <a:highlight>
                            <a:srgbClr val="00FF00"/>
                          </a:highlight>
                        </a:rPr>
                        <a:t>magical</a:t>
                      </a:r>
                    </a:p>
                  </a:txBody>
                  <a:tcPr/>
                </a:tc>
                <a:tc>
                  <a:txBody>
                    <a:bodyPr/>
                    <a:lstStyle/>
                    <a:p>
                      <a:r>
                        <a:rPr lang="en-US" dirty="0"/>
                        <a:t>p = .83</a:t>
                      </a:r>
                    </a:p>
                  </a:txBody>
                  <a:tcPr/>
                </a:tc>
                <a:extLst>
                  <a:ext uri="{0D108BD9-81ED-4DB2-BD59-A6C34878D82A}">
                    <a16:rowId xmlns:a16="http://schemas.microsoft.com/office/drawing/2014/main" val="3080986445"/>
                  </a:ext>
                </a:extLst>
              </a:tr>
            </a:tbl>
          </a:graphicData>
        </a:graphic>
      </p:graphicFrame>
      <p:sp>
        <p:nvSpPr>
          <p:cNvPr id="4" name="Rectangle 3">
            <a:extLst>
              <a:ext uri="{FF2B5EF4-FFF2-40B4-BE49-F238E27FC236}">
                <a16:creationId xmlns:a16="http://schemas.microsoft.com/office/drawing/2014/main" id="{E4E85C6D-AF33-B3CA-C0B4-4B23062A13A0}"/>
              </a:ext>
            </a:extLst>
          </p:cNvPr>
          <p:cNvSpPr/>
          <p:nvPr/>
        </p:nvSpPr>
        <p:spPr>
          <a:xfrm>
            <a:off x="4440327" y="5227779"/>
            <a:ext cx="1585118" cy="37608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07CB81A-6CA7-C2CC-DFBA-1DBB71543989}"/>
              </a:ext>
            </a:extLst>
          </p:cNvPr>
          <p:cNvCxnSpPr>
            <a:cxnSpLocks/>
            <a:stCxn id="4" idx="3"/>
          </p:cNvCxnSpPr>
          <p:nvPr/>
        </p:nvCxnSpPr>
        <p:spPr>
          <a:xfrm>
            <a:off x="6025445" y="5415824"/>
            <a:ext cx="2866702" cy="583435"/>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3B98B89-FBD7-9704-267D-CBC3F0694795}"/>
              </a:ext>
            </a:extLst>
          </p:cNvPr>
          <p:cNvSpPr txBox="1"/>
          <p:nvPr/>
        </p:nvSpPr>
        <p:spPr>
          <a:xfrm>
            <a:off x="6862248" y="5496290"/>
            <a:ext cx="884602" cy="378013"/>
          </a:xfrm>
          <a:prstGeom prst="rect">
            <a:avLst/>
          </a:prstGeom>
          <a:noFill/>
        </p:spPr>
        <p:txBody>
          <a:bodyPr wrap="square" rtlCol="0">
            <a:spAutoFit/>
          </a:bodyPr>
          <a:lstStyle/>
          <a:p>
            <a:pPr defTabSz="932688">
              <a:spcAft>
                <a:spcPts val="600"/>
              </a:spcAft>
            </a:pPr>
            <a:r>
              <a:rPr lang="en-US" sz="1836" kern="1200">
                <a:solidFill>
                  <a:schemeClr val="tx1"/>
                </a:solidFill>
                <a:highlight>
                  <a:srgbClr val="C0C0C0"/>
                </a:highlight>
                <a:latin typeface="+mn-lt"/>
                <a:ea typeface="+mn-ea"/>
                <a:cs typeface="+mn-cs"/>
              </a:rPr>
              <a:t>match</a:t>
            </a:r>
            <a:endParaRPr lang="en-US">
              <a:highlight>
                <a:srgbClr val="C0C0C0"/>
              </a:highlight>
            </a:endParaRPr>
          </a:p>
        </p:txBody>
      </p:sp>
    </p:spTree>
    <p:extLst>
      <p:ext uri="{BB962C8B-B14F-4D97-AF65-F5344CB8AC3E}">
        <p14:creationId xmlns:p14="http://schemas.microsoft.com/office/powerpoint/2010/main" val="52563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DF33BB5-6067-4EE4-83BA-5D56B8F7690B}"/>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latin typeface=""/>
                <a:cs typeface="Arial" panose="020B0604020202020204" pitchFamily="34" charset="0"/>
              </a:rPr>
              <a:t>Large Language Models (LLMs)</a:t>
            </a:r>
          </a:p>
        </p:txBody>
      </p:sp>
      <p:sp>
        <p:nvSpPr>
          <p:cNvPr id="6" name="TextBox 5">
            <a:extLst>
              <a:ext uri="{FF2B5EF4-FFF2-40B4-BE49-F238E27FC236}">
                <a16:creationId xmlns:a16="http://schemas.microsoft.com/office/drawing/2014/main" id="{26AEDC79-C758-77DE-3829-C0D44B2BBA14}"/>
              </a:ext>
            </a:extLst>
          </p:cNvPr>
          <p:cNvSpPr txBox="1"/>
          <p:nvPr/>
        </p:nvSpPr>
        <p:spPr>
          <a:xfrm>
            <a:off x="1341421" y="2273574"/>
            <a:ext cx="6652500" cy="1640577"/>
          </a:xfrm>
          <a:prstGeom prst="rect">
            <a:avLst/>
          </a:prstGeom>
          <a:noFill/>
        </p:spPr>
        <p:txBody>
          <a:bodyPr wrap="square">
            <a:spAutoFit/>
          </a:bodyPr>
          <a:lstStyle/>
          <a:p>
            <a:pPr defTabSz="576072">
              <a:spcAft>
                <a:spcPts val="600"/>
              </a:spcAft>
            </a:pPr>
            <a:r>
              <a:rPr lang="en-HK" sz="1512" kern="1200" dirty="0">
                <a:solidFill>
                  <a:schemeClr val="tx1"/>
                </a:solidFill>
                <a:highlight>
                  <a:srgbClr val="FFFFFF"/>
                </a:highlight>
                <a:latin typeface=""/>
                <a:ea typeface="+mn-ea"/>
                <a:cs typeface="Arial" panose="020B0604020202020204" pitchFamily="34" charset="0"/>
              </a:rPr>
              <a:t>During inference, the LLM predicts the next word in the input sequence.</a:t>
            </a:r>
          </a:p>
          <a:p>
            <a:pPr defTabSz="576072">
              <a:spcAft>
                <a:spcPts val="600"/>
              </a:spcAft>
            </a:pPr>
            <a:endParaRPr lang="en-HK" sz="1512"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rgbClr val="005E6C"/>
                </a:solidFill>
                <a:highlight>
                  <a:srgbClr val="FFFFFF"/>
                </a:highlight>
                <a:latin typeface=""/>
                <a:ea typeface="+mn-ea"/>
                <a:cs typeface="Arial" panose="020B0604020202020204" pitchFamily="34" charset="0"/>
              </a:rPr>
              <a:t>Input word = prompt </a:t>
            </a:r>
            <a:endParaRPr lang="en-HK" sz="1134"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chemeClr val="tx1"/>
                </a:solidFill>
                <a:highlight>
                  <a:srgbClr val="FFFFFF"/>
                </a:highlight>
                <a:latin typeface=""/>
                <a:ea typeface="+mn-ea"/>
                <a:cs typeface="Arial" panose="020B0604020202020204" pitchFamily="34" charset="0"/>
              </a:rPr>
              <a:t>The </a:t>
            </a:r>
          </a:p>
          <a:p>
            <a:pPr defTabSz="576072">
              <a:spcAft>
                <a:spcPts val="600"/>
              </a:spcAft>
            </a:pPr>
            <a:endParaRPr lang="en-HK" sz="1134" kern="1200" dirty="0">
              <a:solidFill>
                <a:schemeClr val="tx1"/>
              </a:solidFill>
              <a:highlight>
                <a:srgbClr val="FFFFFF"/>
              </a:highlight>
              <a:latin typeface=""/>
              <a:ea typeface="+mn-ea"/>
              <a:cs typeface="Arial" panose="020B0604020202020204" pitchFamily="34" charset="0"/>
            </a:endParaRPr>
          </a:p>
          <a:p>
            <a:pPr defTabSz="576072">
              <a:spcAft>
                <a:spcPts val="600"/>
              </a:spcAft>
            </a:pPr>
            <a:r>
              <a:rPr lang="en-HK" sz="1134" kern="1200" dirty="0">
                <a:solidFill>
                  <a:srgbClr val="005E6C"/>
                </a:solidFill>
                <a:highlight>
                  <a:srgbClr val="FFFFFF"/>
                </a:highlight>
                <a:latin typeface=""/>
                <a:ea typeface="+mn-ea"/>
                <a:cs typeface="Arial" panose="020B0604020202020204" pitchFamily="34" charset="0"/>
              </a:rPr>
              <a:t>Output, word-by-word </a:t>
            </a:r>
            <a:r>
              <a:rPr lang="en-HK" sz="1134" kern="1200" dirty="0">
                <a:solidFill>
                  <a:srgbClr val="555555"/>
                </a:solidFill>
                <a:highlight>
                  <a:srgbClr val="FFFFFF"/>
                </a:highlight>
                <a:latin typeface=""/>
                <a:ea typeface="+mn-ea"/>
                <a:cs typeface="Arial" panose="020B0604020202020204" pitchFamily="34" charset="0"/>
              </a:rPr>
              <a:t>awesome. Overall, the experience was positive. </a:t>
            </a:r>
            <a:endParaRPr lang="en-HK" dirty="0">
              <a:effectLst/>
              <a:highlight>
                <a:srgbClr val="FFFFFF"/>
              </a:highlight>
              <a:latin typeface=""/>
              <a:cs typeface="Arial" panose="020B0604020202020204" pitchFamily="34" charset="0"/>
            </a:endParaRPr>
          </a:p>
        </p:txBody>
      </p:sp>
      <p:sp>
        <p:nvSpPr>
          <p:cNvPr id="10" name="TextBox 9">
            <a:extLst>
              <a:ext uri="{FF2B5EF4-FFF2-40B4-BE49-F238E27FC236}">
                <a16:creationId xmlns:a16="http://schemas.microsoft.com/office/drawing/2014/main" id="{A1CB83CC-91F3-CAC3-CEFC-6F3D66DEB329}"/>
              </a:ext>
            </a:extLst>
          </p:cNvPr>
          <p:cNvSpPr txBox="1"/>
          <p:nvPr/>
        </p:nvSpPr>
        <p:spPr>
          <a:xfrm>
            <a:off x="1361904" y="5576850"/>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Overall, the </a:t>
            </a:r>
            <a:endParaRPr lang="en-HK">
              <a:effectLst/>
              <a:highlight>
                <a:srgbClr val="FFFFFF"/>
              </a:highlight>
              <a:latin typeface=""/>
              <a:cs typeface="Arial" panose="020B0604020202020204" pitchFamily="34" charset="0"/>
            </a:endParaRPr>
          </a:p>
        </p:txBody>
      </p:sp>
      <p:sp>
        <p:nvSpPr>
          <p:cNvPr id="12" name="TextBox 11">
            <a:extLst>
              <a:ext uri="{FF2B5EF4-FFF2-40B4-BE49-F238E27FC236}">
                <a16:creationId xmlns:a16="http://schemas.microsoft.com/office/drawing/2014/main" id="{A120E025-6535-2213-A1DC-73B5CBE8B4BA}"/>
              </a:ext>
            </a:extLst>
          </p:cNvPr>
          <p:cNvSpPr txBox="1"/>
          <p:nvPr/>
        </p:nvSpPr>
        <p:spPr>
          <a:xfrm>
            <a:off x="1347362" y="5256836"/>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Overall, </a:t>
            </a:r>
            <a:endParaRPr lang="en-HK">
              <a:effectLst/>
              <a:highlight>
                <a:srgbClr val="FFFFFF"/>
              </a:highlight>
              <a:latin typeface=""/>
              <a:cs typeface="Arial" panose="020B0604020202020204" pitchFamily="34" charset="0"/>
            </a:endParaRPr>
          </a:p>
        </p:txBody>
      </p:sp>
      <p:sp>
        <p:nvSpPr>
          <p:cNvPr id="14" name="TextBox 13">
            <a:extLst>
              <a:ext uri="{FF2B5EF4-FFF2-40B4-BE49-F238E27FC236}">
                <a16:creationId xmlns:a16="http://schemas.microsoft.com/office/drawing/2014/main" id="{3DEEB817-B72E-7D66-D9BA-D7F388640BA2}"/>
              </a:ext>
            </a:extLst>
          </p:cNvPr>
          <p:cNvSpPr txBox="1"/>
          <p:nvPr/>
        </p:nvSpPr>
        <p:spPr>
          <a:xfrm>
            <a:off x="1361904" y="4936293"/>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 awesome. </a:t>
            </a:r>
            <a:endParaRPr lang="en-HK">
              <a:effectLst/>
              <a:highlight>
                <a:srgbClr val="FFFFFF"/>
              </a:highlight>
              <a:latin typeface=""/>
              <a:cs typeface="Arial" panose="020B0604020202020204" pitchFamily="34" charset="0"/>
            </a:endParaRPr>
          </a:p>
        </p:txBody>
      </p:sp>
      <p:sp>
        <p:nvSpPr>
          <p:cNvPr id="16" name="TextBox 15">
            <a:extLst>
              <a:ext uri="{FF2B5EF4-FFF2-40B4-BE49-F238E27FC236}">
                <a16:creationId xmlns:a16="http://schemas.microsoft.com/office/drawing/2014/main" id="{25DA826B-8DCF-AA45-7BF1-36A593E6FAD4}"/>
              </a:ext>
            </a:extLst>
          </p:cNvPr>
          <p:cNvSpPr txBox="1"/>
          <p:nvPr/>
        </p:nvSpPr>
        <p:spPr>
          <a:xfrm>
            <a:off x="1361904" y="4615750"/>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 was</a:t>
            </a:r>
            <a:endParaRPr lang="en-HK">
              <a:effectLst/>
              <a:highlight>
                <a:srgbClr val="FFFFFF"/>
              </a:highlight>
              <a:latin typeface=""/>
              <a:cs typeface="Arial" panose="020B0604020202020204" pitchFamily="34" charset="0"/>
            </a:endParaRPr>
          </a:p>
        </p:txBody>
      </p:sp>
      <p:sp>
        <p:nvSpPr>
          <p:cNvPr id="18" name="TextBox 17">
            <a:extLst>
              <a:ext uri="{FF2B5EF4-FFF2-40B4-BE49-F238E27FC236}">
                <a16:creationId xmlns:a16="http://schemas.microsoft.com/office/drawing/2014/main" id="{35A48374-0798-D578-4AD9-CA5F4FA3AD55}"/>
              </a:ext>
            </a:extLst>
          </p:cNvPr>
          <p:cNvSpPr txBox="1"/>
          <p:nvPr/>
        </p:nvSpPr>
        <p:spPr>
          <a:xfrm>
            <a:off x="1361904" y="4247059"/>
            <a:ext cx="3852566" cy="266868"/>
          </a:xfrm>
          <a:prstGeom prst="rect">
            <a:avLst/>
          </a:prstGeom>
          <a:noFill/>
        </p:spPr>
        <p:txBody>
          <a:bodyPr wrap="square">
            <a:spAutoFit/>
          </a:bodyPr>
          <a:lstStyle/>
          <a:p>
            <a:pPr defTabSz="576072">
              <a:spcAft>
                <a:spcPts val="600"/>
              </a:spcAft>
            </a:pPr>
            <a:r>
              <a:rPr lang="en-HK" sz="1134" kern="1200">
                <a:solidFill>
                  <a:schemeClr val="tx1"/>
                </a:solidFill>
                <a:highlight>
                  <a:srgbClr val="FFFFFF"/>
                </a:highlight>
                <a:latin typeface=""/>
                <a:ea typeface="+mn-ea"/>
                <a:cs typeface="Arial" panose="020B0604020202020204" pitchFamily="34" charset="0"/>
              </a:rPr>
              <a:t>The movie</a:t>
            </a:r>
            <a:endParaRPr lang="en-HK">
              <a:effectLst/>
              <a:highlight>
                <a:srgbClr val="FFFFFF"/>
              </a:highlight>
              <a:latin typeface=""/>
              <a:cs typeface="Arial" panose="020B0604020202020204" pitchFamily="34" charset="0"/>
            </a:endParaRPr>
          </a:p>
        </p:txBody>
      </p:sp>
      <p:sp>
        <p:nvSpPr>
          <p:cNvPr id="20" name="TextBox 19">
            <a:extLst>
              <a:ext uri="{FF2B5EF4-FFF2-40B4-BE49-F238E27FC236}">
                <a16:creationId xmlns:a16="http://schemas.microsoft.com/office/drawing/2014/main" id="{C3C6976F-447A-F3D9-E81D-C5BF50C4186F}"/>
              </a:ext>
            </a:extLst>
          </p:cNvPr>
          <p:cNvSpPr txBox="1"/>
          <p:nvPr/>
        </p:nvSpPr>
        <p:spPr>
          <a:xfrm>
            <a:off x="1361904" y="3878003"/>
            <a:ext cx="3852566" cy="266868"/>
          </a:xfrm>
          <a:prstGeom prst="rect">
            <a:avLst/>
          </a:prstGeom>
          <a:noFill/>
        </p:spPr>
        <p:txBody>
          <a:bodyPr wrap="square">
            <a:spAutoFit/>
          </a:bodyPr>
          <a:lstStyle/>
          <a:p>
            <a:pPr defTabSz="576072">
              <a:spcAft>
                <a:spcPts val="600"/>
              </a:spcAft>
            </a:pPr>
            <a:r>
              <a:rPr lang="en-HK" sz="1134" kern="1200" dirty="0">
                <a:solidFill>
                  <a:schemeClr val="tx1"/>
                </a:solidFill>
                <a:highlight>
                  <a:srgbClr val="FFFFFF"/>
                </a:highlight>
                <a:latin typeface=""/>
                <a:ea typeface="+mn-ea"/>
                <a:cs typeface="Arial" panose="020B0604020202020204" pitchFamily="34" charset="0"/>
              </a:rPr>
              <a:t>The</a:t>
            </a:r>
            <a:endParaRPr lang="en-HK" dirty="0">
              <a:effectLst/>
              <a:highlight>
                <a:srgbClr val="FFFFFF"/>
              </a:highlight>
              <a:latin typeface=""/>
              <a:cs typeface="Arial" panose="020B0604020202020204" pitchFamily="34" charset="0"/>
            </a:endParaRPr>
          </a:p>
        </p:txBody>
      </p:sp>
      <p:sp>
        <p:nvSpPr>
          <p:cNvPr id="21" name="Rectangle 20">
            <a:extLst>
              <a:ext uri="{FF2B5EF4-FFF2-40B4-BE49-F238E27FC236}">
                <a16:creationId xmlns:a16="http://schemas.microsoft.com/office/drawing/2014/main" id="{DEBD23B8-FB1F-086C-A631-E3795205D0F2}"/>
              </a:ext>
            </a:extLst>
          </p:cNvPr>
          <p:cNvSpPr/>
          <p:nvPr/>
        </p:nvSpPr>
        <p:spPr>
          <a:xfrm>
            <a:off x="1740575" y="3905103"/>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
              <a:cs typeface="Arial" panose="020B0604020202020204" pitchFamily="34" charset="0"/>
            </a:endParaRPr>
          </a:p>
        </p:txBody>
      </p:sp>
      <p:sp>
        <p:nvSpPr>
          <p:cNvPr id="22" name="Rectangle 21">
            <a:extLst>
              <a:ext uri="{FF2B5EF4-FFF2-40B4-BE49-F238E27FC236}">
                <a16:creationId xmlns:a16="http://schemas.microsoft.com/office/drawing/2014/main" id="{1B0B9D48-7CC3-C5E9-4FB2-8AB15CAF7477}"/>
              </a:ext>
            </a:extLst>
          </p:cNvPr>
          <p:cNvSpPr/>
          <p:nvPr/>
        </p:nvSpPr>
        <p:spPr>
          <a:xfrm>
            <a:off x="2158941" y="4269776"/>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latin typeface=""/>
              <a:cs typeface="Arial" panose="020B0604020202020204" pitchFamily="34" charset="0"/>
            </a:endParaRPr>
          </a:p>
        </p:txBody>
      </p:sp>
      <p:sp>
        <p:nvSpPr>
          <p:cNvPr id="23" name="Rectangle 22">
            <a:extLst>
              <a:ext uri="{FF2B5EF4-FFF2-40B4-BE49-F238E27FC236}">
                <a16:creationId xmlns:a16="http://schemas.microsoft.com/office/drawing/2014/main" id="{82161C9D-5853-5E4A-7140-3F1E9C8125D3}"/>
              </a:ext>
            </a:extLst>
          </p:cNvPr>
          <p:cNvSpPr/>
          <p:nvPr/>
        </p:nvSpPr>
        <p:spPr>
          <a:xfrm>
            <a:off x="2464054" y="4642221"/>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4" name="Rectangle 23">
            <a:extLst>
              <a:ext uri="{FF2B5EF4-FFF2-40B4-BE49-F238E27FC236}">
                <a16:creationId xmlns:a16="http://schemas.microsoft.com/office/drawing/2014/main" id="{B032721F-F873-A440-7941-A525F2F5387F}"/>
              </a:ext>
            </a:extLst>
          </p:cNvPr>
          <p:cNvSpPr/>
          <p:nvPr/>
        </p:nvSpPr>
        <p:spPr>
          <a:xfrm>
            <a:off x="3128522" y="4942572"/>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5" name="Rectangle 24">
            <a:extLst>
              <a:ext uri="{FF2B5EF4-FFF2-40B4-BE49-F238E27FC236}">
                <a16:creationId xmlns:a16="http://schemas.microsoft.com/office/drawing/2014/main" id="{578D5087-AAA3-4E77-9A11-2F83AA638DB1}"/>
              </a:ext>
            </a:extLst>
          </p:cNvPr>
          <p:cNvSpPr/>
          <p:nvPr/>
        </p:nvSpPr>
        <p:spPr>
          <a:xfrm>
            <a:off x="3680278" y="5266370"/>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6" name="Rectangle 25">
            <a:extLst>
              <a:ext uri="{FF2B5EF4-FFF2-40B4-BE49-F238E27FC236}">
                <a16:creationId xmlns:a16="http://schemas.microsoft.com/office/drawing/2014/main" id="{073917DB-61FD-313A-9A8B-2C5B4C113A76}"/>
              </a:ext>
            </a:extLst>
          </p:cNvPr>
          <p:cNvSpPr/>
          <p:nvPr/>
        </p:nvSpPr>
        <p:spPr>
          <a:xfrm>
            <a:off x="3935607" y="5601711"/>
            <a:ext cx="469825" cy="18019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b="1" dirty="0">
              <a:latin typeface=""/>
              <a:cs typeface="Arial" panose="020B0604020202020204" pitchFamily="34" charset="0"/>
            </a:endParaRPr>
          </a:p>
        </p:txBody>
      </p:sp>
      <p:sp>
        <p:nvSpPr>
          <p:cNvPr id="27" name="Oval 26">
            <a:extLst>
              <a:ext uri="{FF2B5EF4-FFF2-40B4-BE49-F238E27FC236}">
                <a16:creationId xmlns:a16="http://schemas.microsoft.com/office/drawing/2014/main" id="{D97CA314-D558-CE45-FCFA-3238CCBEA484}"/>
              </a:ext>
            </a:extLst>
          </p:cNvPr>
          <p:cNvSpPr/>
          <p:nvPr/>
        </p:nvSpPr>
        <p:spPr>
          <a:xfrm>
            <a:off x="7315531" y="3532068"/>
            <a:ext cx="2242857" cy="2016336"/>
          </a:xfrm>
          <a:prstGeom prst="ellipse">
            <a:avLst/>
          </a:prstGeom>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
              <a:cs typeface="Arial" panose="020B0604020202020204" pitchFamily="34" charset="0"/>
            </a:endParaRPr>
          </a:p>
        </p:txBody>
      </p:sp>
      <p:sp>
        <p:nvSpPr>
          <p:cNvPr id="29" name="TextBox 28">
            <a:extLst>
              <a:ext uri="{FF2B5EF4-FFF2-40B4-BE49-F238E27FC236}">
                <a16:creationId xmlns:a16="http://schemas.microsoft.com/office/drawing/2014/main" id="{FBF7A473-F917-55D6-5183-37815D1487A6}"/>
              </a:ext>
            </a:extLst>
          </p:cNvPr>
          <p:cNvSpPr txBox="1"/>
          <p:nvPr/>
        </p:nvSpPr>
        <p:spPr>
          <a:xfrm>
            <a:off x="8325105" y="3697521"/>
            <a:ext cx="796472" cy="286232"/>
          </a:xfrm>
          <a:prstGeom prst="rect">
            <a:avLst/>
          </a:prstGeom>
          <a:noFill/>
        </p:spPr>
        <p:txBody>
          <a:bodyPr wrap="square">
            <a:spAutoFit/>
          </a:bodyPr>
          <a:lstStyle/>
          <a:p>
            <a:pPr defTabSz="576072">
              <a:spcAft>
                <a:spcPts val="600"/>
              </a:spcAft>
            </a:pPr>
            <a:r>
              <a:rPr lang="en-HK" sz="1260" kern="1200" dirty="0">
                <a:solidFill>
                  <a:schemeClr val="tx1"/>
                </a:solidFill>
                <a:highlight>
                  <a:srgbClr val="FFFFFF"/>
                </a:highlight>
                <a:latin typeface=""/>
                <a:ea typeface="+mn-ea"/>
                <a:cs typeface="Arial" panose="020B0604020202020204" pitchFamily="34" charset="0"/>
              </a:rPr>
              <a:t>positive</a:t>
            </a:r>
            <a:r>
              <a:rPr lang="en-HK" sz="1134" kern="1200" dirty="0">
                <a:solidFill>
                  <a:schemeClr val="tx1"/>
                </a:solidFill>
                <a:highlight>
                  <a:srgbClr val="FFFFFF"/>
                </a:highlight>
                <a:latin typeface=""/>
                <a:ea typeface="+mn-ea"/>
                <a:cs typeface="Arial" panose="020B0604020202020204" pitchFamily="34" charset="0"/>
              </a:rPr>
              <a:t> </a:t>
            </a:r>
            <a:endParaRPr lang="en-HK" dirty="0">
              <a:effectLst/>
              <a:highlight>
                <a:srgbClr val="FFFFFF"/>
              </a:highlight>
              <a:latin typeface=""/>
              <a:cs typeface="Arial" panose="020B0604020202020204" pitchFamily="34" charset="0"/>
            </a:endParaRPr>
          </a:p>
        </p:txBody>
      </p:sp>
      <p:sp>
        <p:nvSpPr>
          <p:cNvPr id="31" name="TextBox 30">
            <a:extLst>
              <a:ext uri="{FF2B5EF4-FFF2-40B4-BE49-F238E27FC236}">
                <a16:creationId xmlns:a16="http://schemas.microsoft.com/office/drawing/2014/main" id="{AACCF7E4-61FF-5D2F-E9BF-927B9E8EEADD}"/>
              </a:ext>
            </a:extLst>
          </p:cNvPr>
          <p:cNvSpPr txBox="1"/>
          <p:nvPr/>
        </p:nvSpPr>
        <p:spPr>
          <a:xfrm>
            <a:off x="7528633" y="4178503"/>
            <a:ext cx="796472" cy="286232"/>
          </a:xfrm>
          <a:prstGeom prst="rect">
            <a:avLst/>
          </a:prstGeom>
          <a:noFill/>
        </p:spPr>
        <p:txBody>
          <a:bodyPr wrap="square">
            <a:spAutoFit/>
          </a:bodyPr>
          <a:lstStyle/>
          <a:p>
            <a:pPr defTabSz="576072">
              <a:spcAft>
                <a:spcPts val="600"/>
              </a:spcAft>
            </a:pPr>
            <a:r>
              <a:rPr lang="en-HK" sz="1260" kern="1200">
                <a:solidFill>
                  <a:schemeClr val="tx1"/>
                </a:solidFill>
                <a:highlight>
                  <a:srgbClr val="FFFFFF"/>
                </a:highlight>
                <a:latin typeface=""/>
                <a:ea typeface="+mn-ea"/>
                <a:cs typeface="Arial" panose="020B0604020202020204" pitchFamily="34" charset="0"/>
              </a:rPr>
              <a:t>negative</a:t>
            </a:r>
            <a:r>
              <a:rPr lang="en-HK" sz="1134" kern="1200">
                <a:solidFill>
                  <a:schemeClr val="tx1"/>
                </a:solidFill>
                <a:highlight>
                  <a:srgbClr val="FFFFFF"/>
                </a:highlight>
                <a:latin typeface=""/>
                <a:ea typeface="+mn-ea"/>
                <a:cs typeface="Arial" panose="020B0604020202020204" pitchFamily="34" charset="0"/>
              </a:rPr>
              <a:t> </a:t>
            </a:r>
            <a:endParaRPr lang="en-HK">
              <a:effectLst/>
              <a:highlight>
                <a:srgbClr val="FFFFFF"/>
              </a:highlight>
              <a:latin typeface=""/>
              <a:cs typeface="Arial" panose="020B0604020202020204" pitchFamily="34" charset="0"/>
            </a:endParaRPr>
          </a:p>
        </p:txBody>
      </p:sp>
      <p:sp>
        <p:nvSpPr>
          <p:cNvPr id="33" name="TextBox 32">
            <a:extLst>
              <a:ext uri="{FF2B5EF4-FFF2-40B4-BE49-F238E27FC236}">
                <a16:creationId xmlns:a16="http://schemas.microsoft.com/office/drawing/2014/main" id="{AF2A7EB4-E767-25B8-8D13-2A31275A2F74}"/>
              </a:ext>
            </a:extLst>
          </p:cNvPr>
          <p:cNvSpPr txBox="1"/>
          <p:nvPr/>
        </p:nvSpPr>
        <p:spPr>
          <a:xfrm>
            <a:off x="8708791" y="4231445"/>
            <a:ext cx="457518" cy="363818"/>
          </a:xfrm>
          <a:prstGeom prst="rect">
            <a:avLst/>
          </a:prstGeom>
          <a:noFill/>
        </p:spPr>
        <p:txBody>
          <a:bodyPr wrap="square">
            <a:spAutoFit/>
          </a:bodyPr>
          <a:lstStyle/>
          <a:p>
            <a:pPr algn="ctr" defTabSz="576072">
              <a:spcAft>
                <a:spcPts val="600"/>
              </a:spcAft>
            </a:pPr>
            <a:r>
              <a:rPr lang="en-HK" sz="1764" b="1" kern="1200">
                <a:solidFill>
                  <a:schemeClr val="tx1"/>
                </a:solidFill>
                <a:highlight>
                  <a:srgbClr val="FFFFFF"/>
                </a:highlight>
                <a:latin typeface=""/>
                <a:ea typeface="+mn-ea"/>
                <a:cs typeface="Arial" panose="020B0604020202020204" pitchFamily="34" charset="0"/>
              </a:rPr>
              <a:t>...</a:t>
            </a:r>
            <a:r>
              <a:rPr lang="en-HK" sz="1134" kern="1200">
                <a:solidFill>
                  <a:schemeClr val="tx1"/>
                </a:solidFill>
                <a:highlight>
                  <a:srgbClr val="FFFFFF"/>
                </a:highlight>
                <a:latin typeface=""/>
                <a:ea typeface="+mn-ea"/>
                <a:cs typeface="Arial" panose="020B0604020202020204" pitchFamily="34" charset="0"/>
              </a:rPr>
              <a:t> </a:t>
            </a:r>
            <a:endParaRPr lang="en-HK">
              <a:effectLst/>
              <a:highlight>
                <a:srgbClr val="FFFFFF"/>
              </a:highlight>
              <a:latin typeface=""/>
              <a:cs typeface="Arial" panose="020B0604020202020204" pitchFamily="34" charset="0"/>
            </a:endParaRPr>
          </a:p>
        </p:txBody>
      </p:sp>
      <p:sp>
        <p:nvSpPr>
          <p:cNvPr id="35" name="TextBox 34">
            <a:extLst>
              <a:ext uri="{FF2B5EF4-FFF2-40B4-BE49-F238E27FC236}">
                <a16:creationId xmlns:a16="http://schemas.microsoft.com/office/drawing/2014/main" id="{52871773-7927-8862-EC17-7A2362DC6DC8}"/>
              </a:ext>
            </a:extLst>
          </p:cNvPr>
          <p:cNvSpPr txBox="1"/>
          <p:nvPr/>
        </p:nvSpPr>
        <p:spPr>
          <a:xfrm>
            <a:off x="8655652" y="4726511"/>
            <a:ext cx="897140" cy="286232"/>
          </a:xfrm>
          <a:prstGeom prst="rect">
            <a:avLst/>
          </a:prstGeom>
          <a:noFill/>
        </p:spPr>
        <p:txBody>
          <a:bodyPr wrap="square">
            <a:spAutoFit/>
          </a:bodyPr>
          <a:lstStyle/>
          <a:p>
            <a:pPr defTabSz="576072">
              <a:spcAft>
                <a:spcPts val="600"/>
              </a:spcAft>
            </a:pPr>
            <a:r>
              <a:rPr lang="en-HK" sz="1260" kern="1200">
                <a:solidFill>
                  <a:schemeClr val="tx1"/>
                </a:solidFill>
                <a:highlight>
                  <a:srgbClr val="FFFFFF"/>
                </a:highlight>
                <a:latin typeface="73"/>
                <a:ea typeface="+mn-ea"/>
                <a:cs typeface="+mn-cs"/>
              </a:rPr>
              <a:t>movie</a:t>
            </a:r>
            <a:r>
              <a:rPr lang="en-HK" sz="1134" kern="1200">
                <a:solidFill>
                  <a:schemeClr val="tx1"/>
                </a:solidFill>
                <a:highlight>
                  <a:srgbClr val="FFFFFF"/>
                </a:highlight>
                <a:latin typeface="73"/>
                <a:ea typeface="+mn-ea"/>
                <a:cs typeface="+mn-cs"/>
              </a:rPr>
              <a:t> </a:t>
            </a:r>
            <a:endParaRPr lang="en-HK">
              <a:effectLst/>
              <a:highlight>
                <a:srgbClr val="FFFFFF"/>
              </a:highlight>
            </a:endParaRPr>
          </a:p>
        </p:txBody>
      </p:sp>
      <p:sp>
        <p:nvSpPr>
          <p:cNvPr id="37" name="TextBox 36">
            <a:extLst>
              <a:ext uri="{FF2B5EF4-FFF2-40B4-BE49-F238E27FC236}">
                <a16:creationId xmlns:a16="http://schemas.microsoft.com/office/drawing/2014/main" id="{E9F5F207-5C40-C01C-6104-E2832CB00FEA}"/>
              </a:ext>
            </a:extLst>
          </p:cNvPr>
          <p:cNvSpPr txBox="1"/>
          <p:nvPr/>
        </p:nvSpPr>
        <p:spPr>
          <a:xfrm>
            <a:off x="8057752" y="5250520"/>
            <a:ext cx="682362" cy="286232"/>
          </a:xfrm>
          <a:prstGeom prst="rect">
            <a:avLst/>
          </a:prstGeom>
          <a:noFill/>
        </p:spPr>
        <p:txBody>
          <a:bodyPr wrap="square">
            <a:spAutoFit/>
          </a:bodyPr>
          <a:lstStyle/>
          <a:p>
            <a:pPr defTabSz="576072">
              <a:spcAft>
                <a:spcPts val="600"/>
              </a:spcAft>
            </a:pPr>
            <a:r>
              <a:rPr lang="en-HK" sz="1260" kern="1200" dirty="0">
                <a:solidFill>
                  <a:schemeClr val="tx1"/>
                </a:solidFill>
                <a:highlight>
                  <a:srgbClr val="FFFFFF"/>
                </a:highlight>
                <a:latin typeface="73"/>
                <a:ea typeface="+mn-ea"/>
                <a:cs typeface="+mn-cs"/>
              </a:rPr>
              <a:t>magical</a:t>
            </a:r>
            <a:r>
              <a:rPr lang="en-HK" sz="1134" kern="1200" dirty="0">
                <a:solidFill>
                  <a:schemeClr val="tx1"/>
                </a:solidFill>
                <a:highlight>
                  <a:srgbClr val="FFFFFF"/>
                </a:highlight>
                <a:latin typeface="73"/>
                <a:ea typeface="+mn-ea"/>
                <a:cs typeface="+mn-cs"/>
              </a:rPr>
              <a:t> </a:t>
            </a:r>
            <a:endParaRPr lang="en-HK" dirty="0">
              <a:effectLst/>
              <a:highlight>
                <a:srgbClr val="FFFFFF"/>
              </a:highlight>
            </a:endParaRPr>
          </a:p>
        </p:txBody>
      </p:sp>
      <p:sp>
        <p:nvSpPr>
          <p:cNvPr id="39" name="TextBox 38">
            <a:extLst>
              <a:ext uri="{FF2B5EF4-FFF2-40B4-BE49-F238E27FC236}">
                <a16:creationId xmlns:a16="http://schemas.microsoft.com/office/drawing/2014/main" id="{27CB3163-3618-BC2C-4C7F-BC73C96451C7}"/>
              </a:ext>
            </a:extLst>
          </p:cNvPr>
          <p:cNvSpPr txBox="1"/>
          <p:nvPr/>
        </p:nvSpPr>
        <p:spPr>
          <a:xfrm>
            <a:off x="8057752" y="5655089"/>
            <a:ext cx="1252301" cy="325025"/>
          </a:xfrm>
          <a:prstGeom prst="rect">
            <a:avLst/>
          </a:prstGeom>
          <a:noFill/>
        </p:spPr>
        <p:txBody>
          <a:bodyPr wrap="square">
            <a:spAutoFit/>
          </a:bodyPr>
          <a:lstStyle/>
          <a:p>
            <a:pPr defTabSz="576072">
              <a:spcAft>
                <a:spcPts val="600"/>
              </a:spcAft>
            </a:pPr>
            <a:r>
              <a:rPr lang="en-HK" sz="1512" b="1" kern="1200" dirty="0">
                <a:solidFill>
                  <a:schemeClr val="tx1"/>
                </a:solidFill>
                <a:highlight>
                  <a:srgbClr val="FFFFFF"/>
                </a:highlight>
                <a:latin typeface=""/>
                <a:ea typeface="+mn-ea"/>
                <a:cs typeface="+mn-cs"/>
              </a:rPr>
              <a:t>Vocabulary </a:t>
            </a:r>
            <a:endParaRPr lang="en-HK" sz="2400" b="1" dirty="0">
              <a:effectLst/>
              <a:highlight>
                <a:srgbClr val="FFFFFF"/>
              </a:highlight>
              <a:latin typeface=""/>
            </a:endParaRPr>
          </a:p>
        </p:txBody>
      </p:sp>
      <p:sp>
        <p:nvSpPr>
          <p:cNvPr id="41" name="TextBox 40">
            <a:extLst>
              <a:ext uri="{FF2B5EF4-FFF2-40B4-BE49-F238E27FC236}">
                <a16:creationId xmlns:a16="http://schemas.microsoft.com/office/drawing/2014/main" id="{3189333E-7257-533C-FA73-40642E2D6792}"/>
              </a:ext>
            </a:extLst>
          </p:cNvPr>
          <p:cNvSpPr txBox="1"/>
          <p:nvPr/>
        </p:nvSpPr>
        <p:spPr>
          <a:xfrm>
            <a:off x="1531936" y="5896863"/>
            <a:ext cx="369149" cy="480131"/>
          </a:xfrm>
          <a:prstGeom prst="rect">
            <a:avLst/>
          </a:prstGeom>
          <a:noFill/>
        </p:spPr>
        <p:txBody>
          <a:bodyPr wrap="square">
            <a:spAutoFit/>
          </a:bodyPr>
          <a:lstStyle/>
          <a:p>
            <a:pPr algn="ctr" defTabSz="576072">
              <a:spcAft>
                <a:spcPts val="600"/>
              </a:spcAft>
            </a:pPr>
            <a:r>
              <a:rPr lang="en-HK" sz="2520" kern="1200">
                <a:solidFill>
                  <a:schemeClr val="tx1"/>
                </a:solidFill>
                <a:highlight>
                  <a:srgbClr val="FFFFFF"/>
                </a:highlight>
                <a:latin typeface="Times New Roman" panose="02020603050405020304" pitchFamily="18" charset="0"/>
                <a:ea typeface="+mn-ea"/>
                <a:cs typeface="+mn-cs"/>
              </a:rPr>
              <a:t>⁞ </a:t>
            </a:r>
            <a:endParaRPr lang="en-HK" sz="4000">
              <a:effectLst/>
              <a:highlight>
                <a:srgbClr val="FFFFFF"/>
              </a:highlight>
            </a:endParaRPr>
          </a:p>
        </p:txBody>
      </p:sp>
      <p:cxnSp>
        <p:nvCxnSpPr>
          <p:cNvPr id="43" name="Curved Connector 42">
            <a:extLst>
              <a:ext uri="{FF2B5EF4-FFF2-40B4-BE49-F238E27FC236}">
                <a16:creationId xmlns:a16="http://schemas.microsoft.com/office/drawing/2014/main" id="{B939BC24-5E89-CE2F-5C42-42DCFFAACF8E}"/>
              </a:ext>
            </a:extLst>
          </p:cNvPr>
          <p:cNvCxnSpPr>
            <a:stCxn id="27" idx="2"/>
            <a:endCxn id="21" idx="3"/>
          </p:cNvCxnSpPr>
          <p:nvPr/>
        </p:nvCxnSpPr>
        <p:spPr>
          <a:xfrm rot="10800000">
            <a:off x="2210401" y="3995204"/>
            <a:ext cx="5105131" cy="545033"/>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44" name="Curved Connector 43">
            <a:extLst>
              <a:ext uri="{FF2B5EF4-FFF2-40B4-BE49-F238E27FC236}">
                <a16:creationId xmlns:a16="http://schemas.microsoft.com/office/drawing/2014/main" id="{0B010857-18B2-1042-4332-9A7E9F71B5E5}"/>
              </a:ext>
            </a:extLst>
          </p:cNvPr>
          <p:cNvCxnSpPr>
            <a:cxnSpLocks/>
            <a:stCxn id="27" idx="2"/>
            <a:endCxn id="22" idx="3"/>
          </p:cNvCxnSpPr>
          <p:nvPr/>
        </p:nvCxnSpPr>
        <p:spPr>
          <a:xfrm rot="10800000">
            <a:off x="2628767" y="4359876"/>
            <a:ext cx="4686765" cy="180360"/>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F0DC4DB9-75A9-8D16-16B8-912FEB89F26D}"/>
              </a:ext>
            </a:extLst>
          </p:cNvPr>
          <p:cNvCxnSpPr>
            <a:cxnSpLocks/>
            <a:stCxn id="27" idx="2"/>
            <a:endCxn id="23" idx="3"/>
          </p:cNvCxnSpPr>
          <p:nvPr/>
        </p:nvCxnSpPr>
        <p:spPr>
          <a:xfrm rot="10800000" flipV="1">
            <a:off x="2933879" y="4540235"/>
            <a:ext cx="4381652" cy="192085"/>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E0101C3D-A166-2CB4-56CD-D1567860FABC}"/>
              </a:ext>
            </a:extLst>
          </p:cNvPr>
          <p:cNvCxnSpPr>
            <a:cxnSpLocks/>
            <a:stCxn id="27" idx="2"/>
            <a:endCxn id="24" idx="3"/>
          </p:cNvCxnSpPr>
          <p:nvPr/>
        </p:nvCxnSpPr>
        <p:spPr>
          <a:xfrm rot="10800000" flipV="1">
            <a:off x="3598347" y="4540236"/>
            <a:ext cx="3717184" cy="492436"/>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67" name="Curved Connector 66">
            <a:extLst>
              <a:ext uri="{FF2B5EF4-FFF2-40B4-BE49-F238E27FC236}">
                <a16:creationId xmlns:a16="http://schemas.microsoft.com/office/drawing/2014/main" id="{1D08997A-CF30-2E13-424E-9F6101B1FB8F}"/>
              </a:ext>
            </a:extLst>
          </p:cNvPr>
          <p:cNvCxnSpPr>
            <a:cxnSpLocks/>
            <a:stCxn id="27" idx="2"/>
            <a:endCxn id="25" idx="3"/>
          </p:cNvCxnSpPr>
          <p:nvPr/>
        </p:nvCxnSpPr>
        <p:spPr>
          <a:xfrm rot="10800000" flipV="1">
            <a:off x="4150103" y="4540236"/>
            <a:ext cx="3165428" cy="816234"/>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70" name="Curved Connector 69">
            <a:extLst>
              <a:ext uri="{FF2B5EF4-FFF2-40B4-BE49-F238E27FC236}">
                <a16:creationId xmlns:a16="http://schemas.microsoft.com/office/drawing/2014/main" id="{7A9FB7D1-85E7-A554-3CFD-BE141FCF1596}"/>
              </a:ext>
            </a:extLst>
          </p:cNvPr>
          <p:cNvCxnSpPr>
            <a:cxnSpLocks/>
            <a:stCxn id="27" idx="2"/>
            <a:endCxn id="26" idx="3"/>
          </p:cNvCxnSpPr>
          <p:nvPr/>
        </p:nvCxnSpPr>
        <p:spPr>
          <a:xfrm rot="10800000" flipV="1">
            <a:off x="4405433" y="4540235"/>
            <a:ext cx="2910099" cy="1151575"/>
          </a:xfrm>
          <a:prstGeom prst="curvedConnector3">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86" name="Curved Connector 85">
            <a:extLst>
              <a:ext uri="{FF2B5EF4-FFF2-40B4-BE49-F238E27FC236}">
                <a16:creationId xmlns:a16="http://schemas.microsoft.com/office/drawing/2014/main" id="{7D8B093A-1246-601A-5517-12111AEA91EC}"/>
              </a:ext>
            </a:extLst>
          </p:cNvPr>
          <p:cNvCxnSpPr>
            <a:stCxn id="20" idx="1"/>
            <a:endCxn id="18" idx="1"/>
          </p:cNvCxnSpPr>
          <p:nvPr/>
        </p:nvCxnSpPr>
        <p:spPr>
          <a:xfrm rot="10800000" flipV="1">
            <a:off x="1361904" y="4011437"/>
            <a:ext cx="12700" cy="369056"/>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7" name="Curved Connector 86">
            <a:extLst>
              <a:ext uri="{FF2B5EF4-FFF2-40B4-BE49-F238E27FC236}">
                <a16:creationId xmlns:a16="http://schemas.microsoft.com/office/drawing/2014/main" id="{302789CB-351A-F3D4-DF08-D192944FAC1C}"/>
              </a:ext>
            </a:extLst>
          </p:cNvPr>
          <p:cNvCxnSpPr>
            <a:cxnSpLocks/>
            <a:stCxn id="18" idx="1"/>
            <a:endCxn id="16" idx="1"/>
          </p:cNvCxnSpPr>
          <p:nvPr/>
        </p:nvCxnSpPr>
        <p:spPr>
          <a:xfrm rot="10800000" flipV="1">
            <a:off x="1361904" y="4380492"/>
            <a:ext cx="12700" cy="368691"/>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0" name="Curved Connector 89">
            <a:extLst>
              <a:ext uri="{FF2B5EF4-FFF2-40B4-BE49-F238E27FC236}">
                <a16:creationId xmlns:a16="http://schemas.microsoft.com/office/drawing/2014/main" id="{E409AA3A-97B9-190E-AC3B-4EC228A71F80}"/>
              </a:ext>
            </a:extLst>
          </p:cNvPr>
          <p:cNvCxnSpPr>
            <a:cxnSpLocks/>
            <a:stCxn id="16" idx="1"/>
            <a:endCxn id="14" idx="1"/>
          </p:cNvCxnSpPr>
          <p:nvPr/>
        </p:nvCxnSpPr>
        <p:spPr>
          <a:xfrm rot="10800000" flipV="1">
            <a:off x="1361904" y="4749183"/>
            <a:ext cx="12700" cy="320543"/>
          </a:xfrm>
          <a:prstGeom prst="curvedConnector3">
            <a:avLst>
              <a:gd name="adj1" fmla="val 1800000"/>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3" name="Curved Connector 92">
            <a:extLst>
              <a:ext uri="{FF2B5EF4-FFF2-40B4-BE49-F238E27FC236}">
                <a16:creationId xmlns:a16="http://schemas.microsoft.com/office/drawing/2014/main" id="{58885377-A260-2379-22BF-04ADD030B6FC}"/>
              </a:ext>
            </a:extLst>
          </p:cNvPr>
          <p:cNvCxnSpPr>
            <a:cxnSpLocks/>
            <a:stCxn id="14" idx="1"/>
            <a:endCxn id="12" idx="1"/>
          </p:cNvCxnSpPr>
          <p:nvPr/>
        </p:nvCxnSpPr>
        <p:spPr>
          <a:xfrm rot="10800000" flipV="1">
            <a:off x="1347362" y="5069726"/>
            <a:ext cx="14542" cy="320543"/>
          </a:xfrm>
          <a:prstGeom prst="curvedConnector3">
            <a:avLst>
              <a:gd name="adj1" fmla="val 1671998"/>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6" name="Curved Connector 95">
            <a:extLst>
              <a:ext uri="{FF2B5EF4-FFF2-40B4-BE49-F238E27FC236}">
                <a16:creationId xmlns:a16="http://schemas.microsoft.com/office/drawing/2014/main" id="{1A3E73B4-DE3C-A722-7A1F-BE936BE35FA5}"/>
              </a:ext>
            </a:extLst>
          </p:cNvPr>
          <p:cNvCxnSpPr>
            <a:cxnSpLocks/>
            <a:stCxn id="12" idx="1"/>
            <a:endCxn id="10" idx="1"/>
          </p:cNvCxnSpPr>
          <p:nvPr/>
        </p:nvCxnSpPr>
        <p:spPr>
          <a:xfrm rot="10800000" flipH="1" flipV="1">
            <a:off x="1347362" y="5390270"/>
            <a:ext cx="14542" cy="320014"/>
          </a:xfrm>
          <a:prstGeom prst="curvedConnector3">
            <a:avLst>
              <a:gd name="adj1" fmla="val -1571998"/>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95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31F88-EE82-23FF-D334-8ED27EE461A4}"/>
              </a:ext>
            </a:extLst>
          </p:cNvPr>
          <p:cNvSpPr>
            <a:spLocks noGrp="1"/>
          </p:cNvSpPr>
          <p:nvPr>
            <p:ph type="title"/>
          </p:nvPr>
        </p:nvSpPr>
        <p:spPr>
          <a:xfrm>
            <a:off x="838200" y="41960"/>
            <a:ext cx="10515600" cy="841068"/>
          </a:xfrm>
        </p:spPr>
        <p:txBody>
          <a:bodyPr/>
          <a:lstStyle/>
          <a:p>
            <a:r>
              <a:rPr lang="en-US" sz="4400" dirty="0">
                <a:latin typeface=""/>
                <a:cs typeface="Arial" panose="020B0604020202020204" pitchFamily="34" charset="0"/>
              </a:rPr>
              <a:t>Large Language Models (LLMs)</a:t>
            </a:r>
            <a:endParaRPr lang="en-US" dirty="0"/>
          </a:p>
        </p:txBody>
      </p:sp>
      <p:sp>
        <p:nvSpPr>
          <p:cNvPr id="7" name="TextBox 6">
            <a:extLst>
              <a:ext uri="{FF2B5EF4-FFF2-40B4-BE49-F238E27FC236}">
                <a16:creationId xmlns:a16="http://schemas.microsoft.com/office/drawing/2014/main" id="{63968F5C-53EA-1E96-B689-BD50AF14A53B}"/>
              </a:ext>
            </a:extLst>
          </p:cNvPr>
          <p:cNvSpPr txBox="1"/>
          <p:nvPr/>
        </p:nvSpPr>
        <p:spPr>
          <a:xfrm>
            <a:off x="1693329" y="1587714"/>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HK" sz="1800" dirty="0">
                <a:ln w="0"/>
                <a:solidFill>
                  <a:schemeClr val="tx1"/>
                </a:solidFill>
                <a:effectLst>
                  <a:outerShdw blurRad="38100" dist="25400" dir="5400000" algn="ctr" rotWithShape="0">
                    <a:srgbClr val="6E747A">
                      <a:alpha val="43000"/>
                    </a:srgbClr>
                  </a:outerShdw>
                </a:effectLst>
                <a:latin typeface="74,Bold"/>
              </a:rPr>
              <a:t>GPT (117M parameters): </a:t>
            </a:r>
            <a:r>
              <a:rPr lang="en-HK" sz="1800" dirty="0">
                <a:ln w="0"/>
                <a:solidFill>
                  <a:schemeClr val="tx1"/>
                </a:solidFill>
                <a:effectLst>
                  <a:outerShdw blurRad="38100" dist="25400" dir="5400000" algn="ctr" rotWithShape="0">
                    <a:srgbClr val="6E747A">
                      <a:alpha val="43000"/>
                    </a:srgbClr>
                  </a:outerShdw>
                </a:effectLst>
                <a:latin typeface="73"/>
              </a:rPr>
              <a:t>The first model is to be trained in a “generative” mode by masking portions of input text from left to right</a:t>
            </a:r>
            <a:endParaRPr lang="en-HK" dirty="0">
              <a:ln w="0"/>
              <a:solidFill>
                <a:schemeClr val="tx1"/>
              </a:solidFill>
              <a:effectLst>
                <a:outerShdw blurRad="38100" dist="25400" dir="5400000" algn="ctr" rotWithShape="0">
                  <a:srgbClr val="6E747A">
                    <a:alpha val="43000"/>
                  </a:srgbClr>
                </a:outerShdw>
              </a:effectLst>
            </a:endParaRPr>
          </a:p>
        </p:txBody>
      </p:sp>
      <p:sp>
        <p:nvSpPr>
          <p:cNvPr id="9" name="TextBox 8">
            <a:extLst>
              <a:ext uri="{FF2B5EF4-FFF2-40B4-BE49-F238E27FC236}">
                <a16:creationId xmlns:a16="http://schemas.microsoft.com/office/drawing/2014/main" id="{30CC20A5-30B0-B80E-8307-5D622D23CAE6}"/>
              </a:ext>
            </a:extLst>
          </p:cNvPr>
          <p:cNvSpPr txBox="1"/>
          <p:nvPr/>
        </p:nvSpPr>
        <p:spPr>
          <a:xfrm>
            <a:off x="1693328" y="3921860"/>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err="1"/>
              <a:t>InstructGPT</a:t>
            </a:r>
            <a:r>
              <a:rPr lang="en-HK" dirty="0"/>
              <a:t>: Instruction-tuned models understand human inputs as instructions; the path to ChatGPT is paved</a:t>
            </a:r>
            <a:endParaRPr lang="en-US" dirty="0"/>
          </a:p>
        </p:txBody>
      </p:sp>
      <p:sp>
        <p:nvSpPr>
          <p:cNvPr id="10" name="Rounded Rectangle 9">
            <a:extLst>
              <a:ext uri="{FF2B5EF4-FFF2-40B4-BE49-F238E27FC236}">
                <a16:creationId xmlns:a16="http://schemas.microsoft.com/office/drawing/2014/main" id="{CBB52F82-CD00-CC5D-18F3-92A5AEAF78FA}"/>
              </a:ext>
            </a:extLst>
          </p:cNvPr>
          <p:cNvSpPr/>
          <p:nvPr/>
        </p:nvSpPr>
        <p:spPr>
          <a:xfrm>
            <a:off x="838196" y="1547984"/>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2018</a:t>
            </a:r>
          </a:p>
        </p:txBody>
      </p:sp>
      <p:sp>
        <p:nvSpPr>
          <p:cNvPr id="11" name="Rounded Rectangle 10">
            <a:extLst>
              <a:ext uri="{FF2B5EF4-FFF2-40B4-BE49-F238E27FC236}">
                <a16:creationId xmlns:a16="http://schemas.microsoft.com/office/drawing/2014/main" id="{E2464077-9C6E-A98F-59C5-7DC11D44F690}"/>
              </a:ext>
            </a:extLst>
          </p:cNvPr>
          <p:cNvSpPr/>
          <p:nvPr/>
        </p:nvSpPr>
        <p:spPr>
          <a:xfrm>
            <a:off x="838196" y="2320620"/>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2019</a:t>
            </a:r>
          </a:p>
        </p:txBody>
      </p:sp>
      <p:sp>
        <p:nvSpPr>
          <p:cNvPr id="12" name="Rounded Rectangle 11">
            <a:extLst>
              <a:ext uri="{FF2B5EF4-FFF2-40B4-BE49-F238E27FC236}">
                <a16:creationId xmlns:a16="http://schemas.microsoft.com/office/drawing/2014/main" id="{B1B9E5BC-5216-68DA-5030-C2FA508CE260}"/>
              </a:ext>
            </a:extLst>
          </p:cNvPr>
          <p:cNvSpPr/>
          <p:nvPr/>
        </p:nvSpPr>
        <p:spPr>
          <a:xfrm>
            <a:off x="838196" y="3117199"/>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2020</a:t>
            </a:r>
          </a:p>
        </p:txBody>
      </p:sp>
      <p:sp>
        <p:nvSpPr>
          <p:cNvPr id="14" name="TextBox 13">
            <a:extLst>
              <a:ext uri="{FF2B5EF4-FFF2-40B4-BE49-F238E27FC236}">
                <a16:creationId xmlns:a16="http://schemas.microsoft.com/office/drawing/2014/main" id="{FE547E7C-7453-0502-8184-21E5923F77AD}"/>
              </a:ext>
            </a:extLst>
          </p:cNvPr>
          <p:cNvSpPr txBox="1"/>
          <p:nvPr/>
        </p:nvSpPr>
        <p:spPr>
          <a:xfrm>
            <a:off x="1693329" y="2363083"/>
            <a:ext cx="9592733"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GPT-2 (1.5B parameters): The era of prompting begins. Models are relatively small, open-source and fine-tuning is possible </a:t>
            </a:r>
          </a:p>
        </p:txBody>
      </p:sp>
      <p:sp>
        <p:nvSpPr>
          <p:cNvPr id="15" name="Rounded Rectangle 14">
            <a:extLst>
              <a:ext uri="{FF2B5EF4-FFF2-40B4-BE49-F238E27FC236}">
                <a16:creationId xmlns:a16="http://schemas.microsoft.com/office/drawing/2014/main" id="{EF744668-FAF3-B62E-2DB4-44CA44DF4CBD}"/>
              </a:ext>
            </a:extLst>
          </p:cNvPr>
          <p:cNvSpPr/>
          <p:nvPr/>
        </p:nvSpPr>
        <p:spPr>
          <a:xfrm>
            <a:off x="833961" y="4667878"/>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2023</a:t>
            </a:r>
          </a:p>
        </p:txBody>
      </p:sp>
      <p:sp>
        <p:nvSpPr>
          <p:cNvPr id="17" name="TextBox 16">
            <a:extLst>
              <a:ext uri="{FF2B5EF4-FFF2-40B4-BE49-F238E27FC236}">
                <a16:creationId xmlns:a16="http://schemas.microsoft.com/office/drawing/2014/main" id="{92CF0CBB-1ED9-7679-3580-555B3CFC37D4}"/>
              </a:ext>
            </a:extLst>
          </p:cNvPr>
          <p:cNvSpPr txBox="1"/>
          <p:nvPr/>
        </p:nvSpPr>
        <p:spPr>
          <a:xfrm>
            <a:off x="1693329" y="3138453"/>
            <a:ext cx="9592732"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GPT-3 (175B parameters): Large-scale foundation models are born. Prompting is shown to induce robust performance on natural language tasks</a:t>
            </a:r>
          </a:p>
        </p:txBody>
      </p:sp>
      <p:sp>
        <p:nvSpPr>
          <p:cNvPr id="18" name="Rounded Rectangle 17">
            <a:extLst>
              <a:ext uri="{FF2B5EF4-FFF2-40B4-BE49-F238E27FC236}">
                <a16:creationId xmlns:a16="http://schemas.microsoft.com/office/drawing/2014/main" id="{402B890A-51E2-44DB-1485-C22020D2C539}"/>
              </a:ext>
            </a:extLst>
          </p:cNvPr>
          <p:cNvSpPr/>
          <p:nvPr/>
        </p:nvSpPr>
        <p:spPr>
          <a:xfrm>
            <a:off x="833961" y="3895242"/>
            <a:ext cx="787400" cy="7016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2022</a:t>
            </a:r>
          </a:p>
        </p:txBody>
      </p:sp>
      <p:sp>
        <p:nvSpPr>
          <p:cNvPr id="20" name="TextBox 19">
            <a:extLst>
              <a:ext uri="{FF2B5EF4-FFF2-40B4-BE49-F238E27FC236}">
                <a16:creationId xmlns:a16="http://schemas.microsoft.com/office/drawing/2014/main" id="{A68F7DB7-F643-C7CD-EA76-81829808BB22}"/>
              </a:ext>
            </a:extLst>
          </p:cNvPr>
          <p:cNvSpPr txBox="1"/>
          <p:nvPr/>
        </p:nvSpPr>
        <p:spPr>
          <a:xfrm>
            <a:off x="1693327" y="4695527"/>
            <a:ext cx="9592731"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GPT-4 (1T parameters?): Era of completely closed models begins; API access only</a:t>
            </a:r>
          </a:p>
          <a:p>
            <a:endParaRPr lang="en-HK" dirty="0"/>
          </a:p>
        </p:txBody>
      </p:sp>
      <p:sp>
        <p:nvSpPr>
          <p:cNvPr id="22" name="TextBox 21">
            <a:extLst>
              <a:ext uri="{FF2B5EF4-FFF2-40B4-BE49-F238E27FC236}">
                <a16:creationId xmlns:a16="http://schemas.microsoft.com/office/drawing/2014/main" id="{9E9C4474-251D-D429-8AB9-2F9E9FB3363D}"/>
              </a:ext>
            </a:extLst>
          </p:cNvPr>
          <p:cNvSpPr txBox="1"/>
          <p:nvPr/>
        </p:nvSpPr>
        <p:spPr>
          <a:xfrm>
            <a:off x="833965" y="814837"/>
            <a:ext cx="10452097" cy="646331"/>
          </a:xfrm>
          <a:prstGeom prst="rect">
            <a:avLst/>
          </a:prstGeom>
          <a:noFill/>
        </p:spPr>
        <p:txBody>
          <a:bodyPr wrap="square">
            <a:spAutoFit/>
          </a:bodyPr>
          <a:lstStyle/>
          <a:p>
            <a:r>
              <a:rPr lang="en-HK" dirty="0">
                <a:highlight>
                  <a:srgbClr val="FFFFFF"/>
                </a:highlight>
                <a:latin typeface="75,Italic"/>
              </a:rPr>
              <a:t>New Era of AI started in Nov 2022</a:t>
            </a:r>
            <a:r>
              <a:rPr lang="en-HK" sz="1800" dirty="0">
                <a:effectLst/>
                <a:highlight>
                  <a:srgbClr val="FFFFFF"/>
                </a:highlight>
                <a:latin typeface="75,Italic"/>
              </a:rPr>
              <a:t> with the Launch of Open AI GPT 3.5 since then AI has been evolving to be AI assistants </a:t>
            </a:r>
            <a:endParaRPr lang="en-HK" dirty="0">
              <a:effectLst/>
              <a:highlight>
                <a:srgbClr val="FFFFFF"/>
              </a:highlight>
            </a:endParaRPr>
          </a:p>
        </p:txBody>
      </p:sp>
      <p:sp>
        <p:nvSpPr>
          <p:cNvPr id="23" name="Rounded Rectangle 22">
            <a:extLst>
              <a:ext uri="{FF2B5EF4-FFF2-40B4-BE49-F238E27FC236}">
                <a16:creationId xmlns:a16="http://schemas.microsoft.com/office/drawing/2014/main" id="{6C8B0C30-E4CD-87C0-D383-0B1B24041657}"/>
              </a:ext>
            </a:extLst>
          </p:cNvPr>
          <p:cNvSpPr/>
          <p:nvPr/>
        </p:nvSpPr>
        <p:spPr>
          <a:xfrm>
            <a:off x="833961" y="5440890"/>
            <a:ext cx="787400" cy="9509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2024</a:t>
            </a:r>
          </a:p>
        </p:txBody>
      </p:sp>
      <p:sp>
        <p:nvSpPr>
          <p:cNvPr id="24" name="TextBox 23">
            <a:extLst>
              <a:ext uri="{FF2B5EF4-FFF2-40B4-BE49-F238E27FC236}">
                <a16:creationId xmlns:a16="http://schemas.microsoft.com/office/drawing/2014/main" id="{12E393E3-A8EA-48A3-1741-2BE5B826A553}"/>
              </a:ext>
            </a:extLst>
          </p:cNvPr>
          <p:cNvSpPr txBox="1"/>
          <p:nvPr/>
        </p:nvSpPr>
        <p:spPr>
          <a:xfrm>
            <a:off x="1693327" y="5468540"/>
            <a:ext cx="9592731"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ln w="0"/>
                <a:solidFill>
                  <a:schemeClr val="dk1"/>
                </a:solidFill>
                <a:effectLst>
                  <a:outerShdw blurRad="38100" dist="25400" dir="5400000" algn="ctr" rotWithShape="0">
                    <a:srgbClr val="6E747A">
                      <a:alpha val="43000"/>
                    </a:srgbClr>
                  </a:outerShdw>
                </a:effectLst>
                <a:latin typeface="74,Bold"/>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HK" dirty="0"/>
              <a:t>GPT-4O (SORA, GEMINI Pro 1.5): </a:t>
            </a:r>
            <a:r>
              <a:rPr lang="en-US" dirty="0"/>
              <a:t>(SORA, The era of multi-modal and highly </a:t>
            </a:r>
            <a:r>
              <a:rPr lang="en-US" dirty="0" err="1"/>
              <a:t>specialised</a:t>
            </a:r>
            <a:r>
              <a:rPr lang="en-US" dirty="0"/>
              <a:t> AI models. Enhanced integration with various data types (text, image, video, audio) and fine-tuned for specific applications and industries.</a:t>
            </a:r>
            <a:endParaRPr lang="en-HK" dirty="0"/>
          </a:p>
        </p:txBody>
      </p:sp>
    </p:spTree>
    <p:extLst>
      <p:ext uri="{BB962C8B-B14F-4D97-AF65-F5344CB8AC3E}">
        <p14:creationId xmlns:p14="http://schemas.microsoft.com/office/powerpoint/2010/main" val="3709707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10CC6B-3D4D-26F2-D184-58A5B753FDE6}"/>
              </a:ext>
            </a:extLst>
          </p:cNvPr>
          <p:cNvSpPr txBox="1"/>
          <p:nvPr/>
        </p:nvSpPr>
        <p:spPr>
          <a:xfrm>
            <a:off x="566467" y="1342599"/>
            <a:ext cx="10023895" cy="5355312"/>
          </a:xfrm>
          <a:prstGeom prst="rect">
            <a:avLst/>
          </a:prstGeom>
          <a:noFill/>
        </p:spPr>
        <p:txBody>
          <a:bodyPr wrap="square">
            <a:spAutoFit/>
          </a:bodyPr>
          <a:lstStyle/>
          <a:p>
            <a:r>
              <a:rPr lang="en-US"/>
              <a:t>GPT-1 (117M parameters): This model marks a significant milestone as the first to be trained in a 'generative' mode, a technique that involves masking portions of input text from left to right. This approach sets the foundation for the evolution of subsequent models.</a:t>
            </a:r>
          </a:p>
          <a:p>
            <a:endParaRPr lang="en-US"/>
          </a:p>
          <a:p>
            <a:r>
              <a:rPr lang="en-US"/>
              <a:t>GPT-2 (1.5B parameters): Th is model marks a transition to 'prompting,' a technique that allows for more interactive and specific responses. With relatively small and open-source models, fine-tuning becomes possible, opening up new possibilities in the field.</a:t>
            </a:r>
          </a:p>
          <a:p>
            <a:endParaRPr lang="en-US"/>
          </a:p>
          <a:p>
            <a:r>
              <a:rPr lang="en-US"/>
              <a:t>GPT-3 (175B parameters): Large-scale foundation models are born. Prompting is shown to induce robust performance on natural language tasks.</a:t>
            </a:r>
          </a:p>
          <a:p>
            <a:endParaRPr lang="en-US"/>
          </a:p>
          <a:p>
            <a:r>
              <a:rPr lang="en-US"/>
              <a:t>InstructGPT: Instruction-tuned models understand human inputs as instructions; the path to ChatGPT is paved.</a:t>
            </a:r>
          </a:p>
          <a:p>
            <a:endParaRPr lang="en-US"/>
          </a:p>
          <a:p>
            <a:r>
              <a:rPr lang="en-US"/>
              <a:t>GPT-4 (1T parameters?): Era of completely closed models begins; API access only.</a:t>
            </a:r>
          </a:p>
          <a:p>
            <a:endParaRPr lang="en-US"/>
          </a:p>
          <a:p>
            <a:r>
              <a:rPr lang="en-US"/>
              <a:t>GPT-4O (SORA, GEMINI Pro 1.5): The era of multi-modal and highly specialised AI models. Enhanced integration with various data types (text, image, video, audio) and fine-tuned for specific applications and industries.</a:t>
            </a:r>
            <a:endParaRPr lang="en-US" dirty="0"/>
          </a:p>
        </p:txBody>
      </p:sp>
      <p:sp>
        <p:nvSpPr>
          <p:cNvPr id="6" name="Title 1">
            <a:extLst>
              <a:ext uri="{FF2B5EF4-FFF2-40B4-BE49-F238E27FC236}">
                <a16:creationId xmlns:a16="http://schemas.microsoft.com/office/drawing/2014/main" id="{1593D0E4-9B30-6F0B-D2A5-B11084389CC0}"/>
              </a:ext>
            </a:extLst>
          </p:cNvPr>
          <p:cNvSpPr>
            <a:spLocks noGrp="1"/>
          </p:cNvSpPr>
          <p:nvPr>
            <p:ph type="title"/>
          </p:nvPr>
        </p:nvSpPr>
        <p:spPr>
          <a:xfrm>
            <a:off x="566467" y="34506"/>
            <a:ext cx="10515600" cy="1142544"/>
          </a:xfrm>
        </p:spPr>
        <p:txBody>
          <a:bodyPr/>
          <a:lstStyle/>
          <a:p>
            <a:r>
              <a:rPr lang="en-US" sz="4400">
                <a:latin typeface=""/>
                <a:cs typeface="Arial" panose="020B0604020202020204" pitchFamily="34" charset="0"/>
              </a:rPr>
              <a:t>Large Language Models (LLMs)</a:t>
            </a:r>
            <a:endParaRPr lang="en-US" dirty="0"/>
          </a:p>
        </p:txBody>
      </p:sp>
      <p:sp>
        <p:nvSpPr>
          <p:cNvPr id="8" name="TextBox 7">
            <a:extLst>
              <a:ext uri="{FF2B5EF4-FFF2-40B4-BE49-F238E27FC236}">
                <a16:creationId xmlns:a16="http://schemas.microsoft.com/office/drawing/2014/main" id="{F49FA722-1715-4D5F-9C06-88100D384D7F}"/>
              </a:ext>
            </a:extLst>
          </p:cNvPr>
          <p:cNvSpPr txBox="1"/>
          <p:nvPr/>
        </p:nvSpPr>
        <p:spPr>
          <a:xfrm>
            <a:off x="566467" y="942489"/>
            <a:ext cx="6098874" cy="400110"/>
          </a:xfrm>
          <a:prstGeom prst="rect">
            <a:avLst/>
          </a:prstGeom>
          <a:noFill/>
        </p:spPr>
        <p:txBody>
          <a:bodyPr wrap="square">
            <a:spAutoFit/>
          </a:bodyPr>
          <a:lstStyle/>
          <a:p>
            <a:r>
              <a:rPr lang="en-US" sz="2000"/>
              <a:t>The Evolution of AI Assistants: From GPT-1 to GPT-4o</a:t>
            </a:r>
            <a:endParaRPr lang="en-US" sz="2000" dirty="0"/>
          </a:p>
        </p:txBody>
      </p:sp>
    </p:spTree>
    <p:extLst>
      <p:ext uri="{BB962C8B-B14F-4D97-AF65-F5344CB8AC3E}">
        <p14:creationId xmlns:p14="http://schemas.microsoft.com/office/powerpoint/2010/main" val="352817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a:latin typeface=""/>
                <a:cs typeface="Arial" panose="020B0604020202020204" pitchFamily="34" charset="0"/>
              </a:rPr>
              <a:t>Accessing Large Language Models (LLMs) </a:t>
            </a:r>
            <a:endParaRPr lang="en-US" sz="410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2" y="1926266"/>
            <a:ext cx="10506455" cy="646331"/>
          </a:xfrm>
          <a:prstGeom prst="rect">
            <a:avLst/>
          </a:prstGeom>
          <a:noFill/>
        </p:spPr>
        <p:txBody>
          <a:bodyPr wrap="square">
            <a:spAutoFit/>
          </a:bodyPr>
          <a:lstStyle/>
          <a:p>
            <a:r>
              <a:rPr lang="en-HK" sz="1800" dirty="0">
                <a:solidFill>
                  <a:srgbClr val="7C7C7C"/>
                </a:solidFill>
                <a:effectLst/>
                <a:highlight>
                  <a:srgbClr val="FFFFFF"/>
                </a:highlight>
                <a:latin typeface="71,Italic"/>
              </a:rPr>
              <a:t>LLMs (both paid and open source) can be accessed either through public cloud providers, LLM vendors or using self-hosted company servers. </a:t>
            </a:r>
            <a:endParaRPr lang="en-HK" sz="1600" dirty="0">
              <a:effectLst/>
              <a:highlight>
                <a:srgbClr val="FFFFFF"/>
              </a:highlight>
            </a:endParaRPr>
          </a:p>
        </p:txBody>
      </p:sp>
      <p:sp>
        <p:nvSpPr>
          <p:cNvPr id="10" name="Rounded Rectangle 9">
            <a:extLst>
              <a:ext uri="{FF2B5EF4-FFF2-40B4-BE49-F238E27FC236}">
                <a16:creationId xmlns:a16="http://schemas.microsoft.com/office/drawing/2014/main" id="{1EC313D6-C4EE-8575-AA0E-0DD6B66EEE88}"/>
              </a:ext>
            </a:extLst>
          </p:cNvPr>
          <p:cNvSpPr/>
          <p:nvPr/>
        </p:nvSpPr>
        <p:spPr>
          <a:xfrm>
            <a:off x="1517846" y="4236417"/>
            <a:ext cx="1164201" cy="526774"/>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LLMs</a:t>
            </a:r>
          </a:p>
        </p:txBody>
      </p:sp>
      <p:sp>
        <p:nvSpPr>
          <p:cNvPr id="13" name="Rectangle 12">
            <a:extLst>
              <a:ext uri="{FF2B5EF4-FFF2-40B4-BE49-F238E27FC236}">
                <a16:creationId xmlns:a16="http://schemas.microsoft.com/office/drawing/2014/main" id="{B28D68EC-EFE9-C277-E060-34CBC69CC373}"/>
              </a:ext>
            </a:extLst>
          </p:cNvPr>
          <p:cNvSpPr/>
          <p:nvPr/>
        </p:nvSpPr>
        <p:spPr>
          <a:xfrm>
            <a:off x="4892356" y="2634019"/>
            <a:ext cx="4011452" cy="1379863"/>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13">
            <a:extLst>
              <a:ext uri="{FF2B5EF4-FFF2-40B4-BE49-F238E27FC236}">
                <a16:creationId xmlns:a16="http://schemas.microsoft.com/office/drawing/2014/main" id="{2ACCCF85-B00A-EECF-39C6-10D87CFF4A49}"/>
              </a:ext>
            </a:extLst>
          </p:cNvPr>
          <p:cNvSpPr txBox="1"/>
          <p:nvPr/>
        </p:nvSpPr>
        <p:spPr>
          <a:xfrm>
            <a:off x="6166798" y="2761107"/>
            <a:ext cx="2571986" cy="1200329"/>
          </a:xfrm>
          <a:prstGeom prst="rect">
            <a:avLst/>
          </a:prstGeom>
          <a:solidFill>
            <a:schemeClr val="bg2">
              <a:lumMod val="90000"/>
            </a:schemeClr>
          </a:solidFill>
        </p:spPr>
        <p:txBody>
          <a:bodyPr wrap="none" rtlCol="0">
            <a:spAutoFit/>
          </a:bodyPr>
          <a:lstStyle/>
          <a:p>
            <a:r>
              <a:rPr lang="en-US" dirty="0"/>
              <a:t>Google: Gemini</a:t>
            </a:r>
          </a:p>
          <a:p>
            <a:r>
              <a:rPr lang="en-US" dirty="0"/>
              <a:t>Open AI: GPT-3.5, GPT-4</a:t>
            </a:r>
          </a:p>
          <a:p>
            <a:r>
              <a:rPr lang="en-US" dirty="0"/>
              <a:t>Anthropic: Claude</a:t>
            </a:r>
          </a:p>
          <a:p>
            <a:r>
              <a:rPr lang="en-US" dirty="0"/>
              <a:t>Cohere: Command</a:t>
            </a:r>
          </a:p>
        </p:txBody>
      </p:sp>
      <p:sp>
        <p:nvSpPr>
          <p:cNvPr id="11" name="Rounded Rectangle 10">
            <a:extLst>
              <a:ext uri="{FF2B5EF4-FFF2-40B4-BE49-F238E27FC236}">
                <a16:creationId xmlns:a16="http://schemas.microsoft.com/office/drawing/2014/main" id="{69EAEF1C-BC42-BB92-5F2E-C97279406E5E}"/>
              </a:ext>
            </a:extLst>
          </p:cNvPr>
          <p:cNvSpPr/>
          <p:nvPr/>
        </p:nvSpPr>
        <p:spPr>
          <a:xfrm>
            <a:off x="4310256" y="3135605"/>
            <a:ext cx="1164201" cy="526774"/>
          </a:xfrm>
          <a:prstGeom prst="roundRect">
            <a:avLst>
              <a:gd name="adj" fmla="val 488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Paid</a:t>
            </a:r>
          </a:p>
        </p:txBody>
      </p:sp>
      <p:sp>
        <p:nvSpPr>
          <p:cNvPr id="15" name="Rectangle 14">
            <a:extLst>
              <a:ext uri="{FF2B5EF4-FFF2-40B4-BE49-F238E27FC236}">
                <a16:creationId xmlns:a16="http://schemas.microsoft.com/office/drawing/2014/main" id="{7FCEB419-7B84-5E1D-BC9A-5DDB610AAFE8}"/>
              </a:ext>
            </a:extLst>
          </p:cNvPr>
          <p:cNvSpPr/>
          <p:nvPr/>
        </p:nvSpPr>
        <p:spPr>
          <a:xfrm>
            <a:off x="4892356" y="4788206"/>
            <a:ext cx="4011452" cy="1563454"/>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78C2AC31-AE40-F934-B5D7-056E0A6E50FD}"/>
              </a:ext>
            </a:extLst>
          </p:cNvPr>
          <p:cNvSpPr txBox="1"/>
          <p:nvPr/>
        </p:nvSpPr>
        <p:spPr>
          <a:xfrm>
            <a:off x="6166798" y="5257861"/>
            <a:ext cx="2671693" cy="646331"/>
          </a:xfrm>
          <a:prstGeom prst="rect">
            <a:avLst/>
          </a:prstGeom>
          <a:solidFill>
            <a:schemeClr val="bg2">
              <a:lumMod val="90000"/>
            </a:schemeClr>
          </a:solidFill>
        </p:spPr>
        <p:txBody>
          <a:bodyPr wrap="square" rtlCol="0">
            <a:spAutoFit/>
          </a:bodyPr>
          <a:lstStyle/>
          <a:p>
            <a:r>
              <a:rPr lang="en-US" dirty="0"/>
              <a:t>Meta AI: Llama</a:t>
            </a:r>
          </a:p>
          <a:p>
            <a:r>
              <a:rPr lang="en-US" dirty="0"/>
              <a:t>Mistral AI: Mistral, </a:t>
            </a:r>
            <a:r>
              <a:rPr lang="en-US" dirty="0" err="1"/>
              <a:t>Mixtral</a:t>
            </a:r>
            <a:endParaRPr lang="en-US" dirty="0"/>
          </a:p>
        </p:txBody>
      </p:sp>
      <p:sp>
        <p:nvSpPr>
          <p:cNvPr id="12" name="Rounded Rectangle 11">
            <a:extLst>
              <a:ext uri="{FF2B5EF4-FFF2-40B4-BE49-F238E27FC236}">
                <a16:creationId xmlns:a16="http://schemas.microsoft.com/office/drawing/2014/main" id="{561438E3-EA99-B810-9816-8CC5E3CD5B16}"/>
              </a:ext>
            </a:extLst>
          </p:cNvPr>
          <p:cNvSpPr/>
          <p:nvPr/>
        </p:nvSpPr>
        <p:spPr>
          <a:xfrm>
            <a:off x="4310256" y="5257861"/>
            <a:ext cx="1781058" cy="64633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Open Source</a:t>
            </a:r>
          </a:p>
        </p:txBody>
      </p:sp>
      <p:pic>
        <p:nvPicPr>
          <p:cNvPr id="3077" name="Picture 5" descr="Azure icon PNG and SVG Vector Free Download">
            <a:extLst>
              <a:ext uri="{FF2B5EF4-FFF2-40B4-BE49-F238E27FC236}">
                <a16:creationId xmlns:a16="http://schemas.microsoft.com/office/drawing/2014/main" id="{79D1BC3F-1992-64F4-7C92-E472620C3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371" y="3004534"/>
            <a:ext cx="646331" cy="646331"/>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Aws Logo Icon - Free Download Logos Logo Icons | IconScout">
            <a:extLst>
              <a:ext uri="{FF2B5EF4-FFF2-40B4-BE49-F238E27FC236}">
                <a16:creationId xmlns:a16="http://schemas.microsoft.com/office/drawing/2014/main" id="{4E4335DB-E187-6A81-6615-F57CEADC5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1265" y="2968678"/>
            <a:ext cx="830619" cy="830619"/>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descr="Google Cloud&quot; Icon - Download for free – Iconduck">
            <a:extLst>
              <a:ext uri="{FF2B5EF4-FFF2-40B4-BE49-F238E27FC236}">
                <a16:creationId xmlns:a16="http://schemas.microsoft.com/office/drawing/2014/main" id="{032B95B2-E316-0CF1-B0DD-A3BF63048C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9588" y="3000783"/>
            <a:ext cx="804175" cy="646332"/>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descr="Anyscale | Scalable Compute for AI and Python">
            <a:extLst>
              <a:ext uri="{FF2B5EF4-FFF2-40B4-BE49-F238E27FC236}">
                <a16:creationId xmlns:a16="http://schemas.microsoft.com/office/drawing/2014/main" id="{2AD897BA-A54E-CD83-52F3-F5D68174E4B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309" t="7650" r="19289" b="7383"/>
          <a:stretch/>
        </p:blipFill>
        <p:spPr bwMode="auto">
          <a:xfrm>
            <a:off x="8979292" y="5129352"/>
            <a:ext cx="954869" cy="88115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5" descr="Groq Logo &amp; Brand Assets (SVG, PNG and vector) - Brandfetch">
            <a:extLst>
              <a:ext uri="{FF2B5EF4-FFF2-40B4-BE49-F238E27FC236}">
                <a16:creationId xmlns:a16="http://schemas.microsoft.com/office/drawing/2014/main" id="{31DE3121-A88E-C1A0-EBAA-047FF3B411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3141" y="5319377"/>
            <a:ext cx="876857" cy="323341"/>
          </a:xfrm>
          <a:prstGeom prst="rect">
            <a:avLst/>
          </a:prstGeom>
          <a:noFill/>
          <a:extLst>
            <a:ext uri="{909E8E84-426E-40DD-AFC4-6F175D3DCCD1}">
              <a14:hiddenFill xmlns:a14="http://schemas.microsoft.com/office/drawing/2010/main">
                <a:solidFill>
                  <a:srgbClr val="FFFFFF"/>
                </a:solidFill>
              </a14:hiddenFill>
            </a:ext>
          </a:extLst>
        </p:spPr>
      </p:pic>
      <p:pic>
        <p:nvPicPr>
          <p:cNvPr id="3089" name="Picture 17" descr="Jobs at Together AI | Kleiner Perkins">
            <a:extLst>
              <a:ext uri="{FF2B5EF4-FFF2-40B4-BE49-F238E27FC236}">
                <a16:creationId xmlns:a16="http://schemas.microsoft.com/office/drawing/2014/main" id="{FC0B7B63-0F53-FAAD-ED71-94176EE0A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47706" y="5129352"/>
            <a:ext cx="1136586" cy="629252"/>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Curved Connector 29">
            <a:extLst>
              <a:ext uri="{FF2B5EF4-FFF2-40B4-BE49-F238E27FC236}">
                <a16:creationId xmlns:a16="http://schemas.microsoft.com/office/drawing/2014/main" id="{338B4243-059F-2329-D4B5-0727E4CC8743}"/>
              </a:ext>
            </a:extLst>
          </p:cNvPr>
          <p:cNvCxnSpPr>
            <a:stCxn id="10" idx="3"/>
            <a:endCxn id="11" idx="1"/>
          </p:cNvCxnSpPr>
          <p:nvPr/>
        </p:nvCxnSpPr>
        <p:spPr>
          <a:xfrm flipV="1">
            <a:off x="2682047" y="3398992"/>
            <a:ext cx="1628209" cy="110081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C9B59DCA-6A43-AE57-7FE4-FFCCD284C83B}"/>
              </a:ext>
            </a:extLst>
          </p:cNvPr>
          <p:cNvCxnSpPr>
            <a:cxnSpLocks/>
            <a:stCxn id="10" idx="3"/>
            <a:endCxn id="12" idx="1"/>
          </p:cNvCxnSpPr>
          <p:nvPr/>
        </p:nvCxnSpPr>
        <p:spPr>
          <a:xfrm>
            <a:off x="2682047" y="4499804"/>
            <a:ext cx="1628209" cy="108122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9312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1376917" y="1926266"/>
            <a:ext cx="9620470" cy="338875"/>
          </a:xfrm>
          <a:prstGeom prst="rect">
            <a:avLst/>
          </a:prstGeom>
          <a:noFill/>
        </p:spPr>
        <p:txBody>
          <a:bodyPr wrap="square">
            <a:spAutoFit/>
          </a:bodyPr>
          <a:lstStyle/>
          <a:p>
            <a:pPr defTabSz="813816">
              <a:spcAft>
                <a:spcPts val="600"/>
              </a:spcAft>
            </a:pPr>
            <a:r>
              <a:rPr lang="en-HK" sz="1602" kern="1200">
                <a:solidFill>
                  <a:srgbClr val="555555"/>
                </a:solidFill>
                <a:highlight>
                  <a:srgbClr val="FFFFFF"/>
                </a:highlight>
                <a:latin typeface="71,Italic"/>
                <a:ea typeface="+mn-ea"/>
                <a:cs typeface="+mn-cs"/>
              </a:rPr>
              <a:t>Anyscale provides fast access to a host of open-source large language models. </a:t>
            </a:r>
            <a:endParaRPr lang="en-HK">
              <a:effectLst/>
              <a:highlight>
                <a:srgbClr val="FFFFFF"/>
              </a:highlight>
            </a:endParaRPr>
          </a:p>
        </p:txBody>
      </p:sp>
      <p:pic>
        <p:nvPicPr>
          <p:cNvPr id="3073" name="Picture 1" descr="page10image58364384">
            <a:extLst>
              <a:ext uri="{FF2B5EF4-FFF2-40B4-BE49-F238E27FC236}">
                <a16:creationId xmlns:a16="http://schemas.microsoft.com/office/drawing/2014/main" id="{8ED6838E-BF98-A6D6-5BAB-2ECFAE98F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4612" y="2430527"/>
            <a:ext cx="2544608" cy="38532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age10image58366464">
            <a:extLst>
              <a:ext uri="{FF2B5EF4-FFF2-40B4-BE49-F238E27FC236}">
                <a16:creationId xmlns:a16="http://schemas.microsoft.com/office/drawing/2014/main" id="{4014175A-0DCB-8339-E44C-7DAF68A65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989" y="2812006"/>
            <a:ext cx="2487854" cy="38789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10image41518848">
            <a:extLst>
              <a:ext uri="{FF2B5EF4-FFF2-40B4-BE49-F238E27FC236}">
                <a16:creationId xmlns:a16="http://schemas.microsoft.com/office/drawing/2014/main" id="{0AB44408-5235-664D-1278-DEE217117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7597" y="2874241"/>
            <a:ext cx="923448" cy="13147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0ED1998-CCAB-A5B1-8014-4A6D4869A1C0}"/>
              </a:ext>
            </a:extLst>
          </p:cNvPr>
          <p:cNvSpPr txBox="1"/>
          <p:nvPr/>
        </p:nvSpPr>
        <p:spPr>
          <a:xfrm>
            <a:off x="4719421" y="3199897"/>
            <a:ext cx="6122995" cy="825930"/>
          </a:xfrm>
          <a:prstGeom prst="rect">
            <a:avLst/>
          </a:prstGeom>
          <a:noFill/>
        </p:spPr>
        <p:txBody>
          <a:bodyPr wrap="square">
            <a:spAutoFit/>
          </a:bodyPr>
          <a:lstStyle/>
          <a:p>
            <a:pPr defTabSz="813816">
              <a:spcAft>
                <a:spcPts val="600"/>
              </a:spcAft>
            </a:pPr>
            <a:r>
              <a:rPr lang="en-HK" sz="1602" kern="1200">
                <a:solidFill>
                  <a:srgbClr val="555555"/>
                </a:solidFill>
                <a:highlight>
                  <a:srgbClr val="FFFFFF"/>
                </a:highlight>
                <a:latin typeface="69"/>
                <a:ea typeface="+mn-ea"/>
                <a:cs typeface="+mn-cs"/>
              </a:rPr>
              <a:t>We use Mistral 7B Instruct and NeuralHermes 2.5 in this course. These models are priced at $ 0.15 per 1 million tokens. Both models have excellent reasoning capabilities and are popular enterprise-grade LLMs. </a:t>
            </a:r>
            <a:endParaRPr lang="en-HK">
              <a:effectLst/>
              <a:highlight>
                <a:srgbClr val="FFFFFF"/>
              </a:highlight>
            </a:endParaRPr>
          </a:p>
        </p:txBody>
      </p:sp>
      <p:pic>
        <p:nvPicPr>
          <p:cNvPr id="9" name="Picture 2" descr="page10image58366464">
            <a:extLst>
              <a:ext uri="{FF2B5EF4-FFF2-40B4-BE49-F238E27FC236}">
                <a16:creationId xmlns:a16="http://schemas.microsoft.com/office/drawing/2014/main" id="{D4055FEF-5A05-1E99-4419-0A1BD5C01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366" y="3969267"/>
            <a:ext cx="2487854" cy="38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88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1376917" y="1926266"/>
            <a:ext cx="9620470" cy="646331"/>
          </a:xfrm>
          <a:prstGeom prst="rect">
            <a:avLst/>
          </a:prstGeom>
          <a:noFill/>
        </p:spPr>
        <p:txBody>
          <a:bodyPr wrap="square">
            <a:spAutoFit/>
          </a:bodyPr>
          <a:lstStyle/>
          <a:p>
            <a:r>
              <a:rPr lang="en-HK" sz="1800" dirty="0">
                <a:effectLst/>
                <a:highlight>
                  <a:srgbClr val="FFFFFF"/>
                </a:highlight>
                <a:latin typeface="75,Italic"/>
              </a:rPr>
              <a:t>A token refers to a segment or piece of data, such as a word, punctuation, or other meaningful element, into which input text is divided for processing by the model. </a:t>
            </a:r>
            <a:endParaRPr lang="en-HK" sz="1600" dirty="0">
              <a:effectLst/>
              <a:highlight>
                <a:srgbClr val="FFFFFF"/>
              </a:highlight>
            </a:endParaRPr>
          </a:p>
        </p:txBody>
      </p:sp>
      <p:sp>
        <p:nvSpPr>
          <p:cNvPr id="3" name="Rectangle 2">
            <a:extLst>
              <a:ext uri="{FF2B5EF4-FFF2-40B4-BE49-F238E27FC236}">
                <a16:creationId xmlns:a16="http://schemas.microsoft.com/office/drawing/2014/main" id="{429B7824-71DC-AFEE-1DA7-EFFD19B099DC}"/>
              </a:ext>
            </a:extLst>
          </p:cNvPr>
          <p:cNvSpPr/>
          <p:nvPr/>
        </p:nvSpPr>
        <p:spPr>
          <a:xfrm>
            <a:off x="841248" y="2802835"/>
            <a:ext cx="7428109" cy="1498212"/>
          </a:xfrm>
          <a:prstGeom prst="rect">
            <a:avLst/>
          </a:prstGeom>
          <a:ln w="381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B2BBF4BE-0837-D761-E418-55B90EE7DD09}"/>
              </a:ext>
            </a:extLst>
          </p:cNvPr>
          <p:cNvSpPr txBox="1"/>
          <p:nvPr/>
        </p:nvSpPr>
        <p:spPr>
          <a:xfrm>
            <a:off x="865953" y="2890007"/>
            <a:ext cx="6313716" cy="369332"/>
          </a:xfrm>
          <a:prstGeom prst="rect">
            <a:avLst/>
          </a:prstGeom>
          <a:noFill/>
        </p:spPr>
        <p:txBody>
          <a:bodyPr wrap="none" rtlCol="0">
            <a:spAutoFit/>
          </a:bodyPr>
          <a:lstStyle/>
          <a:p>
            <a:r>
              <a:rPr lang="en-US" dirty="0">
                <a:solidFill>
                  <a:schemeClr val="bg2">
                    <a:lumMod val="50000"/>
                  </a:schemeClr>
                </a:solidFill>
              </a:rPr>
              <a:t>The movie was awesome. Overall, the experience was positive.</a:t>
            </a:r>
          </a:p>
        </p:txBody>
      </p:sp>
      <p:sp>
        <p:nvSpPr>
          <p:cNvPr id="5" name="TextBox 4">
            <a:extLst>
              <a:ext uri="{FF2B5EF4-FFF2-40B4-BE49-F238E27FC236}">
                <a16:creationId xmlns:a16="http://schemas.microsoft.com/office/drawing/2014/main" id="{BC66CD3E-5C12-1A0E-BCF8-5F51D08F4165}"/>
              </a:ext>
            </a:extLst>
          </p:cNvPr>
          <p:cNvSpPr txBox="1"/>
          <p:nvPr/>
        </p:nvSpPr>
        <p:spPr>
          <a:xfrm>
            <a:off x="880515" y="4429004"/>
            <a:ext cx="755373" cy="369332"/>
          </a:xfrm>
          <a:prstGeom prst="rect">
            <a:avLst/>
          </a:prstGeom>
          <a:solidFill>
            <a:schemeClr val="bg2"/>
          </a:solidFill>
          <a:ln>
            <a:noFill/>
          </a:ln>
        </p:spPr>
        <p:txBody>
          <a:bodyPr wrap="square" rtlCol="0">
            <a:spAutoFit/>
          </a:bodyPr>
          <a:lstStyle/>
          <a:p>
            <a:r>
              <a:rPr lang="en-US" dirty="0">
                <a:solidFill>
                  <a:schemeClr val="bg2">
                    <a:lumMod val="50000"/>
                  </a:schemeClr>
                </a:solidFill>
              </a:rPr>
              <a:t>Clear</a:t>
            </a:r>
          </a:p>
        </p:txBody>
      </p:sp>
      <p:sp>
        <p:nvSpPr>
          <p:cNvPr id="10" name="TextBox 9">
            <a:extLst>
              <a:ext uri="{FF2B5EF4-FFF2-40B4-BE49-F238E27FC236}">
                <a16:creationId xmlns:a16="http://schemas.microsoft.com/office/drawing/2014/main" id="{844B4878-F5D9-D610-67CD-2B923420514F}"/>
              </a:ext>
            </a:extLst>
          </p:cNvPr>
          <p:cNvSpPr txBox="1"/>
          <p:nvPr/>
        </p:nvSpPr>
        <p:spPr>
          <a:xfrm>
            <a:off x="1894307" y="4422376"/>
            <a:ext cx="1669773" cy="369332"/>
          </a:xfrm>
          <a:prstGeom prst="rect">
            <a:avLst/>
          </a:prstGeom>
          <a:solidFill>
            <a:schemeClr val="bg2"/>
          </a:solidFill>
          <a:ln>
            <a:noFill/>
          </a:ln>
        </p:spPr>
        <p:txBody>
          <a:bodyPr wrap="square" rtlCol="0">
            <a:spAutoFit/>
          </a:bodyPr>
          <a:lstStyle/>
          <a:p>
            <a:r>
              <a:rPr lang="en-US" dirty="0">
                <a:solidFill>
                  <a:schemeClr val="bg2">
                    <a:lumMod val="50000"/>
                  </a:schemeClr>
                </a:solidFill>
              </a:rPr>
              <a:t>Show example</a:t>
            </a:r>
          </a:p>
        </p:txBody>
      </p:sp>
      <p:sp>
        <p:nvSpPr>
          <p:cNvPr id="11" name="TextBox 10">
            <a:extLst>
              <a:ext uri="{FF2B5EF4-FFF2-40B4-BE49-F238E27FC236}">
                <a16:creationId xmlns:a16="http://schemas.microsoft.com/office/drawing/2014/main" id="{B63D2407-D82B-CB34-3B5C-F798BBEA3EB2}"/>
              </a:ext>
            </a:extLst>
          </p:cNvPr>
          <p:cNvSpPr txBox="1"/>
          <p:nvPr/>
        </p:nvSpPr>
        <p:spPr>
          <a:xfrm>
            <a:off x="865953" y="5001297"/>
            <a:ext cx="1028354" cy="369332"/>
          </a:xfrm>
          <a:prstGeom prst="rect">
            <a:avLst/>
          </a:prstGeom>
          <a:noFill/>
        </p:spPr>
        <p:txBody>
          <a:bodyPr wrap="square" rtlCol="0">
            <a:spAutoFit/>
          </a:bodyPr>
          <a:lstStyle/>
          <a:p>
            <a:r>
              <a:rPr lang="en-US" b="1" dirty="0"/>
              <a:t>Tokens</a:t>
            </a:r>
          </a:p>
        </p:txBody>
      </p:sp>
      <p:sp>
        <p:nvSpPr>
          <p:cNvPr id="12" name="TextBox 11">
            <a:extLst>
              <a:ext uri="{FF2B5EF4-FFF2-40B4-BE49-F238E27FC236}">
                <a16:creationId xmlns:a16="http://schemas.microsoft.com/office/drawing/2014/main" id="{38BB4500-555D-A0E0-06AE-9F18E8EB749E}"/>
              </a:ext>
            </a:extLst>
          </p:cNvPr>
          <p:cNvSpPr txBox="1"/>
          <p:nvPr/>
        </p:nvSpPr>
        <p:spPr>
          <a:xfrm>
            <a:off x="2535726" y="5001297"/>
            <a:ext cx="1505432" cy="369332"/>
          </a:xfrm>
          <a:prstGeom prst="rect">
            <a:avLst/>
          </a:prstGeom>
          <a:noFill/>
        </p:spPr>
        <p:txBody>
          <a:bodyPr wrap="square" rtlCol="0">
            <a:spAutoFit/>
          </a:bodyPr>
          <a:lstStyle/>
          <a:p>
            <a:r>
              <a:rPr lang="en-US" b="1" dirty="0"/>
              <a:t>Characters</a:t>
            </a:r>
          </a:p>
        </p:txBody>
      </p:sp>
      <p:sp>
        <p:nvSpPr>
          <p:cNvPr id="13" name="TextBox 12">
            <a:extLst>
              <a:ext uri="{FF2B5EF4-FFF2-40B4-BE49-F238E27FC236}">
                <a16:creationId xmlns:a16="http://schemas.microsoft.com/office/drawing/2014/main" id="{541ED14A-E5D0-4533-74A4-980F0781DF3E}"/>
              </a:ext>
            </a:extLst>
          </p:cNvPr>
          <p:cNvSpPr txBox="1"/>
          <p:nvPr/>
        </p:nvSpPr>
        <p:spPr>
          <a:xfrm>
            <a:off x="880516" y="5389342"/>
            <a:ext cx="1028354" cy="523220"/>
          </a:xfrm>
          <a:prstGeom prst="rect">
            <a:avLst/>
          </a:prstGeom>
          <a:noFill/>
        </p:spPr>
        <p:txBody>
          <a:bodyPr wrap="square" rtlCol="0">
            <a:spAutoFit/>
          </a:bodyPr>
          <a:lstStyle/>
          <a:p>
            <a:r>
              <a:rPr lang="en-US" sz="2800" dirty="0"/>
              <a:t>12</a:t>
            </a:r>
          </a:p>
        </p:txBody>
      </p:sp>
      <p:sp>
        <p:nvSpPr>
          <p:cNvPr id="14" name="TextBox 13">
            <a:extLst>
              <a:ext uri="{FF2B5EF4-FFF2-40B4-BE49-F238E27FC236}">
                <a16:creationId xmlns:a16="http://schemas.microsoft.com/office/drawing/2014/main" id="{854DB47B-7D15-A6B5-A701-8D26DE9AE68A}"/>
              </a:ext>
            </a:extLst>
          </p:cNvPr>
          <p:cNvSpPr txBox="1"/>
          <p:nvPr/>
        </p:nvSpPr>
        <p:spPr>
          <a:xfrm>
            <a:off x="2535726" y="5389342"/>
            <a:ext cx="1028354" cy="523220"/>
          </a:xfrm>
          <a:prstGeom prst="rect">
            <a:avLst/>
          </a:prstGeom>
          <a:noFill/>
        </p:spPr>
        <p:txBody>
          <a:bodyPr wrap="square" rtlCol="0">
            <a:spAutoFit/>
          </a:bodyPr>
          <a:lstStyle/>
          <a:p>
            <a:r>
              <a:rPr lang="en-US" sz="2800" dirty="0"/>
              <a:t>60</a:t>
            </a:r>
          </a:p>
        </p:txBody>
      </p:sp>
      <p:sp>
        <p:nvSpPr>
          <p:cNvPr id="15" name="Rectangle 14">
            <a:extLst>
              <a:ext uri="{FF2B5EF4-FFF2-40B4-BE49-F238E27FC236}">
                <a16:creationId xmlns:a16="http://schemas.microsoft.com/office/drawing/2014/main" id="{C3F0833B-0417-56EC-4104-63E0A7B27F57}"/>
              </a:ext>
            </a:extLst>
          </p:cNvPr>
          <p:cNvSpPr/>
          <p:nvPr/>
        </p:nvSpPr>
        <p:spPr>
          <a:xfrm>
            <a:off x="880515" y="5934811"/>
            <a:ext cx="7388842" cy="667157"/>
          </a:xfrm>
          <a:prstGeom prst="rect">
            <a:avLst/>
          </a:prstGeom>
          <a:solidFill>
            <a:srgbClr val="F8F6FC"/>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8762716E-5C8A-75BF-850E-C640333C9F9D}"/>
              </a:ext>
            </a:extLst>
          </p:cNvPr>
          <p:cNvSpPr txBox="1"/>
          <p:nvPr/>
        </p:nvSpPr>
        <p:spPr>
          <a:xfrm>
            <a:off x="884300" y="5968263"/>
            <a:ext cx="6717608" cy="369332"/>
          </a:xfrm>
          <a:prstGeom prst="rect">
            <a:avLst/>
          </a:prstGeom>
          <a:solidFill>
            <a:schemeClr val="lt1"/>
          </a:solidFill>
        </p:spPr>
        <p:txBody>
          <a:bodyPr wrap="none" rtlCol="0">
            <a:spAutoFit/>
          </a:bodyPr>
          <a:lstStyle/>
          <a:p>
            <a:r>
              <a:rPr lang="en-US" b="1" dirty="0">
                <a:solidFill>
                  <a:schemeClr val="bg1"/>
                </a:solidFill>
                <a:highlight>
                  <a:srgbClr val="800080"/>
                </a:highlight>
              </a:rPr>
              <a:t>The</a:t>
            </a:r>
            <a:r>
              <a:rPr lang="en-US" b="1" dirty="0">
                <a:solidFill>
                  <a:schemeClr val="bg1"/>
                </a:solidFill>
              </a:rPr>
              <a:t> </a:t>
            </a:r>
            <a:r>
              <a:rPr lang="en-US" b="1" dirty="0">
                <a:highlight>
                  <a:srgbClr val="00FF00"/>
                </a:highlight>
              </a:rPr>
              <a:t>movie</a:t>
            </a:r>
            <a:r>
              <a:rPr lang="en-US" b="1" dirty="0">
                <a:solidFill>
                  <a:schemeClr val="bg1"/>
                </a:solidFill>
              </a:rPr>
              <a:t> </a:t>
            </a:r>
            <a:r>
              <a:rPr lang="en-US" b="1" dirty="0">
                <a:highlight>
                  <a:srgbClr val="FFFF00"/>
                </a:highlight>
              </a:rPr>
              <a:t>was</a:t>
            </a:r>
            <a:r>
              <a:rPr lang="en-US" b="1" dirty="0">
                <a:solidFill>
                  <a:schemeClr val="bg1"/>
                </a:solidFill>
              </a:rPr>
              <a:t> </a:t>
            </a:r>
            <a:r>
              <a:rPr lang="en-US" b="1" dirty="0">
                <a:solidFill>
                  <a:schemeClr val="bg1"/>
                </a:solidFill>
                <a:highlight>
                  <a:srgbClr val="FF00FF"/>
                </a:highlight>
              </a:rPr>
              <a:t>awesome</a:t>
            </a:r>
            <a:r>
              <a:rPr lang="en-US" b="1" dirty="0">
                <a:highlight>
                  <a:srgbClr val="00FF00"/>
                </a:highlight>
              </a:rPr>
              <a:t>. </a:t>
            </a:r>
            <a:r>
              <a:rPr lang="en-US" b="1" dirty="0">
                <a:solidFill>
                  <a:schemeClr val="bg1"/>
                </a:solidFill>
                <a:highlight>
                  <a:srgbClr val="800080"/>
                </a:highlight>
              </a:rPr>
              <a:t>Overall</a:t>
            </a:r>
            <a:r>
              <a:rPr lang="en-US" b="1" dirty="0">
                <a:highlight>
                  <a:srgbClr val="00FF00"/>
                </a:highlight>
              </a:rPr>
              <a:t>, </a:t>
            </a:r>
            <a:r>
              <a:rPr lang="en-US" b="1" dirty="0">
                <a:highlight>
                  <a:srgbClr val="FFFF00"/>
                </a:highlight>
              </a:rPr>
              <a:t>the</a:t>
            </a:r>
            <a:r>
              <a:rPr lang="en-US" b="1" dirty="0">
                <a:solidFill>
                  <a:schemeClr val="bg1"/>
                </a:solidFill>
              </a:rPr>
              <a:t> </a:t>
            </a:r>
            <a:r>
              <a:rPr lang="en-US" b="1" dirty="0">
                <a:solidFill>
                  <a:schemeClr val="bg1"/>
                </a:solidFill>
                <a:highlight>
                  <a:srgbClr val="FF00FF"/>
                </a:highlight>
              </a:rPr>
              <a:t>experience</a:t>
            </a:r>
            <a:r>
              <a:rPr lang="en-US" b="1" dirty="0">
                <a:solidFill>
                  <a:schemeClr val="bg1"/>
                </a:solidFill>
              </a:rPr>
              <a:t> </a:t>
            </a:r>
            <a:r>
              <a:rPr lang="en-US" b="1" dirty="0">
                <a:highlight>
                  <a:srgbClr val="00FFFF"/>
                </a:highlight>
              </a:rPr>
              <a:t>was</a:t>
            </a:r>
            <a:r>
              <a:rPr lang="en-US" b="1" dirty="0">
                <a:solidFill>
                  <a:schemeClr val="bg1"/>
                </a:solidFill>
              </a:rPr>
              <a:t> </a:t>
            </a:r>
            <a:r>
              <a:rPr lang="en-US" b="1" dirty="0">
                <a:solidFill>
                  <a:schemeClr val="bg1"/>
                </a:solidFill>
                <a:highlight>
                  <a:srgbClr val="800080"/>
                </a:highlight>
              </a:rPr>
              <a:t>positive</a:t>
            </a:r>
            <a:r>
              <a:rPr lang="en-US" b="1" dirty="0">
                <a:solidFill>
                  <a:schemeClr val="bg1"/>
                </a:solidFill>
                <a:highlight>
                  <a:srgbClr val="00FF00"/>
                </a:highlight>
              </a:rPr>
              <a:t>.</a:t>
            </a:r>
          </a:p>
        </p:txBody>
      </p:sp>
      <p:sp>
        <p:nvSpPr>
          <p:cNvPr id="19" name="Rounded Rectangle 18">
            <a:extLst>
              <a:ext uri="{FF2B5EF4-FFF2-40B4-BE49-F238E27FC236}">
                <a16:creationId xmlns:a16="http://schemas.microsoft.com/office/drawing/2014/main" id="{D85AEDB4-8A2D-C653-E979-1C6DECB3D8CE}"/>
              </a:ext>
            </a:extLst>
          </p:cNvPr>
          <p:cNvSpPr/>
          <p:nvPr/>
        </p:nvSpPr>
        <p:spPr>
          <a:xfrm>
            <a:off x="9184510" y="4606248"/>
            <a:ext cx="1113183" cy="4972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t>LLM</a:t>
            </a:r>
          </a:p>
        </p:txBody>
      </p:sp>
      <p:cxnSp>
        <p:nvCxnSpPr>
          <p:cNvPr id="21" name="Curved Connector 20">
            <a:extLst>
              <a:ext uri="{FF2B5EF4-FFF2-40B4-BE49-F238E27FC236}">
                <a16:creationId xmlns:a16="http://schemas.microsoft.com/office/drawing/2014/main" id="{419A1686-2734-445D-B538-4C96ABC5BDDD}"/>
              </a:ext>
            </a:extLst>
          </p:cNvPr>
          <p:cNvCxnSpPr>
            <a:cxnSpLocks/>
            <a:stCxn id="3" idx="3"/>
            <a:endCxn id="19" idx="0"/>
          </p:cNvCxnSpPr>
          <p:nvPr/>
        </p:nvCxnSpPr>
        <p:spPr>
          <a:xfrm>
            <a:off x="8269357" y="3551941"/>
            <a:ext cx="1471745" cy="1054307"/>
          </a:xfrm>
          <a:prstGeom prst="curvedConnector2">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D0F46149-713E-896E-A1C0-5198F74E433A}"/>
              </a:ext>
            </a:extLst>
          </p:cNvPr>
          <p:cNvCxnSpPr>
            <a:cxnSpLocks/>
            <a:stCxn id="19" idx="2"/>
            <a:endCxn id="15" idx="3"/>
          </p:cNvCxnSpPr>
          <p:nvPr/>
        </p:nvCxnSpPr>
        <p:spPr>
          <a:xfrm rot="5400000">
            <a:off x="8422804" y="4950091"/>
            <a:ext cx="1164853" cy="1471745"/>
          </a:xfrm>
          <a:prstGeom prst="curvedConnector2">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CCB6918-9574-58F9-DF00-6725FEFCBB38}"/>
              </a:ext>
            </a:extLst>
          </p:cNvPr>
          <p:cNvSpPr txBox="1"/>
          <p:nvPr/>
        </p:nvSpPr>
        <p:spPr>
          <a:xfrm>
            <a:off x="10323444" y="4577167"/>
            <a:ext cx="1997765" cy="646331"/>
          </a:xfrm>
          <a:prstGeom prst="rect">
            <a:avLst/>
          </a:prstGeom>
          <a:noFill/>
        </p:spPr>
        <p:txBody>
          <a:bodyPr wrap="square">
            <a:spAutoFit/>
          </a:bodyPr>
          <a:lstStyle/>
          <a:p>
            <a:r>
              <a:rPr lang="en-HK" sz="1800" dirty="0">
                <a:effectLst/>
                <a:highlight>
                  <a:srgbClr val="FFFFFF"/>
                </a:highlight>
                <a:latin typeface="73"/>
              </a:rPr>
              <a:t>Parses sentences as tokens </a:t>
            </a:r>
            <a:endParaRPr lang="en-HK" dirty="0">
              <a:effectLst/>
              <a:highlight>
                <a:srgbClr val="FFFFFF"/>
              </a:highlight>
            </a:endParaRPr>
          </a:p>
        </p:txBody>
      </p:sp>
    </p:spTree>
    <p:extLst>
      <p:ext uri="{BB962C8B-B14F-4D97-AF65-F5344CB8AC3E}">
        <p14:creationId xmlns:p14="http://schemas.microsoft.com/office/powerpoint/2010/main" val="116100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3" y="1856317"/>
            <a:ext cx="10451592" cy="646331"/>
          </a:xfrm>
          <a:prstGeom prst="rect">
            <a:avLst/>
          </a:prstGeom>
          <a:noFill/>
        </p:spPr>
        <p:txBody>
          <a:bodyPr wrap="square">
            <a:spAutoFit/>
          </a:bodyPr>
          <a:lstStyle/>
          <a:p>
            <a:r>
              <a:rPr lang="en-HK" sz="1800" dirty="0">
                <a:effectLst/>
                <a:highlight>
                  <a:srgbClr val="FFFFFF"/>
                </a:highlight>
                <a:latin typeface="75,Italic"/>
              </a:rPr>
              <a:t>The </a:t>
            </a:r>
            <a:r>
              <a:rPr lang="en-HK" sz="1800" dirty="0" err="1">
                <a:effectLst/>
                <a:highlight>
                  <a:srgbClr val="FFFFFF"/>
                </a:highlight>
                <a:latin typeface="75,Italic"/>
              </a:rPr>
              <a:t>Anyscale</a:t>
            </a:r>
            <a:r>
              <a:rPr lang="en-HK" sz="1800" dirty="0">
                <a:effectLst/>
                <a:highlight>
                  <a:srgbClr val="FFFFFF"/>
                </a:highlight>
                <a:latin typeface="75,Italic"/>
              </a:rPr>
              <a:t> Playground enables iterative development for prompt engineering, that is, designing specific instructions for LLMs to accomplish a task. </a:t>
            </a:r>
            <a:endParaRPr lang="en-HK" sz="1600" dirty="0">
              <a:effectLst/>
              <a:highlight>
                <a:srgbClr val="FFFFFF"/>
              </a:highlight>
            </a:endParaRPr>
          </a:p>
        </p:txBody>
      </p:sp>
      <p:pic>
        <p:nvPicPr>
          <p:cNvPr id="7169" name="Picture 1" descr="page12image58366672">
            <a:extLst>
              <a:ext uri="{FF2B5EF4-FFF2-40B4-BE49-F238E27FC236}">
                <a16:creationId xmlns:a16="http://schemas.microsoft.com/office/drawing/2014/main" id="{701D7C47-F204-7CBD-3FBA-827DEF741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214" y="2535306"/>
            <a:ext cx="8768443" cy="3865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231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Accessing LLMs using </a:t>
            </a:r>
            <a:r>
              <a:rPr lang="en-HK" sz="4100" dirty="0" err="1">
                <a:latin typeface=""/>
                <a:cs typeface="Arial" panose="020B0604020202020204" pitchFamily="34" charset="0"/>
              </a:rPr>
              <a:t>Anyscale</a:t>
            </a:r>
            <a:r>
              <a:rPr lang="en-HK" sz="4100" dirty="0">
                <a:latin typeface=""/>
                <a:cs typeface="Arial" panose="020B0604020202020204" pitchFamily="34" charset="0"/>
              </a:rPr>
              <a:t> APIs</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65953" y="1856317"/>
            <a:ext cx="10451592" cy="646331"/>
          </a:xfrm>
          <a:prstGeom prst="rect">
            <a:avLst/>
          </a:prstGeom>
          <a:noFill/>
        </p:spPr>
        <p:txBody>
          <a:bodyPr wrap="square">
            <a:spAutoFit/>
          </a:bodyPr>
          <a:lstStyle/>
          <a:p>
            <a:r>
              <a:rPr lang="en-HK" sz="1800" dirty="0">
                <a:effectLst/>
                <a:highlight>
                  <a:srgbClr val="FFFFFF"/>
                </a:highlight>
                <a:latin typeface="75,Italic"/>
              </a:rPr>
              <a:t>The </a:t>
            </a:r>
            <a:r>
              <a:rPr lang="en-HK" sz="1800" dirty="0" err="1">
                <a:effectLst/>
                <a:highlight>
                  <a:srgbClr val="FFFFFF"/>
                </a:highlight>
                <a:latin typeface="75,Italic"/>
              </a:rPr>
              <a:t>Anyscale</a:t>
            </a:r>
            <a:r>
              <a:rPr lang="en-HK" sz="1800" dirty="0">
                <a:effectLst/>
                <a:highlight>
                  <a:srgbClr val="FFFFFF"/>
                </a:highlight>
                <a:latin typeface="75,Italic"/>
              </a:rPr>
              <a:t> Playground enables iterative development for prompt engineering, that is, designing specific instructions for LLMs to accomplish a task.</a:t>
            </a:r>
            <a:endParaRPr lang="en-HK" dirty="0">
              <a:effectLst/>
              <a:highlight>
                <a:srgbClr val="FFFFFF"/>
              </a:highlight>
            </a:endParaRPr>
          </a:p>
        </p:txBody>
      </p:sp>
      <p:pic>
        <p:nvPicPr>
          <p:cNvPr id="7169" name="Picture 1" descr="page12image58366672">
            <a:extLst>
              <a:ext uri="{FF2B5EF4-FFF2-40B4-BE49-F238E27FC236}">
                <a16:creationId xmlns:a16="http://schemas.microsoft.com/office/drawing/2014/main" id="{701D7C47-F204-7CBD-3FBA-827DEF741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706175"/>
            <a:ext cx="4392386" cy="2349862"/>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F83AFD7-B692-0BA0-53C1-5078202CC450}"/>
              </a:ext>
            </a:extLst>
          </p:cNvPr>
          <p:cNvSpPr txBox="1"/>
          <p:nvPr/>
        </p:nvSpPr>
        <p:spPr>
          <a:xfrm>
            <a:off x="1143000" y="5317987"/>
            <a:ext cx="4686300" cy="923330"/>
          </a:xfrm>
          <a:prstGeom prst="rect">
            <a:avLst/>
          </a:prstGeom>
          <a:noFill/>
        </p:spPr>
        <p:txBody>
          <a:bodyPr wrap="square">
            <a:spAutoFit/>
          </a:bodyPr>
          <a:lstStyle/>
          <a:p>
            <a:r>
              <a:rPr lang="en-HK" sz="1800" dirty="0">
                <a:solidFill>
                  <a:srgbClr val="7C7C7C"/>
                </a:solidFill>
                <a:effectLst/>
                <a:highlight>
                  <a:srgbClr val="FFFFFF"/>
                </a:highlight>
                <a:latin typeface="69"/>
              </a:rPr>
              <a:t>Playground enables quick iterations on prompts. Once an effective prompt is discovered, it is translated to code for efficient API access </a:t>
            </a:r>
            <a:endParaRPr lang="en-HK"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8556171" y="3503845"/>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Anyscale</a:t>
            </a:r>
            <a:endParaRPr lang="en-US" dirty="0"/>
          </a:p>
          <a:p>
            <a:pPr algn="ctr"/>
            <a:r>
              <a:rPr lang="en-US" dirty="0"/>
              <a:t>API</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943849" y="4730158"/>
            <a:ext cx="1224643" cy="587829"/>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Prompt format</a:t>
            </a:r>
          </a:p>
        </p:txBody>
      </p:sp>
      <p:sp>
        <p:nvSpPr>
          <p:cNvPr id="9" name="Rounded Rectangle 8">
            <a:extLst>
              <a:ext uri="{FF2B5EF4-FFF2-40B4-BE49-F238E27FC236}">
                <a16:creationId xmlns:a16="http://schemas.microsoft.com/office/drawing/2014/main" id="{EAE6675B-21D4-C98E-DD18-A07E623520D1}"/>
              </a:ext>
            </a:extLst>
          </p:cNvPr>
          <p:cNvSpPr/>
          <p:nvPr/>
        </p:nvSpPr>
        <p:spPr>
          <a:xfrm>
            <a:off x="9593035" y="4744840"/>
            <a:ext cx="1224643" cy="587829"/>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API Key</a:t>
            </a:r>
          </a:p>
        </p:txBody>
      </p:sp>
      <p:cxnSp>
        <p:nvCxnSpPr>
          <p:cNvPr id="10" name="Curved Connector 9">
            <a:extLst>
              <a:ext uri="{FF2B5EF4-FFF2-40B4-BE49-F238E27FC236}">
                <a16:creationId xmlns:a16="http://schemas.microsoft.com/office/drawing/2014/main" id="{801F02C1-AF06-EDDF-D7CC-F889FFD99028}"/>
              </a:ext>
            </a:extLst>
          </p:cNvPr>
          <p:cNvCxnSpPr>
            <a:cxnSpLocks/>
            <a:stCxn id="5" idx="2"/>
            <a:endCxn id="9" idx="0"/>
          </p:cNvCxnSpPr>
          <p:nvPr/>
        </p:nvCxnSpPr>
        <p:spPr>
          <a:xfrm rot="16200000" flipH="1">
            <a:off x="9530873" y="4070356"/>
            <a:ext cx="524374" cy="82459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urved Connector 10">
            <a:extLst>
              <a:ext uri="{FF2B5EF4-FFF2-40B4-BE49-F238E27FC236}">
                <a16:creationId xmlns:a16="http://schemas.microsoft.com/office/drawing/2014/main" id="{F8711F56-FADF-8138-8762-BE6C4ADCEE60}"/>
              </a:ext>
            </a:extLst>
          </p:cNvPr>
          <p:cNvCxnSpPr>
            <a:cxnSpLocks/>
            <a:stCxn id="5" idx="2"/>
            <a:endCxn id="7" idx="0"/>
          </p:cNvCxnSpPr>
          <p:nvPr/>
        </p:nvCxnSpPr>
        <p:spPr>
          <a:xfrm rot="5400000">
            <a:off x="8713622" y="4063016"/>
            <a:ext cx="509692" cy="82459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D93602EE-EDC3-3E58-4744-5F29B3DFCCBD}"/>
              </a:ext>
            </a:extLst>
          </p:cNvPr>
          <p:cNvCxnSpPr>
            <a:cxnSpLocks/>
            <a:stCxn id="7169" idx="3"/>
            <a:endCxn id="5" idx="1"/>
          </p:cNvCxnSpPr>
          <p:nvPr/>
        </p:nvCxnSpPr>
        <p:spPr>
          <a:xfrm flipV="1">
            <a:off x="5535386" y="3862156"/>
            <a:ext cx="3020785" cy="1895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00E88DC-E71A-D48A-01FC-E7FC40F42D9F}"/>
              </a:ext>
            </a:extLst>
          </p:cNvPr>
          <p:cNvSpPr txBox="1"/>
          <p:nvPr/>
        </p:nvSpPr>
        <p:spPr>
          <a:xfrm>
            <a:off x="7391401" y="5332669"/>
            <a:ext cx="4397828" cy="923330"/>
          </a:xfrm>
          <a:prstGeom prst="rect">
            <a:avLst/>
          </a:prstGeom>
          <a:noFill/>
        </p:spPr>
        <p:txBody>
          <a:bodyPr wrap="square">
            <a:spAutoFit/>
          </a:bodyPr>
          <a:lstStyle/>
          <a:p>
            <a:r>
              <a:rPr lang="en-HK" sz="1800" dirty="0" err="1">
                <a:solidFill>
                  <a:srgbClr val="7C7C7C"/>
                </a:solidFill>
                <a:effectLst/>
                <a:highlight>
                  <a:srgbClr val="FFFFFF"/>
                </a:highlight>
                <a:latin typeface="69"/>
              </a:rPr>
              <a:t>Anyscale</a:t>
            </a:r>
            <a:r>
              <a:rPr lang="en-HK" sz="1800" dirty="0">
                <a:solidFill>
                  <a:srgbClr val="7C7C7C"/>
                </a:solidFill>
                <a:effectLst/>
                <a:highlight>
                  <a:srgbClr val="FFFFFF"/>
                </a:highlight>
                <a:latin typeface="69"/>
              </a:rPr>
              <a:t> API’s are compatible with Open AI. This allows seamless switch over between </a:t>
            </a:r>
            <a:r>
              <a:rPr lang="en-HK" sz="1800" dirty="0" err="1">
                <a:solidFill>
                  <a:srgbClr val="7C7C7C"/>
                </a:solidFill>
                <a:effectLst/>
                <a:highlight>
                  <a:srgbClr val="FFFFFF"/>
                </a:highlight>
                <a:latin typeface="69"/>
              </a:rPr>
              <a:t>Anyscale</a:t>
            </a:r>
            <a:r>
              <a:rPr lang="en-HK" sz="1800" dirty="0">
                <a:solidFill>
                  <a:srgbClr val="7C7C7C"/>
                </a:solidFill>
                <a:effectLst/>
                <a:highlight>
                  <a:srgbClr val="FFFFFF"/>
                </a:highlight>
                <a:latin typeface="69"/>
              </a:rPr>
              <a:t> and Open AI if needed. </a:t>
            </a:r>
            <a:endParaRPr lang="en-HK" dirty="0">
              <a:effectLst/>
              <a:highlight>
                <a:srgbClr val="FFFFFF"/>
              </a:highlight>
            </a:endParaRPr>
          </a:p>
        </p:txBody>
      </p:sp>
    </p:spTree>
    <p:extLst>
      <p:ext uri="{BB962C8B-B14F-4D97-AF65-F5344CB8AC3E}">
        <p14:creationId xmlns:p14="http://schemas.microsoft.com/office/powerpoint/2010/main" val="1971076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err="1">
                <a:latin typeface=""/>
                <a:cs typeface="Arial" panose="020B0604020202020204" pitchFamily="34" charset="0"/>
              </a:rPr>
              <a:t>Anyscale</a:t>
            </a:r>
            <a:r>
              <a:rPr lang="en-HK" sz="4100" dirty="0">
                <a:latin typeface=""/>
                <a:cs typeface="Arial" panose="020B0604020202020204" pitchFamily="34" charset="0"/>
              </a:rPr>
              <a:t> API Prompt Format</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00110"/>
          </a:xfrm>
          <a:prstGeom prst="rect">
            <a:avLst/>
          </a:prstGeom>
          <a:noFill/>
        </p:spPr>
        <p:txBody>
          <a:bodyPr wrap="square">
            <a:spAutoFit/>
          </a:bodyPr>
          <a:lstStyle/>
          <a:p>
            <a:r>
              <a:rPr lang="en-HK" sz="2000" dirty="0" err="1">
                <a:effectLst/>
                <a:highlight>
                  <a:srgbClr val="FFFFFF"/>
                </a:highlight>
                <a:latin typeface="75,Italic"/>
              </a:rPr>
              <a:t>Anyscale</a:t>
            </a:r>
            <a:r>
              <a:rPr lang="en-HK" sz="2000" dirty="0">
                <a:effectLst/>
                <a:highlight>
                  <a:srgbClr val="FFFFFF"/>
                </a:highlight>
                <a:latin typeface="75,Italic"/>
              </a:rPr>
              <a:t> APIs are compatible with Open AI APIs and have the following three components. </a:t>
            </a:r>
            <a:endParaRPr lang="en-HK" sz="2000"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14780" y="4072582"/>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662990" y="4072581"/>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flipV="1">
            <a:off x="6788757" y="4430892"/>
            <a:ext cx="874233" cy="11537"/>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extLst>
              <p:ext uri="{D42A27DB-BD31-4B8C-83A1-F6EECF244321}">
                <p14:modId xmlns:p14="http://schemas.microsoft.com/office/powerpoint/2010/main" val="521321739"/>
              </p:ext>
            </p:extLst>
          </p:nvPr>
        </p:nvGraphicFramePr>
        <p:xfrm>
          <a:off x="436034" y="2282890"/>
          <a:ext cx="6352723" cy="4319078"/>
        </p:xfrm>
        <a:graphic>
          <a:graphicData uri="http://schemas.openxmlformats.org/drawingml/2006/table">
            <a:tbl>
              <a:tblPr firstRow="1" bandRow="1">
                <a:tableStyleId>{5C22544A-7EE6-4342-B048-85BDC9FD1C3A}</a:tableStyleId>
              </a:tblPr>
              <a:tblGrid>
                <a:gridCol w="6352723">
                  <a:extLst>
                    <a:ext uri="{9D8B030D-6E8A-4147-A177-3AD203B41FA5}">
                      <a16:colId xmlns:a16="http://schemas.microsoft.com/office/drawing/2014/main" val="771504321"/>
                    </a:ext>
                  </a:extLst>
                </a:gridCol>
              </a:tblGrid>
              <a:tr h="1333301">
                <a:tc>
                  <a:txBody>
                    <a:bodyPr/>
                    <a:lstStyle/>
                    <a:p>
                      <a:r>
                        <a:rPr lang="en-HK" sz="2000" b="1" kern="1200" dirty="0">
                          <a:solidFill>
                            <a:schemeClr val="lt1"/>
                          </a:solidFill>
                          <a:effectLst/>
                          <a:latin typeface="+mn-lt"/>
                          <a:ea typeface="+mn-ea"/>
                          <a:cs typeface="+mn-cs"/>
                        </a:rPr>
                        <a:t>System Message </a:t>
                      </a:r>
                    </a:p>
                    <a:p>
                      <a:endParaRPr lang="en-HK" sz="1600" b="1" kern="1200" dirty="0">
                        <a:solidFill>
                          <a:schemeClr val="lt1"/>
                        </a:solidFill>
                        <a:effectLst/>
                        <a:latin typeface="+mn-lt"/>
                        <a:ea typeface="+mn-ea"/>
                        <a:cs typeface="+mn-cs"/>
                      </a:endParaRPr>
                    </a:p>
                    <a:p>
                      <a:r>
                        <a:rPr lang="en-HK" sz="1600" b="1" kern="1200" dirty="0">
                          <a:solidFill>
                            <a:schemeClr val="lt1"/>
                          </a:solidFill>
                          <a:effectLst/>
                          <a:latin typeface="+mn-lt"/>
                          <a:ea typeface="+mn-ea"/>
                          <a:cs typeface="+mn-cs"/>
                        </a:rPr>
                        <a:t>Clear instructions explaining the task that the LLM should accomplish. These instructions are agnostic to the user input and appended to the user input with higher priority. Can also be used to prime LLM behaviour </a:t>
                      </a:r>
                    </a:p>
                  </a:txBody>
                  <a:tcPr/>
                </a:tc>
                <a:extLst>
                  <a:ext uri="{0D108BD9-81ED-4DB2-BD59-A6C34878D82A}">
                    <a16:rowId xmlns:a16="http://schemas.microsoft.com/office/drawing/2014/main" val="3469103948"/>
                  </a:ext>
                </a:extLst>
              </a:tr>
              <a:tr h="1351819">
                <a:tc>
                  <a:txBody>
                    <a:bodyPr/>
                    <a:lstStyle/>
                    <a:p>
                      <a:r>
                        <a:rPr lang="en-HK" sz="2000" kern="1200" dirty="0">
                          <a:solidFill>
                            <a:srgbClr val="FF0000"/>
                          </a:solidFill>
                          <a:effectLst/>
                          <a:latin typeface="+mn-lt"/>
                          <a:ea typeface="+mn-ea"/>
                          <a:cs typeface="+mn-cs"/>
                        </a:rPr>
                        <a:t>User Message</a:t>
                      </a:r>
                    </a:p>
                    <a:p>
                      <a:endParaRPr lang="en-HK" sz="1600" kern="1200" dirty="0">
                        <a:solidFill>
                          <a:srgbClr val="FF0000"/>
                        </a:solidFill>
                        <a:effectLst/>
                        <a:latin typeface="+mn-lt"/>
                        <a:ea typeface="+mn-ea"/>
                        <a:cs typeface="+mn-cs"/>
                      </a:endParaRPr>
                    </a:p>
                    <a:p>
                      <a:r>
                        <a:rPr lang="en-HK" sz="1600" kern="1200" dirty="0">
                          <a:solidFill>
                            <a:srgbClr val="FF0000"/>
                          </a:solidFill>
                          <a:effectLst/>
                          <a:latin typeface="+mn-lt"/>
                          <a:ea typeface="+mn-ea"/>
                          <a:cs typeface="+mn-cs"/>
                        </a:rPr>
                        <a:t>Specific instructions from the user describing the task that needs to be accomplished. </a:t>
                      </a:r>
                    </a:p>
                  </a:txBody>
                  <a:tcPr/>
                </a:tc>
                <a:extLst>
                  <a:ext uri="{0D108BD9-81ED-4DB2-BD59-A6C34878D82A}">
                    <a16:rowId xmlns:a16="http://schemas.microsoft.com/office/drawing/2014/main" val="992354652"/>
                  </a:ext>
                </a:extLst>
              </a:tr>
              <a:tr h="1351819">
                <a:tc>
                  <a:txBody>
                    <a:bodyPr/>
                    <a:lstStyle/>
                    <a:p>
                      <a:r>
                        <a:rPr lang="en-HK" sz="2000" kern="1200" dirty="0">
                          <a:solidFill>
                            <a:schemeClr val="accent4">
                              <a:lumMod val="50000"/>
                            </a:schemeClr>
                          </a:solidFill>
                          <a:effectLst/>
                          <a:latin typeface="+mn-lt"/>
                          <a:ea typeface="+mn-ea"/>
                          <a:cs typeface="+mn-cs"/>
                        </a:rPr>
                        <a:t>Assistant Message </a:t>
                      </a:r>
                    </a:p>
                    <a:p>
                      <a:endParaRPr lang="en-HK" sz="1600" kern="1200" dirty="0">
                        <a:solidFill>
                          <a:schemeClr val="accent4">
                            <a:lumMod val="50000"/>
                          </a:schemeClr>
                        </a:solidFill>
                        <a:effectLst/>
                        <a:latin typeface="+mn-lt"/>
                        <a:ea typeface="+mn-ea"/>
                        <a:cs typeface="+mn-cs"/>
                      </a:endParaRPr>
                    </a:p>
                    <a:p>
                      <a:r>
                        <a:rPr lang="en-HK" sz="1600" kern="1200" dirty="0">
                          <a:solidFill>
                            <a:schemeClr val="accent4">
                              <a:lumMod val="50000"/>
                            </a:schemeClr>
                          </a:solidFill>
                          <a:effectLst/>
                          <a:latin typeface="+mn-lt"/>
                          <a:ea typeface="+mn-ea"/>
                          <a:cs typeface="+mn-cs"/>
                        </a:rPr>
                        <a:t>Not needed for single-turn conversations. Can be used to showcase expected completions in multi-turn conversations. </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9312176" y="4430892"/>
            <a:ext cx="802604"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884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Applications of Generative AI</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DD22DCB6-89E7-F717-7D7C-21453F638DBD}"/>
              </a:ext>
            </a:extLst>
          </p:cNvPr>
          <p:cNvSpPr txBox="1"/>
          <p:nvPr/>
        </p:nvSpPr>
        <p:spPr>
          <a:xfrm>
            <a:off x="841248" y="1751451"/>
            <a:ext cx="10451592" cy="400110"/>
          </a:xfrm>
          <a:prstGeom prst="rect">
            <a:avLst/>
          </a:prstGeom>
          <a:noFill/>
        </p:spPr>
        <p:txBody>
          <a:bodyPr wrap="square">
            <a:spAutoFit/>
          </a:bodyPr>
          <a:lstStyle/>
          <a:p>
            <a:r>
              <a:rPr lang="en-HK" sz="2000" dirty="0" err="1">
                <a:effectLst/>
                <a:highlight>
                  <a:srgbClr val="FFFFFF"/>
                </a:highlight>
                <a:latin typeface="75,Italic"/>
              </a:rPr>
              <a:t>Anyscale</a:t>
            </a:r>
            <a:r>
              <a:rPr lang="en-HK" sz="2000" dirty="0">
                <a:effectLst/>
                <a:highlight>
                  <a:srgbClr val="FFFFFF"/>
                </a:highlight>
                <a:latin typeface="75,Italic"/>
              </a:rPr>
              <a:t> APIs are compatible with Open AI APIs and have the following three components. </a:t>
            </a:r>
            <a:endParaRPr lang="en-HK" sz="2000" dirty="0">
              <a:effectLst/>
              <a:highlight>
                <a:srgbClr val="FFFFFF"/>
              </a:highlight>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14780" y="4072582"/>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7662990" y="4072581"/>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LLM API</a:t>
            </a:r>
          </a:p>
        </p:txBody>
      </p:sp>
      <p:cxnSp>
        <p:nvCxnSpPr>
          <p:cNvPr id="19" name="Curved Connector 18">
            <a:extLst>
              <a:ext uri="{FF2B5EF4-FFF2-40B4-BE49-F238E27FC236}">
                <a16:creationId xmlns:a16="http://schemas.microsoft.com/office/drawing/2014/main" id="{D93602EE-EDC3-3E58-4744-5F29B3DFCCBD}"/>
              </a:ext>
            </a:extLst>
          </p:cNvPr>
          <p:cNvCxnSpPr>
            <a:cxnSpLocks/>
            <a:stCxn id="3" idx="3"/>
            <a:endCxn id="7" idx="1"/>
          </p:cNvCxnSpPr>
          <p:nvPr/>
        </p:nvCxnSpPr>
        <p:spPr>
          <a:xfrm flipV="1">
            <a:off x="6788757" y="4430892"/>
            <a:ext cx="874233" cy="11537"/>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 name="Table 2">
            <a:extLst>
              <a:ext uri="{FF2B5EF4-FFF2-40B4-BE49-F238E27FC236}">
                <a16:creationId xmlns:a16="http://schemas.microsoft.com/office/drawing/2014/main" id="{9C8C008D-F0FF-4214-20F7-DC60B211E001}"/>
              </a:ext>
            </a:extLst>
          </p:cNvPr>
          <p:cNvGraphicFramePr>
            <a:graphicFrameLocks noGrp="1"/>
          </p:cNvGraphicFramePr>
          <p:nvPr/>
        </p:nvGraphicFramePr>
        <p:xfrm>
          <a:off x="436034" y="2282890"/>
          <a:ext cx="6352723" cy="4319078"/>
        </p:xfrm>
        <a:graphic>
          <a:graphicData uri="http://schemas.openxmlformats.org/drawingml/2006/table">
            <a:tbl>
              <a:tblPr firstRow="1" bandRow="1">
                <a:tableStyleId>{5C22544A-7EE6-4342-B048-85BDC9FD1C3A}</a:tableStyleId>
              </a:tblPr>
              <a:tblGrid>
                <a:gridCol w="6352723">
                  <a:extLst>
                    <a:ext uri="{9D8B030D-6E8A-4147-A177-3AD203B41FA5}">
                      <a16:colId xmlns:a16="http://schemas.microsoft.com/office/drawing/2014/main" val="771504321"/>
                    </a:ext>
                  </a:extLst>
                </a:gridCol>
              </a:tblGrid>
              <a:tr h="1333301">
                <a:tc>
                  <a:txBody>
                    <a:bodyPr/>
                    <a:lstStyle/>
                    <a:p>
                      <a:r>
                        <a:rPr lang="en-HK" sz="2000" b="1" kern="1200" dirty="0">
                          <a:solidFill>
                            <a:schemeClr val="lt1"/>
                          </a:solidFill>
                          <a:effectLst/>
                          <a:latin typeface="+mn-lt"/>
                          <a:ea typeface="+mn-ea"/>
                          <a:cs typeface="+mn-cs"/>
                        </a:rPr>
                        <a:t>System Message </a:t>
                      </a:r>
                    </a:p>
                    <a:p>
                      <a:endParaRPr lang="en-HK" sz="1600" b="1" kern="1200" dirty="0">
                        <a:solidFill>
                          <a:schemeClr val="lt1"/>
                        </a:solidFill>
                        <a:effectLst/>
                        <a:latin typeface="+mn-lt"/>
                        <a:ea typeface="+mn-ea"/>
                        <a:cs typeface="+mn-cs"/>
                      </a:endParaRPr>
                    </a:p>
                    <a:p>
                      <a:r>
                        <a:rPr lang="en-HK" sz="1600" b="1" kern="1200" dirty="0">
                          <a:solidFill>
                            <a:schemeClr val="lt1"/>
                          </a:solidFill>
                          <a:effectLst/>
                          <a:latin typeface="+mn-lt"/>
                          <a:ea typeface="+mn-ea"/>
                          <a:cs typeface="+mn-cs"/>
                        </a:rPr>
                        <a:t>Clear instructions explaining the task that the LLM should accomplish. These instructions are agnostic to the user input and appended to the user input with higher priority. Can also be used to prime LLM behaviour </a:t>
                      </a:r>
                    </a:p>
                  </a:txBody>
                  <a:tcPr/>
                </a:tc>
                <a:extLst>
                  <a:ext uri="{0D108BD9-81ED-4DB2-BD59-A6C34878D82A}">
                    <a16:rowId xmlns:a16="http://schemas.microsoft.com/office/drawing/2014/main" val="3469103948"/>
                  </a:ext>
                </a:extLst>
              </a:tr>
              <a:tr h="1351819">
                <a:tc>
                  <a:txBody>
                    <a:bodyPr/>
                    <a:lstStyle/>
                    <a:p>
                      <a:r>
                        <a:rPr lang="en-HK" sz="2000" kern="1200" dirty="0">
                          <a:solidFill>
                            <a:srgbClr val="FF0000"/>
                          </a:solidFill>
                          <a:effectLst/>
                          <a:latin typeface="+mn-lt"/>
                          <a:ea typeface="+mn-ea"/>
                          <a:cs typeface="+mn-cs"/>
                        </a:rPr>
                        <a:t>User Message</a:t>
                      </a:r>
                    </a:p>
                    <a:p>
                      <a:endParaRPr lang="en-HK" sz="1600" kern="1200" dirty="0">
                        <a:solidFill>
                          <a:srgbClr val="FF0000"/>
                        </a:solidFill>
                        <a:effectLst/>
                        <a:latin typeface="+mn-lt"/>
                        <a:ea typeface="+mn-ea"/>
                        <a:cs typeface="+mn-cs"/>
                      </a:endParaRPr>
                    </a:p>
                    <a:p>
                      <a:r>
                        <a:rPr lang="en-HK" sz="1600" kern="1200" dirty="0">
                          <a:solidFill>
                            <a:srgbClr val="FF0000"/>
                          </a:solidFill>
                          <a:effectLst/>
                          <a:latin typeface="+mn-lt"/>
                          <a:ea typeface="+mn-ea"/>
                          <a:cs typeface="+mn-cs"/>
                        </a:rPr>
                        <a:t>Specific instructions from the user describing the task that needs to be accomplished. </a:t>
                      </a:r>
                    </a:p>
                  </a:txBody>
                  <a:tcPr/>
                </a:tc>
                <a:extLst>
                  <a:ext uri="{0D108BD9-81ED-4DB2-BD59-A6C34878D82A}">
                    <a16:rowId xmlns:a16="http://schemas.microsoft.com/office/drawing/2014/main" val="992354652"/>
                  </a:ext>
                </a:extLst>
              </a:tr>
              <a:tr h="1351819">
                <a:tc>
                  <a:txBody>
                    <a:bodyPr/>
                    <a:lstStyle/>
                    <a:p>
                      <a:r>
                        <a:rPr lang="en-HK" sz="2000" kern="1200" dirty="0">
                          <a:solidFill>
                            <a:schemeClr val="accent4">
                              <a:lumMod val="50000"/>
                            </a:schemeClr>
                          </a:solidFill>
                          <a:effectLst/>
                          <a:latin typeface="+mn-lt"/>
                          <a:ea typeface="+mn-ea"/>
                          <a:cs typeface="+mn-cs"/>
                        </a:rPr>
                        <a:t>Assistant Message </a:t>
                      </a:r>
                    </a:p>
                    <a:p>
                      <a:endParaRPr lang="en-HK" sz="1600" kern="1200" dirty="0">
                        <a:solidFill>
                          <a:schemeClr val="accent4">
                            <a:lumMod val="50000"/>
                          </a:schemeClr>
                        </a:solidFill>
                        <a:effectLst/>
                        <a:latin typeface="+mn-lt"/>
                        <a:ea typeface="+mn-ea"/>
                        <a:cs typeface="+mn-cs"/>
                      </a:endParaRPr>
                    </a:p>
                    <a:p>
                      <a:r>
                        <a:rPr lang="en-HK" sz="1600" kern="1200" dirty="0">
                          <a:solidFill>
                            <a:schemeClr val="accent4">
                              <a:lumMod val="50000"/>
                            </a:schemeClr>
                          </a:solidFill>
                          <a:effectLst/>
                          <a:latin typeface="+mn-lt"/>
                          <a:ea typeface="+mn-ea"/>
                          <a:cs typeface="+mn-cs"/>
                        </a:rPr>
                        <a:t>Not needed for single-turn conversations. Can be used to showcase expected completions in multi-turn conversations. </a:t>
                      </a:r>
                    </a:p>
                  </a:txBody>
                  <a:tcPr/>
                </a:tc>
                <a:extLst>
                  <a:ext uri="{0D108BD9-81ED-4DB2-BD59-A6C34878D82A}">
                    <a16:rowId xmlns:a16="http://schemas.microsoft.com/office/drawing/2014/main" val="773582239"/>
                  </a:ext>
                </a:extLst>
              </a:tr>
            </a:tbl>
          </a:graphicData>
        </a:graphic>
      </p:graphicFrame>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9312176" y="4430892"/>
            <a:ext cx="802604"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893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51BC8-7675-780F-1B21-9E4B81A76A41}"/>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HK" sz="4100" dirty="0">
                <a:latin typeface=""/>
                <a:cs typeface="Arial" panose="020B0604020202020204" pitchFamily="34" charset="0"/>
              </a:rPr>
              <a:t>Applications of Generative AI</a:t>
            </a:r>
            <a:endParaRPr lang="en-US" sz="4100" dirty="0">
              <a:latin typeface=""/>
              <a:cs typeface="Arial" panose="020B0604020202020204" pitchFamily="34" charset="0"/>
            </a:endParaRPr>
          </a:p>
        </p:txBody>
      </p:sp>
      <p:sp>
        <p:nvSpPr>
          <p:cNvPr id="3087" name="Rectangle 308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8" name="Rectangle 308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4">
            <a:extLst>
              <a:ext uri="{FF2B5EF4-FFF2-40B4-BE49-F238E27FC236}">
                <a16:creationId xmlns:a16="http://schemas.microsoft.com/office/drawing/2014/main" id="{3E9EA366-168B-ABBB-0480-7BD66C7D25CB}"/>
              </a:ext>
            </a:extLst>
          </p:cNvPr>
          <p:cNvSpPr/>
          <p:nvPr/>
        </p:nvSpPr>
        <p:spPr>
          <a:xfrm>
            <a:off x="10114780" y="4072582"/>
            <a:ext cx="1649186" cy="71662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sp>
        <p:nvSpPr>
          <p:cNvPr id="7" name="Rounded Rectangle 6">
            <a:extLst>
              <a:ext uri="{FF2B5EF4-FFF2-40B4-BE49-F238E27FC236}">
                <a16:creationId xmlns:a16="http://schemas.microsoft.com/office/drawing/2014/main" id="{CF7C259C-CB30-E0B0-24D6-41425F80013C}"/>
              </a:ext>
            </a:extLst>
          </p:cNvPr>
          <p:cNvSpPr/>
          <p:nvPr/>
        </p:nvSpPr>
        <p:spPr>
          <a:xfrm>
            <a:off x="841248" y="1955177"/>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Gen AI Developers</a:t>
            </a:r>
          </a:p>
        </p:txBody>
      </p:sp>
      <p:cxnSp>
        <p:nvCxnSpPr>
          <p:cNvPr id="20" name="Curved Connector 19">
            <a:extLst>
              <a:ext uri="{FF2B5EF4-FFF2-40B4-BE49-F238E27FC236}">
                <a16:creationId xmlns:a16="http://schemas.microsoft.com/office/drawing/2014/main" id="{08C1FCE0-9FCF-0766-8B19-2E9F6E6E3A04}"/>
              </a:ext>
            </a:extLst>
          </p:cNvPr>
          <p:cNvCxnSpPr>
            <a:cxnSpLocks/>
            <a:stCxn id="7" idx="3"/>
            <a:endCxn id="5" idx="1"/>
          </p:cNvCxnSpPr>
          <p:nvPr/>
        </p:nvCxnSpPr>
        <p:spPr>
          <a:xfrm>
            <a:off x="2490434" y="2313488"/>
            <a:ext cx="7624346" cy="2117405"/>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23AD59FA-B886-80C0-4874-31E45010A5CB}"/>
              </a:ext>
            </a:extLst>
          </p:cNvPr>
          <p:cNvSpPr/>
          <p:nvPr/>
        </p:nvSpPr>
        <p:spPr>
          <a:xfrm>
            <a:off x="841248" y="5315242"/>
            <a:ext cx="1649186" cy="716621"/>
          </a:xfrm>
          <a:prstGeom prst="roundRect">
            <a:avLst>
              <a:gd name="adj" fmla="val 41667"/>
            </a:avLst>
          </a:prstGeom>
          <a:gradFill>
            <a:gsLst>
              <a:gs pos="0">
                <a:schemeClr val="accent2">
                  <a:lumMod val="75000"/>
                </a:schemeClr>
              </a:gs>
              <a:gs pos="74000">
                <a:schemeClr val="accent2">
                  <a:lumMod val="75000"/>
                </a:schemeClr>
              </a:gs>
              <a:gs pos="83000">
                <a:schemeClr val="accent2">
                  <a:lumMod val="60000"/>
                  <a:lumOff val="40000"/>
                </a:schemeClr>
              </a:gs>
              <a:gs pos="100000">
                <a:srgbClr val="FFC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Gen AI Developers</a:t>
            </a:r>
          </a:p>
        </p:txBody>
      </p:sp>
    </p:spTree>
    <p:extLst>
      <p:ext uri="{BB962C8B-B14F-4D97-AF65-F5344CB8AC3E}">
        <p14:creationId xmlns:p14="http://schemas.microsoft.com/office/powerpoint/2010/main" val="1814199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9743</TotalTime>
  <Words>1359</Words>
  <Application>Microsoft Macintosh PowerPoint</Application>
  <PresentationFormat>Widescreen</PresentationFormat>
  <Paragraphs>171</Paragraphs>
  <Slides>17</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69</vt:lpstr>
      <vt:lpstr>71,Italic</vt:lpstr>
      <vt:lpstr>73</vt:lpstr>
      <vt:lpstr>74,Bold</vt:lpstr>
      <vt:lpstr>75,Italic</vt:lpstr>
      <vt:lpstr>Aptos</vt:lpstr>
      <vt:lpstr>Aptos Display</vt:lpstr>
      <vt:lpstr>Arial</vt:lpstr>
      <vt:lpstr>Calibri</vt:lpstr>
      <vt:lpstr>Times New Roman</vt:lpstr>
      <vt:lpstr>Office Theme</vt:lpstr>
      <vt:lpstr>Generative AI &amp; Prompt Engineering - An Introduction</vt:lpstr>
      <vt:lpstr>PowerPoint Presentation</vt:lpstr>
      <vt:lpstr>PowerPoint Presentation</vt:lpstr>
      <vt:lpstr>PowerPoint Presentation</vt:lpstr>
      <vt:lpstr>Large Language Models (LLMs)</vt:lpstr>
      <vt:lpstr>Large Language Models (LLMs)</vt:lpstr>
      <vt:lpstr>Large Language Models (LLMs)</vt:lpstr>
      <vt:lpstr>Large Language Models (LLMs)</vt:lpstr>
      <vt:lpstr>Large Language Models (LLMs)</vt:lpstr>
      <vt:lpstr>Accessing Large Language Models (LLMs) </vt:lpstr>
      <vt:lpstr>Accessing LLMs using Anyscale APIs</vt:lpstr>
      <vt:lpstr>Accessing LLMs using Anyscale APIs</vt:lpstr>
      <vt:lpstr>Accessing LLMs using Anyscale APIs</vt:lpstr>
      <vt:lpstr>Accessing LLMs using Anyscale APIs</vt:lpstr>
      <vt:lpstr>Anyscale API Prompt Format</vt:lpstr>
      <vt:lpstr>Applications of Generative AI</vt:lpstr>
      <vt:lpstr>Applications of Generative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Chugh, Mayank</dc:creator>
  <cp:lastModifiedBy>Chugh, Mayank</cp:lastModifiedBy>
  <cp:revision>27</cp:revision>
  <dcterms:created xsi:type="dcterms:W3CDTF">2024-06-25T03:56:13Z</dcterms:created>
  <dcterms:modified xsi:type="dcterms:W3CDTF">2024-07-02T03:29:36Z</dcterms:modified>
</cp:coreProperties>
</file>