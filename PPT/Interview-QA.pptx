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6858000" cy="9144000"/>
  <p:embeddedFontLst>
    <p:embeddedFont>
      <p:font typeface="Roboto"/>
      <p:regular r:id="rId26"/>
      <p:bold r:id="rId27"/>
      <p:italic r:id="rId28"/>
      <p:boldItalic r:id="rId29"/>
    </p:embeddedFont>
    <p:embeddedFont>
      <p:font typeface="Century Gothic"/>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jET1/2NnNStrnvIqvN6MLUgozN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regular.fntdata"/><Relationship Id="rId25" Type="http://schemas.openxmlformats.org/officeDocument/2006/relationships/slide" Target="slides/slide21.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enturyGothic-bold.fntdata"/><Relationship Id="rId30" Type="http://schemas.openxmlformats.org/officeDocument/2006/relationships/font" Target="fonts/CenturyGothic-regular.fntdata"/><Relationship Id="rId11" Type="http://schemas.openxmlformats.org/officeDocument/2006/relationships/slide" Target="slides/slide7.xml"/><Relationship Id="rId33" Type="http://schemas.openxmlformats.org/officeDocument/2006/relationships/font" Target="fonts/CenturyGothic-boldItalic.fntdata"/><Relationship Id="rId10" Type="http://schemas.openxmlformats.org/officeDocument/2006/relationships/slide" Target="slides/slide6.xml"/><Relationship Id="rId32" Type="http://schemas.openxmlformats.org/officeDocument/2006/relationships/font" Target="fonts/CenturyGothic-italic.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3"/>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3"/>
          <p:cNvSpPr txBox="1"/>
          <p:nvPr>
            <p:ph idx="1" type="body"/>
          </p:nvPr>
        </p:nvSpPr>
        <p:spPr>
          <a:xfrm>
            <a:off x="1066800" y="2103120"/>
            <a:ext cx="10058400" cy="39319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5" name="Google Shape;15;p23"/>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3"/>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3"/>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rgbClr val="E1DBC9"/>
            </a:gs>
            <a:gs pos="77000">
              <a:srgbClr val="C8C1B0"/>
            </a:gs>
            <a:gs pos="100000">
              <a:srgbClr val="C0BAAA"/>
            </a:gs>
          </a:gsLst>
          <a:lin ang="5400000" scaled="0"/>
        </a:gradFill>
      </p:bgPr>
    </p:bg>
    <p:spTree>
      <p:nvGrpSpPr>
        <p:cNvPr id="18" name="Shape 18"/>
        <p:cNvGrpSpPr/>
        <p:nvPr/>
      </p:nvGrpSpPr>
      <p:grpSpPr>
        <a:xfrm>
          <a:off x="0" y="0"/>
          <a:ext cx="0" cy="0"/>
          <a:chOff x="0" y="0"/>
          <a:chExt cx="0" cy="0"/>
        </a:xfrm>
      </p:grpSpPr>
      <p:sp>
        <p:nvSpPr>
          <p:cNvPr id="19" name="Google Shape;19;p24"/>
          <p:cNvSpPr/>
          <p:nvPr/>
        </p:nvSpPr>
        <p:spPr>
          <a:xfrm>
            <a:off x="0" y="0"/>
            <a:ext cx="12192000" cy="6858000"/>
          </a:xfrm>
          <a:prstGeom prst="rect">
            <a:avLst/>
          </a:prstGeom>
          <a:blipFill rotWithShape="1">
            <a:blip r:embed="rId2">
              <a:alphaModFix amt="45000"/>
            </a:blip>
            <a:tile algn="tl" flip="none" tx="-44450" sx="85000" ty="38100" sy="85000"/>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4"/>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4"/>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4"/>
          <p:cNvSpPr/>
          <p:nvPr/>
        </p:nvSpPr>
        <p:spPr>
          <a:xfrm>
            <a:off x="5135880" y="1267730"/>
            <a:ext cx="1920240" cy="7315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 name="Google Shape;23;p24"/>
          <p:cNvGrpSpPr/>
          <p:nvPr/>
        </p:nvGrpSpPr>
        <p:grpSpPr>
          <a:xfrm>
            <a:off x="5250180" y="1267730"/>
            <a:ext cx="1691640" cy="645295"/>
            <a:chOff x="5318306" y="1386268"/>
            <a:chExt cx="1567331" cy="645295"/>
          </a:xfrm>
        </p:grpSpPr>
        <p:cxnSp>
          <p:nvCxnSpPr>
            <p:cNvPr id="24" name="Google Shape;24;p24"/>
            <p:cNvCxnSpPr/>
            <p:nvPr/>
          </p:nvCxnSpPr>
          <p:spPr>
            <a:xfrm>
              <a:off x="5318306" y="1386268"/>
              <a:ext cx="0" cy="640080"/>
            </a:xfrm>
            <a:prstGeom prst="straightConnector1">
              <a:avLst/>
            </a:prstGeom>
            <a:solidFill>
              <a:srgbClr val="262626"/>
            </a:solidFill>
            <a:ln cap="flat" cmpd="sng" w="9525">
              <a:solidFill>
                <a:schemeClr val="dk1"/>
              </a:solidFill>
              <a:prstDash val="solid"/>
              <a:miter lim="800000"/>
              <a:headEnd len="sm" w="sm" type="none"/>
              <a:tailEnd len="sm" w="sm" type="none"/>
            </a:ln>
          </p:spPr>
        </p:cxnSp>
        <p:cxnSp>
          <p:nvCxnSpPr>
            <p:cNvPr id="25" name="Google Shape;25;p24"/>
            <p:cNvCxnSpPr/>
            <p:nvPr/>
          </p:nvCxnSpPr>
          <p:spPr>
            <a:xfrm>
              <a:off x="6885637" y="1386268"/>
              <a:ext cx="0" cy="640080"/>
            </a:xfrm>
            <a:prstGeom prst="straightConnector1">
              <a:avLst/>
            </a:prstGeom>
            <a:solidFill>
              <a:srgbClr val="262626"/>
            </a:solidFill>
            <a:ln cap="flat" cmpd="sng" w="9525">
              <a:solidFill>
                <a:schemeClr val="dk1"/>
              </a:solidFill>
              <a:prstDash val="solid"/>
              <a:miter lim="800000"/>
              <a:headEnd len="sm" w="sm" type="none"/>
              <a:tailEnd len="sm" w="sm" type="none"/>
            </a:ln>
          </p:spPr>
        </p:cxnSp>
        <p:cxnSp>
          <p:nvCxnSpPr>
            <p:cNvPr id="26" name="Google Shape;26;p24"/>
            <p:cNvCxnSpPr/>
            <p:nvPr/>
          </p:nvCxnSpPr>
          <p:spPr>
            <a:xfrm>
              <a:off x="5318306" y="2031563"/>
              <a:ext cx="1567331" cy="0"/>
            </a:xfrm>
            <a:prstGeom prst="straightConnector1">
              <a:avLst/>
            </a:prstGeom>
            <a:solidFill>
              <a:srgbClr val="262626"/>
            </a:solidFill>
            <a:ln cap="flat" cmpd="sng" w="9525">
              <a:solidFill>
                <a:schemeClr val="dk1"/>
              </a:solidFill>
              <a:prstDash val="solid"/>
              <a:miter lim="800000"/>
              <a:headEnd len="sm" w="sm" type="none"/>
              <a:tailEnd len="sm" w="sm" type="none"/>
            </a:ln>
          </p:spPr>
        </p:cxnSp>
      </p:grpSp>
      <p:sp>
        <p:nvSpPr>
          <p:cNvPr id="27" name="Google Shape;27;p24"/>
          <p:cNvSpPr txBox="1"/>
          <p:nvPr>
            <p:ph type="ctrTitle"/>
          </p:nvPr>
        </p:nvSpPr>
        <p:spPr>
          <a:xfrm>
            <a:off x="1561708" y="2091263"/>
            <a:ext cx="9068586" cy="2590800"/>
          </a:xfrm>
          <a:prstGeom prst="rect">
            <a:avLst/>
          </a:prstGeom>
          <a:noFill/>
          <a:ln>
            <a:noFill/>
          </a:ln>
        </p:spPr>
        <p:txBody>
          <a:bodyPr anchorCtr="0" anchor="ctr" bIns="45700" lIns="91425" spcFirstLastPara="1" rIns="91425" wrap="square" tIns="45700">
            <a:noAutofit/>
          </a:bodyPr>
          <a:lstStyle>
            <a:lvl1pPr lvl="0" algn="ctr">
              <a:lnSpc>
                <a:spcPct val="83000"/>
              </a:lnSpc>
              <a:spcBef>
                <a:spcPts val="0"/>
              </a:spcBef>
              <a:spcAft>
                <a:spcPts val="0"/>
              </a:spcAft>
              <a:buClr>
                <a:srgbClr val="262626"/>
              </a:buClr>
              <a:buSzPts val="7200"/>
              <a:buFont typeface="Century Gothic"/>
              <a:buNone/>
              <a:defRPr b="0" sz="7200" cap="none">
                <a:solidFill>
                  <a:srgbClr val="262626"/>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4"/>
          <p:cNvSpPr txBox="1"/>
          <p:nvPr>
            <p:ph idx="1" type="subTitle"/>
          </p:nvPr>
        </p:nvSpPr>
        <p:spPr>
          <a:xfrm>
            <a:off x="1562100" y="4682062"/>
            <a:ext cx="9070848" cy="457201"/>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SzPts val="1600"/>
              <a:buNone/>
              <a:defRPr sz="1600">
                <a:solidFill>
                  <a:schemeClr val="dk1"/>
                </a:solidFill>
              </a:defRPr>
            </a:lvl1pPr>
            <a:lvl2pPr lvl="1" algn="ctr">
              <a:lnSpc>
                <a:spcPct val="100000"/>
              </a:lnSpc>
              <a:spcBef>
                <a:spcPts val="500"/>
              </a:spcBef>
              <a:spcAft>
                <a:spcPts val="0"/>
              </a:spcAft>
              <a:buSzPts val="1600"/>
              <a:buNone/>
              <a:defRPr sz="1600"/>
            </a:lvl2pPr>
            <a:lvl3pPr lvl="2" algn="ctr">
              <a:lnSpc>
                <a:spcPct val="100000"/>
              </a:lnSpc>
              <a:spcBef>
                <a:spcPts val="500"/>
              </a:spcBef>
              <a:spcAft>
                <a:spcPts val="0"/>
              </a:spcAft>
              <a:buSzPts val="1600"/>
              <a:buNone/>
              <a:defRPr sz="16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100000"/>
              </a:lnSpc>
              <a:spcBef>
                <a:spcPts val="5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29" name="Google Shape;29;p24"/>
          <p:cNvSpPr txBox="1"/>
          <p:nvPr>
            <p:ph idx="10" type="dt"/>
          </p:nvPr>
        </p:nvSpPr>
        <p:spPr>
          <a:xfrm>
            <a:off x="5318760" y="1341255"/>
            <a:ext cx="1554480" cy="527213"/>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chemeClr val="dk1"/>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4"/>
          <p:cNvSpPr txBox="1"/>
          <p:nvPr>
            <p:ph idx="11" type="ftr"/>
          </p:nvPr>
        </p:nvSpPr>
        <p:spPr>
          <a:xfrm>
            <a:off x="1453896" y="5211060"/>
            <a:ext cx="5905500"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4"/>
          <p:cNvSpPr txBox="1"/>
          <p:nvPr>
            <p:ph idx="12" type="sldNum"/>
          </p:nvPr>
        </p:nvSpPr>
        <p:spPr>
          <a:xfrm>
            <a:off x="8606919" y="5212080"/>
            <a:ext cx="2111881"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1000">
                <a:solidFill>
                  <a:srgbClr val="3F3F3F"/>
                </a:solidFill>
                <a:latin typeface="Century Gothic"/>
                <a:ea typeface="Century Gothic"/>
                <a:cs typeface="Century Gothic"/>
                <a:sym typeface="Century Gothic"/>
              </a:defRPr>
            </a:lvl1pPr>
            <a:lvl2pPr indent="0" lvl="1" marL="0" algn="r">
              <a:spcBef>
                <a:spcPts val="0"/>
              </a:spcBef>
              <a:buNone/>
              <a:defRPr sz="1000">
                <a:solidFill>
                  <a:srgbClr val="3F3F3F"/>
                </a:solidFill>
                <a:latin typeface="Century Gothic"/>
                <a:ea typeface="Century Gothic"/>
                <a:cs typeface="Century Gothic"/>
                <a:sym typeface="Century Gothic"/>
              </a:defRPr>
            </a:lvl2pPr>
            <a:lvl3pPr indent="0" lvl="2" marL="0" algn="r">
              <a:spcBef>
                <a:spcPts val="0"/>
              </a:spcBef>
              <a:buNone/>
              <a:defRPr sz="1000">
                <a:solidFill>
                  <a:srgbClr val="3F3F3F"/>
                </a:solidFill>
                <a:latin typeface="Century Gothic"/>
                <a:ea typeface="Century Gothic"/>
                <a:cs typeface="Century Gothic"/>
                <a:sym typeface="Century Gothic"/>
              </a:defRPr>
            </a:lvl3pPr>
            <a:lvl4pPr indent="0" lvl="3" marL="0" algn="r">
              <a:spcBef>
                <a:spcPts val="0"/>
              </a:spcBef>
              <a:buNone/>
              <a:defRPr sz="1000">
                <a:solidFill>
                  <a:srgbClr val="3F3F3F"/>
                </a:solidFill>
                <a:latin typeface="Century Gothic"/>
                <a:ea typeface="Century Gothic"/>
                <a:cs typeface="Century Gothic"/>
                <a:sym typeface="Century Gothic"/>
              </a:defRPr>
            </a:lvl4pPr>
            <a:lvl5pPr indent="0" lvl="4" marL="0" algn="r">
              <a:spcBef>
                <a:spcPts val="0"/>
              </a:spcBef>
              <a:buNone/>
              <a:defRPr sz="1000">
                <a:solidFill>
                  <a:srgbClr val="3F3F3F"/>
                </a:solidFill>
                <a:latin typeface="Century Gothic"/>
                <a:ea typeface="Century Gothic"/>
                <a:cs typeface="Century Gothic"/>
                <a:sym typeface="Century Gothic"/>
              </a:defRPr>
            </a:lvl5pPr>
            <a:lvl6pPr indent="0" lvl="5" marL="0" algn="r">
              <a:spcBef>
                <a:spcPts val="0"/>
              </a:spcBef>
              <a:buNone/>
              <a:defRPr sz="1000">
                <a:solidFill>
                  <a:srgbClr val="3F3F3F"/>
                </a:solidFill>
                <a:latin typeface="Century Gothic"/>
                <a:ea typeface="Century Gothic"/>
                <a:cs typeface="Century Gothic"/>
                <a:sym typeface="Century Gothic"/>
              </a:defRPr>
            </a:lvl6pPr>
            <a:lvl7pPr indent="0" lvl="6" marL="0" algn="r">
              <a:spcBef>
                <a:spcPts val="0"/>
              </a:spcBef>
              <a:buNone/>
              <a:defRPr sz="1000">
                <a:solidFill>
                  <a:srgbClr val="3F3F3F"/>
                </a:solidFill>
                <a:latin typeface="Century Gothic"/>
                <a:ea typeface="Century Gothic"/>
                <a:cs typeface="Century Gothic"/>
                <a:sym typeface="Century Gothic"/>
              </a:defRPr>
            </a:lvl7pPr>
            <a:lvl8pPr indent="0" lvl="7" marL="0" algn="r">
              <a:spcBef>
                <a:spcPts val="0"/>
              </a:spcBef>
              <a:buNone/>
              <a:defRPr sz="1000">
                <a:solidFill>
                  <a:srgbClr val="3F3F3F"/>
                </a:solidFill>
                <a:latin typeface="Century Gothic"/>
                <a:ea typeface="Century Gothic"/>
                <a:cs typeface="Century Gothic"/>
                <a:sym typeface="Century Gothic"/>
              </a:defRPr>
            </a:lvl8pPr>
            <a:lvl9pPr indent="0" lvl="8" marL="0" algn="r">
              <a:spcBef>
                <a:spcPts val="0"/>
              </a:spcBef>
              <a:buNone/>
              <a:defRPr sz="1000">
                <a:solidFill>
                  <a:srgbClr val="3F3F3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gradFill>
          <a:gsLst>
            <a:gs pos="0">
              <a:srgbClr val="E1DBC9"/>
            </a:gs>
            <a:gs pos="77000">
              <a:srgbClr val="C8C1B0"/>
            </a:gs>
            <a:gs pos="100000">
              <a:srgbClr val="C0BAAA"/>
            </a:gs>
          </a:gsLst>
          <a:lin ang="5400000" scaled="0"/>
        </a:gradFill>
      </p:bgPr>
    </p:bg>
    <p:spTree>
      <p:nvGrpSpPr>
        <p:cNvPr id="32" name="Shape 32"/>
        <p:cNvGrpSpPr/>
        <p:nvPr/>
      </p:nvGrpSpPr>
      <p:grpSpPr>
        <a:xfrm>
          <a:off x="0" y="0"/>
          <a:ext cx="0" cy="0"/>
          <a:chOff x="0" y="0"/>
          <a:chExt cx="0" cy="0"/>
        </a:xfrm>
      </p:grpSpPr>
      <p:sp>
        <p:nvSpPr>
          <p:cNvPr id="33" name="Google Shape;33;p25"/>
          <p:cNvSpPr/>
          <p:nvPr/>
        </p:nvSpPr>
        <p:spPr>
          <a:xfrm>
            <a:off x="0" y="0"/>
            <a:ext cx="12192000" cy="6858000"/>
          </a:xfrm>
          <a:prstGeom prst="rect">
            <a:avLst/>
          </a:prstGeom>
          <a:blipFill rotWithShape="1">
            <a:blip r:embed="rId2">
              <a:alphaModFix amt="45000"/>
            </a:blip>
            <a:tile algn="tl" flip="none" tx="-44450" sx="85000" ty="38100" sy="85000"/>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5"/>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5"/>
          <p:cNvSpPr/>
          <p:nvPr/>
        </p:nvSpPr>
        <p:spPr>
          <a:xfrm>
            <a:off x="1447800"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5"/>
          <p:cNvSpPr/>
          <p:nvPr/>
        </p:nvSpPr>
        <p:spPr>
          <a:xfrm>
            <a:off x="5135880" y="1267730"/>
            <a:ext cx="1920240" cy="73152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5"/>
          <p:cNvGrpSpPr/>
          <p:nvPr/>
        </p:nvGrpSpPr>
        <p:grpSpPr>
          <a:xfrm>
            <a:off x="5250180" y="1267730"/>
            <a:ext cx="1691640" cy="645295"/>
            <a:chOff x="5318306" y="1386268"/>
            <a:chExt cx="1567331" cy="645295"/>
          </a:xfrm>
        </p:grpSpPr>
        <p:cxnSp>
          <p:nvCxnSpPr>
            <p:cNvPr id="38" name="Google Shape;38;p25"/>
            <p:cNvCxnSpPr/>
            <p:nvPr/>
          </p:nvCxnSpPr>
          <p:spPr>
            <a:xfrm>
              <a:off x="5318306" y="1386268"/>
              <a:ext cx="0" cy="640080"/>
            </a:xfrm>
            <a:prstGeom prst="straightConnector1">
              <a:avLst/>
            </a:prstGeom>
            <a:solidFill>
              <a:srgbClr val="262626"/>
            </a:solidFill>
            <a:ln cap="flat" cmpd="sng" w="9525">
              <a:solidFill>
                <a:schemeClr val="dk1"/>
              </a:solidFill>
              <a:prstDash val="solid"/>
              <a:miter lim="800000"/>
              <a:headEnd len="sm" w="sm" type="none"/>
              <a:tailEnd len="sm" w="sm" type="none"/>
            </a:ln>
          </p:spPr>
        </p:cxnSp>
        <p:cxnSp>
          <p:nvCxnSpPr>
            <p:cNvPr id="39" name="Google Shape;39;p25"/>
            <p:cNvCxnSpPr/>
            <p:nvPr/>
          </p:nvCxnSpPr>
          <p:spPr>
            <a:xfrm>
              <a:off x="6885637" y="1386268"/>
              <a:ext cx="0" cy="640080"/>
            </a:xfrm>
            <a:prstGeom prst="straightConnector1">
              <a:avLst/>
            </a:prstGeom>
            <a:solidFill>
              <a:srgbClr val="262626"/>
            </a:solidFill>
            <a:ln cap="flat" cmpd="sng" w="9525">
              <a:solidFill>
                <a:schemeClr val="dk1"/>
              </a:solidFill>
              <a:prstDash val="solid"/>
              <a:miter lim="800000"/>
              <a:headEnd len="sm" w="sm" type="none"/>
              <a:tailEnd len="sm" w="sm" type="none"/>
            </a:ln>
          </p:spPr>
        </p:cxnSp>
        <p:cxnSp>
          <p:nvCxnSpPr>
            <p:cNvPr id="40" name="Google Shape;40;p25"/>
            <p:cNvCxnSpPr/>
            <p:nvPr/>
          </p:nvCxnSpPr>
          <p:spPr>
            <a:xfrm>
              <a:off x="5318306" y="2031563"/>
              <a:ext cx="1567331" cy="0"/>
            </a:xfrm>
            <a:prstGeom prst="straightConnector1">
              <a:avLst/>
            </a:prstGeom>
            <a:solidFill>
              <a:srgbClr val="262626"/>
            </a:solidFill>
            <a:ln cap="flat" cmpd="sng" w="9525">
              <a:solidFill>
                <a:schemeClr val="dk1"/>
              </a:solidFill>
              <a:prstDash val="solid"/>
              <a:miter lim="800000"/>
              <a:headEnd len="sm" w="sm" type="none"/>
              <a:tailEnd len="sm" w="sm" type="none"/>
            </a:ln>
          </p:spPr>
        </p:cxnSp>
      </p:grpSp>
      <p:sp>
        <p:nvSpPr>
          <p:cNvPr id="41" name="Google Shape;41;p25"/>
          <p:cNvSpPr txBox="1"/>
          <p:nvPr>
            <p:ph type="title"/>
          </p:nvPr>
        </p:nvSpPr>
        <p:spPr>
          <a:xfrm>
            <a:off x="1563623" y="2094309"/>
            <a:ext cx="9070848" cy="2587752"/>
          </a:xfrm>
          <a:prstGeom prst="rect">
            <a:avLst/>
          </a:prstGeom>
          <a:noFill/>
          <a:ln>
            <a:noFill/>
          </a:ln>
        </p:spPr>
        <p:txBody>
          <a:bodyPr anchorCtr="0" anchor="ctr" bIns="45700" lIns="91425" spcFirstLastPara="1" rIns="91425" wrap="square" tIns="45700">
            <a:noAutofit/>
          </a:bodyPr>
          <a:lstStyle>
            <a:lvl1pPr lvl="0" algn="ctr">
              <a:lnSpc>
                <a:spcPct val="83000"/>
              </a:lnSpc>
              <a:spcBef>
                <a:spcPts val="0"/>
              </a:spcBef>
              <a:spcAft>
                <a:spcPts val="0"/>
              </a:spcAft>
              <a:buClr>
                <a:srgbClr val="262626"/>
              </a:buClr>
              <a:buSzPts val="7200"/>
              <a:buFont typeface="Century Gothic"/>
              <a:buNone/>
              <a:defRPr sz="7200" cap="none">
                <a:solidFill>
                  <a:srgbClr val="262626"/>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1563624" y="4682062"/>
            <a:ext cx="9070848" cy="4572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900"/>
              </a:spcBef>
              <a:spcAft>
                <a:spcPts val="0"/>
              </a:spcAft>
              <a:buSzPts val="1600"/>
              <a:buNone/>
              <a:defRPr sz="1600">
                <a:solidFill>
                  <a:schemeClr val="dk1"/>
                </a:solidFill>
              </a:defRPr>
            </a:lvl1pPr>
            <a:lvl2pPr indent="-228600" lvl="1" marL="914400" algn="l">
              <a:lnSpc>
                <a:spcPct val="100000"/>
              </a:lnSpc>
              <a:spcBef>
                <a:spcPts val="500"/>
              </a:spcBef>
              <a:spcAft>
                <a:spcPts val="0"/>
              </a:spcAft>
              <a:buSzPts val="1600"/>
              <a:buNone/>
              <a:defRPr sz="1600">
                <a:solidFill>
                  <a:srgbClr val="888888"/>
                </a:solidFill>
              </a:defRPr>
            </a:lvl2pPr>
            <a:lvl3pPr indent="-228600" lvl="2" marL="1371600" algn="l">
              <a:lnSpc>
                <a:spcPct val="100000"/>
              </a:lnSpc>
              <a:spcBef>
                <a:spcPts val="500"/>
              </a:spcBef>
              <a:spcAft>
                <a:spcPts val="0"/>
              </a:spcAft>
              <a:buSzPts val="1600"/>
              <a:buNone/>
              <a:defRPr sz="1600">
                <a:solidFill>
                  <a:srgbClr val="888888"/>
                </a:solidFill>
              </a:defRPr>
            </a:lvl3pPr>
            <a:lvl4pPr indent="-228600" lvl="3" marL="1828800" algn="l">
              <a:lnSpc>
                <a:spcPct val="100000"/>
              </a:lnSpc>
              <a:spcBef>
                <a:spcPts val="500"/>
              </a:spcBef>
              <a:spcAft>
                <a:spcPts val="0"/>
              </a:spcAft>
              <a:buSzPts val="1400"/>
              <a:buNone/>
              <a:defRPr sz="1400">
                <a:solidFill>
                  <a:srgbClr val="888888"/>
                </a:solidFill>
              </a:defRPr>
            </a:lvl4pPr>
            <a:lvl5pPr indent="-228600" lvl="4" marL="2286000" algn="l">
              <a:lnSpc>
                <a:spcPct val="100000"/>
              </a:lnSpc>
              <a:spcBef>
                <a:spcPts val="500"/>
              </a:spcBef>
              <a:spcAft>
                <a:spcPts val="0"/>
              </a:spcAft>
              <a:buSzPts val="1400"/>
              <a:buNone/>
              <a:defRPr sz="1400">
                <a:solidFill>
                  <a:srgbClr val="888888"/>
                </a:solidFill>
              </a:defRPr>
            </a:lvl5pPr>
            <a:lvl6pPr indent="-228600" lvl="5" marL="2743200" algn="l">
              <a:lnSpc>
                <a:spcPct val="100000"/>
              </a:lnSpc>
              <a:spcBef>
                <a:spcPts val="500"/>
              </a:spcBef>
              <a:spcAft>
                <a:spcPts val="0"/>
              </a:spcAft>
              <a:buSzPts val="1400"/>
              <a:buNone/>
              <a:defRPr sz="1400">
                <a:solidFill>
                  <a:srgbClr val="888888"/>
                </a:solidFill>
              </a:defRPr>
            </a:lvl6pPr>
            <a:lvl7pPr indent="-228600" lvl="6" marL="3200400" algn="l">
              <a:lnSpc>
                <a:spcPct val="100000"/>
              </a:lnSpc>
              <a:spcBef>
                <a:spcPts val="500"/>
              </a:spcBef>
              <a:spcAft>
                <a:spcPts val="0"/>
              </a:spcAft>
              <a:buSzPts val="1400"/>
              <a:buNone/>
              <a:defRPr sz="1400">
                <a:solidFill>
                  <a:srgbClr val="888888"/>
                </a:solidFill>
              </a:defRPr>
            </a:lvl7pPr>
            <a:lvl8pPr indent="-228600" lvl="7" marL="3657600" algn="l">
              <a:lnSpc>
                <a:spcPct val="100000"/>
              </a:lnSpc>
              <a:spcBef>
                <a:spcPts val="500"/>
              </a:spcBef>
              <a:spcAft>
                <a:spcPts val="0"/>
              </a:spcAft>
              <a:buSzPts val="1400"/>
              <a:buNone/>
              <a:defRPr sz="1400">
                <a:solidFill>
                  <a:srgbClr val="888888"/>
                </a:solidFill>
              </a:defRPr>
            </a:lvl8pPr>
            <a:lvl9pPr indent="-228600" lvl="8" marL="4114800" algn="l">
              <a:lnSpc>
                <a:spcPct val="100000"/>
              </a:lnSpc>
              <a:spcBef>
                <a:spcPts val="500"/>
              </a:spcBef>
              <a:spcAft>
                <a:spcPts val="0"/>
              </a:spcAft>
              <a:buSzPts val="1400"/>
              <a:buNone/>
              <a:defRPr sz="1400">
                <a:solidFill>
                  <a:srgbClr val="888888"/>
                </a:solidFill>
              </a:defRPr>
            </a:lvl9pPr>
          </a:lstStyle>
          <a:p/>
        </p:txBody>
      </p:sp>
      <p:sp>
        <p:nvSpPr>
          <p:cNvPr id="43" name="Google Shape;43;p25"/>
          <p:cNvSpPr txBox="1"/>
          <p:nvPr>
            <p:ph idx="10" type="dt"/>
          </p:nvPr>
        </p:nvSpPr>
        <p:spPr>
          <a:xfrm>
            <a:off x="5321808" y="1344502"/>
            <a:ext cx="1554480" cy="53035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chemeClr val="dk1"/>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idx="11" type="ftr"/>
          </p:nvPr>
        </p:nvSpPr>
        <p:spPr>
          <a:xfrm>
            <a:off x="1453553" y="5211060"/>
            <a:ext cx="5907024"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5"/>
          <p:cNvSpPr txBox="1"/>
          <p:nvPr>
            <p:ph idx="12" type="sldNum"/>
          </p:nvPr>
        </p:nvSpPr>
        <p:spPr>
          <a:xfrm>
            <a:off x="8604504" y="5211060"/>
            <a:ext cx="2112264"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2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6"/>
          <p:cNvSpPr txBox="1"/>
          <p:nvPr>
            <p:ph idx="1" type="body"/>
          </p:nvPr>
        </p:nvSpPr>
        <p:spPr>
          <a:xfrm>
            <a:off x="1066800" y="2103120"/>
            <a:ext cx="475488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49" name="Google Shape;49;p26"/>
          <p:cNvSpPr txBox="1"/>
          <p:nvPr>
            <p:ph idx="2" type="body"/>
          </p:nvPr>
        </p:nvSpPr>
        <p:spPr>
          <a:xfrm>
            <a:off x="6370320" y="2103120"/>
            <a:ext cx="475488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50" name="Google Shape;50;p26"/>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6"/>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27"/>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7"/>
          <p:cNvSpPr txBox="1"/>
          <p:nvPr>
            <p:ph idx="1" type="body"/>
          </p:nvPr>
        </p:nvSpPr>
        <p:spPr>
          <a:xfrm>
            <a:off x="1069848" y="2074334"/>
            <a:ext cx="4754880" cy="64008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SzPts val="1900"/>
              <a:buNone/>
              <a:defRPr b="0" sz="1900">
                <a:solidFill>
                  <a:schemeClr val="dk2"/>
                </a:solidFill>
                <a:latin typeface="Century Gothic"/>
                <a:ea typeface="Century Gothic"/>
                <a:cs typeface="Century Gothic"/>
                <a:sym typeface="Century Gothic"/>
              </a:defRPr>
            </a:lvl1pPr>
            <a:lvl2pPr indent="-228600" lvl="1" marL="914400" algn="l">
              <a:lnSpc>
                <a:spcPct val="100000"/>
              </a:lnSpc>
              <a:spcBef>
                <a:spcPts val="500"/>
              </a:spcBef>
              <a:spcAft>
                <a:spcPts val="0"/>
              </a:spcAft>
              <a:buSzPts val="1900"/>
              <a:buNone/>
              <a:defRPr b="1" sz="19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56" name="Google Shape;56;p27"/>
          <p:cNvSpPr txBox="1"/>
          <p:nvPr>
            <p:ph idx="2" type="body"/>
          </p:nvPr>
        </p:nvSpPr>
        <p:spPr>
          <a:xfrm>
            <a:off x="1069848" y="2755898"/>
            <a:ext cx="4754880" cy="3200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57" name="Google Shape;57;p27"/>
          <p:cNvSpPr txBox="1"/>
          <p:nvPr>
            <p:ph idx="3" type="body"/>
          </p:nvPr>
        </p:nvSpPr>
        <p:spPr>
          <a:xfrm>
            <a:off x="6373368" y="2074334"/>
            <a:ext cx="4754880" cy="64008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0"/>
              </a:spcBef>
              <a:spcAft>
                <a:spcPts val="0"/>
              </a:spcAft>
              <a:buSzPts val="1900"/>
              <a:buNone/>
              <a:defRPr b="0" sz="1900">
                <a:solidFill>
                  <a:schemeClr val="dk2"/>
                </a:solidFill>
              </a:defRPr>
            </a:lvl1pPr>
            <a:lvl2pPr indent="-228600" lvl="1" marL="914400" algn="l">
              <a:lnSpc>
                <a:spcPct val="100000"/>
              </a:lnSpc>
              <a:spcBef>
                <a:spcPts val="500"/>
              </a:spcBef>
              <a:spcAft>
                <a:spcPts val="0"/>
              </a:spcAft>
              <a:buSzPts val="1900"/>
              <a:buNone/>
              <a:defRPr b="1" sz="19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58" name="Google Shape;58;p27"/>
          <p:cNvSpPr txBox="1"/>
          <p:nvPr>
            <p:ph idx="4" type="body"/>
          </p:nvPr>
        </p:nvSpPr>
        <p:spPr>
          <a:xfrm>
            <a:off x="6373368" y="2756581"/>
            <a:ext cx="4754880" cy="3200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59" name="Google Shape;59;p27"/>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7"/>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p28"/>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8"/>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8"/>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sp>
        <p:nvSpPr>
          <p:cNvPr id="68" name="Google Shape;68;p29"/>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9"/>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1" name="Shape 71"/>
        <p:cNvGrpSpPr/>
        <p:nvPr/>
      </p:nvGrpSpPr>
      <p:grpSpPr>
        <a:xfrm>
          <a:off x="0" y="0"/>
          <a:ext cx="0" cy="0"/>
          <a:chOff x="0" y="0"/>
          <a:chExt cx="0" cy="0"/>
        </a:xfrm>
      </p:grpSpPr>
      <p:sp>
        <p:nvSpPr>
          <p:cNvPr id="72" name="Google Shape;72;p30"/>
          <p:cNvSpPr/>
          <p:nvPr/>
        </p:nvSpPr>
        <p:spPr>
          <a:xfrm>
            <a:off x="245529" y="237744"/>
            <a:ext cx="8531352" cy="6382512"/>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0"/>
          <p:cNvSpPr/>
          <p:nvPr/>
        </p:nvSpPr>
        <p:spPr>
          <a:xfrm>
            <a:off x="9020386" y="237744"/>
            <a:ext cx="2926080" cy="638251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0"/>
          <p:cNvSpPr txBox="1"/>
          <p:nvPr>
            <p:ph type="title"/>
          </p:nvPr>
        </p:nvSpPr>
        <p:spPr>
          <a:xfrm>
            <a:off x="9296400" y="607392"/>
            <a:ext cx="2430780" cy="16459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2800"/>
              <a:buFont typeface="Century Gothic"/>
              <a:buNone/>
              <a:defRPr b="0" sz="2800" cap="none">
                <a:solidFill>
                  <a:srgbClr val="FFFFFF"/>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30"/>
          <p:cNvSpPr txBox="1"/>
          <p:nvPr>
            <p:ph idx="1" type="body"/>
          </p:nvPr>
        </p:nvSpPr>
        <p:spPr>
          <a:xfrm>
            <a:off x="685800" y="609600"/>
            <a:ext cx="7772400" cy="5334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76" name="Google Shape;76;p30"/>
          <p:cNvSpPr txBox="1"/>
          <p:nvPr>
            <p:ph idx="2" type="body"/>
          </p:nvPr>
        </p:nvSpPr>
        <p:spPr>
          <a:xfrm>
            <a:off x="9296400" y="2286000"/>
            <a:ext cx="2430780" cy="35052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400"/>
              <a:buNone/>
              <a:defRPr sz="1400">
                <a:solidFill>
                  <a:srgbClr val="FFFFFF"/>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77" name="Google Shape;77;p30"/>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2" type="sldNum"/>
          </p:nvPr>
        </p:nvSpPr>
        <p:spPr>
          <a:xfrm>
            <a:off x="10393677" y="622300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1000">
                <a:solidFill>
                  <a:srgbClr val="FFFFFF"/>
                </a:solidFill>
                <a:latin typeface="Century Gothic"/>
                <a:ea typeface="Century Gothic"/>
                <a:cs typeface="Century Gothic"/>
                <a:sym typeface="Century Gothic"/>
              </a:defRPr>
            </a:lvl1pPr>
            <a:lvl2pPr indent="0" lvl="1" marL="0" algn="r">
              <a:spcBef>
                <a:spcPts val="0"/>
              </a:spcBef>
              <a:buNone/>
              <a:defRPr sz="1000">
                <a:solidFill>
                  <a:srgbClr val="FFFFFF"/>
                </a:solidFill>
                <a:latin typeface="Century Gothic"/>
                <a:ea typeface="Century Gothic"/>
                <a:cs typeface="Century Gothic"/>
                <a:sym typeface="Century Gothic"/>
              </a:defRPr>
            </a:lvl2pPr>
            <a:lvl3pPr indent="0" lvl="2" marL="0" algn="r">
              <a:spcBef>
                <a:spcPts val="0"/>
              </a:spcBef>
              <a:buNone/>
              <a:defRPr sz="1000">
                <a:solidFill>
                  <a:srgbClr val="FFFFFF"/>
                </a:solidFill>
                <a:latin typeface="Century Gothic"/>
                <a:ea typeface="Century Gothic"/>
                <a:cs typeface="Century Gothic"/>
                <a:sym typeface="Century Gothic"/>
              </a:defRPr>
            </a:lvl3pPr>
            <a:lvl4pPr indent="0" lvl="3" marL="0" algn="r">
              <a:spcBef>
                <a:spcPts val="0"/>
              </a:spcBef>
              <a:buNone/>
              <a:defRPr sz="1000">
                <a:solidFill>
                  <a:srgbClr val="FFFFFF"/>
                </a:solidFill>
                <a:latin typeface="Century Gothic"/>
                <a:ea typeface="Century Gothic"/>
                <a:cs typeface="Century Gothic"/>
                <a:sym typeface="Century Gothic"/>
              </a:defRPr>
            </a:lvl4pPr>
            <a:lvl5pPr indent="0" lvl="4" marL="0" algn="r">
              <a:spcBef>
                <a:spcPts val="0"/>
              </a:spcBef>
              <a:buNone/>
              <a:defRPr sz="1000">
                <a:solidFill>
                  <a:srgbClr val="FFFFFF"/>
                </a:solidFill>
                <a:latin typeface="Century Gothic"/>
                <a:ea typeface="Century Gothic"/>
                <a:cs typeface="Century Gothic"/>
                <a:sym typeface="Century Gothic"/>
              </a:defRPr>
            </a:lvl5pPr>
            <a:lvl6pPr indent="0" lvl="5" marL="0" algn="r">
              <a:spcBef>
                <a:spcPts val="0"/>
              </a:spcBef>
              <a:buNone/>
              <a:defRPr sz="1000">
                <a:solidFill>
                  <a:srgbClr val="FFFFFF"/>
                </a:solidFill>
                <a:latin typeface="Century Gothic"/>
                <a:ea typeface="Century Gothic"/>
                <a:cs typeface="Century Gothic"/>
                <a:sym typeface="Century Gothic"/>
              </a:defRPr>
            </a:lvl6pPr>
            <a:lvl7pPr indent="0" lvl="6" marL="0" algn="r">
              <a:spcBef>
                <a:spcPts val="0"/>
              </a:spcBef>
              <a:buNone/>
              <a:defRPr sz="1000">
                <a:solidFill>
                  <a:srgbClr val="FFFFFF"/>
                </a:solidFill>
                <a:latin typeface="Century Gothic"/>
                <a:ea typeface="Century Gothic"/>
                <a:cs typeface="Century Gothic"/>
                <a:sym typeface="Century Gothic"/>
              </a:defRPr>
            </a:lvl7pPr>
            <a:lvl8pPr indent="0" lvl="7" marL="0" algn="r">
              <a:spcBef>
                <a:spcPts val="0"/>
              </a:spcBef>
              <a:buNone/>
              <a:defRPr sz="1000">
                <a:solidFill>
                  <a:srgbClr val="FFFFFF"/>
                </a:solidFill>
                <a:latin typeface="Century Gothic"/>
                <a:ea typeface="Century Gothic"/>
                <a:cs typeface="Century Gothic"/>
                <a:sym typeface="Century Gothic"/>
              </a:defRPr>
            </a:lvl8pPr>
            <a:lvl9pPr indent="0" lvl="8" marL="0" algn="r">
              <a:spcBef>
                <a:spcPts val="0"/>
              </a:spcBef>
              <a:buNone/>
              <a:defRPr sz="1000">
                <a:solidFill>
                  <a:srgbClr val="FF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80" name="Google Shape;80;p30"/>
          <p:cNvSpPr/>
          <p:nvPr/>
        </p:nvSpPr>
        <p:spPr>
          <a:xfrm>
            <a:off x="9157546" y="374904"/>
            <a:ext cx="2651760" cy="6108192"/>
          </a:xfrm>
          <a:prstGeom prst="rect">
            <a:avLst/>
          </a:prstGeom>
          <a:noFill/>
          <a:ln cap="sq" cmpd="sng" w="9525">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1" name="Shape 81"/>
        <p:cNvGrpSpPr/>
        <p:nvPr/>
      </p:nvGrpSpPr>
      <p:grpSpPr>
        <a:xfrm>
          <a:off x="0" y="0"/>
          <a:ext cx="0" cy="0"/>
          <a:chOff x="0" y="0"/>
          <a:chExt cx="0" cy="0"/>
        </a:xfrm>
      </p:grpSpPr>
      <p:sp>
        <p:nvSpPr>
          <p:cNvPr id="82" name="Google Shape;82;p31"/>
          <p:cNvSpPr/>
          <p:nvPr/>
        </p:nvSpPr>
        <p:spPr>
          <a:xfrm>
            <a:off x="9020386" y="237744"/>
            <a:ext cx="2926080" cy="638251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1"/>
          <p:cNvSpPr txBox="1"/>
          <p:nvPr>
            <p:ph type="title"/>
          </p:nvPr>
        </p:nvSpPr>
        <p:spPr>
          <a:xfrm>
            <a:off x="9296400" y="603504"/>
            <a:ext cx="2432304" cy="164592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FFFFFF"/>
              </a:buClr>
              <a:buSzPts val="2800"/>
              <a:buFont typeface="Century Gothic"/>
              <a:buNone/>
              <a:defRPr b="0" sz="2800">
                <a:solidFill>
                  <a:srgbClr val="FFFFFF"/>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1"/>
          <p:cNvSpPr/>
          <p:nvPr>
            <p:ph idx="2" type="pic"/>
          </p:nvPr>
        </p:nvSpPr>
        <p:spPr>
          <a:xfrm>
            <a:off x="228599" y="237744"/>
            <a:ext cx="8531352" cy="6382512"/>
          </a:xfrm>
          <a:prstGeom prst="rect">
            <a:avLst/>
          </a:prstGeom>
          <a:solidFill>
            <a:srgbClr val="76CEEF"/>
          </a:solidFill>
          <a:ln>
            <a:noFill/>
          </a:ln>
        </p:spPr>
      </p:sp>
      <p:sp>
        <p:nvSpPr>
          <p:cNvPr id="85" name="Google Shape;85;p31"/>
          <p:cNvSpPr txBox="1"/>
          <p:nvPr>
            <p:ph idx="1" type="body"/>
          </p:nvPr>
        </p:nvSpPr>
        <p:spPr>
          <a:xfrm>
            <a:off x="9296400" y="2286000"/>
            <a:ext cx="2432304" cy="350215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400"/>
              <a:buNone/>
              <a:defRPr sz="1400">
                <a:solidFill>
                  <a:srgbClr val="FFFFFF"/>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86" name="Google Shape;86;p31"/>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1"/>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sz="1000">
                <a:solidFill>
                  <a:srgbClr val="FFFFFF"/>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1"/>
          <p:cNvSpPr txBox="1"/>
          <p:nvPr>
            <p:ph idx="12" type="sldNum"/>
          </p:nvPr>
        </p:nvSpPr>
        <p:spPr>
          <a:xfrm>
            <a:off x="10396728" y="6227064"/>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1000">
                <a:solidFill>
                  <a:srgbClr val="FFFFFF"/>
                </a:solidFill>
                <a:latin typeface="Century Gothic"/>
                <a:ea typeface="Century Gothic"/>
                <a:cs typeface="Century Gothic"/>
                <a:sym typeface="Century Gothic"/>
              </a:defRPr>
            </a:lvl1pPr>
            <a:lvl2pPr indent="0" lvl="1" marL="0" algn="r">
              <a:spcBef>
                <a:spcPts val="0"/>
              </a:spcBef>
              <a:buNone/>
              <a:defRPr sz="1000">
                <a:solidFill>
                  <a:srgbClr val="FFFFFF"/>
                </a:solidFill>
                <a:latin typeface="Century Gothic"/>
                <a:ea typeface="Century Gothic"/>
                <a:cs typeface="Century Gothic"/>
                <a:sym typeface="Century Gothic"/>
              </a:defRPr>
            </a:lvl2pPr>
            <a:lvl3pPr indent="0" lvl="2" marL="0" algn="r">
              <a:spcBef>
                <a:spcPts val="0"/>
              </a:spcBef>
              <a:buNone/>
              <a:defRPr sz="1000">
                <a:solidFill>
                  <a:srgbClr val="FFFFFF"/>
                </a:solidFill>
                <a:latin typeface="Century Gothic"/>
                <a:ea typeface="Century Gothic"/>
                <a:cs typeface="Century Gothic"/>
                <a:sym typeface="Century Gothic"/>
              </a:defRPr>
            </a:lvl3pPr>
            <a:lvl4pPr indent="0" lvl="3" marL="0" algn="r">
              <a:spcBef>
                <a:spcPts val="0"/>
              </a:spcBef>
              <a:buNone/>
              <a:defRPr sz="1000">
                <a:solidFill>
                  <a:srgbClr val="FFFFFF"/>
                </a:solidFill>
                <a:latin typeface="Century Gothic"/>
                <a:ea typeface="Century Gothic"/>
                <a:cs typeface="Century Gothic"/>
                <a:sym typeface="Century Gothic"/>
              </a:defRPr>
            </a:lvl4pPr>
            <a:lvl5pPr indent="0" lvl="4" marL="0" algn="r">
              <a:spcBef>
                <a:spcPts val="0"/>
              </a:spcBef>
              <a:buNone/>
              <a:defRPr sz="1000">
                <a:solidFill>
                  <a:srgbClr val="FFFFFF"/>
                </a:solidFill>
                <a:latin typeface="Century Gothic"/>
                <a:ea typeface="Century Gothic"/>
                <a:cs typeface="Century Gothic"/>
                <a:sym typeface="Century Gothic"/>
              </a:defRPr>
            </a:lvl5pPr>
            <a:lvl6pPr indent="0" lvl="5" marL="0" algn="r">
              <a:spcBef>
                <a:spcPts val="0"/>
              </a:spcBef>
              <a:buNone/>
              <a:defRPr sz="1000">
                <a:solidFill>
                  <a:srgbClr val="FFFFFF"/>
                </a:solidFill>
                <a:latin typeface="Century Gothic"/>
                <a:ea typeface="Century Gothic"/>
                <a:cs typeface="Century Gothic"/>
                <a:sym typeface="Century Gothic"/>
              </a:defRPr>
            </a:lvl6pPr>
            <a:lvl7pPr indent="0" lvl="6" marL="0" algn="r">
              <a:spcBef>
                <a:spcPts val="0"/>
              </a:spcBef>
              <a:buNone/>
              <a:defRPr sz="1000">
                <a:solidFill>
                  <a:srgbClr val="FFFFFF"/>
                </a:solidFill>
                <a:latin typeface="Century Gothic"/>
                <a:ea typeface="Century Gothic"/>
                <a:cs typeface="Century Gothic"/>
                <a:sym typeface="Century Gothic"/>
              </a:defRPr>
            </a:lvl7pPr>
            <a:lvl8pPr indent="0" lvl="7" marL="0" algn="r">
              <a:spcBef>
                <a:spcPts val="0"/>
              </a:spcBef>
              <a:buNone/>
              <a:defRPr sz="1000">
                <a:solidFill>
                  <a:srgbClr val="FFFFFF"/>
                </a:solidFill>
                <a:latin typeface="Century Gothic"/>
                <a:ea typeface="Century Gothic"/>
                <a:cs typeface="Century Gothic"/>
                <a:sym typeface="Century Gothic"/>
              </a:defRPr>
            </a:lvl8pPr>
            <a:lvl9pPr indent="0" lvl="8" marL="0" algn="r">
              <a:spcBef>
                <a:spcPts val="0"/>
              </a:spcBef>
              <a:buNone/>
              <a:defRPr sz="1000">
                <a:solidFill>
                  <a:srgbClr val="FF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31"/>
          <p:cNvSpPr/>
          <p:nvPr/>
        </p:nvSpPr>
        <p:spPr>
          <a:xfrm>
            <a:off x="9157546" y="374904"/>
            <a:ext cx="2651760" cy="6108192"/>
          </a:xfrm>
          <a:prstGeom prst="rect">
            <a:avLst/>
          </a:prstGeom>
          <a:noFill/>
          <a:ln cap="sq" cmpd="sng" w="9525">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32"/>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2"/>
          <p:cNvSpPr txBox="1"/>
          <p:nvPr>
            <p:ph idx="1" type="body"/>
          </p:nvPr>
        </p:nvSpPr>
        <p:spPr>
          <a:xfrm rot="5400000">
            <a:off x="4130040" y="-960120"/>
            <a:ext cx="3931920" cy="10058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93" name="Google Shape;93;p32"/>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2"/>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2"/>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33"/>
          <p:cNvSpPr txBox="1"/>
          <p:nvPr>
            <p:ph type="title"/>
          </p:nvPr>
        </p:nvSpPr>
        <p:spPr>
          <a:xfrm rot="5400000">
            <a:off x="7543800" y="2209800"/>
            <a:ext cx="5257800" cy="2362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33"/>
          <p:cNvSpPr txBox="1"/>
          <p:nvPr>
            <p:ph idx="1" type="body"/>
          </p:nvPr>
        </p:nvSpPr>
        <p:spPr>
          <a:xfrm rot="5400000">
            <a:off x="2247900" y="-647700"/>
            <a:ext cx="5257800" cy="80772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99" name="Google Shape;99;p33"/>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33"/>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3"/>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2"/>
          <p:cNvSpPr/>
          <p:nvPr/>
        </p:nvSpPr>
        <p:spPr>
          <a:xfrm>
            <a:off x="234696" y="237744"/>
            <a:ext cx="11722608" cy="6382512"/>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22"/>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62626"/>
              </a:buClr>
              <a:buSzPts val="4800"/>
              <a:buFont typeface="Century Gothic"/>
              <a:buNone/>
              <a:defRPr b="0" i="0" sz="4800" u="none" cap="none" strike="noStrike">
                <a:solidFill>
                  <a:srgbClr val="262626"/>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22"/>
          <p:cNvSpPr txBox="1"/>
          <p:nvPr>
            <p:ph idx="1" type="body"/>
          </p:nvPr>
        </p:nvSpPr>
        <p:spPr>
          <a:xfrm>
            <a:off x="1066800" y="2103120"/>
            <a:ext cx="10058400" cy="393192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900"/>
              </a:spcBef>
              <a:spcAft>
                <a:spcPts val="0"/>
              </a:spcAft>
              <a:buClr>
                <a:srgbClr val="262626"/>
              </a:buClr>
              <a:buSzPts val="1800"/>
              <a:buFont typeface="Garamond"/>
              <a:buChar char="◦"/>
              <a:defRPr b="0" i="0" sz="1800" u="none" cap="none" strike="noStrike">
                <a:solidFill>
                  <a:schemeClr val="dk1"/>
                </a:solidFill>
                <a:latin typeface="Century Gothic"/>
                <a:ea typeface="Century Gothic"/>
                <a:cs typeface="Century Gothic"/>
                <a:sym typeface="Century Gothic"/>
              </a:defRPr>
            </a:lvl1pPr>
            <a:lvl2pPr indent="-330200" lvl="1" marL="914400" marR="0" rtl="0" algn="l">
              <a:lnSpc>
                <a:spcPct val="100000"/>
              </a:lnSpc>
              <a:spcBef>
                <a:spcPts val="500"/>
              </a:spcBef>
              <a:spcAft>
                <a:spcPts val="0"/>
              </a:spcAft>
              <a:buClr>
                <a:srgbClr val="262626"/>
              </a:buClr>
              <a:buSzPts val="1600"/>
              <a:buFont typeface="Garamond"/>
              <a:buChar char="◦"/>
              <a:defRPr b="0" i="0" sz="1600" u="none" cap="none" strike="noStrike">
                <a:solidFill>
                  <a:schemeClr val="dk1"/>
                </a:solidFill>
                <a:latin typeface="Century Gothic"/>
                <a:ea typeface="Century Gothic"/>
                <a:cs typeface="Century Gothic"/>
                <a:sym typeface="Century Gothic"/>
              </a:defRPr>
            </a:lvl2pPr>
            <a:lvl3pPr indent="-317500" lvl="2" marL="1371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3pPr>
            <a:lvl4pPr indent="-317500" lvl="3" marL="1828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4pPr>
            <a:lvl5pPr indent="-317500" lvl="4" marL="22860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5pPr>
            <a:lvl6pPr indent="-317500" lvl="5" marL="27432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6pPr>
            <a:lvl7pPr indent="-317500" lvl="6" marL="32004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7pPr>
            <a:lvl8pPr indent="-317500" lvl="7" marL="3657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8pPr>
            <a:lvl9pPr indent="-317500" lvl="8" marL="4114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Century Gothic"/>
                <a:ea typeface="Century Gothic"/>
                <a:cs typeface="Century Gothic"/>
                <a:sym typeface="Century Gothic"/>
              </a:defRPr>
            </a:lvl9pPr>
          </a:lstStyle>
          <a:p/>
        </p:txBody>
      </p:sp>
      <p:sp>
        <p:nvSpPr>
          <p:cNvPr id="9" name="Google Shape;9;p22"/>
          <p:cNvSpPr txBox="1"/>
          <p:nvPr>
            <p:ph idx="10" type="dt"/>
          </p:nvPr>
        </p:nvSpPr>
        <p:spPr>
          <a:xfrm>
            <a:off x="274320" y="6307672"/>
            <a:ext cx="2743200" cy="27432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3F3F3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0" name="Google Shape;10;p22"/>
          <p:cNvSpPr txBox="1"/>
          <p:nvPr>
            <p:ph idx="11" type="ftr"/>
          </p:nvPr>
        </p:nvSpPr>
        <p:spPr>
          <a:xfrm>
            <a:off x="3489960" y="6307672"/>
            <a:ext cx="5212080" cy="27432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1000" u="none" cap="none" strike="noStrike">
                <a:solidFill>
                  <a:srgbClr val="3F3F3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1" name="Google Shape;11;p22"/>
          <p:cNvSpPr txBox="1"/>
          <p:nvPr>
            <p:ph idx="12" type="sldNum"/>
          </p:nvPr>
        </p:nvSpPr>
        <p:spPr>
          <a:xfrm>
            <a:off x="10469880" y="6307672"/>
            <a:ext cx="1463040" cy="27432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1000" u="none" cap="none" strike="noStrike">
                <a:solidFill>
                  <a:srgbClr val="3F3F3F"/>
                </a:solidFill>
                <a:latin typeface="Century Gothic"/>
                <a:ea typeface="Century Gothic"/>
                <a:cs typeface="Century Gothic"/>
                <a:sym typeface="Century Gothic"/>
              </a:defRPr>
            </a:lvl1pPr>
            <a:lvl2pPr indent="0" lvl="1" marL="0" marR="0" rtl="0" algn="r">
              <a:spcBef>
                <a:spcPts val="0"/>
              </a:spcBef>
              <a:buNone/>
              <a:defRPr b="0" i="0" sz="1000" u="none" cap="none" strike="noStrike">
                <a:solidFill>
                  <a:srgbClr val="3F3F3F"/>
                </a:solidFill>
                <a:latin typeface="Century Gothic"/>
                <a:ea typeface="Century Gothic"/>
                <a:cs typeface="Century Gothic"/>
                <a:sym typeface="Century Gothic"/>
              </a:defRPr>
            </a:lvl2pPr>
            <a:lvl3pPr indent="0" lvl="2" marL="0" marR="0" rtl="0" algn="r">
              <a:spcBef>
                <a:spcPts val="0"/>
              </a:spcBef>
              <a:buNone/>
              <a:defRPr b="0" i="0" sz="1000" u="none" cap="none" strike="noStrike">
                <a:solidFill>
                  <a:srgbClr val="3F3F3F"/>
                </a:solidFill>
                <a:latin typeface="Century Gothic"/>
                <a:ea typeface="Century Gothic"/>
                <a:cs typeface="Century Gothic"/>
                <a:sym typeface="Century Gothic"/>
              </a:defRPr>
            </a:lvl3pPr>
            <a:lvl4pPr indent="0" lvl="3" marL="0" marR="0" rtl="0" algn="r">
              <a:spcBef>
                <a:spcPts val="0"/>
              </a:spcBef>
              <a:buNone/>
              <a:defRPr b="0" i="0" sz="1000" u="none" cap="none" strike="noStrike">
                <a:solidFill>
                  <a:srgbClr val="3F3F3F"/>
                </a:solidFill>
                <a:latin typeface="Century Gothic"/>
                <a:ea typeface="Century Gothic"/>
                <a:cs typeface="Century Gothic"/>
                <a:sym typeface="Century Gothic"/>
              </a:defRPr>
            </a:lvl4pPr>
            <a:lvl5pPr indent="0" lvl="4" marL="0" marR="0" rtl="0" algn="r">
              <a:spcBef>
                <a:spcPts val="0"/>
              </a:spcBef>
              <a:buNone/>
              <a:defRPr b="0" i="0" sz="1000" u="none" cap="none" strike="noStrike">
                <a:solidFill>
                  <a:srgbClr val="3F3F3F"/>
                </a:solidFill>
                <a:latin typeface="Century Gothic"/>
                <a:ea typeface="Century Gothic"/>
                <a:cs typeface="Century Gothic"/>
                <a:sym typeface="Century Gothic"/>
              </a:defRPr>
            </a:lvl5pPr>
            <a:lvl6pPr indent="0" lvl="5" marL="0" marR="0" rtl="0" algn="r">
              <a:spcBef>
                <a:spcPts val="0"/>
              </a:spcBef>
              <a:buNone/>
              <a:defRPr b="0" i="0" sz="1000" u="none" cap="none" strike="noStrike">
                <a:solidFill>
                  <a:srgbClr val="3F3F3F"/>
                </a:solidFill>
                <a:latin typeface="Century Gothic"/>
                <a:ea typeface="Century Gothic"/>
                <a:cs typeface="Century Gothic"/>
                <a:sym typeface="Century Gothic"/>
              </a:defRPr>
            </a:lvl6pPr>
            <a:lvl7pPr indent="0" lvl="6" marL="0" marR="0" rtl="0" algn="r">
              <a:spcBef>
                <a:spcPts val="0"/>
              </a:spcBef>
              <a:buNone/>
              <a:defRPr b="0" i="0" sz="1000" u="none" cap="none" strike="noStrike">
                <a:solidFill>
                  <a:srgbClr val="3F3F3F"/>
                </a:solidFill>
                <a:latin typeface="Century Gothic"/>
                <a:ea typeface="Century Gothic"/>
                <a:cs typeface="Century Gothic"/>
                <a:sym typeface="Century Gothic"/>
              </a:defRPr>
            </a:lvl7pPr>
            <a:lvl8pPr indent="0" lvl="7" marL="0" marR="0" rtl="0" algn="r">
              <a:spcBef>
                <a:spcPts val="0"/>
              </a:spcBef>
              <a:buNone/>
              <a:defRPr b="0" i="0" sz="1000" u="none" cap="none" strike="noStrike">
                <a:solidFill>
                  <a:srgbClr val="3F3F3F"/>
                </a:solidFill>
                <a:latin typeface="Century Gothic"/>
                <a:ea typeface="Century Gothic"/>
                <a:cs typeface="Century Gothic"/>
                <a:sym typeface="Century Gothic"/>
              </a:defRPr>
            </a:lvl8pPr>
            <a:lvl9pPr indent="0" lvl="8" marL="0" marR="0" rtl="0" algn="r">
              <a:spcBef>
                <a:spcPts val="0"/>
              </a:spcBef>
              <a:buNone/>
              <a:defRPr b="0" i="0" sz="1000" u="none" cap="none" strike="noStrike">
                <a:solidFill>
                  <a:srgbClr val="3F3F3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 name="Shape 105"/>
        <p:cNvGrpSpPr/>
        <p:nvPr/>
      </p:nvGrpSpPr>
      <p:grpSpPr>
        <a:xfrm>
          <a:off x="0" y="0"/>
          <a:ext cx="0" cy="0"/>
          <a:chOff x="0" y="0"/>
          <a:chExt cx="0" cy="0"/>
        </a:xfrm>
      </p:grpSpPr>
      <p:sp>
        <p:nvSpPr>
          <p:cNvPr id="106" name="Google Shape;106;p1"/>
          <p:cNvSpPr/>
          <p:nvPr/>
        </p:nvSpPr>
        <p:spPr>
          <a:xfrm>
            <a:off x="1066800" y="423519"/>
            <a:ext cx="10058400" cy="13716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i="0" lang="en-US" sz="4100" u="none" cap="none" strike="noStrike">
                <a:solidFill>
                  <a:srgbClr val="262626"/>
                </a:solidFill>
                <a:latin typeface="Century Gothic"/>
                <a:ea typeface="Century Gothic"/>
                <a:cs typeface="Century Gothic"/>
                <a:sym typeface="Century Gothic"/>
              </a:rPr>
              <a:t>Welcome to the Java Interview </a:t>
            </a:r>
            <a:endParaRPr/>
          </a:p>
          <a:p>
            <a:pPr indent="0" lvl="0" marL="0" marR="0" rtl="0" algn="l">
              <a:lnSpc>
                <a:spcPct val="90000"/>
              </a:lnSpc>
              <a:spcBef>
                <a:spcPts val="600"/>
              </a:spcBef>
              <a:spcAft>
                <a:spcPts val="0"/>
              </a:spcAft>
              <a:buNone/>
            </a:pPr>
            <a:r>
              <a:rPr b="1" i="0" lang="en-US" sz="4100" u="none" cap="none" strike="noStrike">
                <a:solidFill>
                  <a:srgbClr val="262626"/>
                </a:solidFill>
                <a:latin typeface="Century Gothic"/>
                <a:ea typeface="Century Gothic"/>
                <a:cs typeface="Century Gothic"/>
                <a:sym typeface="Century Gothic"/>
              </a:rPr>
              <a:t>Help course</a:t>
            </a:r>
            <a:endParaRPr/>
          </a:p>
        </p:txBody>
      </p:sp>
      <p:sp>
        <p:nvSpPr>
          <p:cNvPr id="107" name="Google Shape;107;p1"/>
          <p:cNvSpPr txBox="1"/>
          <p:nvPr>
            <p:ph idx="1" type="body"/>
          </p:nvPr>
        </p:nvSpPr>
        <p:spPr>
          <a:xfrm>
            <a:off x="1066800" y="1795119"/>
            <a:ext cx="8258175" cy="3931920"/>
          </a:xfrm>
          <a:prstGeom prst="rect">
            <a:avLst/>
          </a:prstGeom>
          <a:noFill/>
          <a:ln>
            <a:noFill/>
          </a:ln>
        </p:spPr>
        <p:txBody>
          <a:bodyPr anchorCtr="0" anchor="t" bIns="45700" lIns="91425" spcFirstLastPara="1" rIns="91425" wrap="square" tIns="45700">
            <a:noAutofit/>
          </a:bodyPr>
          <a:lstStyle/>
          <a:p>
            <a:pPr indent="-182880" lvl="0" marL="182880" rtl="0" algn="just">
              <a:lnSpc>
                <a:spcPct val="90000"/>
              </a:lnSpc>
              <a:spcBef>
                <a:spcPts val="0"/>
              </a:spcBef>
              <a:spcAft>
                <a:spcPts val="0"/>
              </a:spcAft>
              <a:buSzPts val="1800"/>
              <a:buChar char="◦"/>
            </a:pPr>
            <a:r>
              <a:rPr lang="en-US"/>
              <a:t>This is Mayank Chugh, I am a software architect in CMM level 5 company </a:t>
            </a:r>
            <a:endParaRPr/>
          </a:p>
          <a:p>
            <a:pPr indent="-182880" lvl="0" marL="182880" rtl="0" algn="just">
              <a:lnSpc>
                <a:spcPct val="90000"/>
              </a:lnSpc>
              <a:spcBef>
                <a:spcPts val="900"/>
              </a:spcBef>
              <a:spcAft>
                <a:spcPts val="0"/>
              </a:spcAft>
              <a:buSzPts val="1800"/>
              <a:buChar char="◦"/>
            </a:pPr>
            <a:r>
              <a:rPr lang="en-US"/>
              <a:t>Various interview questions - in upcoming videos. You can watch those videos in any order. You can pick a topic and quickly review watch it.</a:t>
            </a:r>
            <a:endParaRPr/>
          </a:p>
          <a:p>
            <a:pPr indent="-182880" lvl="0" marL="182880" rtl="0" algn="just">
              <a:lnSpc>
                <a:spcPct val="90000"/>
              </a:lnSpc>
              <a:spcBef>
                <a:spcPts val="900"/>
              </a:spcBef>
              <a:spcAft>
                <a:spcPts val="0"/>
              </a:spcAft>
              <a:buSzPts val="1800"/>
              <a:buChar char="◦"/>
            </a:pPr>
            <a:r>
              <a:rPr lang="en-US"/>
              <a:t>Hands-On lectures. For those hands on lectures you can use intellij idea ide or Eclipse or Spring tool suite STS. </a:t>
            </a:r>
            <a:endParaRPr/>
          </a:p>
          <a:p>
            <a:pPr indent="-182880" lvl="0" marL="182880" rtl="0" algn="just">
              <a:lnSpc>
                <a:spcPct val="90000"/>
              </a:lnSpc>
              <a:spcBef>
                <a:spcPts val="900"/>
              </a:spcBef>
              <a:spcAft>
                <a:spcPts val="0"/>
              </a:spcAft>
              <a:buSzPts val="1800"/>
              <a:buChar char="◦"/>
            </a:pPr>
            <a:r>
              <a:rPr lang="en-US"/>
              <a:t>Please leave your question in comment section. I will try to respond you ASAP. </a:t>
            </a:r>
            <a:endParaRPr/>
          </a:p>
          <a:p>
            <a:pPr indent="-182880" lvl="0" marL="182880" rtl="0" algn="just">
              <a:lnSpc>
                <a:spcPct val="90000"/>
              </a:lnSpc>
              <a:spcBef>
                <a:spcPts val="900"/>
              </a:spcBef>
              <a:spcAft>
                <a:spcPts val="0"/>
              </a:spcAft>
              <a:buSzPts val="1800"/>
              <a:buChar char="◦"/>
            </a:pPr>
            <a:r>
              <a:rPr lang="en-US"/>
              <a:t>I recommend that you share your interview experiences and also try to answer other student questions as it is a great way of learning and sharing.</a:t>
            </a:r>
            <a:endParaRPr/>
          </a:p>
          <a:p>
            <a:pPr indent="-182880" lvl="0" marL="182880" rtl="0" algn="just">
              <a:lnSpc>
                <a:spcPct val="90000"/>
              </a:lnSpc>
              <a:spcBef>
                <a:spcPts val="900"/>
              </a:spcBef>
              <a:spcAft>
                <a:spcPts val="0"/>
              </a:spcAft>
              <a:buSzPts val="1800"/>
              <a:buChar char="◦"/>
            </a:pPr>
            <a:r>
              <a:rPr lang="en-US"/>
              <a:t>Lastly please share your </a:t>
            </a:r>
            <a:r>
              <a:rPr b="1" lang="en-US"/>
              <a:t>feedback</a:t>
            </a:r>
            <a:r>
              <a:rPr lang="en-US"/>
              <a:t>, </a:t>
            </a:r>
            <a:r>
              <a:rPr b="1" lang="en-US"/>
              <a:t>subscribe</a:t>
            </a:r>
            <a:r>
              <a:rPr lang="en-US"/>
              <a:t> my channel and press the </a:t>
            </a:r>
            <a:r>
              <a:rPr b="1" lang="en-US"/>
              <a:t>bell icon </a:t>
            </a:r>
            <a:r>
              <a:rPr lang="en-US"/>
              <a:t>to get you notify for upcoming videos. </a:t>
            </a:r>
            <a:endParaRPr/>
          </a:p>
        </p:txBody>
      </p:sp>
      <p:pic>
        <p:nvPicPr>
          <p:cNvPr id="108" name="Google Shape;108;p1"/>
          <p:cNvPicPr preferRelativeResize="0"/>
          <p:nvPr/>
        </p:nvPicPr>
        <p:blipFill rotWithShape="1">
          <a:blip r:embed="rId3">
            <a:alphaModFix/>
          </a:blip>
          <a:srcRect b="0" l="11910" r="10159" t="0"/>
          <a:stretch/>
        </p:blipFill>
        <p:spPr>
          <a:xfrm>
            <a:off x="9725025" y="2313889"/>
            <a:ext cx="1905742" cy="229261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
          <p:cNvSpPr/>
          <p:nvPr/>
        </p:nvSpPr>
        <p:spPr>
          <a:xfrm>
            <a:off x="1066800" y="233019"/>
            <a:ext cx="10058400" cy="67185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i="0" lang="en-US" sz="3200" u="none" cap="none" strike="noStrike">
                <a:solidFill>
                  <a:srgbClr val="262626"/>
                </a:solidFill>
                <a:latin typeface="Century Gothic"/>
                <a:ea typeface="Century Gothic"/>
                <a:cs typeface="Century Gothic"/>
                <a:sym typeface="Century Gothic"/>
              </a:rPr>
              <a:t>Welcome to the Java Interview Help course</a:t>
            </a:r>
            <a:endParaRPr/>
          </a:p>
        </p:txBody>
      </p:sp>
      <p:sp>
        <p:nvSpPr>
          <p:cNvPr id="114" name="Google Shape;114;p2"/>
          <p:cNvSpPr txBox="1"/>
          <p:nvPr/>
        </p:nvSpPr>
        <p:spPr>
          <a:xfrm>
            <a:off x="623887" y="1885222"/>
            <a:ext cx="11115675" cy="3168240"/>
          </a:xfrm>
          <a:prstGeom prst="rect">
            <a:avLst/>
          </a:prstGeom>
          <a:noFill/>
          <a:ln>
            <a:noFill/>
          </a:ln>
        </p:spPr>
        <p:txBody>
          <a:bodyPr anchorCtr="0" anchor="t" bIns="45700" lIns="91425" spcFirstLastPara="1" rIns="91425" wrap="square" tIns="45700">
            <a:spAutoFit/>
          </a:bodyPr>
          <a:lstStyle/>
          <a:p>
            <a:pPr indent="0" lvl="0" marL="0" marR="4445" rtl="0" algn="l">
              <a:lnSpc>
                <a:spcPct val="107000"/>
              </a:lnSpc>
              <a:spcBef>
                <a:spcPts val="0"/>
              </a:spcBef>
              <a:spcAft>
                <a:spcPts val="0"/>
              </a:spcAft>
              <a:buNone/>
            </a:pPr>
            <a:r>
              <a:rPr b="1" i="0" lang="en-US" sz="1800" u="none" cap="none" strike="noStrike">
                <a:solidFill>
                  <a:srgbClr val="000000"/>
                </a:solidFill>
                <a:latin typeface="Roboto"/>
                <a:ea typeface="Roboto"/>
                <a:cs typeface="Roboto"/>
                <a:sym typeface="Roboto"/>
              </a:rPr>
              <a:t>Choose steps as below for your About me – at least use 5 – 7 steps from below  </a:t>
            </a:r>
            <a:endParaRPr b="0" i="0" sz="1800" u="none" cap="none" strike="noStrike">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i="0" lang="en-US" sz="1800" u="none" cap="none" strike="noStrike">
                <a:solidFill>
                  <a:srgbClr val="1C1D1F"/>
                </a:solidFill>
                <a:latin typeface="Calibri"/>
                <a:ea typeface="Calibri"/>
                <a:cs typeface="Calibri"/>
                <a:sym typeface="Calibri"/>
              </a:rPr>
              <a:t>Step 1: Start with your Name</a:t>
            </a:r>
            <a:endParaRPr b="0" i="0" sz="1800" u="none" cap="none" strike="noStrike">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i="0" lang="en-US" sz="1800" u="none" cap="none" strike="noStrike">
                <a:solidFill>
                  <a:srgbClr val="1C1D1F"/>
                </a:solidFill>
                <a:latin typeface="Calibri"/>
                <a:ea typeface="Calibri"/>
                <a:cs typeface="Calibri"/>
                <a:sym typeface="Calibri"/>
              </a:rPr>
              <a:t>Step 2. “Your designation” with Company Name</a:t>
            </a:r>
            <a:endParaRPr b="0" i="0" sz="1800" u="none" cap="none" strike="noStrike">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i="0" lang="en-US" sz="1800" u="none" cap="none" strike="noStrike">
                <a:solidFill>
                  <a:srgbClr val="1C1D1F"/>
                </a:solidFill>
                <a:latin typeface="Calibri"/>
                <a:ea typeface="Calibri"/>
                <a:cs typeface="Calibri"/>
                <a:sym typeface="Calibri"/>
              </a:rPr>
              <a:t>Step 3. Responsibility (Role)</a:t>
            </a:r>
            <a:endParaRPr b="0" i="0" sz="1800" u="none" cap="none" strike="noStrike">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i="0" lang="en-US" sz="1800" u="none" cap="none" strike="noStrike">
                <a:solidFill>
                  <a:srgbClr val="1C1D1F"/>
                </a:solidFill>
                <a:latin typeface="Calibri"/>
                <a:ea typeface="Calibri"/>
                <a:cs typeface="Calibri"/>
                <a:sym typeface="Calibri"/>
              </a:rPr>
              <a:t>Step 4. Total years of experience with all the skills set.</a:t>
            </a:r>
            <a:endParaRPr b="0" i="0" sz="1800" u="none" cap="none" strike="noStrike">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i="0" lang="en-US" sz="1800" u="none" cap="none" strike="noStrike">
                <a:solidFill>
                  <a:srgbClr val="1C1D1F"/>
                </a:solidFill>
                <a:latin typeface="Calibri"/>
                <a:ea typeface="Calibri"/>
                <a:cs typeface="Calibri"/>
                <a:sym typeface="Calibri"/>
              </a:rPr>
              <a:t>Step 5. Strength.</a:t>
            </a:r>
            <a:endParaRPr b="0" i="0" sz="1800" u="none" cap="none" strike="noStrike">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i="0" lang="en-US" sz="1800" u="none" cap="none" strike="noStrike">
                <a:solidFill>
                  <a:srgbClr val="1C1D1F"/>
                </a:solidFill>
                <a:latin typeface="Calibri"/>
                <a:ea typeface="Calibri"/>
                <a:cs typeface="Calibri"/>
                <a:sym typeface="Calibri"/>
              </a:rPr>
              <a:t>Step 6. Domain in which you have worked or working.</a:t>
            </a:r>
            <a:endParaRPr b="0" i="0" sz="1800" u="none" cap="none" strike="noStrike">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i="0" lang="en-US" sz="1800" u="none" cap="none" strike="noStrike">
                <a:solidFill>
                  <a:srgbClr val="1C1D1F"/>
                </a:solidFill>
                <a:latin typeface="Calibri"/>
                <a:ea typeface="Calibri"/>
                <a:cs typeface="Calibri"/>
                <a:sym typeface="Calibri"/>
              </a:rPr>
              <a:t>Step 7. List the entire Project Client name.</a:t>
            </a:r>
            <a:endParaRPr b="0" i="0" sz="1800" u="none" cap="none" strike="noStrike">
              <a:solidFill>
                <a:schemeClr val="dk1"/>
              </a:solidFill>
              <a:latin typeface="Calibri"/>
              <a:ea typeface="Calibri"/>
              <a:cs typeface="Calibri"/>
              <a:sym typeface="Calibri"/>
            </a:endParaRPr>
          </a:p>
        </p:txBody>
      </p:sp>
      <p:pic>
        <p:nvPicPr>
          <p:cNvPr id="115" name="Google Shape;115;p2"/>
          <p:cNvPicPr preferRelativeResize="0"/>
          <p:nvPr/>
        </p:nvPicPr>
        <p:blipFill rotWithShape="1">
          <a:blip r:embed="rId3">
            <a:alphaModFix/>
          </a:blip>
          <a:srcRect b="0" l="11910" r="10159" t="0"/>
          <a:stretch/>
        </p:blipFill>
        <p:spPr>
          <a:xfrm>
            <a:off x="10906124" y="233019"/>
            <a:ext cx="1038967" cy="1249881"/>
          </a:xfrm>
          <a:prstGeom prst="rect">
            <a:avLst/>
          </a:prstGeom>
          <a:noFill/>
          <a:ln>
            <a:noFill/>
          </a:ln>
        </p:spPr>
      </p:pic>
      <p:sp>
        <p:nvSpPr>
          <p:cNvPr id="116" name="Google Shape;116;p2"/>
          <p:cNvSpPr txBox="1"/>
          <p:nvPr/>
        </p:nvSpPr>
        <p:spPr>
          <a:xfrm>
            <a:off x="3295651" y="904875"/>
            <a:ext cx="4219574"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4400" u="none" cap="none" strike="noStrike">
                <a:solidFill>
                  <a:srgbClr val="0D5672"/>
                </a:solidFill>
                <a:latin typeface="Century Gothic"/>
                <a:ea typeface="Century Gothic"/>
                <a:cs typeface="Century Gothic"/>
                <a:sym typeface="Century Gothic"/>
              </a:rPr>
              <a:t>About Me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3"/>
          <p:cNvSpPr txBox="1"/>
          <p:nvPr/>
        </p:nvSpPr>
        <p:spPr>
          <a:xfrm>
            <a:off x="623887" y="1885222"/>
            <a:ext cx="11115675" cy="3654398"/>
          </a:xfrm>
          <a:prstGeom prst="rect">
            <a:avLst/>
          </a:prstGeom>
          <a:noFill/>
          <a:ln>
            <a:noFill/>
          </a:ln>
        </p:spPr>
        <p:txBody>
          <a:bodyPr anchorCtr="0" anchor="t" bIns="45700" lIns="91425" spcFirstLastPara="1" rIns="91425" wrap="square" tIns="45700">
            <a:spAutoFit/>
          </a:bodyPr>
          <a:lstStyle/>
          <a:p>
            <a:pPr indent="0" lvl="0" marL="0" marR="4445" rtl="0" algn="l">
              <a:lnSpc>
                <a:spcPct val="107000"/>
              </a:lnSpc>
              <a:spcBef>
                <a:spcPts val="0"/>
              </a:spcBef>
              <a:spcAft>
                <a:spcPts val="0"/>
              </a:spcAft>
              <a:buNone/>
            </a:pPr>
            <a:r>
              <a:rPr b="1" lang="en-US" sz="1800">
                <a:solidFill>
                  <a:srgbClr val="000000"/>
                </a:solidFill>
                <a:latin typeface="Roboto"/>
                <a:ea typeface="Roboto"/>
                <a:cs typeface="Roboto"/>
                <a:sym typeface="Roboto"/>
              </a:rPr>
              <a:t>Step 1: Start with your Name</a:t>
            </a:r>
            <a:endParaRPr sz="1800">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lang="en-US" sz="1800">
                <a:solidFill>
                  <a:srgbClr val="000000"/>
                </a:solidFill>
                <a:latin typeface="Roboto"/>
                <a:ea typeface="Roboto"/>
                <a:cs typeface="Roboto"/>
                <a:sym typeface="Roboto"/>
              </a:rPr>
              <a:t>Hi, I am Mayank Chugh, I have started my career as a Java developer in [2XXX]. Since then I have constantly sought to improve and develop my skills. </a:t>
            </a:r>
            <a:endParaRPr sz="1800">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1" lang="en-US" sz="1800">
                <a:solidFill>
                  <a:srgbClr val="000000"/>
                </a:solidFill>
                <a:latin typeface="Roboto"/>
                <a:ea typeface="Roboto"/>
                <a:cs typeface="Roboto"/>
                <a:sym typeface="Roboto"/>
              </a:rPr>
              <a:t> </a:t>
            </a:r>
            <a:endParaRPr sz="1800">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1" lang="en-US" sz="1800">
                <a:solidFill>
                  <a:srgbClr val="000000"/>
                </a:solidFill>
                <a:latin typeface="Roboto"/>
                <a:ea typeface="Roboto"/>
                <a:cs typeface="Roboto"/>
                <a:sym typeface="Roboto"/>
              </a:rPr>
              <a:t>Step 2. “Your designation” with Company Name</a:t>
            </a:r>
            <a:endParaRPr sz="1800">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lang="en-US" sz="1800">
                <a:solidFill>
                  <a:srgbClr val="000000"/>
                </a:solidFill>
                <a:latin typeface="Roboto"/>
                <a:ea typeface="Roboto"/>
                <a:cs typeface="Roboto"/>
                <a:sym typeface="Roboto"/>
              </a:rPr>
              <a:t>Currently,  I am working as [Technical Architect / Developer] with XYZ Ltd. </a:t>
            </a:r>
            <a:endParaRPr sz="1800">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1" lang="en-US" sz="1800">
                <a:solidFill>
                  <a:srgbClr val="000000"/>
                </a:solidFill>
                <a:latin typeface="Roboto"/>
                <a:ea typeface="Roboto"/>
                <a:cs typeface="Roboto"/>
                <a:sym typeface="Roboto"/>
              </a:rPr>
              <a:t>Step 3. Responsibility (Role)</a:t>
            </a:r>
            <a:endParaRPr sz="1800">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lang="en-US" sz="1800">
                <a:solidFill>
                  <a:srgbClr val="000000"/>
                </a:solidFill>
                <a:latin typeface="Roboto"/>
                <a:ea typeface="Roboto"/>
                <a:cs typeface="Roboto"/>
                <a:sym typeface="Roboto"/>
              </a:rPr>
              <a:t>My current role requires me to be pivotal in managing &amp; delivering complex business &amp; system solutions including requirements gathering, analysis, solution design, configuration, execution, delivery, Monitoring, controlling and ongoing maintenance/support. </a:t>
            </a:r>
            <a:endParaRPr sz="1400">
              <a:solidFill>
                <a:schemeClr val="dk1"/>
              </a:solidFill>
              <a:latin typeface="Times New Roman"/>
              <a:ea typeface="Times New Roman"/>
              <a:cs typeface="Times New Roman"/>
              <a:sym typeface="Times New Roman"/>
            </a:endParaRPr>
          </a:p>
        </p:txBody>
      </p:sp>
      <p:pic>
        <p:nvPicPr>
          <p:cNvPr id="122" name="Google Shape;122;p3"/>
          <p:cNvPicPr preferRelativeResize="0"/>
          <p:nvPr/>
        </p:nvPicPr>
        <p:blipFill rotWithShape="1">
          <a:blip r:embed="rId3">
            <a:alphaModFix/>
          </a:blip>
          <a:srcRect b="0" l="11910" r="10159" t="0"/>
          <a:stretch/>
        </p:blipFill>
        <p:spPr>
          <a:xfrm>
            <a:off x="10906124" y="233019"/>
            <a:ext cx="1038967" cy="1249881"/>
          </a:xfrm>
          <a:prstGeom prst="rect">
            <a:avLst/>
          </a:prstGeom>
          <a:noFill/>
          <a:ln>
            <a:noFill/>
          </a:ln>
        </p:spPr>
      </p:pic>
      <p:sp>
        <p:nvSpPr>
          <p:cNvPr id="123" name="Google Shape;123;p3"/>
          <p:cNvSpPr/>
          <p:nvPr/>
        </p:nvSpPr>
        <p:spPr>
          <a:xfrm>
            <a:off x="1028700" y="233019"/>
            <a:ext cx="10058400" cy="67185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US" sz="3200">
                <a:solidFill>
                  <a:srgbClr val="262626"/>
                </a:solidFill>
                <a:latin typeface="Century Gothic"/>
                <a:ea typeface="Century Gothic"/>
                <a:cs typeface="Century Gothic"/>
                <a:sym typeface="Century Gothic"/>
              </a:rPr>
              <a:t>Welcome to the Java Interview Help course</a:t>
            </a:r>
            <a:endParaRPr/>
          </a:p>
        </p:txBody>
      </p:sp>
      <p:sp>
        <p:nvSpPr>
          <p:cNvPr id="124" name="Google Shape;124;p3"/>
          <p:cNvSpPr txBox="1"/>
          <p:nvPr/>
        </p:nvSpPr>
        <p:spPr>
          <a:xfrm>
            <a:off x="3257551" y="904875"/>
            <a:ext cx="4219574"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0D5672"/>
                </a:solidFill>
                <a:latin typeface="Century Gothic"/>
                <a:ea typeface="Century Gothic"/>
                <a:cs typeface="Century Gothic"/>
                <a:sym typeface="Century Gothic"/>
              </a:rPr>
              <a:t>About Me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
          <p:cNvSpPr txBox="1"/>
          <p:nvPr/>
        </p:nvSpPr>
        <p:spPr>
          <a:xfrm>
            <a:off x="623887" y="1885222"/>
            <a:ext cx="11115675" cy="3746347"/>
          </a:xfrm>
          <a:prstGeom prst="rect">
            <a:avLst/>
          </a:prstGeom>
          <a:noFill/>
          <a:ln>
            <a:noFill/>
          </a:ln>
        </p:spPr>
        <p:txBody>
          <a:bodyPr anchorCtr="0" anchor="t" bIns="45700" lIns="91425" spcFirstLastPara="1" rIns="91425" wrap="square" tIns="45700">
            <a:spAutoFit/>
          </a:bodyPr>
          <a:lstStyle/>
          <a:p>
            <a:pPr indent="0" lvl="0" marL="0" marR="4445" rtl="0" algn="l">
              <a:lnSpc>
                <a:spcPct val="107000"/>
              </a:lnSpc>
              <a:spcBef>
                <a:spcPts val="0"/>
              </a:spcBef>
              <a:spcAft>
                <a:spcPts val="0"/>
              </a:spcAft>
              <a:buNone/>
            </a:pPr>
            <a:r>
              <a:rPr b="1" lang="en-US" sz="1800">
                <a:solidFill>
                  <a:srgbClr val="000000"/>
                </a:solidFill>
                <a:latin typeface="Roboto"/>
                <a:ea typeface="Roboto"/>
                <a:cs typeface="Roboto"/>
                <a:sym typeface="Roboto"/>
              </a:rPr>
              <a:t>Step 4. Total years of experience with all the skills set.</a:t>
            </a:r>
            <a:endParaRPr sz="1800">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lang="en-US" sz="1800">
                <a:solidFill>
                  <a:srgbClr val="000000"/>
                </a:solidFill>
                <a:latin typeface="Roboto"/>
                <a:ea typeface="Roboto"/>
                <a:cs typeface="Roboto"/>
                <a:sym typeface="Roboto"/>
              </a:rPr>
              <a:t>While working across the Java Technology Stack I have designed, developed and delivered applications using various in Core Java/J2EE, Sturts 1.x, Spring Boot, Microservices, Design Pattern, WebLogic , Oracle,  Log4j, XML and Maven.</a:t>
            </a:r>
            <a:endParaRPr sz="1800">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lang="en-US" sz="1800">
                <a:solidFill>
                  <a:srgbClr val="000000"/>
                </a:solidFill>
                <a:latin typeface="Roboto"/>
                <a:ea typeface="Roboto"/>
                <a:cs typeface="Roboto"/>
                <a:sym typeface="Roboto"/>
              </a:rPr>
              <a:t>I have worked closely with the product owners, stakeholders and business analysts to get the requirements right and with the Junior developers to implement the Non-Functional Requirements like security, scalability, reliability etc.</a:t>
            </a:r>
            <a:endParaRPr sz="1800">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lang="en-US" sz="1800">
                <a:solidFill>
                  <a:srgbClr val="000000"/>
                </a:solidFill>
                <a:latin typeface="Roboto"/>
                <a:ea typeface="Roboto"/>
                <a:cs typeface="Roboto"/>
                <a:sym typeface="Roboto"/>
              </a:rPr>
              <a:t>I have also worked with the Devops engineers to set up the CI/CD pipeline for our projects using tools like Maven, Jenkins and AWS EKS.</a:t>
            </a:r>
            <a:endParaRPr sz="1800">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lang="en-US" sz="1800">
                <a:solidFill>
                  <a:srgbClr val="000000"/>
                </a:solidFill>
                <a:latin typeface="Roboto"/>
                <a:ea typeface="Roboto"/>
                <a:cs typeface="Roboto"/>
                <a:sym typeface="Roboto"/>
              </a:rPr>
              <a:t>I have also worked with various AWS Components such as EC2 ,S3 ,EKS,ELB, EBS, SNS, Cloudwatch to deploy our apps to the cloud.</a:t>
            </a:r>
            <a:endParaRPr/>
          </a:p>
        </p:txBody>
      </p:sp>
      <p:pic>
        <p:nvPicPr>
          <p:cNvPr id="130" name="Google Shape;130;p4"/>
          <p:cNvPicPr preferRelativeResize="0"/>
          <p:nvPr/>
        </p:nvPicPr>
        <p:blipFill rotWithShape="1">
          <a:blip r:embed="rId3">
            <a:alphaModFix/>
          </a:blip>
          <a:srcRect b="0" l="11910" r="10159" t="0"/>
          <a:stretch/>
        </p:blipFill>
        <p:spPr>
          <a:xfrm>
            <a:off x="10906124" y="233019"/>
            <a:ext cx="1038967" cy="1249881"/>
          </a:xfrm>
          <a:prstGeom prst="rect">
            <a:avLst/>
          </a:prstGeom>
          <a:noFill/>
          <a:ln>
            <a:noFill/>
          </a:ln>
        </p:spPr>
      </p:pic>
      <p:sp>
        <p:nvSpPr>
          <p:cNvPr id="131" name="Google Shape;131;p4"/>
          <p:cNvSpPr/>
          <p:nvPr/>
        </p:nvSpPr>
        <p:spPr>
          <a:xfrm>
            <a:off x="1066800" y="233019"/>
            <a:ext cx="10058400" cy="67185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US" sz="3200">
                <a:solidFill>
                  <a:srgbClr val="262626"/>
                </a:solidFill>
                <a:latin typeface="Century Gothic"/>
                <a:ea typeface="Century Gothic"/>
                <a:cs typeface="Century Gothic"/>
                <a:sym typeface="Century Gothic"/>
              </a:rPr>
              <a:t>Welcome to the Java Interview Help course</a:t>
            </a:r>
            <a:endParaRPr/>
          </a:p>
        </p:txBody>
      </p:sp>
      <p:sp>
        <p:nvSpPr>
          <p:cNvPr id="132" name="Google Shape;132;p4"/>
          <p:cNvSpPr txBox="1"/>
          <p:nvPr/>
        </p:nvSpPr>
        <p:spPr>
          <a:xfrm>
            <a:off x="3295651" y="904875"/>
            <a:ext cx="4219574"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0D5672"/>
                </a:solidFill>
                <a:latin typeface="Century Gothic"/>
                <a:ea typeface="Century Gothic"/>
                <a:cs typeface="Century Gothic"/>
                <a:sym typeface="Century Gothic"/>
              </a:rPr>
              <a:t>About Me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5"/>
          <p:cNvSpPr txBox="1"/>
          <p:nvPr/>
        </p:nvSpPr>
        <p:spPr>
          <a:xfrm>
            <a:off x="623887" y="1885222"/>
            <a:ext cx="11115675" cy="2333331"/>
          </a:xfrm>
          <a:prstGeom prst="rect">
            <a:avLst/>
          </a:prstGeom>
          <a:noFill/>
          <a:ln>
            <a:noFill/>
          </a:ln>
        </p:spPr>
        <p:txBody>
          <a:bodyPr anchorCtr="0" anchor="t" bIns="45700" lIns="91425" spcFirstLastPara="1" rIns="91425" wrap="square" tIns="45700">
            <a:spAutoFit/>
          </a:bodyPr>
          <a:lstStyle/>
          <a:p>
            <a:pPr indent="0" lvl="0" marL="0" marR="4445" rtl="0" algn="l">
              <a:lnSpc>
                <a:spcPct val="107000"/>
              </a:lnSpc>
              <a:spcBef>
                <a:spcPts val="0"/>
              </a:spcBef>
              <a:spcAft>
                <a:spcPts val="0"/>
              </a:spcAft>
              <a:buNone/>
            </a:pPr>
            <a:r>
              <a:rPr b="1" lang="en-US" sz="1800">
                <a:solidFill>
                  <a:srgbClr val="000000"/>
                </a:solidFill>
                <a:latin typeface="Roboto"/>
                <a:ea typeface="Roboto"/>
                <a:cs typeface="Roboto"/>
                <a:sym typeface="Roboto"/>
              </a:rPr>
              <a:t>Step 5. Strength.</a:t>
            </a:r>
            <a:endParaRPr sz="1800">
              <a:solidFill>
                <a:schemeClr val="dk1"/>
              </a:solidFill>
              <a:latin typeface="Calibri"/>
              <a:ea typeface="Calibri"/>
              <a:cs typeface="Calibri"/>
              <a:sym typeface="Calibri"/>
            </a:endParaRPr>
          </a:p>
          <a:p>
            <a:pPr indent="0" lvl="0" marL="0" marR="4445" rtl="0" algn="l">
              <a:lnSpc>
                <a:spcPct val="107000"/>
              </a:lnSpc>
              <a:spcBef>
                <a:spcPts val="800"/>
              </a:spcBef>
              <a:spcAft>
                <a:spcPts val="0"/>
              </a:spcAft>
              <a:buNone/>
            </a:pPr>
            <a:r>
              <a:rPr b="0" lang="en-US" sz="1800">
                <a:solidFill>
                  <a:srgbClr val="000000"/>
                </a:solidFill>
                <a:latin typeface="Roboto"/>
                <a:ea typeface="Roboto"/>
                <a:cs typeface="Roboto"/>
                <a:sym typeface="Roboto"/>
              </a:rPr>
              <a:t>I have proficient with programming languages; I have an inquisitive nature that ensures I analyze my work and the problems I encounter in detail; I am quick to learn new concepts and can apply them to a variety of situations, and I am a strong team worker who can collaborate with and work alongside others to complete challenging projects and also resolve complex issues and problems. </a:t>
            </a:r>
            <a:endParaRPr sz="1800">
              <a:solidFill>
                <a:schemeClr val="dk1"/>
              </a:solidFill>
              <a:latin typeface="Calibri"/>
              <a:ea typeface="Calibri"/>
              <a:cs typeface="Calibri"/>
              <a:sym typeface="Calibri"/>
            </a:endParaRPr>
          </a:p>
          <a:p>
            <a:pPr indent="0" lvl="0" marL="0" marR="0" rtl="0" algn="l">
              <a:spcBef>
                <a:spcPts val="800"/>
              </a:spcBef>
              <a:spcAft>
                <a:spcPts val="0"/>
              </a:spcAft>
              <a:buNone/>
            </a:pPr>
            <a:r>
              <a:rPr b="0" lang="en-US" sz="1800">
                <a:solidFill>
                  <a:srgbClr val="000000"/>
                </a:solidFill>
                <a:latin typeface="Roboto"/>
                <a:ea typeface="Roboto"/>
                <a:cs typeface="Roboto"/>
                <a:sym typeface="Roboto"/>
              </a:rPr>
              <a:t>I am highly self-motivated, technically astute and you can rely on me to get up to speed quickly in the role whilst being a cooperative, responsive and adaptable member of your team.</a:t>
            </a:r>
            <a:endParaRPr sz="1400">
              <a:solidFill>
                <a:schemeClr val="dk1"/>
              </a:solidFill>
              <a:latin typeface="Times New Roman"/>
              <a:ea typeface="Times New Roman"/>
              <a:cs typeface="Times New Roman"/>
              <a:sym typeface="Times New Roman"/>
            </a:endParaRPr>
          </a:p>
        </p:txBody>
      </p:sp>
      <p:pic>
        <p:nvPicPr>
          <p:cNvPr id="138" name="Google Shape;138;p5"/>
          <p:cNvPicPr preferRelativeResize="0"/>
          <p:nvPr/>
        </p:nvPicPr>
        <p:blipFill rotWithShape="1">
          <a:blip r:embed="rId3">
            <a:alphaModFix/>
          </a:blip>
          <a:srcRect b="0" l="11910" r="10159" t="0"/>
          <a:stretch/>
        </p:blipFill>
        <p:spPr>
          <a:xfrm>
            <a:off x="10906124" y="233019"/>
            <a:ext cx="1038967" cy="1249881"/>
          </a:xfrm>
          <a:prstGeom prst="rect">
            <a:avLst/>
          </a:prstGeom>
          <a:noFill/>
          <a:ln>
            <a:noFill/>
          </a:ln>
        </p:spPr>
      </p:pic>
      <p:sp>
        <p:nvSpPr>
          <p:cNvPr id="139" name="Google Shape;139;p5"/>
          <p:cNvSpPr/>
          <p:nvPr/>
        </p:nvSpPr>
        <p:spPr>
          <a:xfrm>
            <a:off x="1066800" y="233019"/>
            <a:ext cx="10058400" cy="67185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US" sz="3200">
                <a:solidFill>
                  <a:srgbClr val="262626"/>
                </a:solidFill>
                <a:latin typeface="Century Gothic"/>
                <a:ea typeface="Century Gothic"/>
                <a:cs typeface="Century Gothic"/>
                <a:sym typeface="Century Gothic"/>
              </a:rPr>
              <a:t>Welcome to the Java Interview Help course</a:t>
            </a:r>
            <a:endParaRPr/>
          </a:p>
        </p:txBody>
      </p:sp>
      <p:sp>
        <p:nvSpPr>
          <p:cNvPr id="140" name="Google Shape;140;p5"/>
          <p:cNvSpPr txBox="1"/>
          <p:nvPr/>
        </p:nvSpPr>
        <p:spPr>
          <a:xfrm>
            <a:off x="3295651" y="904875"/>
            <a:ext cx="4219574"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0D5672"/>
                </a:solidFill>
                <a:latin typeface="Century Gothic"/>
                <a:ea typeface="Century Gothic"/>
                <a:cs typeface="Century Gothic"/>
                <a:sym typeface="Century Gothic"/>
              </a:rPr>
              <a:t>About 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6"/>
          <p:cNvSpPr/>
          <p:nvPr/>
        </p:nvSpPr>
        <p:spPr>
          <a:xfrm>
            <a:off x="6288626" y="2473294"/>
            <a:ext cx="1526583" cy="2023098"/>
          </a:xfrm>
          <a:prstGeom prst="bracketPair">
            <a:avLst/>
          </a:prstGeom>
          <a:solidFill>
            <a:srgbClr val="92D050"/>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46" name="Google Shape;146;p6"/>
          <p:cNvSpPr/>
          <p:nvPr/>
        </p:nvSpPr>
        <p:spPr>
          <a:xfrm>
            <a:off x="4311405" y="2473294"/>
            <a:ext cx="1526583" cy="2023098"/>
          </a:xfrm>
          <a:prstGeom prst="bracketPair">
            <a:avLst/>
          </a:prstGeom>
          <a:solidFill>
            <a:srgbClr val="92D050"/>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47" name="Google Shape;147;p6"/>
          <p:cNvSpPr/>
          <p:nvPr/>
        </p:nvSpPr>
        <p:spPr>
          <a:xfrm>
            <a:off x="421036" y="3385338"/>
            <a:ext cx="2624381" cy="1874559"/>
          </a:xfrm>
          <a:prstGeom prst="rect">
            <a:avLst/>
          </a:prstGeom>
          <a:solidFill>
            <a:schemeClr val="accent1"/>
          </a:solidFill>
          <a:ln cap="flat" cmpd="sng" w="127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148" name="Google Shape;148;p6"/>
          <p:cNvPicPr preferRelativeResize="0"/>
          <p:nvPr/>
        </p:nvPicPr>
        <p:blipFill rotWithShape="1">
          <a:blip r:embed="rId3">
            <a:alphaModFix/>
          </a:blip>
          <a:srcRect b="0" l="11910" r="10159" t="0"/>
          <a:stretch/>
        </p:blipFill>
        <p:spPr>
          <a:xfrm>
            <a:off x="10906124" y="233019"/>
            <a:ext cx="1038967" cy="1249881"/>
          </a:xfrm>
          <a:prstGeom prst="rect">
            <a:avLst/>
          </a:prstGeom>
          <a:noFill/>
          <a:ln>
            <a:noFill/>
          </a:ln>
        </p:spPr>
      </p:pic>
      <p:sp>
        <p:nvSpPr>
          <p:cNvPr id="149" name="Google Shape;149;p6"/>
          <p:cNvSpPr txBox="1"/>
          <p:nvPr/>
        </p:nvSpPr>
        <p:spPr>
          <a:xfrm>
            <a:off x="421036" y="3404757"/>
            <a:ext cx="6354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JDK</a:t>
            </a:r>
            <a:endParaRPr/>
          </a:p>
        </p:txBody>
      </p:sp>
      <p:sp>
        <p:nvSpPr>
          <p:cNvPr id="150" name="Google Shape;150;p6"/>
          <p:cNvSpPr txBox="1"/>
          <p:nvPr/>
        </p:nvSpPr>
        <p:spPr>
          <a:xfrm>
            <a:off x="421036" y="4796725"/>
            <a:ext cx="10952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Javac </a:t>
            </a:r>
            <a:endParaRPr/>
          </a:p>
        </p:txBody>
      </p:sp>
      <p:sp>
        <p:nvSpPr>
          <p:cNvPr id="151" name="Google Shape;151;p6"/>
          <p:cNvSpPr txBox="1"/>
          <p:nvPr/>
        </p:nvSpPr>
        <p:spPr>
          <a:xfrm>
            <a:off x="2830573" y="5644490"/>
            <a:ext cx="6922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java</a:t>
            </a:r>
            <a:endParaRPr/>
          </a:p>
        </p:txBody>
      </p:sp>
      <p:sp>
        <p:nvSpPr>
          <p:cNvPr id="152" name="Google Shape;152;p6"/>
          <p:cNvSpPr txBox="1"/>
          <p:nvPr/>
        </p:nvSpPr>
        <p:spPr>
          <a:xfrm>
            <a:off x="4559083" y="2775032"/>
            <a:ext cx="6354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JRE</a:t>
            </a:r>
            <a:endParaRPr/>
          </a:p>
        </p:txBody>
      </p:sp>
      <p:sp>
        <p:nvSpPr>
          <p:cNvPr id="153" name="Google Shape;153;p6"/>
          <p:cNvSpPr txBox="1"/>
          <p:nvPr/>
        </p:nvSpPr>
        <p:spPr>
          <a:xfrm>
            <a:off x="4553917" y="3404757"/>
            <a:ext cx="12811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Windows</a:t>
            </a:r>
            <a:endParaRPr/>
          </a:p>
        </p:txBody>
      </p:sp>
      <p:sp>
        <p:nvSpPr>
          <p:cNvPr id="154" name="Google Shape;154;p6"/>
          <p:cNvSpPr txBox="1"/>
          <p:nvPr/>
        </p:nvSpPr>
        <p:spPr>
          <a:xfrm>
            <a:off x="4687239" y="4011640"/>
            <a:ext cx="7749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rt.jar</a:t>
            </a:r>
            <a:endParaRPr/>
          </a:p>
        </p:txBody>
      </p:sp>
      <p:sp>
        <p:nvSpPr>
          <p:cNvPr id="155" name="Google Shape;155;p6"/>
          <p:cNvSpPr txBox="1"/>
          <p:nvPr/>
        </p:nvSpPr>
        <p:spPr>
          <a:xfrm>
            <a:off x="6664271" y="3357736"/>
            <a:ext cx="7749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Linux</a:t>
            </a:r>
            <a:endParaRPr/>
          </a:p>
        </p:txBody>
      </p:sp>
      <p:cxnSp>
        <p:nvCxnSpPr>
          <p:cNvPr id="156" name="Google Shape;156;p6"/>
          <p:cNvCxnSpPr/>
          <p:nvPr/>
        </p:nvCxnSpPr>
        <p:spPr>
          <a:xfrm>
            <a:off x="3045417" y="3646905"/>
            <a:ext cx="1263112" cy="0"/>
          </a:xfrm>
          <a:prstGeom prst="straightConnector1">
            <a:avLst/>
          </a:prstGeom>
          <a:noFill/>
          <a:ln cap="flat" cmpd="sng" w="9525">
            <a:solidFill>
              <a:schemeClr val="dk1"/>
            </a:solidFill>
            <a:prstDash val="solid"/>
            <a:round/>
            <a:headEnd len="sm" w="sm" type="none"/>
            <a:tailEnd len="med" w="med" type="triangle"/>
          </a:ln>
        </p:spPr>
      </p:cxnSp>
      <p:sp>
        <p:nvSpPr>
          <p:cNvPr id="157" name="Google Shape;157;p6"/>
          <p:cNvSpPr txBox="1"/>
          <p:nvPr/>
        </p:nvSpPr>
        <p:spPr>
          <a:xfrm>
            <a:off x="6669437" y="2766176"/>
            <a:ext cx="6354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JRE</a:t>
            </a:r>
            <a:endParaRPr/>
          </a:p>
        </p:txBody>
      </p:sp>
      <p:sp>
        <p:nvSpPr>
          <p:cNvPr id="158" name="Google Shape;158;p6"/>
          <p:cNvSpPr txBox="1"/>
          <p:nvPr/>
        </p:nvSpPr>
        <p:spPr>
          <a:xfrm>
            <a:off x="6676189" y="3979942"/>
            <a:ext cx="7749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rt.jar</a:t>
            </a:r>
            <a:endParaRPr/>
          </a:p>
        </p:txBody>
      </p:sp>
      <p:sp>
        <p:nvSpPr>
          <p:cNvPr id="159" name="Google Shape;159;p6"/>
          <p:cNvSpPr txBox="1"/>
          <p:nvPr/>
        </p:nvSpPr>
        <p:spPr>
          <a:xfrm>
            <a:off x="616245" y="2288628"/>
            <a:ext cx="19351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HelloWorld.java</a:t>
            </a:r>
            <a:endParaRPr/>
          </a:p>
        </p:txBody>
      </p:sp>
      <p:cxnSp>
        <p:nvCxnSpPr>
          <p:cNvPr id="160" name="Google Shape;160;p6"/>
          <p:cNvCxnSpPr/>
          <p:nvPr/>
        </p:nvCxnSpPr>
        <p:spPr>
          <a:xfrm>
            <a:off x="1465592" y="2614298"/>
            <a:ext cx="0" cy="771040"/>
          </a:xfrm>
          <a:prstGeom prst="straightConnector1">
            <a:avLst/>
          </a:prstGeom>
          <a:noFill/>
          <a:ln cap="flat" cmpd="sng" w="9525">
            <a:solidFill>
              <a:schemeClr val="dk1"/>
            </a:solidFill>
            <a:prstDash val="solid"/>
            <a:round/>
            <a:headEnd len="sm" w="sm" type="none"/>
            <a:tailEnd len="med" w="med" type="triangle"/>
          </a:ln>
        </p:spPr>
      </p:cxnSp>
      <p:sp>
        <p:nvSpPr>
          <p:cNvPr id="161" name="Google Shape;161;p6"/>
          <p:cNvSpPr/>
          <p:nvPr/>
        </p:nvSpPr>
        <p:spPr>
          <a:xfrm>
            <a:off x="1056467" y="5745111"/>
            <a:ext cx="1233182" cy="537422"/>
          </a:xfrm>
          <a:prstGeom prst="ellipse">
            <a:avLst/>
          </a:prstGeom>
          <a:solidFill>
            <a:schemeClr val="accent1"/>
          </a:solidFill>
          <a:ln cap="flat" cmpd="sng" w="127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entury Gothic"/>
                <a:ea typeface="Century Gothic"/>
                <a:cs typeface="Century Gothic"/>
                <a:sym typeface="Century Gothic"/>
              </a:rPr>
              <a:t>Byte Code</a:t>
            </a:r>
            <a:endParaRPr/>
          </a:p>
        </p:txBody>
      </p:sp>
      <p:cxnSp>
        <p:nvCxnSpPr>
          <p:cNvPr id="162" name="Google Shape;162;p6"/>
          <p:cNvCxnSpPr>
            <a:endCxn id="161" idx="0"/>
          </p:cNvCxnSpPr>
          <p:nvPr/>
        </p:nvCxnSpPr>
        <p:spPr>
          <a:xfrm>
            <a:off x="1673058" y="5260011"/>
            <a:ext cx="0" cy="485100"/>
          </a:xfrm>
          <a:prstGeom prst="straightConnector1">
            <a:avLst/>
          </a:prstGeom>
          <a:noFill/>
          <a:ln cap="flat" cmpd="sng" w="9525">
            <a:solidFill>
              <a:schemeClr val="dk1"/>
            </a:solidFill>
            <a:prstDash val="solid"/>
            <a:round/>
            <a:headEnd len="sm" w="sm" type="none"/>
            <a:tailEnd len="med" w="med" type="triangle"/>
          </a:ln>
        </p:spPr>
      </p:cxnSp>
      <p:sp>
        <p:nvSpPr>
          <p:cNvPr id="163" name="Google Shape;163;p6"/>
          <p:cNvSpPr/>
          <p:nvPr/>
        </p:nvSpPr>
        <p:spPr>
          <a:xfrm>
            <a:off x="4308529" y="4581952"/>
            <a:ext cx="1526583" cy="2023098"/>
          </a:xfrm>
          <a:prstGeom prst="bracketPair">
            <a:avLst/>
          </a:prstGeom>
          <a:solidFill>
            <a:srgbClr val="92D050"/>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JVM Windows</a:t>
            </a:r>
            <a:endParaRPr/>
          </a:p>
        </p:txBody>
      </p:sp>
      <p:sp>
        <p:nvSpPr>
          <p:cNvPr id="164" name="Google Shape;164;p6"/>
          <p:cNvSpPr/>
          <p:nvPr/>
        </p:nvSpPr>
        <p:spPr>
          <a:xfrm>
            <a:off x="5194514" y="4796725"/>
            <a:ext cx="486373" cy="245058"/>
          </a:xfrm>
          <a:prstGeom prst="roundRect">
            <a:avLst>
              <a:gd fmla="val 16667" name="adj"/>
            </a:avLst>
          </a:prstGeom>
          <a:solidFill>
            <a:schemeClr val="accent1"/>
          </a:solidFill>
          <a:ln cap="flat" cmpd="sng" w="127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entury Gothic"/>
                <a:ea typeface="Century Gothic"/>
                <a:cs typeface="Century Gothic"/>
                <a:sym typeface="Century Gothic"/>
              </a:rPr>
              <a:t>JIT</a:t>
            </a:r>
            <a:endParaRPr/>
          </a:p>
        </p:txBody>
      </p:sp>
      <p:cxnSp>
        <p:nvCxnSpPr>
          <p:cNvPr id="165" name="Google Shape;165;p6"/>
          <p:cNvCxnSpPr/>
          <p:nvPr/>
        </p:nvCxnSpPr>
        <p:spPr>
          <a:xfrm>
            <a:off x="2289649" y="6005609"/>
            <a:ext cx="2018880" cy="0"/>
          </a:xfrm>
          <a:prstGeom prst="straightConnector1">
            <a:avLst/>
          </a:prstGeom>
          <a:noFill/>
          <a:ln cap="flat" cmpd="sng" w="9525">
            <a:solidFill>
              <a:schemeClr val="dk1"/>
            </a:solidFill>
            <a:prstDash val="solid"/>
            <a:round/>
            <a:headEnd len="sm" w="sm" type="none"/>
            <a:tailEnd len="med" w="med" type="triangle"/>
          </a:ln>
        </p:spPr>
      </p:cxnSp>
      <p:sp>
        <p:nvSpPr>
          <p:cNvPr id="166" name="Google Shape;166;p6"/>
          <p:cNvSpPr txBox="1"/>
          <p:nvPr/>
        </p:nvSpPr>
        <p:spPr>
          <a:xfrm>
            <a:off x="2386715" y="4801899"/>
            <a:ext cx="6922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java</a:t>
            </a:r>
            <a:endParaRPr/>
          </a:p>
        </p:txBody>
      </p:sp>
      <p:sp>
        <p:nvSpPr>
          <p:cNvPr id="167" name="Google Shape;167;p6"/>
          <p:cNvSpPr/>
          <p:nvPr/>
        </p:nvSpPr>
        <p:spPr>
          <a:xfrm>
            <a:off x="6214844" y="5166057"/>
            <a:ext cx="1730621" cy="537422"/>
          </a:xfrm>
          <a:prstGeom prst="ellipse">
            <a:avLst/>
          </a:prstGeom>
          <a:solidFill>
            <a:srgbClr val="FF0000"/>
          </a:solidFill>
          <a:ln cap="flat" cmpd="sng" w="12700">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entury Gothic"/>
                <a:ea typeface="Century Gothic"/>
                <a:cs typeface="Century Gothic"/>
                <a:sym typeface="Century Gothic"/>
              </a:rPr>
              <a:t>Machine Code</a:t>
            </a:r>
            <a:endParaRPr/>
          </a:p>
        </p:txBody>
      </p:sp>
      <p:sp>
        <p:nvSpPr>
          <p:cNvPr id="168" name="Google Shape;168;p6"/>
          <p:cNvSpPr/>
          <p:nvPr/>
        </p:nvSpPr>
        <p:spPr>
          <a:xfrm>
            <a:off x="8574260" y="3895448"/>
            <a:ext cx="738231" cy="2625108"/>
          </a:xfrm>
          <a:prstGeom prst="bracketPair">
            <a:avLst/>
          </a:prstGeom>
          <a:solidFill>
            <a:srgbClr val="FF0000"/>
          </a:solid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9" name="Google Shape;169;p6"/>
          <p:cNvSpPr txBox="1"/>
          <p:nvPr/>
        </p:nvSpPr>
        <p:spPr>
          <a:xfrm>
            <a:off x="8704516" y="5140890"/>
            <a:ext cx="5408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OS</a:t>
            </a:r>
            <a:endParaRPr/>
          </a:p>
        </p:txBody>
      </p:sp>
      <p:cxnSp>
        <p:nvCxnSpPr>
          <p:cNvPr id="170" name="Google Shape;170;p6"/>
          <p:cNvCxnSpPr/>
          <p:nvPr/>
        </p:nvCxnSpPr>
        <p:spPr>
          <a:xfrm>
            <a:off x="5835112" y="5745111"/>
            <a:ext cx="2739148" cy="0"/>
          </a:xfrm>
          <a:prstGeom prst="straightConnector1">
            <a:avLst/>
          </a:prstGeom>
          <a:noFill/>
          <a:ln cap="flat" cmpd="sng" w="9525">
            <a:solidFill>
              <a:schemeClr val="dk1"/>
            </a:solidFill>
            <a:prstDash val="solid"/>
            <a:round/>
            <a:headEnd len="sm" w="sm" type="none"/>
            <a:tailEnd len="med" w="med" type="triangle"/>
          </a:ln>
        </p:spPr>
      </p:cxnSp>
      <p:sp>
        <p:nvSpPr>
          <p:cNvPr id="171" name="Google Shape;171;p6"/>
          <p:cNvSpPr txBox="1"/>
          <p:nvPr/>
        </p:nvSpPr>
        <p:spPr>
          <a:xfrm>
            <a:off x="5835113" y="5786744"/>
            <a:ext cx="28694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-Djava.compiler=NONE</a:t>
            </a:r>
            <a:endParaRPr/>
          </a:p>
        </p:txBody>
      </p:sp>
      <p:sp>
        <p:nvSpPr>
          <p:cNvPr id="172" name="Google Shape;172;p6"/>
          <p:cNvSpPr/>
          <p:nvPr/>
        </p:nvSpPr>
        <p:spPr>
          <a:xfrm>
            <a:off x="1066800" y="233019"/>
            <a:ext cx="10058400" cy="67185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US" sz="3200">
                <a:solidFill>
                  <a:srgbClr val="262626"/>
                </a:solidFill>
                <a:latin typeface="Century Gothic"/>
                <a:ea typeface="Century Gothic"/>
                <a:cs typeface="Century Gothic"/>
                <a:sym typeface="Century Gothic"/>
              </a:rPr>
              <a:t>Welcome to the Java Interview Help course</a:t>
            </a:r>
            <a:endParaRPr/>
          </a:p>
        </p:txBody>
      </p:sp>
      <p:sp>
        <p:nvSpPr>
          <p:cNvPr id="173" name="Google Shape;173;p6"/>
          <p:cNvSpPr txBox="1"/>
          <p:nvPr/>
        </p:nvSpPr>
        <p:spPr>
          <a:xfrm>
            <a:off x="246909" y="904875"/>
            <a:ext cx="1026869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0D5672"/>
                </a:solidFill>
                <a:latin typeface="Roboto"/>
                <a:ea typeface="Roboto"/>
                <a:cs typeface="Roboto"/>
                <a:sym typeface="Roboto"/>
              </a:rPr>
              <a:t>Various important components of Java</a:t>
            </a:r>
            <a:endParaRPr sz="3600">
              <a:solidFill>
                <a:srgbClr val="0D5672"/>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0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2000"/>
                                        <p:tgtEl>
                                          <p:spTgt spid="146"/>
                                        </p:tgtEl>
                                      </p:cBhvr>
                                    </p:animEffect>
                                  </p:childTnLst>
                                </p:cTn>
                              </p:par>
                              <p:par>
                                <p:cTn fill="hold" nodeType="with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20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2000"/>
                                        <p:tgtEl>
                                          <p:spTgt spid="145"/>
                                        </p:tgtEl>
                                      </p:cBhvr>
                                    </p:animEffect>
                                  </p:childTnLst>
                                </p:cTn>
                              </p:par>
                              <p:par>
                                <p:cTn fill="hold" nodeType="with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2000"/>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par>
                                <p:cTn fill="hold" nodeType="with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2000"/>
                                        <p:tgtEl>
                                          <p:spTgt spid="153"/>
                                        </p:tgtEl>
                                      </p:cBhvr>
                                    </p:animEffect>
                                  </p:childTnLst>
                                </p:cTn>
                              </p:par>
                              <p:par>
                                <p:cTn fill="hold" nodeType="with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2000"/>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par>
                                <p:cTn fill="hold" nodeType="with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2000"/>
                                        <p:tgtEl>
                                          <p:spTgt spid="155"/>
                                        </p:tgtEl>
                                      </p:cBhvr>
                                    </p:animEffect>
                                  </p:childTnLst>
                                </p:cTn>
                              </p:par>
                              <p:par>
                                <p:cTn fill="hold" nodeType="with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2000"/>
                                        <p:tgtEl>
                                          <p:spTgt spid="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2000"/>
                                        <p:tgtEl>
                                          <p:spTgt spid="159"/>
                                        </p:tgtEl>
                                      </p:cBhvr>
                                    </p:animEffect>
                                  </p:childTnLst>
                                </p:cTn>
                              </p:par>
                              <p:par>
                                <p:cTn fill="hold" nodeType="with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20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2000"/>
                                        <p:tgtEl>
                                          <p:spTgt spid="162"/>
                                        </p:tgtEl>
                                      </p:cBhvr>
                                    </p:animEffect>
                                  </p:childTnLst>
                                </p:cTn>
                              </p:par>
                              <p:par>
                                <p:cTn fill="hold" nodeType="with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20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822"/>
                                        <p:tgtEl>
                                          <p:spTgt spid="165"/>
                                        </p:tgtEl>
                                      </p:cBhvr>
                                    </p:animEffect>
                                  </p:childTnLst>
                                </p:cTn>
                              </p:par>
                              <p:par>
                                <p:cTn fill="hold" nodeType="with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822"/>
                                        <p:tgtEl>
                                          <p:spTgt spid="151"/>
                                        </p:tgtEl>
                                      </p:cBhvr>
                                    </p:animEffect>
                                  </p:childTnLst>
                                </p:cTn>
                              </p:par>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822"/>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par>
                                <p:cTn fill="hold" nodeType="with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000"/>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8"/>
                                        </p:tgtEl>
                                        <p:attrNameLst>
                                          <p:attrName>style.visibility</p:attrName>
                                        </p:attrNameLst>
                                      </p:cBhvr>
                                      <p:to>
                                        <p:strVal val="visible"/>
                                      </p:to>
                                    </p:set>
                                    <p:anim calcmode="lin" valueType="num">
                                      <p:cBhvr additive="base">
                                        <p:cTn dur="500"/>
                                        <p:tgtEl>
                                          <p:spTgt spid="168"/>
                                        </p:tgtEl>
                                        <p:attrNameLst>
                                          <p:attrName>ppt_w</p:attrName>
                                        </p:attrNameLst>
                                      </p:cBhvr>
                                      <p:tavLst>
                                        <p:tav fmla="" tm="0">
                                          <p:val>
                                            <p:strVal val="0"/>
                                          </p:val>
                                        </p:tav>
                                        <p:tav fmla="" tm="100000">
                                          <p:val>
                                            <p:strVal val="#ppt_w"/>
                                          </p:val>
                                        </p:tav>
                                      </p:tavLst>
                                    </p:anim>
                                    <p:anim calcmode="lin" valueType="num">
                                      <p:cBhvr additive="base">
                                        <p:cTn dur="500"/>
                                        <p:tgtEl>
                                          <p:spTgt spid="16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69"/>
                                        </p:tgtEl>
                                        <p:attrNameLst>
                                          <p:attrName>style.visibility</p:attrName>
                                        </p:attrNameLst>
                                      </p:cBhvr>
                                      <p:to>
                                        <p:strVal val="visible"/>
                                      </p:to>
                                    </p:set>
                                    <p:anim calcmode="lin" valueType="num">
                                      <p:cBhvr additive="base">
                                        <p:cTn dur="500"/>
                                        <p:tgtEl>
                                          <p:spTgt spid="169"/>
                                        </p:tgtEl>
                                        <p:attrNameLst>
                                          <p:attrName>ppt_w</p:attrName>
                                        </p:attrNameLst>
                                      </p:cBhvr>
                                      <p:tavLst>
                                        <p:tav fmla="" tm="0">
                                          <p:val>
                                            <p:strVal val="0"/>
                                          </p:val>
                                        </p:tav>
                                        <p:tav fmla="" tm="100000">
                                          <p:val>
                                            <p:strVal val="#ppt_w"/>
                                          </p:val>
                                        </p:tav>
                                      </p:tavLst>
                                    </p:anim>
                                    <p:anim calcmode="lin" valueType="num">
                                      <p:cBhvr additive="base">
                                        <p:cTn dur="500"/>
                                        <p:tgtEl>
                                          <p:spTgt spid="16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822"/>
                                        <p:tgtEl>
                                          <p:spTgt spid="164"/>
                                        </p:tgtEl>
                                      </p:cBhvr>
                                    </p:animEffect>
                                  </p:childTnLst>
                                </p:cTn>
                              </p:par>
                              <p:par>
                                <p:cTn fill="hold" nodeType="with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7"/>
          <p:cNvPicPr preferRelativeResize="0"/>
          <p:nvPr/>
        </p:nvPicPr>
        <p:blipFill rotWithShape="1">
          <a:blip r:embed="rId3">
            <a:alphaModFix/>
          </a:blip>
          <a:srcRect b="0" l="11910" r="10159" t="0"/>
          <a:stretch/>
        </p:blipFill>
        <p:spPr>
          <a:xfrm>
            <a:off x="10906124" y="233019"/>
            <a:ext cx="1038967" cy="1249881"/>
          </a:xfrm>
          <a:prstGeom prst="rect">
            <a:avLst/>
          </a:prstGeom>
          <a:noFill/>
          <a:ln>
            <a:noFill/>
          </a:ln>
        </p:spPr>
      </p:pic>
      <p:sp>
        <p:nvSpPr>
          <p:cNvPr id="179" name="Google Shape;179;p7"/>
          <p:cNvSpPr/>
          <p:nvPr/>
        </p:nvSpPr>
        <p:spPr>
          <a:xfrm>
            <a:off x="1066800" y="233019"/>
            <a:ext cx="10058400" cy="67185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US" sz="3200">
                <a:solidFill>
                  <a:srgbClr val="262626"/>
                </a:solidFill>
                <a:latin typeface="Century Gothic"/>
                <a:ea typeface="Century Gothic"/>
                <a:cs typeface="Century Gothic"/>
                <a:sym typeface="Century Gothic"/>
              </a:rPr>
              <a:t>Welcome to the Java Interview Help course</a:t>
            </a:r>
            <a:endParaRPr/>
          </a:p>
        </p:txBody>
      </p:sp>
      <p:sp>
        <p:nvSpPr>
          <p:cNvPr id="180" name="Google Shape;180;p7"/>
          <p:cNvSpPr txBox="1"/>
          <p:nvPr/>
        </p:nvSpPr>
        <p:spPr>
          <a:xfrm>
            <a:off x="246909" y="904875"/>
            <a:ext cx="1026869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0D5672"/>
                </a:solidFill>
                <a:latin typeface="Roboto"/>
                <a:ea typeface="Roboto"/>
                <a:cs typeface="Roboto"/>
                <a:sym typeface="Roboto"/>
              </a:rPr>
              <a:t>Constructors</a:t>
            </a:r>
            <a:endParaRPr sz="3600">
              <a:solidFill>
                <a:srgbClr val="0D5672"/>
              </a:solidFill>
              <a:latin typeface="Times New Roman"/>
              <a:ea typeface="Times New Roman"/>
              <a:cs typeface="Times New Roman"/>
              <a:sym typeface="Times New Roman"/>
            </a:endParaRPr>
          </a:p>
        </p:txBody>
      </p:sp>
      <p:sp>
        <p:nvSpPr>
          <p:cNvPr id="181" name="Google Shape;181;p7"/>
          <p:cNvSpPr txBox="1"/>
          <p:nvPr/>
        </p:nvSpPr>
        <p:spPr>
          <a:xfrm>
            <a:off x="454404" y="2038396"/>
            <a:ext cx="12971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Class Car </a:t>
            </a:r>
            <a:endParaRPr/>
          </a:p>
        </p:txBody>
      </p:sp>
      <p:sp>
        <p:nvSpPr>
          <p:cNvPr id="182" name="Google Shape;182;p7"/>
          <p:cNvSpPr txBox="1"/>
          <p:nvPr/>
        </p:nvSpPr>
        <p:spPr>
          <a:xfrm>
            <a:off x="1135310" y="2710252"/>
            <a:ext cx="12923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Int speed;</a:t>
            </a:r>
            <a:endParaRPr/>
          </a:p>
        </p:txBody>
      </p:sp>
      <p:sp>
        <p:nvSpPr>
          <p:cNvPr id="183" name="Google Shape;183;p7"/>
          <p:cNvSpPr txBox="1"/>
          <p:nvPr/>
        </p:nvSpPr>
        <p:spPr>
          <a:xfrm>
            <a:off x="1135309" y="3244334"/>
            <a:ext cx="9140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Car() {</a:t>
            </a:r>
            <a:endParaRPr/>
          </a:p>
        </p:txBody>
      </p:sp>
      <p:sp>
        <p:nvSpPr>
          <p:cNvPr id="184" name="Google Shape;184;p7"/>
          <p:cNvSpPr txBox="1"/>
          <p:nvPr/>
        </p:nvSpPr>
        <p:spPr>
          <a:xfrm>
            <a:off x="2333953" y="3916190"/>
            <a:ext cx="27246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this.speed =  1500;</a:t>
            </a:r>
            <a:endParaRPr/>
          </a:p>
        </p:txBody>
      </p:sp>
      <p:sp>
        <p:nvSpPr>
          <p:cNvPr id="185" name="Google Shape;185;p7"/>
          <p:cNvSpPr txBox="1"/>
          <p:nvPr/>
        </p:nvSpPr>
        <p:spPr>
          <a:xfrm>
            <a:off x="2065743" y="4588046"/>
            <a:ext cx="28015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a:t>
            </a:r>
            <a:endParaRPr/>
          </a:p>
        </p:txBody>
      </p:sp>
      <p:sp>
        <p:nvSpPr>
          <p:cNvPr id="186" name="Google Shape;186;p7"/>
          <p:cNvSpPr txBox="1"/>
          <p:nvPr/>
        </p:nvSpPr>
        <p:spPr>
          <a:xfrm>
            <a:off x="1512115" y="5089809"/>
            <a:ext cx="1004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start(){</a:t>
            </a:r>
            <a:endParaRPr/>
          </a:p>
        </p:txBody>
      </p:sp>
      <p:sp>
        <p:nvSpPr>
          <p:cNvPr id="187" name="Google Shape;187;p7"/>
          <p:cNvSpPr txBox="1"/>
          <p:nvPr/>
        </p:nvSpPr>
        <p:spPr>
          <a:xfrm>
            <a:off x="4064182" y="5096051"/>
            <a:ext cx="1004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stop(){</a:t>
            </a:r>
            <a:endParaRPr/>
          </a:p>
        </p:txBody>
      </p:sp>
      <p:sp>
        <p:nvSpPr>
          <p:cNvPr id="188" name="Google Shape;188;p7"/>
          <p:cNvSpPr txBox="1"/>
          <p:nvPr/>
        </p:nvSpPr>
        <p:spPr>
          <a:xfrm>
            <a:off x="2333953" y="3546858"/>
            <a:ext cx="14494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this(90);</a:t>
            </a:r>
            <a:endParaRPr/>
          </a:p>
        </p:txBody>
      </p:sp>
      <p:sp>
        <p:nvSpPr>
          <p:cNvPr id="189" name="Google Shape;189;p7"/>
          <p:cNvSpPr txBox="1"/>
          <p:nvPr/>
        </p:nvSpPr>
        <p:spPr>
          <a:xfrm>
            <a:off x="2317353" y="2038396"/>
            <a:ext cx="10647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extends</a:t>
            </a:r>
            <a:endParaRPr/>
          </a:p>
        </p:txBody>
      </p:sp>
      <p:sp>
        <p:nvSpPr>
          <p:cNvPr id="190" name="Google Shape;190;p7"/>
          <p:cNvSpPr txBox="1"/>
          <p:nvPr/>
        </p:nvSpPr>
        <p:spPr>
          <a:xfrm>
            <a:off x="454404" y="2038396"/>
            <a:ext cx="12971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Class Car </a:t>
            </a:r>
            <a:endParaRPr/>
          </a:p>
        </p:txBody>
      </p:sp>
      <p:sp>
        <p:nvSpPr>
          <p:cNvPr id="191" name="Google Shape;191;p7"/>
          <p:cNvSpPr txBox="1"/>
          <p:nvPr/>
        </p:nvSpPr>
        <p:spPr>
          <a:xfrm>
            <a:off x="4034115" y="2038396"/>
            <a:ext cx="9492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Honda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8"/>
          <p:cNvSpPr/>
          <p:nvPr/>
        </p:nvSpPr>
        <p:spPr>
          <a:xfrm>
            <a:off x="1066800" y="233019"/>
            <a:ext cx="10058400" cy="13716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US" sz="4100">
                <a:solidFill>
                  <a:srgbClr val="262626"/>
                </a:solidFill>
                <a:latin typeface="Century Gothic"/>
                <a:ea typeface="Century Gothic"/>
                <a:cs typeface="Century Gothic"/>
                <a:sym typeface="Century Gothic"/>
              </a:rPr>
              <a:t>Welcome to the Java Interview </a:t>
            </a:r>
            <a:endParaRPr/>
          </a:p>
          <a:p>
            <a:pPr indent="0" lvl="0" marL="0" marR="0" rtl="0" algn="l">
              <a:lnSpc>
                <a:spcPct val="90000"/>
              </a:lnSpc>
              <a:spcBef>
                <a:spcPts val="600"/>
              </a:spcBef>
              <a:spcAft>
                <a:spcPts val="0"/>
              </a:spcAft>
              <a:buNone/>
            </a:pPr>
            <a:r>
              <a:rPr b="1" lang="en-US" sz="4100">
                <a:solidFill>
                  <a:srgbClr val="262626"/>
                </a:solidFill>
                <a:latin typeface="Century Gothic"/>
                <a:ea typeface="Century Gothic"/>
                <a:cs typeface="Century Gothic"/>
                <a:sym typeface="Century Gothic"/>
              </a:rPr>
              <a:t>			Help course</a:t>
            </a:r>
            <a:endParaRPr/>
          </a:p>
        </p:txBody>
      </p:sp>
      <p:sp>
        <p:nvSpPr>
          <p:cNvPr id="197" name="Google Shape;197;p8"/>
          <p:cNvSpPr txBox="1"/>
          <p:nvPr/>
        </p:nvSpPr>
        <p:spPr>
          <a:xfrm>
            <a:off x="623887" y="1885222"/>
            <a:ext cx="11115675" cy="4462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u="sng">
                <a:solidFill>
                  <a:srgbClr val="1C1D1F"/>
                </a:solidFill>
                <a:latin typeface="Roboto"/>
                <a:ea typeface="Roboto"/>
                <a:cs typeface="Roboto"/>
                <a:sym typeface="Roboto"/>
              </a:rPr>
              <a:t>Tell us about yourself</a:t>
            </a:r>
            <a:endParaRPr sz="1400">
              <a:solidFill>
                <a:schemeClr val="dk1"/>
              </a:solidFill>
              <a:latin typeface="Times New Roman"/>
              <a:ea typeface="Times New Roman"/>
              <a:cs typeface="Times New Roman"/>
              <a:sym typeface="Times New Roman"/>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This icebreaking question is a great opportunity to market our skills and all the great work we have been doing over the years.</a:t>
            </a:r>
            <a:endParaRPr/>
          </a:p>
          <a:p>
            <a:pPr indent="0" lvl="0" marL="0" marR="0" rtl="0" algn="just">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It is like fishing where we will leave several technical baits hoping that the interviewer will be caught in one or most of them and ask us questions from those topics as the interview progresses.</a:t>
            </a:r>
            <a:endParaRPr/>
          </a:p>
          <a:p>
            <a:pPr indent="0" lvl="0" marL="0" marR="0" rtl="0" algn="just">
              <a:spcBef>
                <a:spcPts val="0"/>
              </a:spcBef>
              <a:spcAft>
                <a:spcPts val="0"/>
              </a:spcAft>
              <a:buNone/>
            </a:pPr>
            <a:r>
              <a:rPr lang="en-US" sz="1800">
                <a:solidFill>
                  <a:schemeClr val="dk1"/>
                </a:solidFill>
                <a:latin typeface="Century Gothic"/>
                <a:ea typeface="Century Gothic"/>
                <a:cs typeface="Century Gothic"/>
                <a:sym typeface="Century Gothic"/>
              </a:rPr>
              <a:t> </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This is the very first question we will be responding to, and it conveys a lot about our communication, confidence and experience.</a:t>
            </a:r>
            <a:endParaRPr/>
          </a:p>
          <a:p>
            <a:pPr indent="0" lvl="0" marL="0" marR="0" rtl="0" algn="just">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So we should prepare six to 12 points and practice those points 30 to 40 times, at least.</a:t>
            </a:r>
            <a:endParaRPr/>
          </a:p>
          <a:p>
            <a:pPr indent="0" lvl="0" marL="0" marR="0" rtl="0" algn="just">
              <a:spcBef>
                <a:spcPts val="0"/>
              </a:spcBef>
              <a:spcAft>
                <a:spcPts val="0"/>
              </a:spcAft>
              <a:buNone/>
            </a:pPr>
            <a:r>
              <a:rPr lang="en-US" sz="1800">
                <a:solidFill>
                  <a:schemeClr val="dk1"/>
                </a:solidFill>
                <a:latin typeface="Century Gothic"/>
                <a:ea typeface="Century Gothic"/>
                <a:cs typeface="Century Gothic"/>
                <a:sym typeface="Century Gothic"/>
              </a:rPr>
              <a:t> </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entury Gothic"/>
                <a:ea typeface="Century Gothic"/>
                <a:cs typeface="Century Gothic"/>
                <a:sym typeface="Century Gothic"/>
              </a:rPr>
              <a:t>In the next lecture. I will share some important points from my about me that I have been using over the years that will help you.   And you can use it as a template if you want to.</a:t>
            </a:r>
            <a:endParaRPr sz="1400">
              <a:solidFill>
                <a:schemeClr val="dk1"/>
              </a:solidFill>
              <a:latin typeface="Times New Roman"/>
              <a:ea typeface="Times New Roman"/>
              <a:cs typeface="Times New Roman"/>
              <a:sym typeface="Times New Roman"/>
            </a:endParaRPr>
          </a:p>
        </p:txBody>
      </p:sp>
      <p:pic>
        <p:nvPicPr>
          <p:cNvPr id="198" name="Google Shape;198;p8"/>
          <p:cNvPicPr preferRelativeResize="0"/>
          <p:nvPr/>
        </p:nvPicPr>
        <p:blipFill rotWithShape="1">
          <a:blip r:embed="rId3">
            <a:alphaModFix/>
          </a:blip>
          <a:srcRect b="0" l="11910" r="10159" t="0"/>
          <a:stretch/>
        </p:blipFill>
        <p:spPr>
          <a:xfrm>
            <a:off x="10906124" y="233019"/>
            <a:ext cx="1038967" cy="124988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9"/>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0"/>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800"/>
              <a:buFont typeface="Century Gothic"/>
              <a:buNone/>
            </a:pPr>
            <a:r>
              <a:rPr lang="en-US"/>
              <a:t>Java Interview Course Series</a:t>
            </a:r>
            <a:endParaRPr/>
          </a:p>
        </p:txBody>
      </p:sp>
      <p:sp>
        <p:nvSpPr>
          <p:cNvPr id="209" name="Google Shape;209;p10"/>
          <p:cNvSpPr txBox="1"/>
          <p:nvPr>
            <p:ph idx="1" type="body"/>
          </p:nvPr>
        </p:nvSpPr>
        <p:spPr>
          <a:xfrm>
            <a:off x="1066800" y="2103120"/>
            <a:ext cx="10058400" cy="3931920"/>
          </a:xfrm>
          <a:prstGeom prst="rect">
            <a:avLst/>
          </a:prstGeom>
          <a:noFill/>
          <a:ln>
            <a:noFill/>
          </a:ln>
        </p:spPr>
        <p:txBody>
          <a:bodyPr anchorCtr="0" anchor="t" bIns="45700" lIns="91425" spcFirstLastPara="1" rIns="91425" wrap="square" tIns="45700">
            <a:normAutofit fontScale="85000" lnSpcReduction="20000"/>
          </a:bodyPr>
          <a:lstStyle/>
          <a:p>
            <a:pPr indent="-182880" lvl="0" marL="182880" rtl="0" algn="ctr">
              <a:lnSpc>
                <a:spcPct val="100000"/>
              </a:lnSpc>
              <a:spcBef>
                <a:spcPts val="0"/>
              </a:spcBef>
              <a:spcAft>
                <a:spcPts val="0"/>
              </a:spcAft>
              <a:buSzPct val="100000"/>
              <a:buChar char="◦"/>
            </a:pPr>
            <a:r>
              <a:rPr b="1" lang="en-US" sz="1800" u="sng">
                <a:solidFill>
                  <a:srgbClr val="1C1D1F"/>
                </a:solidFill>
                <a:latin typeface="Roboto"/>
                <a:ea typeface="Roboto"/>
                <a:cs typeface="Roboto"/>
                <a:sym typeface="Roboto"/>
              </a:rPr>
              <a:t>Tell us about yourself</a:t>
            </a:r>
            <a:endParaRPr sz="1800">
              <a:latin typeface="Times New Roman"/>
              <a:ea typeface="Times New Roman"/>
              <a:cs typeface="Times New Roman"/>
              <a:sym typeface="Times New Roman"/>
            </a:endParaRPr>
          </a:p>
          <a:p>
            <a:pPr indent="-182880" lvl="0" marL="182880" rtl="0" algn="just">
              <a:lnSpc>
                <a:spcPct val="100000"/>
              </a:lnSpc>
              <a:spcBef>
                <a:spcPts val="900"/>
              </a:spcBef>
              <a:spcAft>
                <a:spcPts val="0"/>
              </a:spcAft>
              <a:buSzPct val="100000"/>
              <a:buChar char="◦"/>
            </a:pPr>
            <a:r>
              <a:rPr lang="en-US">
                <a:solidFill>
                  <a:srgbClr val="1C1D1F"/>
                </a:solidFill>
                <a:latin typeface="Roboto"/>
                <a:ea typeface="Roboto"/>
                <a:cs typeface="Roboto"/>
                <a:sym typeface="Roboto"/>
              </a:rPr>
              <a:t>Can you tell us about yourself or can you talk about your work experience while walking us through your résumé, no matter what the question is and how it is asked, this icebreaking question is a great opportunity</a:t>
            </a:r>
            <a:endParaRPr/>
          </a:p>
          <a:p>
            <a:pPr indent="-182880" lvl="0" marL="182880" rtl="0" algn="just">
              <a:lnSpc>
                <a:spcPct val="100000"/>
              </a:lnSpc>
              <a:spcBef>
                <a:spcPts val="900"/>
              </a:spcBef>
              <a:spcAft>
                <a:spcPts val="0"/>
              </a:spcAft>
              <a:buSzPct val="100000"/>
              <a:buChar char="◦"/>
            </a:pPr>
            <a:r>
              <a:rPr lang="en-US">
                <a:solidFill>
                  <a:srgbClr val="1C1D1F"/>
                </a:solidFill>
                <a:latin typeface="Roboto"/>
                <a:ea typeface="Roboto"/>
                <a:cs typeface="Roboto"/>
                <a:sym typeface="Roboto"/>
              </a:rPr>
              <a:t>to market our skills and all the great work we have been doing over the years.</a:t>
            </a:r>
            <a:endParaRPr/>
          </a:p>
          <a:p>
            <a:pPr indent="-182880" lvl="0" marL="182880" rtl="0" algn="just">
              <a:lnSpc>
                <a:spcPct val="100000"/>
              </a:lnSpc>
              <a:spcBef>
                <a:spcPts val="900"/>
              </a:spcBef>
              <a:spcAft>
                <a:spcPts val="0"/>
              </a:spcAft>
              <a:buSzPct val="100000"/>
              <a:buChar char="◦"/>
            </a:pPr>
            <a:r>
              <a:rPr lang="en-US">
                <a:solidFill>
                  <a:srgbClr val="1C1D1F"/>
                </a:solidFill>
                <a:latin typeface="Roboto"/>
                <a:ea typeface="Roboto"/>
                <a:cs typeface="Roboto"/>
                <a:sym typeface="Roboto"/>
              </a:rPr>
              <a:t>It is like fishing where we will leave several technical baits hoping that the interviewer will be caught</a:t>
            </a:r>
            <a:endParaRPr/>
          </a:p>
          <a:p>
            <a:pPr indent="-182880" lvl="0" marL="182880" rtl="0" algn="just">
              <a:lnSpc>
                <a:spcPct val="100000"/>
              </a:lnSpc>
              <a:spcBef>
                <a:spcPts val="900"/>
              </a:spcBef>
              <a:spcAft>
                <a:spcPts val="0"/>
              </a:spcAft>
              <a:buSzPct val="100000"/>
              <a:buChar char="◦"/>
            </a:pPr>
            <a:r>
              <a:rPr lang="en-US">
                <a:solidFill>
                  <a:srgbClr val="1C1D1F"/>
                </a:solidFill>
                <a:latin typeface="Roboto"/>
                <a:ea typeface="Roboto"/>
                <a:cs typeface="Roboto"/>
                <a:sym typeface="Roboto"/>
              </a:rPr>
              <a:t>in one or most of them and ask us questions from those topics as the interview progresses.</a:t>
            </a:r>
            <a:endParaRPr/>
          </a:p>
          <a:p>
            <a:pPr indent="-182880" lvl="0" marL="182880" rtl="0" algn="just">
              <a:lnSpc>
                <a:spcPct val="100000"/>
              </a:lnSpc>
              <a:spcBef>
                <a:spcPts val="900"/>
              </a:spcBef>
              <a:spcAft>
                <a:spcPts val="0"/>
              </a:spcAft>
              <a:buSzPct val="100000"/>
              <a:buChar char="◦"/>
            </a:pPr>
            <a:r>
              <a:rPr lang="en-US">
                <a:solidFill>
                  <a:srgbClr val="1C1D1F"/>
                </a:solidFill>
                <a:latin typeface="Roboto"/>
                <a:ea typeface="Roboto"/>
                <a:cs typeface="Roboto"/>
                <a:sym typeface="Roboto"/>
              </a:rPr>
              <a:t>This is the very first question we will be responding to, and it conveys a lot about our communication,</a:t>
            </a:r>
            <a:endParaRPr/>
          </a:p>
          <a:p>
            <a:pPr indent="-182880" lvl="0" marL="182880" rtl="0" algn="just">
              <a:lnSpc>
                <a:spcPct val="100000"/>
              </a:lnSpc>
              <a:spcBef>
                <a:spcPts val="900"/>
              </a:spcBef>
              <a:spcAft>
                <a:spcPts val="0"/>
              </a:spcAft>
              <a:buSzPct val="100000"/>
              <a:buChar char="◦"/>
            </a:pPr>
            <a:r>
              <a:rPr lang="en-US">
                <a:solidFill>
                  <a:srgbClr val="1C1D1F"/>
                </a:solidFill>
                <a:latin typeface="Roboto"/>
                <a:ea typeface="Roboto"/>
                <a:cs typeface="Roboto"/>
                <a:sym typeface="Roboto"/>
              </a:rPr>
              <a:t>confidence and experience.</a:t>
            </a:r>
            <a:endParaRPr/>
          </a:p>
          <a:p>
            <a:pPr indent="-182880" lvl="0" marL="182880" rtl="0" algn="just">
              <a:lnSpc>
                <a:spcPct val="100000"/>
              </a:lnSpc>
              <a:spcBef>
                <a:spcPts val="900"/>
              </a:spcBef>
              <a:spcAft>
                <a:spcPts val="0"/>
              </a:spcAft>
              <a:buSzPct val="100000"/>
              <a:buChar char="◦"/>
            </a:pPr>
            <a:r>
              <a:rPr lang="en-US">
                <a:solidFill>
                  <a:srgbClr val="1C1D1F"/>
                </a:solidFill>
                <a:latin typeface="Roboto"/>
                <a:ea typeface="Roboto"/>
                <a:cs typeface="Roboto"/>
                <a:sym typeface="Roboto"/>
              </a:rPr>
              <a:t>So we should prepare six to 12 points and practice those points 30 to 40 times, at least in the next</a:t>
            </a:r>
            <a:endParaRPr/>
          </a:p>
          <a:p>
            <a:pPr indent="-182880" lvl="0" marL="182880" rtl="0" algn="just">
              <a:lnSpc>
                <a:spcPct val="100000"/>
              </a:lnSpc>
              <a:spcBef>
                <a:spcPts val="900"/>
              </a:spcBef>
              <a:spcAft>
                <a:spcPts val="0"/>
              </a:spcAft>
              <a:buSzPct val="100000"/>
              <a:buChar char="◦"/>
            </a:pPr>
            <a:r>
              <a:rPr lang="en-US">
                <a:solidFill>
                  <a:srgbClr val="1C1D1F"/>
                </a:solidFill>
                <a:latin typeface="Roboto"/>
                <a:ea typeface="Roboto"/>
                <a:cs typeface="Roboto"/>
                <a:sym typeface="Roboto"/>
              </a:rPr>
              <a:t>lecture.</a:t>
            </a:r>
            <a:endParaRPr/>
          </a:p>
          <a:p>
            <a:pPr indent="-182880" lvl="0" marL="182880" rtl="0" algn="just">
              <a:lnSpc>
                <a:spcPct val="100000"/>
              </a:lnSpc>
              <a:spcBef>
                <a:spcPts val="900"/>
              </a:spcBef>
              <a:spcAft>
                <a:spcPts val="0"/>
              </a:spcAft>
              <a:buSzPct val="100000"/>
              <a:buChar char="◦"/>
            </a:pPr>
            <a:r>
              <a:rPr lang="en-US">
                <a:solidFill>
                  <a:srgbClr val="1C1D1F"/>
                </a:solidFill>
                <a:latin typeface="Roboto"/>
                <a:ea typeface="Roboto"/>
                <a:cs typeface="Roboto"/>
                <a:sym typeface="Roboto"/>
              </a:rPr>
              <a:t>I will share some important points from my about me that I have been using over the years that will</a:t>
            </a:r>
            <a:endParaRPr/>
          </a:p>
          <a:p>
            <a:pPr indent="-182880" lvl="0" marL="182880" rtl="0" algn="just">
              <a:lnSpc>
                <a:spcPct val="100000"/>
              </a:lnSpc>
              <a:spcBef>
                <a:spcPts val="900"/>
              </a:spcBef>
              <a:spcAft>
                <a:spcPts val="0"/>
              </a:spcAft>
              <a:buSzPct val="100000"/>
              <a:buChar char="◦"/>
            </a:pPr>
            <a:r>
              <a:rPr lang="en-US">
                <a:solidFill>
                  <a:srgbClr val="1C1D1F"/>
                </a:solidFill>
                <a:latin typeface="Roboto"/>
                <a:ea typeface="Roboto"/>
                <a:cs typeface="Roboto"/>
                <a:sym typeface="Roboto"/>
              </a:rPr>
              <a:t>help you.</a:t>
            </a:r>
            <a:endParaRPr/>
          </a:p>
          <a:p>
            <a:pPr indent="-182880" lvl="0" marL="182880" rtl="0" algn="just">
              <a:lnSpc>
                <a:spcPct val="100000"/>
              </a:lnSpc>
              <a:spcBef>
                <a:spcPts val="900"/>
              </a:spcBef>
              <a:spcAft>
                <a:spcPts val="0"/>
              </a:spcAft>
              <a:buSzPct val="100000"/>
              <a:buChar char="◦"/>
            </a:pPr>
            <a:r>
              <a:rPr lang="en-US">
                <a:solidFill>
                  <a:srgbClr val="1C1D1F"/>
                </a:solidFill>
                <a:latin typeface="Roboto"/>
                <a:ea typeface="Roboto"/>
                <a:cs typeface="Roboto"/>
                <a:sym typeface="Roboto"/>
              </a:rPr>
              <a:t>And you can use it as a template if you want to.</a:t>
            </a:r>
            <a:endParaRPr/>
          </a:p>
          <a:p>
            <a:pPr indent="-85724" lvl="0" marL="182880" rtl="0" algn="l">
              <a:lnSpc>
                <a:spcPct val="100000"/>
              </a:lnSpc>
              <a:spcBef>
                <a:spcPts val="900"/>
              </a:spcBef>
              <a:spcAft>
                <a:spcPts val="0"/>
              </a:spcAft>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3" name="Shape 213"/>
        <p:cNvGrpSpPr/>
        <p:nvPr/>
      </p:nvGrpSpPr>
      <p:grpSpPr>
        <a:xfrm>
          <a:off x="0" y="0"/>
          <a:ext cx="0" cy="0"/>
          <a:chOff x="0" y="0"/>
          <a:chExt cx="0" cy="0"/>
        </a:xfrm>
      </p:grpSpPr>
      <p:sp>
        <p:nvSpPr>
          <p:cNvPr id="214" name="Google Shape;214;p11"/>
          <p:cNvSpPr txBox="1"/>
          <p:nvPr>
            <p:ph idx="1" type="body"/>
          </p:nvPr>
        </p:nvSpPr>
        <p:spPr>
          <a:xfrm>
            <a:off x="838200" y="1287262"/>
            <a:ext cx="10515600" cy="5291091"/>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SzPts val="2400"/>
              <a:buFont typeface="Century Gothic"/>
              <a:buAutoNum type="arabicPeriod"/>
            </a:pPr>
            <a:r>
              <a:rPr lang="en-US" sz="2400">
                <a:latin typeface="Cambria"/>
                <a:ea typeface="Cambria"/>
                <a:cs typeface="Cambria"/>
                <a:sym typeface="Cambria"/>
              </a:rPr>
              <a:t>What is the pillar of oops concept</a:t>
            </a:r>
            <a:endParaRPr/>
          </a:p>
          <a:p>
            <a:pPr indent="-182880" lvl="1" marL="457200" rtl="0" algn="l">
              <a:lnSpc>
                <a:spcPct val="100000"/>
              </a:lnSpc>
              <a:spcBef>
                <a:spcPts val="500"/>
              </a:spcBef>
              <a:spcAft>
                <a:spcPts val="0"/>
              </a:spcAft>
              <a:buClr>
                <a:srgbClr val="00B050"/>
              </a:buClr>
              <a:buSzPts val="1600"/>
              <a:buFont typeface="Noto Sans Symbols"/>
              <a:buChar char="⮚"/>
            </a:pPr>
            <a:r>
              <a:rPr lang="en-US">
                <a:latin typeface="Cambria"/>
                <a:ea typeface="Cambria"/>
                <a:cs typeface="Cambria"/>
                <a:sym typeface="Cambria"/>
              </a:rPr>
              <a:t>Encapsulation</a:t>
            </a:r>
            <a:endParaRPr/>
          </a:p>
          <a:p>
            <a:pPr indent="-182880" lvl="1" marL="457200" rtl="0" algn="l">
              <a:lnSpc>
                <a:spcPct val="100000"/>
              </a:lnSpc>
              <a:spcBef>
                <a:spcPts val="500"/>
              </a:spcBef>
              <a:spcAft>
                <a:spcPts val="0"/>
              </a:spcAft>
              <a:buClr>
                <a:srgbClr val="00B050"/>
              </a:buClr>
              <a:buSzPts val="1600"/>
              <a:buFont typeface="Noto Sans Symbols"/>
              <a:buChar char="⮚"/>
            </a:pPr>
            <a:r>
              <a:rPr lang="en-US">
                <a:latin typeface="Cambria"/>
                <a:ea typeface="Cambria"/>
                <a:cs typeface="Cambria"/>
                <a:sym typeface="Cambria"/>
              </a:rPr>
              <a:t>Inheritance</a:t>
            </a:r>
            <a:endParaRPr/>
          </a:p>
          <a:p>
            <a:pPr indent="-182880" lvl="1" marL="457200" rtl="0" algn="l">
              <a:lnSpc>
                <a:spcPct val="100000"/>
              </a:lnSpc>
              <a:spcBef>
                <a:spcPts val="500"/>
              </a:spcBef>
              <a:spcAft>
                <a:spcPts val="0"/>
              </a:spcAft>
              <a:buClr>
                <a:srgbClr val="00B050"/>
              </a:buClr>
              <a:buSzPts val="1600"/>
              <a:buFont typeface="Noto Sans Symbols"/>
              <a:buChar char="⮚"/>
            </a:pPr>
            <a:r>
              <a:rPr lang="en-US">
                <a:latin typeface="Cambria"/>
                <a:ea typeface="Cambria"/>
                <a:cs typeface="Cambria"/>
                <a:sym typeface="Cambria"/>
              </a:rPr>
              <a:t>Polymorphism</a:t>
            </a:r>
            <a:endParaRPr/>
          </a:p>
          <a:p>
            <a:pPr indent="-182880" lvl="1" marL="457200" rtl="0" algn="l">
              <a:lnSpc>
                <a:spcPct val="100000"/>
              </a:lnSpc>
              <a:spcBef>
                <a:spcPts val="500"/>
              </a:spcBef>
              <a:spcAft>
                <a:spcPts val="0"/>
              </a:spcAft>
              <a:buClr>
                <a:srgbClr val="00B050"/>
              </a:buClr>
              <a:buSzPts val="1600"/>
              <a:buFont typeface="Noto Sans Symbols"/>
              <a:buChar char="⮚"/>
            </a:pPr>
            <a:r>
              <a:rPr lang="en-US">
                <a:latin typeface="Cambria"/>
                <a:ea typeface="Cambria"/>
                <a:cs typeface="Cambria"/>
                <a:sym typeface="Cambria"/>
              </a:rPr>
              <a:t>Abstraction</a:t>
            </a:r>
            <a:endParaRPr/>
          </a:p>
          <a:p>
            <a:pPr indent="0" lvl="1" marL="457200" rtl="0" algn="l">
              <a:lnSpc>
                <a:spcPct val="100000"/>
              </a:lnSpc>
              <a:spcBef>
                <a:spcPts val="500"/>
              </a:spcBef>
              <a:spcAft>
                <a:spcPts val="0"/>
              </a:spcAft>
              <a:buClr>
                <a:srgbClr val="00B050"/>
              </a:buClr>
              <a:buSzPts val="1600"/>
              <a:buNone/>
            </a:pPr>
            <a:r>
              <a:t/>
            </a:r>
            <a:endParaRPr>
              <a:latin typeface="Cambria"/>
              <a:ea typeface="Cambria"/>
              <a:cs typeface="Cambria"/>
              <a:sym typeface="Cambria"/>
            </a:endParaRPr>
          </a:p>
          <a:p>
            <a:pPr indent="-514350" lvl="0" marL="514350" rtl="0" algn="l">
              <a:lnSpc>
                <a:spcPct val="100000"/>
              </a:lnSpc>
              <a:spcBef>
                <a:spcPts val="900"/>
              </a:spcBef>
              <a:spcAft>
                <a:spcPts val="0"/>
              </a:spcAft>
              <a:buSzPts val="2400"/>
              <a:buFont typeface="Century Gothic"/>
              <a:buAutoNum type="arabicPeriod"/>
            </a:pPr>
            <a:r>
              <a:rPr lang="en-US" sz="2400">
                <a:latin typeface="Cambria"/>
                <a:ea typeface="Cambria"/>
                <a:cs typeface="Cambria"/>
                <a:sym typeface="Cambria"/>
              </a:rPr>
              <a:t>Where did you use this concepts in your project </a:t>
            </a:r>
            <a:endParaRPr/>
          </a:p>
          <a:p>
            <a:pPr indent="-514350" lvl="0" marL="514350" rtl="0" algn="l">
              <a:lnSpc>
                <a:spcPct val="100000"/>
              </a:lnSpc>
              <a:spcBef>
                <a:spcPts val="900"/>
              </a:spcBef>
              <a:spcAft>
                <a:spcPts val="0"/>
              </a:spcAft>
              <a:buSzPts val="2400"/>
              <a:buFont typeface="Century Gothic"/>
              <a:buAutoNum type="arabicPeriod"/>
            </a:pPr>
            <a:r>
              <a:rPr lang="en-US" sz="2400">
                <a:latin typeface="Cambria"/>
                <a:ea typeface="Cambria"/>
                <a:cs typeface="Cambria"/>
                <a:sym typeface="Cambria"/>
              </a:rPr>
              <a:t>Explain Exception hierarchy in Inheritance</a:t>
            </a:r>
            <a:endParaRPr/>
          </a:p>
          <a:p>
            <a:pPr indent="-514350" lvl="0" marL="514350" rtl="0" algn="l">
              <a:lnSpc>
                <a:spcPct val="100000"/>
              </a:lnSpc>
              <a:spcBef>
                <a:spcPts val="900"/>
              </a:spcBef>
              <a:spcAft>
                <a:spcPts val="0"/>
              </a:spcAft>
              <a:buSzPts val="2400"/>
              <a:buFont typeface="Century Gothic"/>
              <a:buAutoNum type="arabicPeriod"/>
            </a:pPr>
            <a:r>
              <a:rPr lang="en-US" sz="2400">
                <a:latin typeface="Cambria"/>
                <a:ea typeface="Cambria"/>
                <a:cs typeface="Cambria"/>
                <a:sym typeface="Cambria"/>
              </a:rPr>
              <a:t>parent child override scenario</a:t>
            </a:r>
            <a:endParaRPr/>
          </a:p>
          <a:p>
            <a:pPr indent="-514350" lvl="0" marL="514350" rtl="0" algn="l">
              <a:lnSpc>
                <a:spcPct val="100000"/>
              </a:lnSpc>
              <a:spcBef>
                <a:spcPts val="900"/>
              </a:spcBef>
              <a:spcAft>
                <a:spcPts val="0"/>
              </a:spcAft>
              <a:buSzPts val="2400"/>
              <a:buFont typeface="Century Gothic"/>
              <a:buAutoNum type="arabicPeriod"/>
            </a:pPr>
            <a:r>
              <a:rPr lang="en-US" sz="2400">
                <a:latin typeface="Cambria"/>
                <a:ea typeface="Cambria"/>
                <a:cs typeface="Cambria"/>
                <a:sym typeface="Cambria"/>
              </a:rPr>
              <a:t>can we override static and private method ?</a:t>
            </a:r>
            <a:endParaRPr/>
          </a:p>
          <a:p>
            <a:pPr indent="-514350" lvl="0" marL="514350" rtl="0" algn="l">
              <a:lnSpc>
                <a:spcPct val="100000"/>
              </a:lnSpc>
              <a:spcBef>
                <a:spcPts val="900"/>
              </a:spcBef>
              <a:spcAft>
                <a:spcPts val="0"/>
              </a:spcAft>
              <a:buSzPts val="2400"/>
              <a:buFont typeface="Century Gothic"/>
              <a:buAutoNum type="arabicPeriod"/>
            </a:pPr>
            <a:r>
              <a:rPr lang="en-US" sz="2400">
                <a:latin typeface="Cambria"/>
                <a:ea typeface="Cambria"/>
                <a:cs typeface="Cambria"/>
                <a:sym typeface="Cambria"/>
              </a:rPr>
              <a:t>what is the difference of java 7 and java 8 interface </a:t>
            </a:r>
            <a:endParaRPr/>
          </a:p>
          <a:p>
            <a:pPr indent="0" lvl="0" marL="0" rtl="0" algn="l">
              <a:lnSpc>
                <a:spcPct val="100000"/>
              </a:lnSpc>
              <a:spcBef>
                <a:spcPts val="900"/>
              </a:spcBef>
              <a:spcAft>
                <a:spcPts val="0"/>
              </a:spcAft>
              <a:buSzPts val="2400"/>
              <a:buNone/>
            </a:pPr>
            <a:r>
              <a:rPr lang="en-US" sz="2400">
                <a:latin typeface="Cambria"/>
                <a:ea typeface="Cambria"/>
                <a:cs typeface="Cambria"/>
                <a:sym typeface="Cambria"/>
              </a:rPr>
              <a:t>                </a:t>
            </a:r>
            <a:r>
              <a:rPr lang="en-US" sz="1800">
                <a:latin typeface="Cambria"/>
                <a:ea typeface="Cambria"/>
                <a:cs typeface="Cambria"/>
                <a:sym typeface="Cambria"/>
              </a:rPr>
              <a:t>Java 8  Default method ,static method</a:t>
            </a:r>
            <a:endParaRPr sz="1800">
              <a:latin typeface="Cambria"/>
              <a:ea typeface="Cambria"/>
              <a:cs typeface="Cambria"/>
              <a:sym typeface="Cambria"/>
            </a:endParaRPr>
          </a:p>
        </p:txBody>
      </p:sp>
      <p:sp>
        <p:nvSpPr>
          <p:cNvPr id="215" name="Google Shape;215;p11"/>
          <p:cNvSpPr txBox="1"/>
          <p:nvPr/>
        </p:nvSpPr>
        <p:spPr>
          <a:xfrm>
            <a:off x="838201" y="577049"/>
            <a:ext cx="1700814" cy="369332"/>
          </a:xfrm>
          <a:prstGeom prst="rect">
            <a:avLst/>
          </a:prstGeom>
          <a:gradFill>
            <a:gsLst>
              <a:gs pos="0">
                <a:srgbClr val="295B37"/>
              </a:gs>
              <a:gs pos="48000">
                <a:srgbClr val="408D56"/>
              </a:gs>
              <a:gs pos="100000">
                <a:srgbClr val="7DC491"/>
              </a:gs>
            </a:gsLst>
            <a:lin ang="16200000" scaled="0"/>
          </a:gra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Interview Q&amp;A</a:t>
            </a:r>
            <a:endParaRPr b="1" sz="1800">
              <a:solidFill>
                <a:schemeClr val="lt1"/>
              </a:solidFill>
              <a:latin typeface="Century Gothic"/>
              <a:ea typeface="Century Gothic"/>
              <a:cs typeface="Century Gothic"/>
              <a:sym typeface="Century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2"/>
          <p:cNvSpPr txBox="1"/>
          <p:nvPr>
            <p:ph idx="1" type="body"/>
          </p:nvPr>
        </p:nvSpPr>
        <p:spPr>
          <a:xfrm>
            <a:off x="838200" y="1287262"/>
            <a:ext cx="10515600" cy="5291091"/>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2400"/>
              <a:buNone/>
            </a:pPr>
            <a:r>
              <a:rPr lang="en-US" sz="2400">
                <a:latin typeface="Cambria"/>
                <a:ea typeface="Cambria"/>
                <a:cs typeface="Cambria"/>
                <a:sym typeface="Cambria"/>
              </a:rPr>
              <a:t>7.  What is final, finally and finalize ?</a:t>
            </a:r>
            <a:endParaRPr/>
          </a:p>
          <a:p>
            <a:pPr indent="0" lvl="0" marL="0" rtl="0" algn="l">
              <a:lnSpc>
                <a:spcPct val="100000"/>
              </a:lnSpc>
              <a:spcBef>
                <a:spcPts val="900"/>
              </a:spcBef>
              <a:spcAft>
                <a:spcPts val="0"/>
              </a:spcAft>
              <a:buSzPts val="2400"/>
              <a:buNone/>
            </a:pPr>
            <a:r>
              <a:t/>
            </a:r>
            <a:endParaRPr sz="24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final      :  keyword</a:t>
            </a:r>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finally   :  block</a:t>
            </a:r>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finalize :  method</a:t>
            </a:r>
            <a:endParaRPr/>
          </a:p>
          <a:p>
            <a:pPr indent="0" lvl="1" marL="457200" rtl="0" algn="l">
              <a:lnSpc>
                <a:spcPct val="100000"/>
              </a:lnSpc>
              <a:spcBef>
                <a:spcPts val="500"/>
              </a:spcBef>
              <a:spcAft>
                <a:spcPts val="0"/>
              </a:spcAft>
              <a:buSzPts val="2000"/>
              <a:buNone/>
            </a:pPr>
            <a:r>
              <a:t/>
            </a:r>
            <a:endParaRPr sz="2000">
              <a:latin typeface="Cambria"/>
              <a:ea typeface="Cambria"/>
              <a:cs typeface="Cambria"/>
              <a:sym typeface="Cambria"/>
            </a:endParaRPr>
          </a:p>
          <a:p>
            <a:pPr indent="0" lvl="0" marL="0" rtl="0" algn="l">
              <a:lnSpc>
                <a:spcPct val="100000"/>
              </a:lnSpc>
              <a:spcBef>
                <a:spcPts val="900"/>
              </a:spcBef>
              <a:spcAft>
                <a:spcPts val="0"/>
              </a:spcAft>
              <a:buSzPts val="2400"/>
              <a:buNone/>
            </a:pPr>
            <a:r>
              <a:rPr lang="en-US" sz="2400">
                <a:latin typeface="Cambria"/>
                <a:ea typeface="Cambria"/>
                <a:cs typeface="Cambria"/>
                <a:sym typeface="Cambria"/>
              </a:rPr>
              <a:t>8.    What is equals and hashcode method and its contract</a:t>
            </a:r>
            <a:endParaRPr/>
          </a:p>
          <a:p>
            <a:pPr indent="0" lvl="0" marL="0" rtl="0" algn="l">
              <a:lnSpc>
                <a:spcPct val="100000"/>
              </a:lnSpc>
              <a:spcBef>
                <a:spcPts val="900"/>
              </a:spcBef>
              <a:spcAft>
                <a:spcPts val="0"/>
              </a:spcAft>
              <a:buSzPts val="2400"/>
              <a:buNone/>
            </a:pPr>
            <a:r>
              <a:t/>
            </a:r>
            <a:endParaRPr sz="24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Hashcode : used to generate unique or reference number of an object through which we can easily identify uniqueness of an object</a:t>
            </a:r>
            <a:endParaRPr/>
          </a:p>
          <a:p>
            <a:pPr indent="0" lvl="1" marL="457200" rtl="0" algn="l">
              <a:lnSpc>
                <a:spcPct val="100000"/>
              </a:lnSpc>
              <a:spcBef>
                <a:spcPts val="500"/>
              </a:spcBef>
              <a:spcAft>
                <a:spcPts val="0"/>
              </a:spcAft>
              <a:buSzPts val="2000"/>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Equals : used to compare object based on its content</a:t>
            </a:r>
            <a:endParaRPr/>
          </a:p>
          <a:p>
            <a:pPr indent="-55879" lvl="1" marL="457200" rtl="0" algn="l">
              <a:lnSpc>
                <a:spcPct val="100000"/>
              </a:lnSpc>
              <a:spcBef>
                <a:spcPts val="500"/>
              </a:spcBef>
              <a:spcAft>
                <a:spcPts val="0"/>
              </a:spcAft>
              <a:buSzPts val="2000"/>
              <a:buFont typeface="Noto Sans Symbols"/>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Both method present in java.lang.Object class</a:t>
            </a:r>
            <a:endParaRPr/>
          </a:p>
        </p:txBody>
      </p:sp>
      <p:sp>
        <p:nvSpPr>
          <p:cNvPr id="221" name="Google Shape;221;p12"/>
          <p:cNvSpPr txBox="1"/>
          <p:nvPr/>
        </p:nvSpPr>
        <p:spPr>
          <a:xfrm>
            <a:off x="838201" y="577049"/>
            <a:ext cx="1700814" cy="369332"/>
          </a:xfrm>
          <a:prstGeom prst="rect">
            <a:avLst/>
          </a:prstGeom>
          <a:gradFill>
            <a:gsLst>
              <a:gs pos="0">
                <a:srgbClr val="295B37"/>
              </a:gs>
              <a:gs pos="48000">
                <a:srgbClr val="408D56"/>
              </a:gs>
              <a:gs pos="100000">
                <a:srgbClr val="7DC491"/>
              </a:gs>
            </a:gsLst>
            <a:lin ang="16200000" scaled="0"/>
          </a:gra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Interview Q&amp;A</a:t>
            </a:r>
            <a:endParaRPr b="1" sz="1800">
              <a:solidFill>
                <a:schemeClr val="lt1"/>
              </a:solidFill>
              <a:latin typeface="Century Gothic"/>
              <a:ea typeface="Century Gothic"/>
              <a:cs typeface="Century Gothic"/>
              <a:sym typeface="Century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3"/>
          <p:cNvSpPr txBox="1"/>
          <p:nvPr/>
        </p:nvSpPr>
        <p:spPr>
          <a:xfrm>
            <a:off x="838201" y="577049"/>
            <a:ext cx="1700814" cy="369332"/>
          </a:xfrm>
          <a:prstGeom prst="rect">
            <a:avLst/>
          </a:prstGeom>
          <a:gradFill>
            <a:gsLst>
              <a:gs pos="0">
                <a:srgbClr val="295B37"/>
              </a:gs>
              <a:gs pos="48000">
                <a:srgbClr val="408D56"/>
              </a:gs>
              <a:gs pos="100000">
                <a:srgbClr val="7DC491"/>
              </a:gs>
            </a:gsLst>
            <a:lin ang="16200000" scaled="0"/>
          </a:gra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Interview Q&amp;A</a:t>
            </a:r>
            <a:endParaRPr b="1" sz="1800">
              <a:solidFill>
                <a:schemeClr val="lt1"/>
              </a:solidFill>
              <a:latin typeface="Century Gothic"/>
              <a:ea typeface="Century Gothic"/>
              <a:cs typeface="Century Gothic"/>
              <a:sym typeface="Century Gothic"/>
            </a:endParaRPr>
          </a:p>
        </p:txBody>
      </p:sp>
      <p:pic>
        <p:nvPicPr>
          <p:cNvPr id="227" name="Google Shape;227;p13"/>
          <p:cNvPicPr preferRelativeResize="0"/>
          <p:nvPr/>
        </p:nvPicPr>
        <p:blipFill rotWithShape="1">
          <a:blip r:embed="rId3">
            <a:alphaModFix/>
          </a:blip>
          <a:srcRect b="0" l="0" r="0" t="0"/>
          <a:stretch/>
        </p:blipFill>
        <p:spPr>
          <a:xfrm>
            <a:off x="5191124" y="604837"/>
            <a:ext cx="6162675" cy="5648325"/>
          </a:xfrm>
          <a:prstGeom prst="rect">
            <a:avLst/>
          </a:prstGeom>
          <a:noFill/>
          <a:ln>
            <a:noFill/>
          </a:ln>
        </p:spPr>
      </p:pic>
      <p:sp>
        <p:nvSpPr>
          <p:cNvPr id="228" name="Google Shape;228;p13"/>
          <p:cNvSpPr txBox="1"/>
          <p:nvPr/>
        </p:nvSpPr>
        <p:spPr>
          <a:xfrm>
            <a:off x="568171" y="1597981"/>
            <a:ext cx="5202314" cy="461665"/>
          </a:xfrm>
          <a:prstGeom prst="rect">
            <a:avLst/>
          </a:prstGeom>
          <a:gradFill>
            <a:gsLst>
              <a:gs pos="0">
                <a:srgbClr val="25CED7"/>
              </a:gs>
              <a:gs pos="50000">
                <a:srgbClr val="21D0D9"/>
              </a:gs>
              <a:gs pos="100000">
                <a:srgbClr val="20CFD9"/>
              </a:gs>
            </a:gsLst>
            <a:lin ang="5400000" scaled="0"/>
          </a:gradFill>
          <a:ln>
            <a:noFill/>
          </a:ln>
          <a:effectLst>
            <a:outerShdw blurRad="57150" rotWithShape="0" algn="ctr" dir="5400000" dist="19050">
              <a:srgbClr val="000000">
                <a:alpha val="62745"/>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Cambria"/>
                <a:ea typeface="Cambria"/>
                <a:cs typeface="Cambria"/>
                <a:sym typeface="Cambria"/>
              </a:rPr>
              <a:t>9. What is exception and its hierarchy </a:t>
            </a:r>
            <a:endParaRPr sz="2400">
              <a:solidFill>
                <a:schemeClr val="lt1"/>
              </a:solidFill>
              <a:latin typeface="Cambria"/>
              <a:ea typeface="Cambria"/>
              <a:cs typeface="Cambria"/>
              <a:sym typeface="Cambr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4"/>
          <p:cNvSpPr txBox="1"/>
          <p:nvPr>
            <p:ph idx="1" type="body"/>
          </p:nvPr>
        </p:nvSpPr>
        <p:spPr>
          <a:xfrm>
            <a:off x="838200" y="1056444"/>
            <a:ext cx="10515600" cy="5521910"/>
          </a:xfrm>
          <a:prstGeom prst="rect">
            <a:avLst/>
          </a:prstGeom>
          <a:noFill/>
          <a:ln>
            <a:noFill/>
          </a:ln>
        </p:spPr>
        <p:txBody>
          <a:bodyPr anchorCtr="0" anchor="t" bIns="45700" lIns="91425" spcFirstLastPara="1" rIns="91425" wrap="square" tIns="45700">
            <a:normAutofit fontScale="92500" lnSpcReduction="10000"/>
          </a:bodyPr>
          <a:lstStyle/>
          <a:p>
            <a:pPr indent="-373380" lvl="0" marL="514350" rtl="0" algn="l">
              <a:lnSpc>
                <a:spcPct val="100000"/>
              </a:lnSpc>
              <a:spcBef>
                <a:spcPts val="0"/>
              </a:spcBef>
              <a:spcAft>
                <a:spcPts val="0"/>
              </a:spcAft>
              <a:buSzPct val="100000"/>
              <a:buFont typeface="Century Gothic"/>
              <a:buNone/>
            </a:pPr>
            <a:r>
              <a:t/>
            </a:r>
            <a:endParaRPr sz="2400">
              <a:latin typeface="Cambria"/>
              <a:ea typeface="Cambria"/>
              <a:cs typeface="Cambria"/>
              <a:sym typeface="Cambria"/>
            </a:endParaRPr>
          </a:p>
          <a:p>
            <a:pPr indent="0" lvl="0" marL="0" rtl="0" algn="l">
              <a:lnSpc>
                <a:spcPct val="100000"/>
              </a:lnSpc>
              <a:spcBef>
                <a:spcPts val="900"/>
              </a:spcBef>
              <a:spcAft>
                <a:spcPts val="0"/>
              </a:spcAft>
              <a:buSzPct val="100000"/>
              <a:buNone/>
            </a:pPr>
            <a:r>
              <a:rPr lang="en-US" sz="2400">
                <a:latin typeface="Cambria"/>
                <a:ea typeface="Cambria"/>
                <a:cs typeface="Cambria"/>
                <a:sym typeface="Cambria"/>
              </a:rPr>
              <a:t>10. why checked exception also called as compile time exception , is it occurs in compile time ?</a:t>
            </a:r>
            <a:endParaRPr/>
          </a:p>
          <a:p>
            <a:pPr indent="0" lvl="0" marL="0" rtl="0" algn="l">
              <a:lnSpc>
                <a:spcPct val="100000"/>
              </a:lnSpc>
              <a:spcBef>
                <a:spcPts val="900"/>
              </a:spcBef>
              <a:spcAft>
                <a:spcPts val="0"/>
              </a:spcAft>
              <a:buSzPct val="100000"/>
              <a:buNone/>
            </a:pPr>
            <a:r>
              <a:t/>
            </a:r>
            <a:endParaRPr sz="2400">
              <a:latin typeface="Cambria"/>
              <a:ea typeface="Cambria"/>
              <a:cs typeface="Cambria"/>
              <a:sym typeface="Cambria"/>
            </a:endParaRPr>
          </a:p>
          <a:p>
            <a:pPr indent="0" lvl="0" marL="0" rtl="0" algn="l">
              <a:lnSpc>
                <a:spcPct val="100000"/>
              </a:lnSpc>
              <a:spcBef>
                <a:spcPts val="900"/>
              </a:spcBef>
              <a:spcAft>
                <a:spcPts val="0"/>
              </a:spcAft>
              <a:buSzPct val="100000"/>
              <a:buNone/>
            </a:pPr>
            <a:r>
              <a:rPr lang="en-US" sz="2400">
                <a:latin typeface="Cambria"/>
                <a:ea typeface="Cambria"/>
                <a:cs typeface="Cambria"/>
                <a:sym typeface="Cambria"/>
              </a:rPr>
              <a:t>11. How to write custom exception</a:t>
            </a:r>
            <a:endParaRPr/>
          </a:p>
          <a:p>
            <a:pPr indent="0" lvl="0" marL="0" rtl="0" algn="l">
              <a:lnSpc>
                <a:spcPct val="100000"/>
              </a:lnSpc>
              <a:spcBef>
                <a:spcPts val="900"/>
              </a:spcBef>
              <a:spcAft>
                <a:spcPts val="0"/>
              </a:spcAft>
              <a:buSzPct val="100000"/>
              <a:buNone/>
            </a:pPr>
            <a:r>
              <a:t/>
            </a:r>
            <a:endParaRPr sz="2400">
              <a:latin typeface="Cambria"/>
              <a:ea typeface="Cambria"/>
              <a:cs typeface="Cambria"/>
              <a:sym typeface="Cambria"/>
            </a:endParaRPr>
          </a:p>
          <a:p>
            <a:pPr indent="0" lvl="0" marL="0" rtl="0" algn="l">
              <a:lnSpc>
                <a:spcPct val="100000"/>
              </a:lnSpc>
              <a:spcBef>
                <a:spcPts val="900"/>
              </a:spcBef>
              <a:spcAft>
                <a:spcPts val="0"/>
              </a:spcAft>
              <a:buSzPct val="100000"/>
              <a:buNone/>
            </a:pPr>
            <a:r>
              <a:rPr lang="en-US" sz="2400">
                <a:latin typeface="Cambria"/>
                <a:ea typeface="Cambria"/>
                <a:cs typeface="Cambria"/>
                <a:sym typeface="Cambria"/>
              </a:rPr>
              <a:t>12. Throw and throws Exception </a:t>
            </a:r>
            <a:endParaRPr/>
          </a:p>
          <a:p>
            <a:pPr indent="0" lvl="0" marL="0" rtl="0" algn="l">
              <a:lnSpc>
                <a:spcPct val="100000"/>
              </a:lnSpc>
              <a:spcBef>
                <a:spcPts val="900"/>
              </a:spcBef>
              <a:spcAft>
                <a:spcPts val="0"/>
              </a:spcAft>
              <a:buSzPct val="100000"/>
              <a:buNone/>
            </a:pPr>
            <a:r>
              <a:t/>
            </a:r>
            <a:endParaRPr sz="2400">
              <a:latin typeface="Cambria"/>
              <a:ea typeface="Cambria"/>
              <a:cs typeface="Cambria"/>
              <a:sym typeface="Cambria"/>
            </a:endParaRPr>
          </a:p>
          <a:p>
            <a:pPr indent="0" lvl="0" marL="0" rtl="0" algn="l">
              <a:lnSpc>
                <a:spcPct val="100000"/>
              </a:lnSpc>
              <a:spcBef>
                <a:spcPts val="900"/>
              </a:spcBef>
              <a:spcAft>
                <a:spcPts val="0"/>
              </a:spcAft>
              <a:buSzPct val="100000"/>
              <a:buNone/>
            </a:pPr>
            <a:r>
              <a:rPr lang="en-US" sz="2400">
                <a:latin typeface="Cambria"/>
                <a:ea typeface="Cambria"/>
                <a:cs typeface="Cambria"/>
                <a:sym typeface="Cambria"/>
              </a:rPr>
              <a:t>13. Exception tricky programming question (Exception order)</a:t>
            </a:r>
            <a:endParaRPr/>
          </a:p>
          <a:p>
            <a:pPr indent="-408622" lvl="0" marL="514350" rtl="0" algn="l">
              <a:lnSpc>
                <a:spcPct val="100000"/>
              </a:lnSpc>
              <a:spcBef>
                <a:spcPts val="900"/>
              </a:spcBef>
              <a:spcAft>
                <a:spcPts val="0"/>
              </a:spcAft>
              <a:buSzPct val="100000"/>
              <a:buFont typeface="Century Gothic"/>
              <a:buNone/>
            </a:pPr>
            <a:r>
              <a:t/>
            </a:r>
            <a:endParaRPr>
              <a:latin typeface="Cambria"/>
              <a:ea typeface="Cambria"/>
              <a:cs typeface="Cambria"/>
              <a:sym typeface="Cambria"/>
            </a:endParaRPr>
          </a:p>
          <a:p>
            <a:pPr indent="0" lvl="0" marL="0" rtl="0" algn="l">
              <a:lnSpc>
                <a:spcPct val="100000"/>
              </a:lnSpc>
              <a:spcBef>
                <a:spcPts val="900"/>
              </a:spcBef>
              <a:spcAft>
                <a:spcPts val="0"/>
              </a:spcAft>
              <a:buSzPct val="100000"/>
              <a:buNone/>
            </a:pPr>
            <a:r>
              <a:rPr lang="en-US" sz="2400">
                <a:latin typeface="Cambria"/>
                <a:ea typeface="Cambria"/>
                <a:cs typeface="Cambria"/>
                <a:sym typeface="Cambria"/>
              </a:rPr>
              <a:t>14. try , catch finally return statement scenario questions</a:t>
            </a:r>
            <a:endParaRPr/>
          </a:p>
          <a:p>
            <a:pPr indent="-373380" lvl="0" marL="514350" rtl="0" algn="l">
              <a:lnSpc>
                <a:spcPct val="100000"/>
              </a:lnSpc>
              <a:spcBef>
                <a:spcPts val="900"/>
              </a:spcBef>
              <a:spcAft>
                <a:spcPts val="0"/>
              </a:spcAft>
              <a:buSzPct val="100000"/>
              <a:buFont typeface="Century Gothic"/>
              <a:buNone/>
            </a:pPr>
            <a:r>
              <a:t/>
            </a:r>
            <a:endParaRPr sz="2400">
              <a:latin typeface="Cambria"/>
              <a:ea typeface="Cambria"/>
              <a:cs typeface="Cambria"/>
              <a:sym typeface="Cambria"/>
            </a:endParaRPr>
          </a:p>
          <a:p>
            <a:pPr indent="0" lvl="0" marL="0" rtl="0" algn="l">
              <a:lnSpc>
                <a:spcPct val="100000"/>
              </a:lnSpc>
              <a:spcBef>
                <a:spcPts val="900"/>
              </a:spcBef>
              <a:spcAft>
                <a:spcPts val="0"/>
              </a:spcAft>
              <a:buSzPct val="100000"/>
              <a:buNone/>
            </a:pPr>
            <a:r>
              <a:rPr lang="en-US" sz="2400">
                <a:latin typeface="Cambria"/>
                <a:ea typeface="Cambria"/>
                <a:cs typeface="Cambria"/>
                <a:sym typeface="Cambria"/>
              </a:rPr>
              <a:t>15. is finally block always executed ?</a:t>
            </a:r>
            <a:endParaRPr/>
          </a:p>
        </p:txBody>
      </p:sp>
      <p:sp>
        <p:nvSpPr>
          <p:cNvPr id="234" name="Google Shape;234;p14"/>
          <p:cNvSpPr txBox="1"/>
          <p:nvPr/>
        </p:nvSpPr>
        <p:spPr>
          <a:xfrm>
            <a:off x="838201" y="577049"/>
            <a:ext cx="1700814" cy="369332"/>
          </a:xfrm>
          <a:prstGeom prst="rect">
            <a:avLst/>
          </a:prstGeom>
          <a:gradFill>
            <a:gsLst>
              <a:gs pos="0">
                <a:srgbClr val="295B37"/>
              </a:gs>
              <a:gs pos="48000">
                <a:srgbClr val="408D56"/>
              </a:gs>
              <a:gs pos="100000">
                <a:srgbClr val="7DC491"/>
              </a:gs>
            </a:gsLst>
            <a:lin ang="16200000" scaled="0"/>
          </a:gra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Interview Q&amp;A</a:t>
            </a:r>
            <a:endParaRPr b="1" sz="1800">
              <a:solidFill>
                <a:schemeClr val="lt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5"/>
          <p:cNvSpPr txBox="1"/>
          <p:nvPr>
            <p:ph idx="1" type="body"/>
          </p:nvPr>
        </p:nvSpPr>
        <p:spPr>
          <a:xfrm>
            <a:off x="838200" y="1287262"/>
            <a:ext cx="10515600" cy="5291091"/>
          </a:xfrm>
          <a:prstGeom prst="rect">
            <a:avLst/>
          </a:prstGeom>
          <a:noFill/>
          <a:ln>
            <a:noFill/>
          </a:ln>
        </p:spPr>
        <p:txBody>
          <a:bodyPr anchorCtr="0" anchor="t" bIns="45700" lIns="91425" spcFirstLastPara="1" rIns="91425" wrap="square" tIns="45700">
            <a:normAutofit/>
          </a:bodyPr>
          <a:lstStyle/>
          <a:p>
            <a:pPr indent="-361950" lvl="0" marL="514350" rtl="0" algn="l">
              <a:lnSpc>
                <a:spcPct val="100000"/>
              </a:lnSpc>
              <a:spcBef>
                <a:spcPts val="0"/>
              </a:spcBef>
              <a:spcAft>
                <a:spcPts val="0"/>
              </a:spcAft>
              <a:buSzPts val="2400"/>
              <a:buFont typeface="Century Gothic"/>
              <a:buNone/>
            </a:pPr>
            <a:r>
              <a:t/>
            </a:r>
            <a:endParaRPr sz="2400">
              <a:latin typeface="Cambria"/>
              <a:ea typeface="Cambria"/>
              <a:cs typeface="Cambria"/>
              <a:sym typeface="Cambria"/>
            </a:endParaRPr>
          </a:p>
          <a:p>
            <a:pPr indent="0" lvl="0" marL="0" rtl="0" algn="l">
              <a:lnSpc>
                <a:spcPct val="100000"/>
              </a:lnSpc>
              <a:spcBef>
                <a:spcPts val="900"/>
              </a:spcBef>
              <a:spcAft>
                <a:spcPts val="0"/>
              </a:spcAft>
              <a:buSzPts val="2400"/>
              <a:buNone/>
            </a:pPr>
            <a:r>
              <a:rPr lang="en-US" sz="2400">
                <a:latin typeface="Cambria"/>
                <a:ea typeface="Cambria"/>
                <a:cs typeface="Cambria"/>
                <a:sym typeface="Cambria"/>
              </a:rPr>
              <a:t>16. How many way we can create String object ?</a:t>
            </a:r>
            <a:endParaRPr/>
          </a:p>
          <a:p>
            <a:pPr indent="-304800" lvl="0" marL="457200" rtl="0" algn="l">
              <a:lnSpc>
                <a:spcPct val="100000"/>
              </a:lnSpc>
              <a:spcBef>
                <a:spcPts val="900"/>
              </a:spcBef>
              <a:spcAft>
                <a:spcPts val="0"/>
              </a:spcAft>
              <a:buSzPts val="2400"/>
              <a:buNone/>
            </a:pPr>
            <a:r>
              <a:t/>
            </a:r>
            <a:endParaRPr sz="2400">
              <a:latin typeface="Cambria"/>
              <a:ea typeface="Cambria"/>
              <a:cs typeface="Cambria"/>
              <a:sym typeface="Cambria"/>
            </a:endParaRPr>
          </a:p>
          <a:p>
            <a:pPr indent="0" lvl="0" marL="0" rtl="0" algn="l">
              <a:lnSpc>
                <a:spcPct val="100000"/>
              </a:lnSpc>
              <a:spcBef>
                <a:spcPts val="900"/>
              </a:spcBef>
              <a:spcAft>
                <a:spcPts val="0"/>
              </a:spcAft>
              <a:buSzPts val="2400"/>
              <a:buNone/>
            </a:pPr>
            <a:r>
              <a:rPr lang="en-US" sz="2400">
                <a:latin typeface="Cambria"/>
                <a:ea typeface="Cambria"/>
                <a:cs typeface="Cambria"/>
                <a:sym typeface="Cambria"/>
              </a:rPr>
              <a:t>17. String object creation scenario</a:t>
            </a:r>
            <a:endParaRPr/>
          </a:p>
          <a:p>
            <a:pPr indent="-304800" lvl="0" marL="457200" rtl="0" algn="l">
              <a:lnSpc>
                <a:spcPct val="100000"/>
              </a:lnSpc>
              <a:spcBef>
                <a:spcPts val="900"/>
              </a:spcBef>
              <a:spcAft>
                <a:spcPts val="0"/>
              </a:spcAft>
              <a:buSzPts val="2400"/>
              <a:buNone/>
            </a:pPr>
            <a:r>
              <a:t/>
            </a:r>
            <a:endParaRPr sz="2400">
              <a:latin typeface="Cambria"/>
              <a:ea typeface="Cambria"/>
              <a:cs typeface="Cambria"/>
              <a:sym typeface="Cambria"/>
            </a:endParaRPr>
          </a:p>
          <a:p>
            <a:pPr indent="0" lvl="0" marL="0" rtl="0" algn="l">
              <a:lnSpc>
                <a:spcPct val="100000"/>
              </a:lnSpc>
              <a:spcBef>
                <a:spcPts val="900"/>
              </a:spcBef>
              <a:spcAft>
                <a:spcPts val="0"/>
              </a:spcAft>
              <a:buSzPts val="2400"/>
              <a:buNone/>
            </a:pPr>
            <a:r>
              <a:rPr lang="en-US" sz="2400">
                <a:latin typeface="Cambria"/>
                <a:ea typeface="Cambria"/>
                <a:cs typeface="Cambria"/>
                <a:sym typeface="Cambria"/>
              </a:rPr>
              <a:t>18. What is SCP and how it works ?</a:t>
            </a:r>
            <a:endParaRPr/>
          </a:p>
        </p:txBody>
      </p:sp>
      <p:sp>
        <p:nvSpPr>
          <p:cNvPr id="240" name="Google Shape;240;p15"/>
          <p:cNvSpPr txBox="1"/>
          <p:nvPr/>
        </p:nvSpPr>
        <p:spPr>
          <a:xfrm>
            <a:off x="838201" y="577049"/>
            <a:ext cx="1700814" cy="369332"/>
          </a:xfrm>
          <a:prstGeom prst="rect">
            <a:avLst/>
          </a:prstGeom>
          <a:gradFill>
            <a:gsLst>
              <a:gs pos="0">
                <a:srgbClr val="295B37"/>
              </a:gs>
              <a:gs pos="48000">
                <a:srgbClr val="408D56"/>
              </a:gs>
              <a:gs pos="100000">
                <a:srgbClr val="7DC491"/>
              </a:gs>
            </a:gsLst>
            <a:lin ang="16200000" scaled="0"/>
          </a:gra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Interview Q&amp;A</a:t>
            </a:r>
            <a:endParaRPr b="1" sz="1800">
              <a:solidFill>
                <a:schemeClr val="lt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6"/>
          <p:cNvSpPr txBox="1"/>
          <p:nvPr>
            <p:ph idx="1" type="body"/>
          </p:nvPr>
        </p:nvSpPr>
        <p:spPr>
          <a:xfrm>
            <a:off x="838200" y="1038688"/>
            <a:ext cx="10515600" cy="5539666"/>
          </a:xfrm>
          <a:prstGeom prst="rect">
            <a:avLst/>
          </a:prstGeom>
          <a:noFill/>
          <a:ln>
            <a:noFill/>
          </a:ln>
        </p:spPr>
        <p:txBody>
          <a:bodyPr anchorCtr="0" anchor="t" bIns="45700" lIns="91425" spcFirstLastPara="1" rIns="91425" wrap="square" tIns="45700">
            <a:normAutofit fontScale="85000" lnSpcReduction="20000"/>
          </a:bodyPr>
          <a:lstStyle/>
          <a:p>
            <a:pPr indent="-384810" lvl="0" marL="514350" rtl="0" algn="l">
              <a:lnSpc>
                <a:spcPct val="100000"/>
              </a:lnSpc>
              <a:spcBef>
                <a:spcPts val="0"/>
              </a:spcBef>
              <a:spcAft>
                <a:spcPts val="0"/>
              </a:spcAft>
              <a:buSzPct val="100000"/>
              <a:buFont typeface="Century Gothic"/>
              <a:buNone/>
            </a:pPr>
            <a:r>
              <a:t/>
            </a:r>
            <a:endParaRPr sz="2400">
              <a:latin typeface="Cambria"/>
              <a:ea typeface="Cambria"/>
              <a:cs typeface="Cambria"/>
              <a:sym typeface="Cambria"/>
            </a:endParaRPr>
          </a:p>
          <a:p>
            <a:pPr indent="0" lvl="0" marL="0" rtl="0" algn="l">
              <a:lnSpc>
                <a:spcPct val="100000"/>
              </a:lnSpc>
              <a:spcBef>
                <a:spcPts val="900"/>
              </a:spcBef>
              <a:spcAft>
                <a:spcPts val="0"/>
              </a:spcAft>
              <a:buSzPct val="100000"/>
              <a:buNone/>
            </a:pPr>
            <a:r>
              <a:rPr lang="en-US" sz="2400">
                <a:latin typeface="Cambria"/>
                <a:ea typeface="Cambria"/>
                <a:cs typeface="Cambria"/>
                <a:sym typeface="Cambria"/>
              </a:rPr>
              <a:t>19.   Why String is immutable </a:t>
            </a:r>
            <a:endParaRPr/>
          </a:p>
          <a:p>
            <a:pPr indent="0" lvl="1" marL="457200" rtl="0" algn="l">
              <a:lnSpc>
                <a:spcPct val="100000"/>
              </a:lnSpc>
              <a:spcBef>
                <a:spcPts val="500"/>
              </a:spcBef>
              <a:spcAft>
                <a:spcPts val="0"/>
              </a:spcAft>
              <a:buSzPct val="100000"/>
              <a:buNone/>
            </a:pPr>
            <a:r>
              <a:rPr lang="en-US" sz="2000">
                <a:latin typeface="Cambria"/>
                <a:ea typeface="Cambria"/>
                <a:cs typeface="Cambria"/>
                <a:sym typeface="Cambria"/>
              </a:rPr>
              <a:t>Immutable simply means unmodifiable or unchangeable.</a:t>
            </a:r>
            <a:endParaRPr/>
          </a:p>
          <a:p>
            <a:pPr indent="0" lvl="1" marL="457200" rtl="0" algn="l">
              <a:lnSpc>
                <a:spcPct val="100000"/>
              </a:lnSpc>
              <a:spcBef>
                <a:spcPts val="500"/>
              </a:spcBef>
              <a:spcAft>
                <a:spcPts val="0"/>
              </a:spcAft>
              <a:buSzPct val="100000"/>
              <a:buNone/>
            </a:pPr>
            <a:r>
              <a:t/>
            </a:r>
            <a:endParaRPr sz="2000">
              <a:latin typeface="Cambria"/>
              <a:ea typeface="Cambria"/>
              <a:cs typeface="Cambria"/>
              <a:sym typeface="Cambria"/>
            </a:endParaRPr>
          </a:p>
          <a:p>
            <a:pPr indent="0" lvl="1" marL="457200" rtl="0" algn="l">
              <a:lnSpc>
                <a:spcPct val="100000"/>
              </a:lnSpc>
              <a:spcBef>
                <a:spcPts val="500"/>
              </a:spcBef>
              <a:spcAft>
                <a:spcPts val="0"/>
              </a:spcAft>
              <a:buSzPct val="100000"/>
              <a:buNone/>
            </a:pPr>
            <a:r>
              <a:rPr b="1" lang="en-US" sz="2000">
                <a:latin typeface="Cambria"/>
                <a:ea typeface="Cambria"/>
                <a:cs typeface="Cambria"/>
                <a:sym typeface="Cambria"/>
              </a:rPr>
              <a:t>Key points :</a:t>
            </a:r>
            <a:endParaRPr/>
          </a:p>
          <a:p>
            <a:pPr indent="0" lvl="1" marL="457200" rtl="0" algn="l">
              <a:lnSpc>
                <a:spcPct val="100000"/>
              </a:lnSpc>
              <a:spcBef>
                <a:spcPts val="500"/>
              </a:spcBef>
              <a:spcAft>
                <a:spcPts val="0"/>
              </a:spcAft>
              <a:buSzPct val="100000"/>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ct val="100000"/>
              <a:buFont typeface="Noto Sans Symbols"/>
              <a:buChar char="⮚"/>
            </a:pPr>
            <a:r>
              <a:rPr lang="en-US" sz="2000">
                <a:latin typeface="Cambria"/>
                <a:ea typeface="Cambria"/>
                <a:cs typeface="Cambria"/>
                <a:sym typeface="Cambria"/>
              </a:rPr>
              <a:t>String pool is possible only because String is immutable in Java. This way Java Runtime saves a lot of heap space because different String variables can refer to the same String variable in the pool. </a:t>
            </a:r>
            <a:endParaRPr/>
          </a:p>
          <a:p>
            <a:pPr indent="-74929" lvl="1" marL="457200" rtl="0" algn="l">
              <a:lnSpc>
                <a:spcPct val="100000"/>
              </a:lnSpc>
              <a:spcBef>
                <a:spcPts val="500"/>
              </a:spcBef>
              <a:spcAft>
                <a:spcPts val="0"/>
              </a:spcAft>
              <a:buSzPct val="100000"/>
              <a:buFont typeface="Noto Sans Symbols"/>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ct val="100000"/>
              <a:buFont typeface="Noto Sans Symbols"/>
              <a:buChar char="⮚"/>
            </a:pPr>
            <a:r>
              <a:rPr lang="en-US" sz="2000">
                <a:latin typeface="Cambria"/>
                <a:ea typeface="Cambria"/>
                <a:cs typeface="Cambria"/>
                <a:sym typeface="Cambria"/>
              </a:rPr>
              <a:t>If String is not immutable then it would cause a severe security threat to the application. For example, database username, password are passed as String to get database connection and in socket programming host and port details passed as String. Since String is immutable, its value can’t be changed otherwise any hacker could change the referenced value to cause security issues in the application.</a:t>
            </a:r>
            <a:endParaRPr/>
          </a:p>
          <a:p>
            <a:pPr indent="-74929" lvl="1" marL="457200" rtl="0" algn="l">
              <a:lnSpc>
                <a:spcPct val="100000"/>
              </a:lnSpc>
              <a:spcBef>
                <a:spcPts val="500"/>
              </a:spcBef>
              <a:spcAft>
                <a:spcPts val="0"/>
              </a:spcAft>
              <a:buSzPct val="100000"/>
              <a:buFont typeface="Noto Sans Symbols"/>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ct val="100000"/>
              <a:buFont typeface="Noto Sans Symbols"/>
              <a:buChar char="⮚"/>
            </a:pPr>
            <a:r>
              <a:rPr lang="en-US" sz="2000">
                <a:latin typeface="Cambria"/>
                <a:ea typeface="Cambria"/>
                <a:cs typeface="Cambria"/>
                <a:sym typeface="Cambria"/>
              </a:rPr>
              <a:t>Since String is immutable, it is safe for multithreading. A single String instance can be shared across different threads. This avoids the use of synchronization for thread safety. </a:t>
            </a:r>
            <a:endParaRPr/>
          </a:p>
          <a:p>
            <a:pPr indent="-74929" lvl="1" marL="457200" rtl="0" algn="l">
              <a:lnSpc>
                <a:spcPct val="100000"/>
              </a:lnSpc>
              <a:spcBef>
                <a:spcPts val="500"/>
              </a:spcBef>
              <a:spcAft>
                <a:spcPts val="0"/>
              </a:spcAft>
              <a:buSzPct val="100000"/>
              <a:buFont typeface="Noto Sans Symbols"/>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ct val="100000"/>
              <a:buFont typeface="Noto Sans Symbols"/>
              <a:buChar char="⮚"/>
            </a:pPr>
            <a:r>
              <a:rPr lang="en-US" sz="2000">
                <a:latin typeface="Cambria"/>
                <a:ea typeface="Cambria"/>
                <a:cs typeface="Cambria"/>
                <a:sym typeface="Cambria"/>
              </a:rPr>
              <a:t>Since String is immutable, its hashcode is cached at the time of creation and it doesn’t need to be calculated again. This makes it a great candidate for the key in a Map and its processing is faster than other HashMap key objects. This is why String is the most widely used as HashMap keys.</a:t>
            </a:r>
            <a:endParaRPr/>
          </a:p>
          <a:p>
            <a:pPr indent="0" lvl="1" marL="457200" rtl="0" algn="l">
              <a:lnSpc>
                <a:spcPct val="100000"/>
              </a:lnSpc>
              <a:spcBef>
                <a:spcPts val="500"/>
              </a:spcBef>
              <a:spcAft>
                <a:spcPts val="0"/>
              </a:spcAft>
              <a:buSzPct val="100000"/>
              <a:buNone/>
            </a:pPr>
            <a:r>
              <a:t/>
            </a:r>
            <a:endParaRPr sz="2000">
              <a:latin typeface="Cambria"/>
              <a:ea typeface="Cambria"/>
              <a:cs typeface="Cambria"/>
              <a:sym typeface="Cambria"/>
            </a:endParaRPr>
          </a:p>
          <a:p>
            <a:pPr indent="0" lvl="1" marL="457200" rtl="0" algn="l">
              <a:lnSpc>
                <a:spcPct val="100000"/>
              </a:lnSpc>
              <a:spcBef>
                <a:spcPts val="500"/>
              </a:spcBef>
              <a:spcAft>
                <a:spcPts val="0"/>
              </a:spcAft>
              <a:buSzPct val="100000"/>
              <a:buNone/>
            </a:pPr>
            <a:r>
              <a:t/>
            </a:r>
            <a:endParaRPr sz="2000">
              <a:latin typeface="Cambria"/>
              <a:ea typeface="Cambria"/>
              <a:cs typeface="Cambria"/>
              <a:sym typeface="Cambria"/>
            </a:endParaRPr>
          </a:p>
          <a:p>
            <a:pPr indent="-384810" lvl="0" marL="514350" rtl="0" algn="l">
              <a:lnSpc>
                <a:spcPct val="100000"/>
              </a:lnSpc>
              <a:spcBef>
                <a:spcPts val="900"/>
              </a:spcBef>
              <a:spcAft>
                <a:spcPts val="0"/>
              </a:spcAft>
              <a:buSzPct val="100000"/>
              <a:buFont typeface="Century Gothic"/>
              <a:buNone/>
            </a:pPr>
            <a:r>
              <a:t/>
            </a:r>
            <a:endParaRPr sz="2400">
              <a:latin typeface="Cambria"/>
              <a:ea typeface="Cambria"/>
              <a:cs typeface="Cambria"/>
              <a:sym typeface="Cambria"/>
            </a:endParaRPr>
          </a:p>
        </p:txBody>
      </p:sp>
      <p:sp>
        <p:nvSpPr>
          <p:cNvPr id="246" name="Google Shape;246;p16"/>
          <p:cNvSpPr txBox="1"/>
          <p:nvPr/>
        </p:nvSpPr>
        <p:spPr>
          <a:xfrm>
            <a:off x="838201" y="577049"/>
            <a:ext cx="1700814" cy="369332"/>
          </a:xfrm>
          <a:prstGeom prst="rect">
            <a:avLst/>
          </a:prstGeom>
          <a:gradFill>
            <a:gsLst>
              <a:gs pos="0">
                <a:srgbClr val="295B37"/>
              </a:gs>
              <a:gs pos="48000">
                <a:srgbClr val="408D56"/>
              </a:gs>
              <a:gs pos="100000">
                <a:srgbClr val="7DC491"/>
              </a:gs>
            </a:gsLst>
            <a:lin ang="16200000" scaled="0"/>
          </a:gra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Interview Q&amp;A</a:t>
            </a:r>
            <a:endParaRPr b="1" sz="1800">
              <a:solidFill>
                <a:schemeClr val="lt1"/>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7"/>
          <p:cNvSpPr txBox="1"/>
          <p:nvPr>
            <p:ph idx="1" type="body"/>
          </p:nvPr>
        </p:nvSpPr>
        <p:spPr>
          <a:xfrm>
            <a:off x="838200" y="1287262"/>
            <a:ext cx="10515600" cy="5291091"/>
          </a:xfrm>
          <a:prstGeom prst="rect">
            <a:avLst/>
          </a:prstGeom>
          <a:noFill/>
          <a:ln>
            <a:noFill/>
          </a:ln>
        </p:spPr>
        <p:txBody>
          <a:bodyPr anchorCtr="0" anchor="t" bIns="45700" lIns="91425" spcFirstLastPara="1" rIns="91425" wrap="square" tIns="45700">
            <a:normAutofit/>
          </a:bodyPr>
          <a:lstStyle/>
          <a:p>
            <a:pPr indent="-361950" lvl="0" marL="514350" rtl="0" algn="l">
              <a:lnSpc>
                <a:spcPct val="100000"/>
              </a:lnSpc>
              <a:spcBef>
                <a:spcPts val="0"/>
              </a:spcBef>
              <a:spcAft>
                <a:spcPts val="0"/>
              </a:spcAft>
              <a:buSzPts val="2400"/>
              <a:buFont typeface="Century Gothic"/>
              <a:buNone/>
            </a:pPr>
            <a:r>
              <a:t/>
            </a:r>
            <a:endParaRPr sz="2400">
              <a:latin typeface="Cambria"/>
              <a:ea typeface="Cambria"/>
              <a:cs typeface="Cambria"/>
              <a:sym typeface="Cambria"/>
            </a:endParaRPr>
          </a:p>
          <a:p>
            <a:pPr indent="0" lvl="0" marL="0" rtl="0" algn="l">
              <a:lnSpc>
                <a:spcPct val="100000"/>
              </a:lnSpc>
              <a:spcBef>
                <a:spcPts val="900"/>
              </a:spcBef>
              <a:spcAft>
                <a:spcPts val="0"/>
              </a:spcAft>
              <a:buSzPts val="2400"/>
              <a:buNone/>
            </a:pPr>
            <a:r>
              <a:rPr lang="en-US" sz="2400">
                <a:latin typeface="Cambria"/>
                <a:ea typeface="Cambria"/>
                <a:cs typeface="Cambria"/>
                <a:sym typeface="Cambria"/>
              </a:rPr>
              <a:t>20. how to use mutable class and what is the difference between StringBuffer and StringBuilder</a:t>
            </a:r>
            <a:endParaRPr/>
          </a:p>
          <a:p>
            <a:pPr indent="0" lvl="0" marL="0" rtl="0" algn="l">
              <a:lnSpc>
                <a:spcPct val="100000"/>
              </a:lnSpc>
              <a:spcBef>
                <a:spcPts val="900"/>
              </a:spcBef>
              <a:spcAft>
                <a:spcPts val="0"/>
              </a:spcAft>
              <a:buSzPts val="2400"/>
              <a:buNone/>
            </a:pPr>
            <a:r>
              <a:t/>
            </a:r>
            <a:endParaRPr sz="2400">
              <a:latin typeface="Cambria"/>
              <a:ea typeface="Cambria"/>
              <a:cs typeface="Cambria"/>
              <a:sym typeface="Cambria"/>
            </a:endParaRPr>
          </a:p>
          <a:p>
            <a:pPr indent="0" lvl="0" marL="0" rtl="0" algn="l">
              <a:lnSpc>
                <a:spcPct val="100000"/>
              </a:lnSpc>
              <a:spcBef>
                <a:spcPts val="900"/>
              </a:spcBef>
              <a:spcAft>
                <a:spcPts val="0"/>
              </a:spcAft>
              <a:buSzPts val="2400"/>
              <a:buNone/>
            </a:pPr>
            <a:r>
              <a:t/>
            </a:r>
            <a:endParaRPr sz="2400">
              <a:latin typeface="Cambria"/>
              <a:ea typeface="Cambria"/>
              <a:cs typeface="Cambria"/>
              <a:sym typeface="Cambria"/>
            </a:endParaRPr>
          </a:p>
        </p:txBody>
      </p:sp>
      <p:sp>
        <p:nvSpPr>
          <p:cNvPr id="252" name="Google Shape;252;p17"/>
          <p:cNvSpPr txBox="1"/>
          <p:nvPr/>
        </p:nvSpPr>
        <p:spPr>
          <a:xfrm>
            <a:off x="838201" y="577049"/>
            <a:ext cx="1700814" cy="369332"/>
          </a:xfrm>
          <a:prstGeom prst="rect">
            <a:avLst/>
          </a:prstGeom>
          <a:gradFill>
            <a:gsLst>
              <a:gs pos="0">
                <a:srgbClr val="295B37"/>
              </a:gs>
              <a:gs pos="48000">
                <a:srgbClr val="408D56"/>
              </a:gs>
              <a:gs pos="100000">
                <a:srgbClr val="7DC491"/>
              </a:gs>
            </a:gsLst>
            <a:lin ang="16200000" scaled="0"/>
          </a:gra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Interview Q&amp;A</a:t>
            </a:r>
            <a:endParaRPr b="1" sz="1800">
              <a:solidFill>
                <a:schemeClr val="lt1"/>
              </a:solidFill>
              <a:latin typeface="Century Gothic"/>
              <a:ea typeface="Century Gothic"/>
              <a:cs typeface="Century Gothic"/>
              <a:sym typeface="Century Gothic"/>
            </a:endParaRPr>
          </a:p>
        </p:txBody>
      </p:sp>
      <p:pic>
        <p:nvPicPr>
          <p:cNvPr id="253" name="Google Shape;253;p17"/>
          <p:cNvPicPr preferRelativeResize="0"/>
          <p:nvPr/>
        </p:nvPicPr>
        <p:blipFill rotWithShape="1">
          <a:blip r:embed="rId3">
            <a:alphaModFix/>
          </a:blip>
          <a:srcRect b="0" l="0" r="0" t="0"/>
          <a:stretch/>
        </p:blipFill>
        <p:spPr>
          <a:xfrm>
            <a:off x="917799" y="3233737"/>
            <a:ext cx="10108267" cy="270228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8"/>
          <p:cNvSpPr txBox="1"/>
          <p:nvPr>
            <p:ph idx="1" type="body"/>
          </p:nvPr>
        </p:nvSpPr>
        <p:spPr>
          <a:xfrm>
            <a:off x="838200" y="1242874"/>
            <a:ext cx="10515600" cy="533548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2400"/>
              <a:buNone/>
            </a:pPr>
            <a:r>
              <a:rPr lang="en-US" sz="2400">
                <a:latin typeface="Cambria"/>
                <a:ea typeface="Cambria"/>
                <a:cs typeface="Cambria"/>
                <a:sym typeface="Cambria"/>
              </a:rPr>
              <a:t>21.  How to write your own custom immutable class</a:t>
            </a:r>
            <a:endParaRPr/>
          </a:p>
          <a:p>
            <a:pPr indent="0" lvl="0" marL="0" rtl="0" algn="l">
              <a:lnSpc>
                <a:spcPct val="100000"/>
              </a:lnSpc>
              <a:spcBef>
                <a:spcPts val="900"/>
              </a:spcBef>
              <a:spcAft>
                <a:spcPts val="0"/>
              </a:spcAft>
              <a:buSzPts val="2400"/>
              <a:buNone/>
            </a:pPr>
            <a:r>
              <a:t/>
            </a:r>
            <a:endParaRPr sz="24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Make your class final </a:t>
            </a:r>
            <a:endParaRPr/>
          </a:p>
          <a:p>
            <a:pPr indent="-55879" lvl="1" marL="457200" rtl="0" algn="l">
              <a:lnSpc>
                <a:spcPct val="100000"/>
              </a:lnSpc>
              <a:spcBef>
                <a:spcPts val="500"/>
              </a:spcBef>
              <a:spcAft>
                <a:spcPts val="0"/>
              </a:spcAft>
              <a:buSzPts val="2000"/>
              <a:buFont typeface="Noto Sans Symbols"/>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Declare all instance variable with private and final </a:t>
            </a:r>
            <a:endParaRPr/>
          </a:p>
          <a:p>
            <a:pPr indent="-55879" lvl="1" marL="457200" rtl="0" algn="l">
              <a:lnSpc>
                <a:spcPct val="100000"/>
              </a:lnSpc>
              <a:spcBef>
                <a:spcPts val="500"/>
              </a:spcBef>
              <a:spcAft>
                <a:spcPts val="0"/>
              </a:spcAft>
              <a:buSzPts val="2000"/>
              <a:buFont typeface="Noto Sans Symbols"/>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Say no to setter methods </a:t>
            </a:r>
            <a:endParaRPr/>
          </a:p>
          <a:p>
            <a:pPr indent="-55879" lvl="1" marL="457200" rtl="0" algn="l">
              <a:lnSpc>
                <a:spcPct val="100000"/>
              </a:lnSpc>
              <a:spcBef>
                <a:spcPts val="500"/>
              </a:spcBef>
              <a:spcAft>
                <a:spcPts val="0"/>
              </a:spcAft>
              <a:buSzPts val="2000"/>
              <a:buFont typeface="Noto Sans Symbols"/>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Initialize all variables in constructor </a:t>
            </a:r>
            <a:endParaRPr/>
          </a:p>
          <a:p>
            <a:pPr indent="-55879" lvl="1" marL="457200" rtl="0" algn="l">
              <a:lnSpc>
                <a:spcPct val="100000"/>
              </a:lnSpc>
              <a:spcBef>
                <a:spcPts val="500"/>
              </a:spcBef>
              <a:spcAft>
                <a:spcPts val="0"/>
              </a:spcAft>
              <a:buSzPts val="2000"/>
              <a:buFont typeface="Noto Sans Symbols"/>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You can initialize variables in constructor</a:t>
            </a:r>
            <a:endParaRPr/>
          </a:p>
          <a:p>
            <a:pPr indent="-55879" lvl="1" marL="457200" rtl="0" algn="l">
              <a:lnSpc>
                <a:spcPct val="100000"/>
              </a:lnSpc>
              <a:spcBef>
                <a:spcPts val="500"/>
              </a:spcBef>
              <a:spcAft>
                <a:spcPts val="0"/>
              </a:spcAft>
              <a:buSzPts val="2000"/>
              <a:buFont typeface="Noto Sans Symbols"/>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Perform cloning of mutable objects while returning from getter method</a:t>
            </a:r>
            <a:endParaRPr/>
          </a:p>
          <a:p>
            <a:pPr indent="0" lvl="1" marL="457200" rtl="0" algn="l">
              <a:lnSpc>
                <a:spcPct val="100000"/>
              </a:lnSpc>
              <a:spcBef>
                <a:spcPts val="500"/>
              </a:spcBef>
              <a:spcAft>
                <a:spcPts val="0"/>
              </a:spcAft>
              <a:buSzPts val="2000"/>
              <a:buNone/>
            </a:pPr>
            <a:r>
              <a:t/>
            </a:r>
            <a:endParaRPr sz="2000">
              <a:latin typeface="Cambria"/>
              <a:ea typeface="Cambria"/>
              <a:cs typeface="Cambria"/>
              <a:sym typeface="Cambria"/>
            </a:endParaRPr>
          </a:p>
          <a:p>
            <a:pPr indent="-182879" lvl="2" marL="731520" rtl="0" algn="l">
              <a:lnSpc>
                <a:spcPct val="100000"/>
              </a:lnSpc>
              <a:spcBef>
                <a:spcPts val="500"/>
              </a:spcBef>
              <a:spcAft>
                <a:spcPts val="0"/>
              </a:spcAft>
              <a:buSzPts val="1600"/>
              <a:buFont typeface="Noto Sans Symbols"/>
              <a:buChar char="❑"/>
            </a:pPr>
            <a:r>
              <a:rPr b="1" i="1" lang="en-US" sz="1600">
                <a:solidFill>
                  <a:srgbClr val="FF0000"/>
                </a:solidFill>
                <a:latin typeface="Cambria"/>
                <a:ea typeface="Cambria"/>
                <a:cs typeface="Cambria"/>
                <a:sym typeface="Cambria"/>
              </a:rPr>
              <a:t>you can go with clone method but its always not recommended, I will show you its disadvantages </a:t>
            </a:r>
            <a:endParaRPr/>
          </a:p>
        </p:txBody>
      </p:sp>
      <p:sp>
        <p:nvSpPr>
          <p:cNvPr id="259" name="Google Shape;259;p18"/>
          <p:cNvSpPr txBox="1"/>
          <p:nvPr/>
        </p:nvSpPr>
        <p:spPr>
          <a:xfrm>
            <a:off x="838201" y="577049"/>
            <a:ext cx="1700814" cy="369332"/>
          </a:xfrm>
          <a:prstGeom prst="rect">
            <a:avLst/>
          </a:prstGeom>
          <a:gradFill>
            <a:gsLst>
              <a:gs pos="0">
                <a:srgbClr val="295B37"/>
              </a:gs>
              <a:gs pos="48000">
                <a:srgbClr val="408D56"/>
              </a:gs>
              <a:gs pos="100000">
                <a:srgbClr val="7DC491"/>
              </a:gs>
            </a:gsLst>
            <a:lin ang="16200000" scaled="0"/>
          </a:gra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Interview Q&amp;A</a:t>
            </a:r>
            <a:endParaRPr b="1" sz="1800">
              <a:solidFill>
                <a:schemeClr val="lt1"/>
              </a:solidFill>
              <a:latin typeface="Century Gothic"/>
              <a:ea typeface="Century Gothic"/>
              <a:cs typeface="Century Gothic"/>
              <a:sym typeface="Century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14" st="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9"/>
          <p:cNvSpPr txBox="1"/>
          <p:nvPr>
            <p:ph idx="1" type="body"/>
          </p:nvPr>
        </p:nvSpPr>
        <p:spPr>
          <a:xfrm>
            <a:off x="838200" y="1287262"/>
            <a:ext cx="10515600" cy="5291091"/>
          </a:xfrm>
          <a:prstGeom prst="rect">
            <a:avLst/>
          </a:prstGeom>
          <a:noFill/>
          <a:ln>
            <a:noFill/>
          </a:ln>
        </p:spPr>
        <p:txBody>
          <a:bodyPr anchorCtr="0" anchor="t" bIns="45700" lIns="91425" spcFirstLastPara="1" rIns="91425" wrap="square" tIns="45700">
            <a:normAutofit lnSpcReduction="10000"/>
          </a:bodyPr>
          <a:lstStyle/>
          <a:p>
            <a:pPr indent="-361950" lvl="0" marL="514350" rtl="0" algn="l">
              <a:lnSpc>
                <a:spcPct val="100000"/>
              </a:lnSpc>
              <a:spcBef>
                <a:spcPts val="0"/>
              </a:spcBef>
              <a:spcAft>
                <a:spcPts val="0"/>
              </a:spcAft>
              <a:buSzPts val="2400"/>
              <a:buFont typeface="Century Gothic"/>
              <a:buNone/>
            </a:pPr>
            <a:r>
              <a:t/>
            </a:r>
            <a:endParaRPr sz="2400">
              <a:latin typeface="Cambria"/>
              <a:ea typeface="Cambria"/>
              <a:cs typeface="Cambria"/>
              <a:sym typeface="Cambria"/>
            </a:endParaRPr>
          </a:p>
          <a:p>
            <a:pPr indent="0" lvl="0" marL="0" rtl="0" algn="l">
              <a:lnSpc>
                <a:spcPct val="100000"/>
              </a:lnSpc>
              <a:spcBef>
                <a:spcPts val="900"/>
              </a:spcBef>
              <a:spcAft>
                <a:spcPts val="0"/>
              </a:spcAft>
              <a:buSzPts val="2400"/>
              <a:buNone/>
            </a:pPr>
            <a:r>
              <a:rPr lang="en-US" sz="2400">
                <a:latin typeface="Cambria"/>
                <a:ea typeface="Cambria"/>
                <a:cs typeface="Cambria"/>
                <a:sym typeface="Cambria"/>
              </a:rPr>
              <a:t>22. Which one is good to store password in java String or char[] &amp; Why</a:t>
            </a:r>
            <a:endParaRPr/>
          </a:p>
          <a:p>
            <a:pPr indent="0" lvl="1" marL="457200" rtl="0" algn="l">
              <a:lnSpc>
                <a:spcPct val="100000"/>
              </a:lnSpc>
              <a:spcBef>
                <a:spcPts val="500"/>
              </a:spcBef>
              <a:spcAft>
                <a:spcPts val="0"/>
              </a:spcAft>
              <a:buSzPts val="2000"/>
              <a:buNone/>
            </a:pPr>
            <a:r>
              <a:rPr lang="en-US" sz="2000">
                <a:latin typeface="Cambria"/>
                <a:ea typeface="Cambria"/>
                <a:cs typeface="Cambria"/>
                <a:sym typeface="Cambria"/>
              </a:rPr>
              <a:t>Here are a few reasons which make sense to believe that character array is a better choice for storing the password in Java than String</a:t>
            </a:r>
            <a:endParaRPr/>
          </a:p>
          <a:p>
            <a:pPr indent="0" lvl="1" marL="457200" rtl="0" algn="l">
              <a:lnSpc>
                <a:spcPct val="100000"/>
              </a:lnSpc>
              <a:spcBef>
                <a:spcPts val="500"/>
              </a:spcBef>
              <a:spcAft>
                <a:spcPts val="0"/>
              </a:spcAft>
              <a:buSzPts val="2000"/>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Since Strings are immutable in Java if you store the password as plain text it will be available in memory until the Garbage collector clears it and also String literal is stored String pool for reusability there is a pretty high chance that it will remain in memory for long duration</a:t>
            </a:r>
            <a:endParaRPr/>
          </a:p>
          <a:p>
            <a:pPr indent="-55879" lvl="1" marL="457200" rtl="0" algn="l">
              <a:lnSpc>
                <a:spcPct val="100000"/>
              </a:lnSpc>
              <a:spcBef>
                <a:spcPts val="500"/>
              </a:spcBef>
              <a:spcAft>
                <a:spcPts val="0"/>
              </a:spcAft>
              <a:buSzPts val="2000"/>
              <a:buFont typeface="Noto Sans Symbols"/>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Because its difficult to destroy literal from SCP as GC unable to perform cleanup activity in SCP only it will destroy once jvm restarted so which may leads a high security threat</a:t>
            </a:r>
            <a:endParaRPr/>
          </a:p>
          <a:p>
            <a:pPr indent="-55879" lvl="1" marL="457200" rtl="0" algn="l">
              <a:lnSpc>
                <a:spcPct val="100000"/>
              </a:lnSpc>
              <a:spcBef>
                <a:spcPts val="500"/>
              </a:spcBef>
              <a:spcAft>
                <a:spcPts val="0"/>
              </a:spcAft>
              <a:buSzPts val="2000"/>
              <a:buFont typeface="Noto Sans Symbols"/>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Since anyone who has access to memory dump can find the password in clear text and that's another reason you should always use an encrypted password than plain text</a:t>
            </a:r>
            <a:endParaRPr/>
          </a:p>
          <a:p>
            <a:pPr indent="-55879" lvl="1" marL="457200" rtl="0" algn="l">
              <a:lnSpc>
                <a:spcPct val="100000"/>
              </a:lnSpc>
              <a:spcBef>
                <a:spcPts val="500"/>
              </a:spcBef>
              <a:spcAft>
                <a:spcPts val="0"/>
              </a:spcAft>
              <a:buSzPts val="2000"/>
              <a:buFont typeface="Noto Sans Symbols"/>
              <a:buNone/>
            </a:pPr>
            <a:r>
              <a:t/>
            </a:r>
            <a:endParaRPr sz="2000">
              <a:latin typeface="Cambria"/>
              <a:ea typeface="Cambria"/>
              <a:cs typeface="Cambria"/>
              <a:sym typeface="Cambria"/>
            </a:endParaRPr>
          </a:p>
        </p:txBody>
      </p:sp>
      <p:sp>
        <p:nvSpPr>
          <p:cNvPr id="265" name="Google Shape;265;p19"/>
          <p:cNvSpPr txBox="1"/>
          <p:nvPr/>
        </p:nvSpPr>
        <p:spPr>
          <a:xfrm>
            <a:off x="838201" y="577049"/>
            <a:ext cx="1700814" cy="369332"/>
          </a:xfrm>
          <a:prstGeom prst="rect">
            <a:avLst/>
          </a:prstGeom>
          <a:gradFill>
            <a:gsLst>
              <a:gs pos="0">
                <a:srgbClr val="295B37"/>
              </a:gs>
              <a:gs pos="48000">
                <a:srgbClr val="408D56"/>
              </a:gs>
              <a:gs pos="100000">
                <a:srgbClr val="7DC491"/>
              </a:gs>
            </a:gsLst>
            <a:lin ang="16200000" scaled="0"/>
          </a:gra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Interview Q&amp;A</a:t>
            </a:r>
            <a:endParaRPr b="1" sz="1800">
              <a:solidFill>
                <a:schemeClr val="lt1"/>
              </a:solidFill>
              <a:latin typeface="Century Gothic"/>
              <a:ea typeface="Century Gothic"/>
              <a:cs typeface="Century Gothic"/>
              <a:sym typeface="Century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0"/>
          <p:cNvSpPr txBox="1"/>
          <p:nvPr>
            <p:ph idx="1" type="body"/>
          </p:nvPr>
        </p:nvSpPr>
        <p:spPr>
          <a:xfrm>
            <a:off x="838200" y="1287262"/>
            <a:ext cx="10515600" cy="5291091"/>
          </a:xfrm>
          <a:prstGeom prst="rect">
            <a:avLst/>
          </a:prstGeom>
          <a:noFill/>
          <a:ln>
            <a:noFill/>
          </a:ln>
        </p:spPr>
        <p:txBody>
          <a:bodyPr anchorCtr="0" anchor="t" bIns="45700" lIns="91425" spcFirstLastPara="1" rIns="91425" wrap="square" tIns="45700">
            <a:normAutofit/>
          </a:bodyPr>
          <a:lstStyle/>
          <a:p>
            <a:pPr indent="-361950" lvl="0" marL="514350" rtl="0" algn="l">
              <a:lnSpc>
                <a:spcPct val="100000"/>
              </a:lnSpc>
              <a:spcBef>
                <a:spcPts val="0"/>
              </a:spcBef>
              <a:spcAft>
                <a:spcPts val="0"/>
              </a:spcAft>
              <a:buSzPts val="2400"/>
              <a:buFont typeface="Century Gothic"/>
              <a:buNone/>
            </a:pPr>
            <a:r>
              <a:t/>
            </a:r>
            <a:endParaRPr sz="24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Since Strings are immutable there are no way contents of Strings can be changed because any change will produce new String, while if you char[] you can still set all his elements as blank or zero. So Storing the password in character array clearly mitigates security risk of stealing passwords.</a:t>
            </a:r>
            <a:endParaRPr/>
          </a:p>
          <a:p>
            <a:pPr indent="-55879" lvl="1" marL="457200" rtl="0" algn="l">
              <a:lnSpc>
                <a:spcPct val="100000"/>
              </a:lnSpc>
              <a:spcBef>
                <a:spcPts val="500"/>
              </a:spcBef>
              <a:spcAft>
                <a:spcPts val="0"/>
              </a:spcAft>
              <a:buSzPts val="2000"/>
              <a:buFont typeface="Noto Sans Symbols"/>
              <a:buNone/>
            </a:pPr>
            <a:r>
              <a:t/>
            </a:r>
            <a:endParaRPr sz="2000">
              <a:latin typeface="Cambria"/>
              <a:ea typeface="Cambria"/>
              <a:cs typeface="Cambria"/>
              <a:sym typeface="Cambria"/>
            </a:endParaRPr>
          </a:p>
          <a:p>
            <a:pPr indent="-182880" lvl="1" marL="457200" rtl="0" algn="l">
              <a:lnSpc>
                <a:spcPct val="100000"/>
              </a:lnSpc>
              <a:spcBef>
                <a:spcPts val="500"/>
              </a:spcBef>
              <a:spcAft>
                <a:spcPts val="0"/>
              </a:spcAft>
              <a:buSzPts val="2000"/>
              <a:buFont typeface="Noto Sans Symbols"/>
              <a:buChar char="▪"/>
            </a:pPr>
            <a:r>
              <a:rPr lang="en-US" sz="2000">
                <a:latin typeface="Cambria"/>
                <a:ea typeface="Cambria"/>
                <a:cs typeface="Cambria"/>
                <a:sym typeface="Cambria"/>
              </a:rPr>
              <a:t>With String there is always a risk of printing plain text in log file or console but if use Array you won't print contents of array instead its memory location get printed. though not a real reason but still make sense.</a:t>
            </a:r>
            <a:endParaRPr/>
          </a:p>
          <a:p>
            <a:pPr indent="-55879" lvl="1" marL="457200" rtl="0" algn="l">
              <a:lnSpc>
                <a:spcPct val="100000"/>
              </a:lnSpc>
              <a:spcBef>
                <a:spcPts val="500"/>
              </a:spcBef>
              <a:spcAft>
                <a:spcPts val="0"/>
              </a:spcAft>
              <a:buSzPts val="2000"/>
              <a:buFont typeface="Noto Sans Symbols"/>
              <a:buNone/>
            </a:pPr>
            <a:r>
              <a:t/>
            </a:r>
            <a:endParaRPr sz="2000">
              <a:latin typeface="Cambria"/>
              <a:ea typeface="Cambria"/>
              <a:cs typeface="Cambria"/>
              <a:sym typeface="Cambria"/>
            </a:endParaRPr>
          </a:p>
          <a:p>
            <a:pPr indent="-55879" lvl="1" marL="457200" rtl="0" algn="l">
              <a:lnSpc>
                <a:spcPct val="100000"/>
              </a:lnSpc>
              <a:spcBef>
                <a:spcPts val="500"/>
              </a:spcBef>
              <a:spcAft>
                <a:spcPts val="0"/>
              </a:spcAft>
              <a:buSzPts val="2000"/>
              <a:buFont typeface="Noto Sans Symbols"/>
              <a:buNone/>
            </a:pPr>
            <a:r>
              <a:t/>
            </a:r>
            <a:endParaRPr sz="2000">
              <a:latin typeface="Cambria"/>
              <a:ea typeface="Cambria"/>
              <a:cs typeface="Cambria"/>
              <a:sym typeface="Cambria"/>
            </a:endParaRPr>
          </a:p>
          <a:p>
            <a:pPr indent="-55879" lvl="1" marL="457200" rtl="0" algn="l">
              <a:lnSpc>
                <a:spcPct val="100000"/>
              </a:lnSpc>
              <a:spcBef>
                <a:spcPts val="500"/>
              </a:spcBef>
              <a:spcAft>
                <a:spcPts val="0"/>
              </a:spcAft>
              <a:buSzPts val="2000"/>
              <a:buFont typeface="Noto Sans Symbols"/>
              <a:buNone/>
            </a:pPr>
            <a:r>
              <a:t/>
            </a:r>
            <a:endParaRPr sz="2000">
              <a:latin typeface="Cambria"/>
              <a:ea typeface="Cambria"/>
              <a:cs typeface="Cambria"/>
              <a:sym typeface="Cambria"/>
            </a:endParaRPr>
          </a:p>
          <a:p>
            <a:pPr indent="-55879" lvl="1" marL="457200" rtl="0" algn="l">
              <a:lnSpc>
                <a:spcPct val="100000"/>
              </a:lnSpc>
              <a:spcBef>
                <a:spcPts val="500"/>
              </a:spcBef>
              <a:spcAft>
                <a:spcPts val="0"/>
              </a:spcAft>
              <a:buSzPts val="2000"/>
              <a:buFont typeface="Noto Sans Symbols"/>
              <a:buNone/>
            </a:pPr>
            <a:r>
              <a:t/>
            </a:r>
            <a:endParaRPr sz="2000">
              <a:latin typeface="Cambria"/>
              <a:ea typeface="Cambria"/>
              <a:cs typeface="Cambria"/>
              <a:sym typeface="Cambria"/>
            </a:endParaRPr>
          </a:p>
        </p:txBody>
      </p:sp>
      <p:sp>
        <p:nvSpPr>
          <p:cNvPr id="271" name="Google Shape;271;p20"/>
          <p:cNvSpPr txBox="1"/>
          <p:nvPr/>
        </p:nvSpPr>
        <p:spPr>
          <a:xfrm>
            <a:off x="838201" y="577049"/>
            <a:ext cx="1700814" cy="369332"/>
          </a:xfrm>
          <a:prstGeom prst="rect">
            <a:avLst/>
          </a:prstGeom>
          <a:gradFill>
            <a:gsLst>
              <a:gs pos="0">
                <a:srgbClr val="295B37"/>
              </a:gs>
              <a:gs pos="48000">
                <a:srgbClr val="408D56"/>
              </a:gs>
              <a:gs pos="100000">
                <a:srgbClr val="7DC491"/>
              </a:gs>
            </a:gsLst>
            <a:lin ang="16200000" scaled="0"/>
          </a:gra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Interview Q&amp;A</a:t>
            </a:r>
            <a:endParaRPr b="1" sz="1800">
              <a:solidFill>
                <a:schemeClr val="lt1"/>
              </a:solidFill>
              <a:latin typeface="Century Gothic"/>
              <a:ea typeface="Century Gothic"/>
              <a:cs typeface="Century Gothic"/>
              <a:sym typeface="Century Gothic"/>
            </a:endParaRPr>
          </a:p>
        </p:txBody>
      </p:sp>
      <p:pic>
        <p:nvPicPr>
          <p:cNvPr id="272" name="Google Shape;272;p20"/>
          <p:cNvPicPr preferRelativeResize="0"/>
          <p:nvPr/>
        </p:nvPicPr>
        <p:blipFill rotWithShape="1">
          <a:blip r:embed="rId3">
            <a:alphaModFix/>
          </a:blip>
          <a:srcRect b="0" l="0" r="0" t="0"/>
          <a:stretch/>
        </p:blipFill>
        <p:spPr>
          <a:xfrm>
            <a:off x="1625862" y="4321668"/>
            <a:ext cx="6417308" cy="172686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2"/>
                                        </p:tgtEl>
                                        <p:attrNameLst>
                                          <p:attrName>style.visibility</p:attrName>
                                        </p:attrNameLst>
                                      </p:cBhvr>
                                      <p:to>
                                        <p:strVal val="visible"/>
                                      </p:to>
                                    </p:set>
                                    <p:anim calcmode="lin" valueType="num">
                                      <p:cBhvr additive="base">
                                        <p:cTn dur="500"/>
                                        <p:tgtEl>
                                          <p:spTgt spid="27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1"/>
          <p:cNvSpPr txBox="1"/>
          <p:nvPr>
            <p:ph idx="1" type="body"/>
          </p:nvPr>
        </p:nvSpPr>
        <p:spPr>
          <a:xfrm>
            <a:off x="838200" y="1287262"/>
            <a:ext cx="10515600" cy="5291091"/>
          </a:xfrm>
          <a:prstGeom prst="rect">
            <a:avLst/>
          </a:prstGeom>
          <a:noFill/>
          <a:ln>
            <a:noFill/>
          </a:ln>
        </p:spPr>
        <p:txBody>
          <a:bodyPr anchorCtr="0" anchor="t" bIns="45700" lIns="91425" spcFirstLastPara="1" rIns="91425" wrap="square" tIns="45700">
            <a:normAutofit/>
          </a:bodyPr>
          <a:lstStyle/>
          <a:p>
            <a:pPr indent="-361950" lvl="0" marL="514350" rtl="0" algn="l">
              <a:lnSpc>
                <a:spcPct val="100000"/>
              </a:lnSpc>
              <a:spcBef>
                <a:spcPts val="0"/>
              </a:spcBef>
              <a:spcAft>
                <a:spcPts val="0"/>
              </a:spcAft>
              <a:buSzPts val="2400"/>
              <a:buFont typeface="Century Gothic"/>
              <a:buNone/>
            </a:pPr>
            <a:r>
              <a:t/>
            </a:r>
            <a:endParaRPr sz="2400">
              <a:latin typeface="Cambria"/>
              <a:ea typeface="Cambria"/>
              <a:cs typeface="Cambria"/>
              <a:sym typeface="Cambria"/>
            </a:endParaRPr>
          </a:p>
          <a:p>
            <a:pPr indent="0" lvl="0" marL="0" rtl="0" algn="l">
              <a:lnSpc>
                <a:spcPct val="100000"/>
              </a:lnSpc>
              <a:spcBef>
                <a:spcPts val="900"/>
              </a:spcBef>
              <a:spcAft>
                <a:spcPts val="0"/>
              </a:spcAft>
              <a:buSzPts val="2400"/>
              <a:buNone/>
            </a:pPr>
            <a:r>
              <a:rPr lang="en-US" sz="2400">
                <a:latin typeface="Cambria"/>
                <a:ea typeface="Cambria"/>
                <a:cs typeface="Cambria"/>
                <a:sym typeface="Cambria"/>
              </a:rPr>
              <a:t>23. What is Marker interface (tagging interface) ? Can we create our own marker interface ?</a:t>
            </a:r>
            <a:endParaRPr/>
          </a:p>
          <a:p>
            <a:pPr indent="0" lvl="0" marL="0" rtl="0" algn="l">
              <a:lnSpc>
                <a:spcPct val="100000"/>
              </a:lnSpc>
              <a:spcBef>
                <a:spcPts val="900"/>
              </a:spcBef>
              <a:spcAft>
                <a:spcPts val="0"/>
              </a:spcAft>
              <a:buSzPts val="2400"/>
              <a:buNone/>
            </a:pPr>
            <a:r>
              <a:t/>
            </a:r>
            <a:endParaRPr sz="2400">
              <a:latin typeface="Cambria"/>
              <a:ea typeface="Cambria"/>
              <a:cs typeface="Cambria"/>
              <a:sym typeface="Cambria"/>
            </a:endParaRPr>
          </a:p>
          <a:p>
            <a:pPr indent="0" lvl="1" marL="457200" rtl="0" algn="l">
              <a:lnSpc>
                <a:spcPct val="100000"/>
              </a:lnSpc>
              <a:spcBef>
                <a:spcPts val="500"/>
              </a:spcBef>
              <a:spcAft>
                <a:spcPts val="0"/>
              </a:spcAft>
              <a:buSzPts val="2000"/>
              <a:buNone/>
            </a:pPr>
            <a:r>
              <a:rPr lang="en-US" sz="2000">
                <a:latin typeface="Cambria"/>
                <a:ea typeface="Cambria"/>
                <a:cs typeface="Cambria"/>
                <a:sym typeface="Cambria"/>
              </a:rPr>
              <a:t>A marker interface is an interface that has no methods or constants inside it. Java has many built-in marker interfaces, such as Serializable, Cloneable, and Remote.</a:t>
            </a:r>
            <a:endParaRPr/>
          </a:p>
          <a:p>
            <a:pPr indent="0" lvl="1" marL="457200" rtl="0" algn="l">
              <a:lnSpc>
                <a:spcPct val="100000"/>
              </a:lnSpc>
              <a:spcBef>
                <a:spcPts val="500"/>
              </a:spcBef>
              <a:spcAft>
                <a:spcPts val="0"/>
              </a:spcAft>
              <a:buSzPts val="2000"/>
              <a:buNone/>
            </a:pPr>
            <a:r>
              <a:t/>
            </a:r>
            <a:endParaRPr sz="2000">
              <a:latin typeface="Cambria"/>
              <a:ea typeface="Cambria"/>
              <a:cs typeface="Cambria"/>
              <a:sym typeface="Cambria"/>
            </a:endParaRPr>
          </a:p>
          <a:p>
            <a:pPr indent="0" lvl="1" marL="457200" rtl="0" algn="l">
              <a:lnSpc>
                <a:spcPct val="100000"/>
              </a:lnSpc>
              <a:spcBef>
                <a:spcPts val="500"/>
              </a:spcBef>
              <a:spcAft>
                <a:spcPts val="0"/>
              </a:spcAft>
              <a:buSzPts val="2000"/>
              <a:buNone/>
            </a:pPr>
            <a:r>
              <a:rPr lang="en-US" sz="2000">
                <a:latin typeface="Cambria"/>
                <a:ea typeface="Cambria"/>
                <a:cs typeface="Cambria"/>
                <a:sym typeface="Cambria"/>
              </a:rPr>
              <a:t>It provides run-time type information about objects, so the compiler and JVM have additional information about the object.</a:t>
            </a:r>
            <a:endParaRPr/>
          </a:p>
          <a:p>
            <a:pPr indent="0" lvl="1" marL="457200" rtl="0" algn="l">
              <a:lnSpc>
                <a:spcPct val="100000"/>
              </a:lnSpc>
              <a:spcBef>
                <a:spcPts val="500"/>
              </a:spcBef>
              <a:spcAft>
                <a:spcPts val="0"/>
              </a:spcAft>
              <a:buSzPts val="2000"/>
              <a:buNone/>
            </a:pPr>
            <a:r>
              <a:t/>
            </a:r>
            <a:endParaRPr sz="2000">
              <a:latin typeface="Cambria"/>
              <a:ea typeface="Cambria"/>
              <a:cs typeface="Cambria"/>
              <a:sym typeface="Cambria"/>
            </a:endParaRPr>
          </a:p>
          <a:p>
            <a:pPr indent="0" lvl="1" marL="457200" rtl="0" algn="l">
              <a:lnSpc>
                <a:spcPct val="100000"/>
              </a:lnSpc>
              <a:spcBef>
                <a:spcPts val="500"/>
              </a:spcBef>
              <a:spcAft>
                <a:spcPts val="0"/>
              </a:spcAft>
              <a:buSzPts val="2000"/>
              <a:buNone/>
            </a:pPr>
            <a:r>
              <a:rPr lang="en-US" sz="2000">
                <a:latin typeface="Cambria"/>
                <a:ea typeface="Cambria"/>
                <a:cs typeface="Cambria"/>
                <a:sym typeface="Cambria"/>
              </a:rPr>
              <a:t>Let's take the example of the Cloneable interface. If we try to clone an object that doesn't implement this interface, the JVM throws a CloneNotSupportedException. Hence, the Cloneable marker interface is an indicator to the JVM that we can call the Object.clone() method.</a:t>
            </a:r>
            <a:endParaRPr/>
          </a:p>
          <a:p>
            <a:pPr indent="0" lvl="1" marL="457200" rtl="0" algn="l">
              <a:lnSpc>
                <a:spcPct val="100000"/>
              </a:lnSpc>
              <a:spcBef>
                <a:spcPts val="500"/>
              </a:spcBef>
              <a:spcAft>
                <a:spcPts val="0"/>
              </a:spcAft>
              <a:buSzPts val="2000"/>
              <a:buNone/>
            </a:pPr>
            <a:r>
              <a:t/>
            </a:r>
            <a:endParaRPr sz="2000">
              <a:latin typeface="Cambria"/>
              <a:ea typeface="Cambria"/>
              <a:cs typeface="Cambria"/>
              <a:sym typeface="Cambria"/>
            </a:endParaRPr>
          </a:p>
          <a:p>
            <a:pPr indent="0" lvl="1" marL="457200" rtl="0" algn="l">
              <a:lnSpc>
                <a:spcPct val="100000"/>
              </a:lnSpc>
              <a:spcBef>
                <a:spcPts val="500"/>
              </a:spcBef>
              <a:spcAft>
                <a:spcPts val="0"/>
              </a:spcAft>
              <a:buSzPts val="2000"/>
              <a:buNone/>
            </a:pPr>
            <a:r>
              <a:t/>
            </a:r>
            <a:endParaRPr sz="2000">
              <a:latin typeface="Cambria"/>
              <a:ea typeface="Cambria"/>
              <a:cs typeface="Cambria"/>
              <a:sym typeface="Cambria"/>
            </a:endParaRPr>
          </a:p>
          <a:p>
            <a:pPr indent="0" lvl="1" marL="457200" rtl="0" algn="l">
              <a:lnSpc>
                <a:spcPct val="100000"/>
              </a:lnSpc>
              <a:spcBef>
                <a:spcPts val="500"/>
              </a:spcBef>
              <a:spcAft>
                <a:spcPts val="0"/>
              </a:spcAft>
              <a:buSzPts val="2000"/>
              <a:buNone/>
            </a:pPr>
            <a:r>
              <a:t/>
            </a:r>
            <a:endParaRPr sz="2000">
              <a:latin typeface="Cambria"/>
              <a:ea typeface="Cambria"/>
              <a:cs typeface="Cambria"/>
              <a:sym typeface="Cambria"/>
            </a:endParaRPr>
          </a:p>
          <a:p>
            <a:pPr indent="0" lvl="0" marL="0" rtl="0" algn="l">
              <a:lnSpc>
                <a:spcPct val="100000"/>
              </a:lnSpc>
              <a:spcBef>
                <a:spcPts val="900"/>
              </a:spcBef>
              <a:spcAft>
                <a:spcPts val="0"/>
              </a:spcAft>
              <a:buSzPts val="2400"/>
              <a:buNone/>
            </a:pPr>
            <a:r>
              <a:t/>
            </a:r>
            <a:endParaRPr sz="2400">
              <a:latin typeface="Cambria"/>
              <a:ea typeface="Cambria"/>
              <a:cs typeface="Cambria"/>
              <a:sym typeface="Cambria"/>
            </a:endParaRPr>
          </a:p>
        </p:txBody>
      </p:sp>
      <p:sp>
        <p:nvSpPr>
          <p:cNvPr id="278" name="Google Shape;278;p21"/>
          <p:cNvSpPr txBox="1"/>
          <p:nvPr/>
        </p:nvSpPr>
        <p:spPr>
          <a:xfrm>
            <a:off x="838201" y="577049"/>
            <a:ext cx="1700814" cy="369332"/>
          </a:xfrm>
          <a:prstGeom prst="rect">
            <a:avLst/>
          </a:prstGeom>
          <a:gradFill>
            <a:gsLst>
              <a:gs pos="0">
                <a:srgbClr val="295B37"/>
              </a:gs>
              <a:gs pos="48000">
                <a:srgbClr val="408D56"/>
              </a:gs>
              <a:gs pos="100000">
                <a:srgbClr val="7DC491"/>
              </a:gs>
            </a:gsLst>
            <a:lin ang="16200000" scaled="0"/>
          </a:gra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Century Gothic"/>
                <a:ea typeface="Century Gothic"/>
                <a:cs typeface="Century Gothic"/>
                <a:sym typeface="Century Gothic"/>
              </a:rPr>
              <a:t>Interview Q&amp;A</a:t>
            </a:r>
            <a:endParaRPr b="1" sz="1800">
              <a:solidFill>
                <a:schemeClr val="lt1"/>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name="Savon">
  <a:themeElements>
    <a:clrScheme name="Savon">
      <a:dk1>
        <a:srgbClr val="000000"/>
      </a:dk1>
      <a:lt1>
        <a:srgbClr val="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2021-06-30T16:09:58Z</dcterms:created>
  <dc:creator>Basanta Hota</dc:creator>
</cp:coreProperties>
</file>