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77724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7"/>
    <p:restoredTop sz="94694"/>
  </p:normalViewPr>
  <p:slideViewPr>
    <p:cSldViewPr>
      <p:cViewPr varScale="1">
        <p:scale>
          <a:sx n="82" d="100"/>
          <a:sy n="82" d="100"/>
        </p:scale>
        <p:origin x="3072" y="19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2/27/24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2/27/24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2/27/24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2/27/24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2/27/24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02969" y="1202690"/>
            <a:ext cx="1335405" cy="360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50264" y="2141854"/>
            <a:ext cx="6073140" cy="68973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642616" y="9354312"/>
            <a:ext cx="2487168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2/27/24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596128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mailto:Document(page_content%3D%27mayankchugh.jobathk@gmail.com" TargetMode="Externa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47725" y="1553844"/>
            <a:ext cx="6076950" cy="7424420"/>
          </a:xfrm>
          <a:custGeom>
            <a:avLst/>
            <a:gdLst/>
            <a:ahLst/>
            <a:cxnLst/>
            <a:rect l="l" t="t" r="r" b="b"/>
            <a:pathLst>
              <a:path w="6076950" h="7424420">
                <a:moveTo>
                  <a:pt x="6076950" y="0"/>
                </a:moveTo>
                <a:lnTo>
                  <a:pt x="0" y="0"/>
                </a:lnTo>
                <a:lnTo>
                  <a:pt x="0" y="229235"/>
                </a:lnTo>
                <a:lnTo>
                  <a:pt x="0" y="229870"/>
                </a:lnTo>
                <a:lnTo>
                  <a:pt x="0" y="7424420"/>
                </a:lnTo>
                <a:lnTo>
                  <a:pt x="6076950" y="7424420"/>
                </a:lnTo>
                <a:lnTo>
                  <a:pt x="6076950" y="229235"/>
                </a:lnTo>
                <a:lnTo>
                  <a:pt x="6076950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LangChain</a:t>
            </a:r>
          </a:p>
        </p:txBody>
      </p:sp>
      <p:sp>
        <p:nvSpPr>
          <p:cNvPr id="4" name="object 4"/>
          <p:cNvSpPr/>
          <p:nvPr/>
        </p:nvSpPr>
        <p:spPr>
          <a:xfrm>
            <a:off x="914400" y="2780029"/>
            <a:ext cx="5550535" cy="161925"/>
          </a:xfrm>
          <a:custGeom>
            <a:avLst/>
            <a:gdLst/>
            <a:ahLst/>
            <a:cxnLst/>
            <a:rect l="l" t="t" r="r" b="b"/>
            <a:pathLst>
              <a:path w="5550535" h="161925">
                <a:moveTo>
                  <a:pt x="5550535" y="0"/>
                </a:moveTo>
                <a:lnTo>
                  <a:pt x="0" y="0"/>
                </a:lnTo>
                <a:lnTo>
                  <a:pt x="0" y="161925"/>
                </a:lnTo>
                <a:lnTo>
                  <a:pt x="5550535" y="161925"/>
                </a:lnTo>
                <a:lnTo>
                  <a:pt x="5550535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02969" y="1598930"/>
            <a:ext cx="5574665" cy="1351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1E1B1A"/>
                </a:solidFill>
                <a:latin typeface="Courier New"/>
                <a:cs typeface="Courier New"/>
              </a:rPr>
              <a:t>OPENAI_KEY=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"&lt;OPEN</a:t>
            </a:r>
            <a:r>
              <a:rPr sz="1100" spc="-85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API</a:t>
            </a:r>
            <a:r>
              <a:rPr sz="1100" spc="-9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KEY&gt;"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100" dirty="0">
                <a:solidFill>
                  <a:srgbClr val="7827A0"/>
                </a:solidFill>
                <a:latin typeface="Courier New"/>
                <a:cs typeface="Courier New"/>
              </a:rPr>
              <a:t>import</a:t>
            </a:r>
            <a:r>
              <a:rPr sz="1100" spc="-50" dirty="0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langchain</a:t>
            </a:r>
            <a:endParaRPr sz="1100">
              <a:latin typeface="Courier New"/>
              <a:cs typeface="Courier New"/>
            </a:endParaRPr>
          </a:p>
          <a:p>
            <a:pPr marL="12700" marR="2189480">
              <a:lnSpc>
                <a:spcPct val="172700"/>
              </a:lnSpc>
            </a:pPr>
            <a:r>
              <a:rPr sz="1100" dirty="0">
                <a:solidFill>
                  <a:srgbClr val="7827A0"/>
                </a:solidFill>
                <a:latin typeface="Courier New"/>
                <a:cs typeface="Courier New"/>
              </a:rPr>
              <a:t>from</a:t>
            </a:r>
            <a:r>
              <a:rPr sz="1100" spc="-80" dirty="0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1E1B1A"/>
                </a:solidFill>
                <a:latin typeface="Courier New"/>
                <a:cs typeface="Courier New"/>
              </a:rPr>
              <a:t>langchain.llms</a:t>
            </a:r>
            <a:r>
              <a:rPr sz="1100" spc="-60" dirty="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7827A0"/>
                </a:solidFill>
                <a:latin typeface="Courier New"/>
                <a:cs typeface="Courier New"/>
              </a:rPr>
              <a:t>import</a:t>
            </a:r>
            <a:r>
              <a:rPr sz="1100" spc="-65" dirty="0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OpenAI client=OpenAI(openai_api_key=OPENAI_KEY)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100" spc="-10" dirty="0">
                <a:latin typeface="Courier New"/>
                <a:cs typeface="Courier New"/>
              </a:rPr>
              <a:t>/Users/mayankchugh/opt/anaconda3/envs/genaifisrtprj/lib/python3.8/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4400" y="2942589"/>
            <a:ext cx="446976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spc="-10" dirty="0">
                <a:latin typeface="Courier New"/>
                <a:cs typeface="Courier New"/>
              </a:rPr>
              <a:t>site-packages/langchain_core/_api/deprecation.py:117: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14400" y="3105150"/>
            <a:ext cx="3208020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spc="-10" dirty="0">
                <a:latin typeface="Courier New"/>
                <a:cs typeface="Courier New"/>
              </a:rPr>
              <a:t>LangChainDeprecationWarning:</a:t>
            </a:r>
            <a:r>
              <a:rPr sz="1100" dirty="0">
                <a:latin typeface="Courier New"/>
                <a:cs typeface="Courier New"/>
              </a:rPr>
              <a:t> The</a:t>
            </a:r>
            <a:r>
              <a:rPr sz="1100" spc="-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class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14400" y="3267709"/>
            <a:ext cx="581596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spc="-10" dirty="0">
                <a:latin typeface="Courier New"/>
                <a:cs typeface="Courier New"/>
              </a:rPr>
              <a:t>`langchain_community.llms.openai.OpenAI`</a:t>
            </a:r>
            <a:r>
              <a:rPr sz="1100" spc="-2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was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deprecated</a:t>
            </a:r>
            <a:r>
              <a:rPr sz="1100" spc="-2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langchain-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14400" y="3430270"/>
            <a:ext cx="572071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community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0.0.10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will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be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removed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0.2.0.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updated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version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of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14400" y="3592829"/>
            <a:ext cx="564832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class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exists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langchain-</a:t>
            </a:r>
            <a:r>
              <a:rPr sz="1100" dirty="0">
                <a:latin typeface="Courier New"/>
                <a:cs typeface="Courier New"/>
              </a:rPr>
              <a:t>openai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package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should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be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used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14400" y="3755390"/>
            <a:ext cx="590105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instead.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To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use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it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run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`pip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install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-</a:t>
            </a:r>
            <a:r>
              <a:rPr sz="1100" dirty="0">
                <a:latin typeface="Courier New"/>
                <a:cs typeface="Courier New"/>
              </a:rPr>
              <a:t>U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langchain-</a:t>
            </a:r>
            <a:r>
              <a:rPr sz="1100" dirty="0">
                <a:latin typeface="Courier New"/>
                <a:cs typeface="Courier New"/>
              </a:rPr>
              <a:t>openai`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import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as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14400" y="3917950"/>
            <a:ext cx="3208020" cy="16192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`from</a:t>
            </a:r>
            <a:r>
              <a:rPr sz="1100" spc="-8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langchain_openai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import</a:t>
            </a:r>
            <a:r>
              <a:rPr sz="1100" spc="-8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OpenAI`.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914400" y="4080509"/>
            <a:ext cx="5550535" cy="1355725"/>
          </a:xfrm>
          <a:custGeom>
            <a:avLst/>
            <a:gdLst/>
            <a:ahLst/>
            <a:cxnLst/>
            <a:rect l="l" t="t" r="r" b="b"/>
            <a:pathLst>
              <a:path w="5550535" h="1355725">
                <a:moveTo>
                  <a:pt x="1511935" y="0"/>
                </a:moveTo>
                <a:lnTo>
                  <a:pt x="0" y="0"/>
                </a:lnTo>
                <a:lnTo>
                  <a:pt x="0" y="161925"/>
                </a:lnTo>
                <a:lnTo>
                  <a:pt x="1511935" y="161925"/>
                </a:lnTo>
                <a:lnTo>
                  <a:pt x="1511935" y="0"/>
                </a:lnTo>
                <a:close/>
              </a:path>
              <a:path w="5550535" h="1355725">
                <a:moveTo>
                  <a:pt x="5550535" y="1193800"/>
                </a:moveTo>
                <a:lnTo>
                  <a:pt x="0" y="1193800"/>
                </a:lnTo>
                <a:lnTo>
                  <a:pt x="0" y="1355725"/>
                </a:lnTo>
                <a:lnTo>
                  <a:pt x="5550535" y="1355725"/>
                </a:lnTo>
                <a:lnTo>
                  <a:pt x="5550535" y="119380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902969" y="4057650"/>
            <a:ext cx="5828030" cy="1386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034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latin typeface="Courier New"/>
                <a:cs typeface="Courier New"/>
              </a:rPr>
              <a:t>warn_deprecated(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ts val="1300"/>
              </a:lnSpc>
              <a:spcBef>
                <a:spcPts val="960"/>
              </a:spcBef>
            </a:pPr>
            <a:r>
              <a:rPr sz="1100" i="1" dirty="0">
                <a:solidFill>
                  <a:srgbClr val="3F7F7F"/>
                </a:solidFill>
                <a:latin typeface="Courier New"/>
                <a:cs typeface="Courier New"/>
              </a:rPr>
              <a:t>#</a:t>
            </a:r>
            <a:r>
              <a:rPr sz="1100" i="1" spc="-35" dirty="0">
                <a:solidFill>
                  <a:srgbClr val="3F7F7F"/>
                </a:solidFill>
                <a:latin typeface="Courier New"/>
                <a:cs typeface="Courier New"/>
              </a:rPr>
              <a:t> </a:t>
            </a:r>
            <a:r>
              <a:rPr sz="1100" i="1" dirty="0">
                <a:solidFill>
                  <a:srgbClr val="3F7F7F"/>
                </a:solidFill>
                <a:latin typeface="Courier New"/>
                <a:cs typeface="Courier New"/>
              </a:rPr>
              <a:t>zero</a:t>
            </a:r>
            <a:r>
              <a:rPr sz="1100" i="1" spc="-15" dirty="0">
                <a:solidFill>
                  <a:srgbClr val="3F7F7F"/>
                </a:solidFill>
                <a:latin typeface="Courier New"/>
                <a:cs typeface="Courier New"/>
              </a:rPr>
              <a:t> </a:t>
            </a:r>
            <a:r>
              <a:rPr sz="1100" i="1" dirty="0">
                <a:solidFill>
                  <a:srgbClr val="3F7F7F"/>
                </a:solidFill>
                <a:latin typeface="Courier New"/>
                <a:cs typeface="Courier New"/>
              </a:rPr>
              <a:t>shot</a:t>
            </a:r>
            <a:r>
              <a:rPr sz="1100" i="1" spc="-25" dirty="0">
                <a:solidFill>
                  <a:srgbClr val="3F7F7F"/>
                </a:solidFill>
                <a:latin typeface="Courier New"/>
                <a:cs typeface="Courier New"/>
              </a:rPr>
              <a:t> </a:t>
            </a:r>
            <a:r>
              <a:rPr sz="1100" i="1" spc="-10" dirty="0">
                <a:solidFill>
                  <a:srgbClr val="3F7F7F"/>
                </a:solidFill>
                <a:latin typeface="Courier New"/>
                <a:cs typeface="Courier New"/>
              </a:rPr>
              <a:t>prompting</a:t>
            </a:r>
            <a:endParaRPr sz="1100">
              <a:latin typeface="Courier New"/>
              <a:cs typeface="Courier New"/>
            </a:endParaRPr>
          </a:p>
          <a:p>
            <a:pPr marL="12700" marR="5080">
              <a:lnSpc>
                <a:spcPts val="1280"/>
              </a:lnSpc>
              <a:spcBef>
                <a:spcPts val="55"/>
              </a:spcBef>
            </a:pPr>
            <a:r>
              <a:rPr sz="1100" dirty="0">
                <a:solidFill>
                  <a:srgbClr val="1E1B1A"/>
                </a:solidFill>
                <a:latin typeface="Courier New"/>
                <a:cs typeface="Courier New"/>
              </a:rPr>
              <a:t>prompt=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"can</a:t>
            </a:r>
            <a:r>
              <a:rPr sz="1100" spc="-4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you</a:t>
            </a:r>
            <a:r>
              <a:rPr sz="1100" spc="-4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tell</a:t>
            </a:r>
            <a:r>
              <a:rPr sz="1100" spc="-4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me</a:t>
            </a:r>
            <a:r>
              <a:rPr sz="1100" spc="-4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total</a:t>
            </a:r>
            <a:r>
              <a:rPr sz="1100" spc="-3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number</a:t>
            </a:r>
            <a:r>
              <a:rPr sz="1100" spc="-4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of</a:t>
            </a:r>
            <a:r>
              <a:rPr sz="1100" spc="-4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country</a:t>
            </a:r>
            <a:r>
              <a:rPr sz="1100" spc="-3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in</a:t>
            </a:r>
            <a:r>
              <a:rPr sz="1100" spc="-4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aisa?</a:t>
            </a:r>
            <a:r>
              <a:rPr sz="1100" spc="-4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can</a:t>
            </a:r>
            <a:r>
              <a:rPr sz="1100" spc="-4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you</a:t>
            </a:r>
            <a:r>
              <a:rPr sz="1100" spc="-4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spc="-20" dirty="0">
                <a:solidFill>
                  <a:srgbClr val="007F00"/>
                </a:solidFill>
                <a:latin typeface="Courier New"/>
                <a:cs typeface="Courier New"/>
              </a:rPr>
              <a:t>give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me</a:t>
            </a:r>
            <a:r>
              <a:rPr sz="1100" spc="-3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top</a:t>
            </a:r>
            <a:r>
              <a:rPr sz="1100" spc="-3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10</a:t>
            </a:r>
            <a:r>
              <a:rPr sz="1100" spc="-35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contry</a:t>
            </a:r>
            <a:r>
              <a:rPr sz="1100" spc="-2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name?"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sz="1100" spc="-10" dirty="0">
                <a:solidFill>
                  <a:srgbClr val="A95C00"/>
                </a:solidFill>
                <a:latin typeface="Courier New"/>
                <a:cs typeface="Courier New"/>
              </a:rPr>
              <a:t>print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(client.predict(prompt).strip())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100" spc="-10" dirty="0">
                <a:latin typeface="Courier New"/>
                <a:cs typeface="Courier New"/>
              </a:rPr>
              <a:t>/Users/mayankchugh/opt/anaconda3/envs/genaifisrtprj/lib/python3.8/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14400" y="5436870"/>
            <a:ext cx="446976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spc="-10" dirty="0">
                <a:latin typeface="Courier New"/>
                <a:cs typeface="Courier New"/>
              </a:rPr>
              <a:t>site-packages/langchain_core/_api/deprecation.py:117: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14400" y="5599429"/>
            <a:ext cx="580453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spc="-10" dirty="0">
                <a:latin typeface="Courier New"/>
                <a:cs typeface="Courier New"/>
              </a:rPr>
              <a:t>LangChainDeprecationWarning: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function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`predict`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was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deprecated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in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14400" y="5761990"/>
            <a:ext cx="5479415" cy="16192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LangChain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0.1.7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will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be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removed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0.2.0.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Use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invoke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instead.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14400" y="5924550"/>
            <a:ext cx="1511935" cy="161925"/>
          </a:xfrm>
          <a:custGeom>
            <a:avLst/>
            <a:gdLst/>
            <a:ahLst/>
            <a:cxnLst/>
            <a:rect l="l" t="t" r="r" b="b"/>
            <a:pathLst>
              <a:path w="1511935" h="161925">
                <a:moveTo>
                  <a:pt x="1511935" y="0"/>
                </a:moveTo>
                <a:lnTo>
                  <a:pt x="0" y="0"/>
                </a:lnTo>
                <a:lnTo>
                  <a:pt x="0" y="161925"/>
                </a:lnTo>
                <a:lnTo>
                  <a:pt x="1511935" y="161925"/>
                </a:lnTo>
                <a:lnTo>
                  <a:pt x="1511935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1070610" y="5901690"/>
            <a:ext cx="137033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latin typeface="Courier New"/>
                <a:cs typeface="Courier New"/>
              </a:rPr>
              <a:t>warn_deprecated(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14400" y="6214109"/>
            <a:ext cx="2619375" cy="16192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There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are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48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countries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Asia.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14400" y="6523990"/>
            <a:ext cx="4638675" cy="16192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top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10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countries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Asia,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based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on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population,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are: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14400" y="6835140"/>
            <a:ext cx="68389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1.</a:t>
            </a:r>
            <a:r>
              <a:rPr sz="1100" spc="-1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China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14400" y="6997596"/>
            <a:ext cx="683895" cy="16319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2.</a:t>
            </a:r>
            <a:r>
              <a:rPr sz="1100" spc="-1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India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914400" y="7160259"/>
            <a:ext cx="1020444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3.</a:t>
            </a:r>
            <a:r>
              <a:rPr sz="1100" spc="-1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Indonesia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14400" y="7322819"/>
            <a:ext cx="93662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4.</a:t>
            </a:r>
            <a:r>
              <a:rPr sz="1100" spc="-1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Pakistan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914400" y="7485380"/>
            <a:ext cx="110426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5.</a:t>
            </a:r>
            <a:r>
              <a:rPr sz="1100" spc="-1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Bangladesh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914400" y="7647940"/>
            <a:ext cx="68389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6.</a:t>
            </a:r>
            <a:r>
              <a:rPr sz="1100" spc="-1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Japan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14400" y="7810500"/>
            <a:ext cx="118808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7.</a:t>
            </a:r>
            <a:r>
              <a:rPr sz="1100" spc="-1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Philippines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914400" y="7973059"/>
            <a:ext cx="85153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8.</a:t>
            </a:r>
            <a:r>
              <a:rPr sz="1100" spc="-1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Vietnam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914400" y="8135619"/>
            <a:ext cx="600075" cy="16192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9.</a:t>
            </a:r>
            <a:r>
              <a:rPr sz="1100" spc="-15" dirty="0">
                <a:latin typeface="Courier New"/>
                <a:cs typeface="Courier New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Iran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914400" y="8298180"/>
            <a:ext cx="838835" cy="161925"/>
          </a:xfrm>
          <a:custGeom>
            <a:avLst/>
            <a:gdLst/>
            <a:ahLst/>
            <a:cxnLst/>
            <a:rect l="l" t="t" r="r" b="b"/>
            <a:pathLst>
              <a:path w="838835" h="161925">
                <a:moveTo>
                  <a:pt x="838835" y="0"/>
                </a:moveTo>
                <a:lnTo>
                  <a:pt x="0" y="0"/>
                </a:lnTo>
                <a:lnTo>
                  <a:pt x="0" y="161925"/>
                </a:lnTo>
                <a:lnTo>
                  <a:pt x="838835" y="161925"/>
                </a:lnTo>
                <a:lnTo>
                  <a:pt x="838835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902969" y="8275319"/>
            <a:ext cx="3810635" cy="645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Courier New"/>
                <a:cs typeface="Courier New"/>
              </a:rPr>
              <a:t>10.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Turkey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ts val="1300"/>
              </a:lnSpc>
              <a:spcBef>
                <a:spcPts val="960"/>
              </a:spcBef>
            </a:pPr>
            <a:r>
              <a:rPr sz="1100" i="1" dirty="0">
                <a:solidFill>
                  <a:srgbClr val="3F7F7F"/>
                </a:solidFill>
                <a:latin typeface="Courier New"/>
                <a:cs typeface="Courier New"/>
              </a:rPr>
              <a:t>#</a:t>
            </a:r>
            <a:r>
              <a:rPr sz="1100" i="1" spc="-35" dirty="0">
                <a:solidFill>
                  <a:srgbClr val="3F7F7F"/>
                </a:solidFill>
                <a:latin typeface="Courier New"/>
                <a:cs typeface="Courier New"/>
              </a:rPr>
              <a:t> </a:t>
            </a:r>
            <a:r>
              <a:rPr sz="1100" i="1" dirty="0">
                <a:solidFill>
                  <a:srgbClr val="3F7F7F"/>
                </a:solidFill>
                <a:latin typeface="Courier New"/>
                <a:cs typeface="Courier New"/>
              </a:rPr>
              <a:t>zero</a:t>
            </a:r>
            <a:r>
              <a:rPr sz="1100" i="1" spc="-15" dirty="0">
                <a:solidFill>
                  <a:srgbClr val="3F7F7F"/>
                </a:solidFill>
                <a:latin typeface="Courier New"/>
                <a:cs typeface="Courier New"/>
              </a:rPr>
              <a:t> </a:t>
            </a:r>
            <a:r>
              <a:rPr sz="1100" i="1" dirty="0">
                <a:solidFill>
                  <a:srgbClr val="3F7F7F"/>
                </a:solidFill>
                <a:latin typeface="Courier New"/>
                <a:cs typeface="Courier New"/>
              </a:rPr>
              <a:t>shot</a:t>
            </a:r>
            <a:r>
              <a:rPr sz="1100" i="1" spc="-25" dirty="0">
                <a:solidFill>
                  <a:srgbClr val="3F7F7F"/>
                </a:solidFill>
                <a:latin typeface="Courier New"/>
                <a:cs typeface="Courier New"/>
              </a:rPr>
              <a:t> </a:t>
            </a:r>
            <a:r>
              <a:rPr sz="1100" i="1" spc="-10" dirty="0">
                <a:solidFill>
                  <a:srgbClr val="3F7F7F"/>
                </a:solidFill>
                <a:latin typeface="Courier New"/>
                <a:cs typeface="Courier New"/>
              </a:rPr>
              <a:t>prompting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ts val="1300"/>
              </a:lnSpc>
            </a:pPr>
            <a:r>
              <a:rPr sz="1100" dirty="0">
                <a:solidFill>
                  <a:srgbClr val="1E1B1A"/>
                </a:solidFill>
                <a:latin typeface="Courier New"/>
                <a:cs typeface="Courier New"/>
              </a:rPr>
              <a:t>prompt2=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"can</a:t>
            </a:r>
            <a:r>
              <a:rPr sz="1100" spc="-4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you</a:t>
            </a:r>
            <a:r>
              <a:rPr sz="1100" spc="-35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tell</a:t>
            </a:r>
            <a:r>
              <a:rPr sz="1100" spc="-4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me</a:t>
            </a:r>
            <a:r>
              <a:rPr sz="1100" spc="-35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a</a:t>
            </a:r>
            <a:r>
              <a:rPr sz="1100" spc="-4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capital</a:t>
            </a:r>
            <a:r>
              <a:rPr sz="1100" spc="-25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of</a:t>
            </a:r>
            <a:r>
              <a:rPr sz="1100" spc="-5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india?"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848360" y="1554480"/>
            <a:ext cx="6076315" cy="7423784"/>
          </a:xfrm>
          <a:custGeom>
            <a:avLst/>
            <a:gdLst/>
            <a:ahLst/>
            <a:cxnLst/>
            <a:rect l="l" t="t" r="r" b="b"/>
            <a:pathLst>
              <a:path w="6076315" h="7423784">
                <a:moveTo>
                  <a:pt x="0" y="1904"/>
                </a:moveTo>
                <a:lnTo>
                  <a:pt x="6076315" y="1904"/>
                </a:lnTo>
              </a:path>
              <a:path w="6076315" h="7423784">
                <a:moveTo>
                  <a:pt x="6075045" y="0"/>
                </a:moveTo>
                <a:lnTo>
                  <a:pt x="6075045" y="356235"/>
                </a:lnTo>
              </a:path>
              <a:path w="6076315" h="7423784">
                <a:moveTo>
                  <a:pt x="1905" y="356235"/>
                </a:moveTo>
                <a:lnTo>
                  <a:pt x="1905" y="0"/>
                </a:lnTo>
              </a:path>
              <a:path w="6076315" h="7423784">
                <a:moveTo>
                  <a:pt x="6075045" y="229235"/>
                </a:moveTo>
                <a:lnTo>
                  <a:pt x="6075045" y="645795"/>
                </a:lnTo>
              </a:path>
              <a:path w="6076315" h="7423784">
                <a:moveTo>
                  <a:pt x="1905" y="645795"/>
                </a:moveTo>
                <a:lnTo>
                  <a:pt x="1905" y="229235"/>
                </a:lnTo>
              </a:path>
              <a:path w="6076315" h="7423784">
                <a:moveTo>
                  <a:pt x="6075045" y="518795"/>
                </a:moveTo>
                <a:lnTo>
                  <a:pt x="6075045" y="935354"/>
                </a:lnTo>
              </a:path>
              <a:path w="6076315" h="7423784">
                <a:moveTo>
                  <a:pt x="1905" y="935354"/>
                </a:moveTo>
                <a:lnTo>
                  <a:pt x="1905" y="518795"/>
                </a:lnTo>
              </a:path>
              <a:path w="6076315" h="7423784">
                <a:moveTo>
                  <a:pt x="6075045" y="808354"/>
                </a:moveTo>
                <a:lnTo>
                  <a:pt x="6075045" y="1224915"/>
                </a:lnTo>
              </a:path>
              <a:path w="6076315" h="7423784">
                <a:moveTo>
                  <a:pt x="1905" y="1224915"/>
                </a:moveTo>
                <a:lnTo>
                  <a:pt x="1905" y="808354"/>
                </a:lnTo>
              </a:path>
              <a:path w="6076315" h="7423784">
                <a:moveTo>
                  <a:pt x="6075045" y="1097915"/>
                </a:moveTo>
                <a:lnTo>
                  <a:pt x="6075045" y="2814955"/>
                </a:lnTo>
              </a:path>
              <a:path w="6076315" h="7423784">
                <a:moveTo>
                  <a:pt x="1905" y="2814955"/>
                </a:moveTo>
                <a:lnTo>
                  <a:pt x="1905" y="1097915"/>
                </a:lnTo>
              </a:path>
              <a:path w="6076315" h="7423784">
                <a:moveTo>
                  <a:pt x="6075045" y="2687955"/>
                </a:moveTo>
                <a:lnTo>
                  <a:pt x="6075045" y="3429635"/>
                </a:lnTo>
              </a:path>
              <a:path w="6076315" h="7423784">
                <a:moveTo>
                  <a:pt x="1905" y="3429635"/>
                </a:moveTo>
                <a:lnTo>
                  <a:pt x="1905" y="2687955"/>
                </a:lnTo>
              </a:path>
              <a:path w="6076315" h="7423784">
                <a:moveTo>
                  <a:pt x="6075045" y="3302635"/>
                </a:moveTo>
                <a:lnTo>
                  <a:pt x="6075045" y="3719195"/>
                </a:lnTo>
              </a:path>
              <a:path w="6076315" h="7423784">
                <a:moveTo>
                  <a:pt x="1905" y="3719195"/>
                </a:moveTo>
                <a:lnTo>
                  <a:pt x="1905" y="3302635"/>
                </a:lnTo>
              </a:path>
              <a:path w="6076315" h="7423784">
                <a:moveTo>
                  <a:pt x="6075045" y="3592195"/>
                </a:moveTo>
                <a:lnTo>
                  <a:pt x="6075045" y="4658995"/>
                </a:lnTo>
              </a:path>
              <a:path w="6076315" h="7423784">
                <a:moveTo>
                  <a:pt x="1905" y="4658995"/>
                </a:moveTo>
                <a:lnTo>
                  <a:pt x="1905" y="3592195"/>
                </a:lnTo>
              </a:path>
              <a:path w="6076315" h="7423784">
                <a:moveTo>
                  <a:pt x="6075045" y="4531995"/>
                </a:moveTo>
                <a:lnTo>
                  <a:pt x="6075045" y="7032625"/>
                </a:lnTo>
              </a:path>
              <a:path w="6076315" h="7423784">
                <a:moveTo>
                  <a:pt x="1905" y="7032625"/>
                </a:moveTo>
                <a:lnTo>
                  <a:pt x="1905" y="4531995"/>
                </a:lnTo>
              </a:path>
              <a:path w="6076315" h="7423784">
                <a:moveTo>
                  <a:pt x="6075045" y="6905625"/>
                </a:moveTo>
                <a:lnTo>
                  <a:pt x="6075045" y="7423785"/>
                </a:lnTo>
              </a:path>
              <a:path w="6076315" h="7423784">
                <a:moveTo>
                  <a:pt x="6076315" y="7422515"/>
                </a:moveTo>
                <a:lnTo>
                  <a:pt x="0" y="7422515"/>
                </a:lnTo>
              </a:path>
              <a:path w="6076315" h="7423784">
                <a:moveTo>
                  <a:pt x="1905" y="7423785"/>
                </a:moveTo>
                <a:lnTo>
                  <a:pt x="1905" y="6905625"/>
                </a:lnTo>
              </a:path>
              <a:path w="6076315" h="7423784">
                <a:moveTo>
                  <a:pt x="0" y="1904"/>
                </a:moveTo>
                <a:lnTo>
                  <a:pt x="6076315" y="1904"/>
                </a:lnTo>
              </a:path>
              <a:path w="6076315" h="7423784">
                <a:moveTo>
                  <a:pt x="6075045" y="0"/>
                </a:moveTo>
                <a:lnTo>
                  <a:pt x="6075045" y="356235"/>
                </a:lnTo>
              </a:path>
              <a:path w="6076315" h="7423784">
                <a:moveTo>
                  <a:pt x="1905" y="356235"/>
                </a:moveTo>
                <a:lnTo>
                  <a:pt x="1905" y="0"/>
                </a:lnTo>
              </a:path>
              <a:path w="6076315" h="7423784">
                <a:moveTo>
                  <a:pt x="6075045" y="229235"/>
                </a:moveTo>
                <a:lnTo>
                  <a:pt x="6075045" y="645795"/>
                </a:lnTo>
              </a:path>
              <a:path w="6076315" h="7423784">
                <a:moveTo>
                  <a:pt x="1905" y="645795"/>
                </a:moveTo>
                <a:lnTo>
                  <a:pt x="1905" y="229235"/>
                </a:lnTo>
              </a:path>
              <a:path w="6076315" h="7423784">
                <a:moveTo>
                  <a:pt x="6075045" y="518795"/>
                </a:moveTo>
                <a:lnTo>
                  <a:pt x="6075045" y="935354"/>
                </a:lnTo>
              </a:path>
              <a:path w="6076315" h="7423784">
                <a:moveTo>
                  <a:pt x="1905" y="935354"/>
                </a:moveTo>
                <a:lnTo>
                  <a:pt x="1905" y="518795"/>
                </a:lnTo>
              </a:path>
              <a:path w="6076315" h="7423784">
                <a:moveTo>
                  <a:pt x="6075045" y="808354"/>
                </a:moveTo>
                <a:lnTo>
                  <a:pt x="6075045" y="1224915"/>
                </a:lnTo>
              </a:path>
              <a:path w="6076315" h="7423784">
                <a:moveTo>
                  <a:pt x="1905" y="1224915"/>
                </a:moveTo>
                <a:lnTo>
                  <a:pt x="1905" y="808354"/>
                </a:lnTo>
              </a:path>
              <a:path w="6076315" h="7423784">
                <a:moveTo>
                  <a:pt x="6075045" y="1097915"/>
                </a:moveTo>
                <a:lnTo>
                  <a:pt x="6075045" y="2814955"/>
                </a:lnTo>
              </a:path>
              <a:path w="6076315" h="7423784">
                <a:moveTo>
                  <a:pt x="1905" y="2814955"/>
                </a:moveTo>
                <a:lnTo>
                  <a:pt x="1905" y="1097915"/>
                </a:lnTo>
              </a:path>
              <a:path w="6076315" h="7423784">
                <a:moveTo>
                  <a:pt x="6075045" y="2687955"/>
                </a:moveTo>
                <a:lnTo>
                  <a:pt x="6075045" y="3429635"/>
                </a:lnTo>
              </a:path>
              <a:path w="6076315" h="7423784">
                <a:moveTo>
                  <a:pt x="1905" y="3429635"/>
                </a:moveTo>
                <a:lnTo>
                  <a:pt x="1905" y="2687955"/>
                </a:lnTo>
              </a:path>
              <a:path w="6076315" h="7423784">
                <a:moveTo>
                  <a:pt x="6075045" y="3302635"/>
                </a:moveTo>
                <a:lnTo>
                  <a:pt x="6075045" y="3719195"/>
                </a:lnTo>
              </a:path>
              <a:path w="6076315" h="7423784">
                <a:moveTo>
                  <a:pt x="1905" y="3719195"/>
                </a:moveTo>
                <a:lnTo>
                  <a:pt x="1905" y="3302635"/>
                </a:lnTo>
              </a:path>
              <a:path w="6076315" h="7423784">
                <a:moveTo>
                  <a:pt x="6075045" y="3592195"/>
                </a:moveTo>
                <a:lnTo>
                  <a:pt x="6075045" y="4658995"/>
                </a:lnTo>
              </a:path>
              <a:path w="6076315" h="7423784">
                <a:moveTo>
                  <a:pt x="1905" y="4658995"/>
                </a:moveTo>
                <a:lnTo>
                  <a:pt x="1905" y="3592195"/>
                </a:lnTo>
              </a:path>
              <a:path w="6076315" h="7423784">
                <a:moveTo>
                  <a:pt x="6075045" y="4531995"/>
                </a:moveTo>
                <a:lnTo>
                  <a:pt x="6075045" y="7032625"/>
                </a:lnTo>
              </a:path>
              <a:path w="6076315" h="7423784">
                <a:moveTo>
                  <a:pt x="1905" y="7032625"/>
                </a:moveTo>
                <a:lnTo>
                  <a:pt x="1905" y="4531995"/>
                </a:lnTo>
              </a:path>
              <a:path w="6076315" h="7423784">
                <a:moveTo>
                  <a:pt x="6075045" y="6905625"/>
                </a:moveTo>
                <a:lnTo>
                  <a:pt x="6075045" y="7423785"/>
                </a:lnTo>
              </a:path>
              <a:path w="6076315" h="7423784">
                <a:moveTo>
                  <a:pt x="6076315" y="7422515"/>
                </a:moveTo>
                <a:lnTo>
                  <a:pt x="0" y="7422515"/>
                </a:lnTo>
              </a:path>
              <a:path w="6076315" h="7423784">
                <a:moveTo>
                  <a:pt x="1905" y="7423785"/>
                </a:moveTo>
                <a:lnTo>
                  <a:pt x="1905" y="6905625"/>
                </a:lnTo>
              </a:path>
            </a:pathLst>
          </a:custGeom>
          <a:ln w="3175">
            <a:solidFill>
              <a:srgbClr val="E2E2E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47725" y="913764"/>
            <a:ext cx="6076950" cy="4563110"/>
          </a:xfrm>
          <a:custGeom>
            <a:avLst/>
            <a:gdLst/>
            <a:ahLst/>
            <a:cxnLst/>
            <a:rect l="l" t="t" r="r" b="b"/>
            <a:pathLst>
              <a:path w="6076950" h="4563110">
                <a:moveTo>
                  <a:pt x="6076950" y="0"/>
                </a:moveTo>
                <a:lnTo>
                  <a:pt x="0" y="0"/>
                </a:lnTo>
                <a:lnTo>
                  <a:pt x="0" y="229235"/>
                </a:lnTo>
                <a:lnTo>
                  <a:pt x="0" y="229870"/>
                </a:lnTo>
                <a:lnTo>
                  <a:pt x="0" y="4563110"/>
                </a:lnTo>
                <a:lnTo>
                  <a:pt x="6076950" y="4563110"/>
                </a:lnTo>
                <a:lnTo>
                  <a:pt x="6076950" y="229235"/>
                </a:lnTo>
                <a:lnTo>
                  <a:pt x="6076950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02969" y="958850"/>
            <a:ext cx="263144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client.predict(prompt2).strip()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4400" y="1271269"/>
            <a:ext cx="3027045" cy="16192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'The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capital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of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India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is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New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Delhi.'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2969" y="1537969"/>
            <a:ext cx="1958339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client.predict(prompt2)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4400" y="1850389"/>
            <a:ext cx="3363595" cy="16192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'\n\nNew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Delhi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is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capital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of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India.'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02969" y="2117090"/>
            <a:ext cx="254762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client.predict(prompt).strip()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14400" y="2429510"/>
            <a:ext cx="555180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'There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are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total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of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48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countries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Asia.\n\nTop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10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countries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in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14400" y="2592070"/>
            <a:ext cx="563562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Asia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(based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on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population):\n\n1.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China\n2.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India\n3.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Indonesia\n4.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14400" y="2754629"/>
            <a:ext cx="547941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Pakistan\n5.</a:t>
            </a:r>
            <a:r>
              <a:rPr sz="1100" spc="-11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Bangladesh\n6.</a:t>
            </a:r>
            <a:r>
              <a:rPr sz="1100" spc="-11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Japan\n7.</a:t>
            </a:r>
            <a:r>
              <a:rPr sz="1100" spc="-114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Philippines\n8.</a:t>
            </a:r>
            <a:r>
              <a:rPr sz="1100" spc="-12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Vietnam\n9.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14400" y="2917189"/>
            <a:ext cx="1440815" cy="16192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Iran\n10.</a:t>
            </a:r>
            <a:r>
              <a:rPr sz="1100" spc="-8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Turkey'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02969" y="3183890"/>
            <a:ext cx="339090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1E1B1A"/>
                </a:solidFill>
                <a:latin typeface="Courier New"/>
                <a:cs typeface="Courier New"/>
              </a:rPr>
              <a:t>prompt3=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"what</a:t>
            </a:r>
            <a:r>
              <a:rPr sz="1100" spc="-65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exactly</a:t>
            </a:r>
            <a:r>
              <a:rPr sz="1100" spc="-5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tokens</a:t>
            </a:r>
            <a:r>
              <a:rPr sz="1100" spc="-5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,</a:t>
            </a:r>
            <a:r>
              <a:rPr sz="1100" spc="-7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vector</a:t>
            </a:r>
            <a:r>
              <a:rPr sz="1100" spc="-5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spc="-25" dirty="0">
                <a:solidFill>
                  <a:srgbClr val="007F00"/>
                </a:solidFill>
                <a:latin typeface="Courier New"/>
                <a:cs typeface="Courier New"/>
              </a:rPr>
              <a:t>?"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client.predict(prompt3).strip()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14400" y="3785870"/>
            <a:ext cx="5720080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'Tokens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are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digital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assets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that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represent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unit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of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value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or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utility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14400" y="3948429"/>
            <a:ext cx="580453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on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blockchain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or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cryptocurrency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network.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They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can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be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used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as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form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14400" y="4110990"/>
            <a:ext cx="5887720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of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currency,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for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access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to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certain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services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or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features,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or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as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means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14400" y="4273550"/>
            <a:ext cx="5720080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of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ownership</a:t>
            </a:r>
            <a:r>
              <a:rPr sz="1100" spc="-2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project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or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platform.\n\nVectors,</a:t>
            </a:r>
            <a:r>
              <a:rPr sz="1100" spc="-2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context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of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14400" y="4436109"/>
            <a:ext cx="538289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computer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graphics,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are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graphical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representations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of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mathematical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14400" y="4598670"/>
            <a:ext cx="563562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concepts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that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are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used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to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define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manipulate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images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objects.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14400" y="4761229"/>
            <a:ext cx="556450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They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are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composed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of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points,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lines,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curves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that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are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defined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by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14400" y="4923790"/>
            <a:ext cx="5887720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mathematical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equations,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rather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than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pixels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like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raster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images.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Vectors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14400" y="5086350"/>
            <a:ext cx="547941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are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commonly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used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graphic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design,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animation,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other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digital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14400" y="5248909"/>
            <a:ext cx="1693545" cy="16192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media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applications.'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02969" y="5765800"/>
            <a:ext cx="240474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latin typeface="Arial"/>
                <a:cs typeface="Arial"/>
              </a:rPr>
              <a:t>Prompt</a:t>
            </a:r>
            <a:r>
              <a:rPr sz="2200" spc="75" dirty="0">
                <a:latin typeface="Arial"/>
                <a:cs typeface="Arial"/>
              </a:rPr>
              <a:t> </a:t>
            </a:r>
            <a:r>
              <a:rPr sz="2200" spc="-10" dirty="0">
                <a:latin typeface="Arial"/>
                <a:cs typeface="Arial"/>
              </a:rPr>
              <a:t>Templates:</a:t>
            </a:r>
            <a:endParaRPr sz="22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914400" y="8120380"/>
            <a:ext cx="3027045" cy="16192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'The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capital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of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India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is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New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Delhi.'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50264" y="6119495"/>
            <a:ext cx="6073140" cy="2806700"/>
          </a:xfrm>
          <a:prstGeom prst="rect">
            <a:avLst/>
          </a:prstGeom>
          <a:solidFill>
            <a:srgbClr val="F4F4F4"/>
          </a:solidFill>
          <a:ln w="3175">
            <a:solidFill>
              <a:srgbClr val="E2E2E2"/>
            </a:solidFill>
          </a:ln>
        </p:spPr>
        <p:txBody>
          <a:bodyPr vert="horz" wrap="square" lIns="0" tIns="55244" rIns="0" bIns="0" rtlCol="0">
            <a:spAutoFit/>
          </a:bodyPr>
          <a:lstStyle/>
          <a:p>
            <a:pPr marL="64769">
              <a:lnSpc>
                <a:spcPct val="100000"/>
              </a:lnSpc>
              <a:spcBef>
                <a:spcPts val="434"/>
              </a:spcBef>
            </a:pPr>
            <a:r>
              <a:rPr sz="1100" dirty="0">
                <a:solidFill>
                  <a:srgbClr val="7827A0"/>
                </a:solidFill>
                <a:latin typeface="Courier New"/>
                <a:cs typeface="Courier New"/>
              </a:rPr>
              <a:t>from</a:t>
            </a:r>
            <a:r>
              <a:rPr sz="1100" spc="-85" dirty="0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1E1B1A"/>
                </a:solidFill>
                <a:latin typeface="Courier New"/>
                <a:cs typeface="Courier New"/>
              </a:rPr>
              <a:t>langchain.prompts</a:t>
            </a:r>
            <a:r>
              <a:rPr sz="1100" spc="-70" dirty="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7827A0"/>
                </a:solidFill>
                <a:latin typeface="Courier New"/>
                <a:cs typeface="Courier New"/>
              </a:rPr>
              <a:t>import</a:t>
            </a:r>
            <a:r>
              <a:rPr sz="1100" spc="-75" dirty="0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PromptTemplate</a:t>
            </a:r>
            <a:endParaRPr sz="1100">
              <a:latin typeface="Courier New"/>
              <a:cs typeface="Courier New"/>
            </a:endParaRPr>
          </a:p>
          <a:p>
            <a:pPr marL="401320" marR="2972435" indent="-336550">
              <a:lnSpc>
                <a:spcPts val="1280"/>
              </a:lnSpc>
              <a:spcBef>
                <a:spcPts val="1035"/>
              </a:spcBef>
            </a:pP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prompt_template_name=PromptTemplate( input_variables=[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"country"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],</a:t>
            </a:r>
            <a:endParaRPr sz="1100">
              <a:latin typeface="Courier New"/>
              <a:cs typeface="Courier New"/>
            </a:endParaRPr>
          </a:p>
          <a:p>
            <a:pPr marL="401320">
              <a:lnSpc>
                <a:spcPts val="1225"/>
              </a:lnSpc>
            </a:pPr>
            <a:r>
              <a:rPr sz="1100" dirty="0">
                <a:solidFill>
                  <a:srgbClr val="1E1B1A"/>
                </a:solidFill>
                <a:latin typeface="Courier New"/>
                <a:cs typeface="Courier New"/>
              </a:rPr>
              <a:t>template=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"can</a:t>
            </a:r>
            <a:r>
              <a:rPr sz="1100" spc="-45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you</a:t>
            </a:r>
            <a:r>
              <a:rPr sz="1100" spc="-4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tell</a:t>
            </a:r>
            <a:r>
              <a:rPr sz="1100" spc="-45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me</a:t>
            </a:r>
            <a:r>
              <a:rPr sz="1100" spc="-4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the</a:t>
            </a:r>
            <a:r>
              <a:rPr sz="1100" spc="-45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capital</a:t>
            </a:r>
            <a:r>
              <a:rPr sz="1100" spc="-3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of</a:t>
            </a:r>
            <a:r>
              <a:rPr sz="1100" spc="-4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3CADE8"/>
                </a:solidFill>
                <a:latin typeface="Courier New"/>
                <a:cs typeface="Courier New"/>
              </a:rPr>
              <a:t>{country}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?"</a:t>
            </a:r>
            <a:endParaRPr sz="1100">
              <a:latin typeface="Courier New"/>
              <a:cs typeface="Courier New"/>
            </a:endParaRPr>
          </a:p>
          <a:p>
            <a:pPr marL="64769">
              <a:lnSpc>
                <a:spcPts val="1300"/>
              </a:lnSpc>
            </a:pPr>
            <a:r>
              <a:rPr sz="1100" spc="-50" dirty="0">
                <a:solidFill>
                  <a:srgbClr val="1E1B1A"/>
                </a:solidFill>
                <a:latin typeface="Courier New"/>
                <a:cs typeface="Courier New"/>
              </a:rPr>
              <a:t>)</a:t>
            </a:r>
            <a:endParaRPr sz="1100">
              <a:latin typeface="Courier New"/>
              <a:cs typeface="Courier New"/>
            </a:endParaRPr>
          </a:p>
          <a:p>
            <a:pPr marL="64769" marR="1623060" algn="just">
              <a:lnSpc>
                <a:spcPct val="172700"/>
              </a:lnSpc>
            </a:pP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propmt1=prompt_template_name.</a:t>
            </a:r>
            <a:r>
              <a:rPr sz="1100" spc="-10" dirty="0">
                <a:solidFill>
                  <a:srgbClr val="A95C00"/>
                </a:solidFill>
                <a:latin typeface="Courier New"/>
                <a:cs typeface="Courier New"/>
              </a:rPr>
              <a:t>format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(country=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"india"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) propmt2=prompt_template_name.</a:t>
            </a:r>
            <a:r>
              <a:rPr sz="1100" spc="-10" dirty="0">
                <a:solidFill>
                  <a:srgbClr val="A95C00"/>
                </a:solidFill>
                <a:latin typeface="Courier New"/>
                <a:cs typeface="Courier New"/>
              </a:rPr>
              <a:t>format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(country=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"china"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) client.predict(propmt1).strip()</a:t>
            </a:r>
            <a:endParaRPr sz="11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11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745"/>
              </a:spcBef>
            </a:pPr>
            <a:endParaRPr sz="1100">
              <a:latin typeface="Courier New"/>
              <a:cs typeface="Courier New"/>
            </a:endParaRPr>
          </a:p>
          <a:p>
            <a:pPr marL="64769">
              <a:lnSpc>
                <a:spcPct val="100000"/>
              </a:lnSpc>
              <a:spcBef>
                <a:spcPts val="5"/>
              </a:spcBef>
            </a:pP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client.predict(propmt2).strip()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914400" y="8699500"/>
            <a:ext cx="2870835" cy="16192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'The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capital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of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China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is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Beijing.'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848360" y="914400"/>
            <a:ext cx="6076315" cy="4562475"/>
          </a:xfrm>
          <a:custGeom>
            <a:avLst/>
            <a:gdLst/>
            <a:ahLst/>
            <a:cxnLst/>
            <a:rect l="l" t="t" r="r" b="b"/>
            <a:pathLst>
              <a:path w="6076315" h="4562475">
                <a:moveTo>
                  <a:pt x="0" y="1904"/>
                </a:moveTo>
                <a:lnTo>
                  <a:pt x="6076315" y="1904"/>
                </a:lnTo>
              </a:path>
              <a:path w="6076315" h="4562475">
                <a:moveTo>
                  <a:pt x="6075045" y="0"/>
                </a:moveTo>
                <a:lnTo>
                  <a:pt x="6075045" y="356234"/>
                </a:lnTo>
              </a:path>
              <a:path w="6076315" h="4562475">
                <a:moveTo>
                  <a:pt x="1905" y="356234"/>
                </a:moveTo>
                <a:lnTo>
                  <a:pt x="1905" y="0"/>
                </a:lnTo>
              </a:path>
              <a:path w="6076315" h="4562475">
                <a:moveTo>
                  <a:pt x="6075045" y="229234"/>
                </a:moveTo>
                <a:lnTo>
                  <a:pt x="6075045" y="645795"/>
                </a:lnTo>
              </a:path>
              <a:path w="6076315" h="4562475">
                <a:moveTo>
                  <a:pt x="1905" y="645795"/>
                </a:moveTo>
                <a:lnTo>
                  <a:pt x="1905" y="229234"/>
                </a:lnTo>
              </a:path>
              <a:path w="6076315" h="4562475">
                <a:moveTo>
                  <a:pt x="6075045" y="518795"/>
                </a:moveTo>
                <a:lnTo>
                  <a:pt x="6075045" y="935354"/>
                </a:lnTo>
              </a:path>
              <a:path w="6076315" h="4562475">
                <a:moveTo>
                  <a:pt x="1905" y="935354"/>
                </a:moveTo>
                <a:lnTo>
                  <a:pt x="1905" y="518795"/>
                </a:lnTo>
              </a:path>
              <a:path w="6076315" h="4562475">
                <a:moveTo>
                  <a:pt x="6075045" y="808354"/>
                </a:moveTo>
                <a:lnTo>
                  <a:pt x="6075045" y="1224915"/>
                </a:lnTo>
              </a:path>
              <a:path w="6076315" h="4562475">
                <a:moveTo>
                  <a:pt x="1905" y="1224915"/>
                </a:moveTo>
                <a:lnTo>
                  <a:pt x="1905" y="808354"/>
                </a:lnTo>
              </a:path>
              <a:path w="6076315" h="4562475">
                <a:moveTo>
                  <a:pt x="6075045" y="1097915"/>
                </a:moveTo>
                <a:lnTo>
                  <a:pt x="6075045" y="1514475"/>
                </a:lnTo>
              </a:path>
              <a:path w="6076315" h="4562475">
                <a:moveTo>
                  <a:pt x="1905" y="1514475"/>
                </a:moveTo>
                <a:lnTo>
                  <a:pt x="1905" y="1097915"/>
                </a:lnTo>
              </a:path>
              <a:path w="6076315" h="4562475">
                <a:moveTo>
                  <a:pt x="6075045" y="1387475"/>
                </a:moveTo>
                <a:lnTo>
                  <a:pt x="6075045" y="2291715"/>
                </a:lnTo>
              </a:path>
              <a:path w="6076315" h="4562475">
                <a:moveTo>
                  <a:pt x="1905" y="2291715"/>
                </a:moveTo>
                <a:lnTo>
                  <a:pt x="1905" y="1387475"/>
                </a:lnTo>
              </a:path>
              <a:path w="6076315" h="4562475">
                <a:moveTo>
                  <a:pt x="6075045" y="2164715"/>
                </a:moveTo>
                <a:lnTo>
                  <a:pt x="6075045" y="2581275"/>
                </a:lnTo>
              </a:path>
              <a:path w="6076315" h="4562475">
                <a:moveTo>
                  <a:pt x="1905" y="2581275"/>
                </a:moveTo>
                <a:lnTo>
                  <a:pt x="1905" y="2164715"/>
                </a:lnTo>
              </a:path>
              <a:path w="6076315" h="4562475">
                <a:moveTo>
                  <a:pt x="6075045" y="2454275"/>
                </a:moveTo>
                <a:lnTo>
                  <a:pt x="6075045" y="2870835"/>
                </a:lnTo>
              </a:path>
              <a:path w="6076315" h="4562475">
                <a:moveTo>
                  <a:pt x="1905" y="2870835"/>
                </a:moveTo>
                <a:lnTo>
                  <a:pt x="1905" y="2454275"/>
                </a:lnTo>
              </a:path>
              <a:path w="6076315" h="4562475">
                <a:moveTo>
                  <a:pt x="6075045" y="2743835"/>
                </a:moveTo>
                <a:lnTo>
                  <a:pt x="6075045" y="4562475"/>
                </a:lnTo>
              </a:path>
              <a:path w="6076315" h="4562475">
                <a:moveTo>
                  <a:pt x="6076315" y="4561205"/>
                </a:moveTo>
                <a:lnTo>
                  <a:pt x="0" y="4561205"/>
                </a:lnTo>
              </a:path>
              <a:path w="6076315" h="4562475">
                <a:moveTo>
                  <a:pt x="1905" y="4562475"/>
                </a:moveTo>
                <a:lnTo>
                  <a:pt x="1905" y="2743835"/>
                </a:lnTo>
              </a:path>
              <a:path w="6076315" h="4562475">
                <a:moveTo>
                  <a:pt x="0" y="1904"/>
                </a:moveTo>
                <a:lnTo>
                  <a:pt x="6076315" y="1904"/>
                </a:lnTo>
              </a:path>
              <a:path w="6076315" h="4562475">
                <a:moveTo>
                  <a:pt x="6075045" y="0"/>
                </a:moveTo>
                <a:lnTo>
                  <a:pt x="6075045" y="356234"/>
                </a:lnTo>
              </a:path>
              <a:path w="6076315" h="4562475">
                <a:moveTo>
                  <a:pt x="1905" y="356234"/>
                </a:moveTo>
                <a:lnTo>
                  <a:pt x="1905" y="0"/>
                </a:lnTo>
              </a:path>
              <a:path w="6076315" h="4562475">
                <a:moveTo>
                  <a:pt x="6075045" y="229234"/>
                </a:moveTo>
                <a:lnTo>
                  <a:pt x="6075045" y="645795"/>
                </a:lnTo>
              </a:path>
              <a:path w="6076315" h="4562475">
                <a:moveTo>
                  <a:pt x="1905" y="645795"/>
                </a:moveTo>
                <a:lnTo>
                  <a:pt x="1905" y="229234"/>
                </a:lnTo>
              </a:path>
              <a:path w="6076315" h="4562475">
                <a:moveTo>
                  <a:pt x="6075045" y="518795"/>
                </a:moveTo>
                <a:lnTo>
                  <a:pt x="6075045" y="935354"/>
                </a:lnTo>
              </a:path>
              <a:path w="6076315" h="4562475">
                <a:moveTo>
                  <a:pt x="1905" y="935354"/>
                </a:moveTo>
                <a:lnTo>
                  <a:pt x="1905" y="518795"/>
                </a:lnTo>
              </a:path>
              <a:path w="6076315" h="4562475">
                <a:moveTo>
                  <a:pt x="6075045" y="808354"/>
                </a:moveTo>
                <a:lnTo>
                  <a:pt x="6075045" y="1224915"/>
                </a:lnTo>
              </a:path>
              <a:path w="6076315" h="4562475">
                <a:moveTo>
                  <a:pt x="1905" y="1224915"/>
                </a:moveTo>
                <a:lnTo>
                  <a:pt x="1905" y="808354"/>
                </a:lnTo>
              </a:path>
              <a:path w="6076315" h="4562475">
                <a:moveTo>
                  <a:pt x="6075045" y="1097915"/>
                </a:moveTo>
                <a:lnTo>
                  <a:pt x="6075045" y="1514475"/>
                </a:lnTo>
              </a:path>
              <a:path w="6076315" h="4562475">
                <a:moveTo>
                  <a:pt x="1905" y="1514475"/>
                </a:moveTo>
                <a:lnTo>
                  <a:pt x="1905" y="1097915"/>
                </a:lnTo>
              </a:path>
              <a:path w="6076315" h="4562475">
                <a:moveTo>
                  <a:pt x="6075045" y="1387475"/>
                </a:moveTo>
                <a:lnTo>
                  <a:pt x="6075045" y="2291715"/>
                </a:lnTo>
              </a:path>
              <a:path w="6076315" h="4562475">
                <a:moveTo>
                  <a:pt x="1905" y="2291715"/>
                </a:moveTo>
                <a:lnTo>
                  <a:pt x="1905" y="1387475"/>
                </a:lnTo>
              </a:path>
              <a:path w="6076315" h="4562475">
                <a:moveTo>
                  <a:pt x="6075045" y="2164715"/>
                </a:moveTo>
                <a:lnTo>
                  <a:pt x="6075045" y="2581275"/>
                </a:lnTo>
              </a:path>
              <a:path w="6076315" h="4562475">
                <a:moveTo>
                  <a:pt x="1905" y="2581275"/>
                </a:moveTo>
                <a:lnTo>
                  <a:pt x="1905" y="2164715"/>
                </a:lnTo>
              </a:path>
              <a:path w="6076315" h="4562475">
                <a:moveTo>
                  <a:pt x="6075045" y="2454275"/>
                </a:moveTo>
                <a:lnTo>
                  <a:pt x="6075045" y="2870835"/>
                </a:lnTo>
              </a:path>
              <a:path w="6076315" h="4562475">
                <a:moveTo>
                  <a:pt x="1905" y="2870835"/>
                </a:moveTo>
                <a:lnTo>
                  <a:pt x="1905" y="2454275"/>
                </a:lnTo>
              </a:path>
              <a:path w="6076315" h="4562475">
                <a:moveTo>
                  <a:pt x="6075045" y="2743835"/>
                </a:moveTo>
                <a:lnTo>
                  <a:pt x="6075045" y="4562475"/>
                </a:lnTo>
              </a:path>
              <a:path w="6076315" h="4562475">
                <a:moveTo>
                  <a:pt x="6076315" y="4561205"/>
                </a:moveTo>
                <a:lnTo>
                  <a:pt x="0" y="4561205"/>
                </a:lnTo>
              </a:path>
              <a:path w="6076315" h="4562475">
                <a:moveTo>
                  <a:pt x="1905" y="4562475"/>
                </a:moveTo>
                <a:lnTo>
                  <a:pt x="1905" y="2743835"/>
                </a:lnTo>
              </a:path>
            </a:pathLst>
          </a:custGeom>
          <a:ln w="3175">
            <a:solidFill>
              <a:srgbClr val="E2E2E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47725" y="2880994"/>
            <a:ext cx="6076950" cy="2231390"/>
          </a:xfrm>
          <a:custGeom>
            <a:avLst/>
            <a:gdLst/>
            <a:ahLst/>
            <a:cxnLst/>
            <a:rect l="l" t="t" r="r" b="b"/>
            <a:pathLst>
              <a:path w="6076950" h="2231390">
                <a:moveTo>
                  <a:pt x="6076950" y="0"/>
                </a:moveTo>
                <a:lnTo>
                  <a:pt x="0" y="0"/>
                </a:lnTo>
                <a:lnTo>
                  <a:pt x="0" y="229235"/>
                </a:lnTo>
                <a:lnTo>
                  <a:pt x="0" y="229870"/>
                </a:lnTo>
                <a:lnTo>
                  <a:pt x="0" y="2231390"/>
                </a:lnTo>
                <a:lnTo>
                  <a:pt x="6076950" y="2231390"/>
                </a:lnTo>
                <a:lnTo>
                  <a:pt x="6076950" y="229235"/>
                </a:lnTo>
                <a:lnTo>
                  <a:pt x="6076950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50264" y="916305"/>
            <a:ext cx="6073140" cy="1323340"/>
          </a:xfrm>
          <a:prstGeom prst="rect">
            <a:avLst/>
          </a:prstGeom>
          <a:solidFill>
            <a:srgbClr val="F4F4F4"/>
          </a:solidFill>
          <a:ln w="3175">
            <a:solidFill>
              <a:srgbClr val="E2E2E2"/>
            </a:solidFill>
          </a:ln>
        </p:spPr>
        <p:txBody>
          <a:bodyPr vert="horz" wrap="square" lIns="0" tIns="64769" rIns="0" bIns="0" rtlCol="0">
            <a:spAutoFit/>
          </a:bodyPr>
          <a:lstStyle/>
          <a:p>
            <a:pPr marL="64769" marR="111760">
              <a:lnSpc>
                <a:spcPts val="1280"/>
              </a:lnSpc>
              <a:spcBef>
                <a:spcPts val="509"/>
              </a:spcBef>
            </a:pP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prompt=PromptTemplate.from_template(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"what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is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a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good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name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for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a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 compnay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that</a:t>
            </a:r>
            <a:r>
              <a:rPr sz="1100" spc="-3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makes</a:t>
            </a:r>
            <a:r>
              <a:rPr sz="1100" spc="-2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a</a:t>
            </a:r>
            <a:r>
              <a:rPr sz="1100" spc="-25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3CADE8"/>
                </a:solidFill>
                <a:latin typeface="Courier New"/>
                <a:cs typeface="Courier New"/>
              </a:rPr>
              <a:t>{product}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"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)</a:t>
            </a:r>
            <a:endParaRPr sz="1100">
              <a:latin typeface="Courier New"/>
              <a:cs typeface="Courier New"/>
            </a:endParaRPr>
          </a:p>
          <a:p>
            <a:pPr marL="64769" marR="2804160">
              <a:lnSpc>
                <a:spcPts val="2280"/>
              </a:lnSpc>
              <a:spcBef>
                <a:spcPts val="200"/>
              </a:spcBef>
            </a:pP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prompt3=prompt.</a:t>
            </a:r>
            <a:r>
              <a:rPr sz="1100" spc="-10" dirty="0">
                <a:solidFill>
                  <a:srgbClr val="A95C00"/>
                </a:solidFill>
                <a:latin typeface="Courier New"/>
                <a:cs typeface="Courier New"/>
              </a:rPr>
              <a:t>format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(product=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"toys"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) </a:t>
            </a:r>
            <a:r>
              <a:rPr sz="1100" spc="-10" dirty="0">
                <a:solidFill>
                  <a:srgbClr val="A95C00"/>
                </a:solidFill>
                <a:latin typeface="Courier New"/>
                <a:cs typeface="Courier New"/>
              </a:rPr>
              <a:t>print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(client.predict(prompt3).strip())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4400" y="2012950"/>
            <a:ext cx="1946275" cy="16192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"Playful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Creations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Co."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2969" y="2529840"/>
            <a:ext cx="89471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10" dirty="0">
                <a:latin typeface="Arial"/>
                <a:cs typeface="Arial"/>
              </a:rPr>
              <a:t>Agents</a:t>
            </a:r>
            <a:endParaRPr sz="2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4400" y="3528059"/>
            <a:ext cx="580453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"The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recent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cricket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world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cup,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held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2019,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was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won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by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England.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They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14400" y="3690516"/>
            <a:ext cx="588835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defeated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New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Zealand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thrilling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final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match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that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went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into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super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14400" y="3853077"/>
            <a:ext cx="529907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over.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This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was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England's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first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ever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cricket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world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cup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victory."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14400" y="4721859"/>
            <a:ext cx="5803265" cy="324485"/>
          </a:xfrm>
          <a:custGeom>
            <a:avLst/>
            <a:gdLst/>
            <a:ahLst/>
            <a:cxnLst/>
            <a:rect l="l" t="t" r="r" b="b"/>
            <a:pathLst>
              <a:path w="5803265" h="324485">
                <a:moveTo>
                  <a:pt x="418465" y="162560"/>
                </a:moveTo>
                <a:lnTo>
                  <a:pt x="0" y="162560"/>
                </a:lnTo>
                <a:lnTo>
                  <a:pt x="0" y="324485"/>
                </a:lnTo>
                <a:lnTo>
                  <a:pt x="418465" y="324485"/>
                </a:lnTo>
                <a:lnTo>
                  <a:pt x="418465" y="162560"/>
                </a:lnTo>
                <a:close/>
              </a:path>
              <a:path w="5803265" h="324485">
                <a:moveTo>
                  <a:pt x="5803265" y="0"/>
                </a:moveTo>
                <a:lnTo>
                  <a:pt x="0" y="0"/>
                </a:lnTo>
                <a:lnTo>
                  <a:pt x="0" y="161925"/>
                </a:lnTo>
                <a:lnTo>
                  <a:pt x="5803265" y="161925"/>
                </a:lnTo>
                <a:lnTo>
                  <a:pt x="5803265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850264" y="2883535"/>
            <a:ext cx="6073140" cy="2227580"/>
          </a:xfrm>
          <a:prstGeom prst="rect">
            <a:avLst/>
          </a:prstGeom>
          <a:ln w="3175">
            <a:solidFill>
              <a:srgbClr val="E2E2E2"/>
            </a:solidFill>
          </a:ln>
        </p:spPr>
        <p:txBody>
          <a:bodyPr vert="horz" wrap="square" lIns="0" tIns="55244" rIns="0" bIns="0" rtlCol="0">
            <a:spAutoFit/>
          </a:bodyPr>
          <a:lstStyle/>
          <a:p>
            <a:pPr marL="64769">
              <a:lnSpc>
                <a:spcPct val="100000"/>
              </a:lnSpc>
              <a:spcBef>
                <a:spcPts val="434"/>
              </a:spcBef>
            </a:pPr>
            <a:r>
              <a:rPr sz="1100" dirty="0">
                <a:solidFill>
                  <a:srgbClr val="1E1B1A"/>
                </a:solidFill>
                <a:latin typeface="Courier New"/>
                <a:cs typeface="Courier New"/>
              </a:rPr>
              <a:t>prompt4=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"can</a:t>
            </a:r>
            <a:r>
              <a:rPr sz="1100" spc="-45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you</a:t>
            </a:r>
            <a:r>
              <a:rPr sz="1100" spc="-45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tell</a:t>
            </a:r>
            <a:r>
              <a:rPr sz="1100" spc="-4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me</a:t>
            </a:r>
            <a:r>
              <a:rPr sz="1100" spc="-45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who</a:t>
            </a:r>
            <a:r>
              <a:rPr sz="1100" spc="-4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won</a:t>
            </a:r>
            <a:r>
              <a:rPr sz="1100" spc="-45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the</a:t>
            </a:r>
            <a:r>
              <a:rPr sz="1100" spc="-4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recent</a:t>
            </a:r>
            <a:r>
              <a:rPr sz="1100" spc="-35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cricket</a:t>
            </a:r>
            <a:r>
              <a:rPr sz="1100" spc="-35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world</a:t>
            </a:r>
            <a:r>
              <a:rPr sz="1100" spc="-4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cup?"</a:t>
            </a:r>
            <a:endParaRPr sz="1100">
              <a:latin typeface="Courier New"/>
              <a:cs typeface="Courier New"/>
            </a:endParaRPr>
          </a:p>
          <a:p>
            <a:pPr marL="64769">
              <a:lnSpc>
                <a:spcPct val="100000"/>
              </a:lnSpc>
              <a:spcBef>
                <a:spcPts val="960"/>
              </a:spcBef>
            </a:pP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client.predict(prompt4).strip()</a:t>
            </a:r>
            <a:endParaRPr sz="11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11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11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100"/>
              </a:spcBef>
            </a:pPr>
            <a:endParaRPr sz="1100">
              <a:latin typeface="Courier New"/>
              <a:cs typeface="Courier New"/>
            </a:endParaRPr>
          </a:p>
          <a:p>
            <a:pPr marL="64769" marR="2047239">
              <a:lnSpc>
                <a:spcPct val="172700"/>
              </a:lnSpc>
            </a:pPr>
            <a:r>
              <a:rPr sz="1100" dirty="0">
                <a:solidFill>
                  <a:srgbClr val="1E1B1A"/>
                </a:solidFill>
                <a:latin typeface="Courier New"/>
                <a:cs typeface="Courier New"/>
              </a:rPr>
              <a:t>prompt5=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"can</a:t>
            </a:r>
            <a:r>
              <a:rPr sz="1100" spc="-45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you</a:t>
            </a:r>
            <a:r>
              <a:rPr sz="1100" spc="-4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tell</a:t>
            </a:r>
            <a:r>
              <a:rPr sz="1100" spc="-4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me</a:t>
            </a:r>
            <a:r>
              <a:rPr sz="1100" spc="-4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current</a:t>
            </a:r>
            <a:r>
              <a:rPr sz="1100" spc="-3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GDP</a:t>
            </a:r>
            <a:r>
              <a:rPr sz="1100" spc="-4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of</a:t>
            </a:r>
            <a:r>
              <a:rPr sz="1100" spc="-4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india?" 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client.predict(prompt5).strip()</a:t>
            </a:r>
            <a:endParaRPr sz="1100">
              <a:latin typeface="Courier New"/>
              <a:cs typeface="Courier New"/>
            </a:endParaRPr>
          </a:p>
          <a:p>
            <a:pPr marL="64769" marR="198120">
              <a:lnSpc>
                <a:spcPts val="1280"/>
              </a:lnSpc>
              <a:spcBef>
                <a:spcPts val="1035"/>
              </a:spcBef>
            </a:pPr>
            <a:r>
              <a:rPr sz="1100" dirty="0">
                <a:latin typeface="Courier New"/>
                <a:cs typeface="Courier New"/>
              </a:rPr>
              <a:t>'As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of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2021,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current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GDP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of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India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is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approximately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$3.05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trillion USD.'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02969" y="5401309"/>
            <a:ext cx="5861050" cy="2311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sz="2200" spc="70" dirty="0">
                <a:latin typeface="Arial"/>
                <a:cs typeface="Arial"/>
              </a:rPr>
              <a:t>F</a:t>
            </a:r>
            <a:r>
              <a:rPr sz="2200" spc="70" dirty="0">
                <a:latin typeface="Arial"/>
                <a:cs typeface="Arial"/>
              </a:rPr>
              <a:t>or</a:t>
            </a:r>
            <a:r>
              <a:rPr sz="2200" spc="-9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extracting</a:t>
            </a:r>
            <a:r>
              <a:rPr sz="2200" spc="-9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real</a:t>
            </a:r>
            <a:r>
              <a:rPr lang="en-HK" sz="2200" spc="-95" dirty="0">
                <a:latin typeface="Arial"/>
                <a:cs typeface="Arial"/>
              </a:rPr>
              <a:t>-</a:t>
            </a:r>
            <a:r>
              <a:rPr sz="2200" spc="60" dirty="0">
                <a:latin typeface="Arial"/>
                <a:cs typeface="Arial"/>
              </a:rPr>
              <a:t>time</a:t>
            </a:r>
            <a:r>
              <a:rPr sz="2200" spc="-85" dirty="0">
                <a:latin typeface="Arial"/>
                <a:cs typeface="Arial"/>
              </a:rPr>
              <a:t> </a:t>
            </a:r>
            <a:r>
              <a:rPr sz="2200" spc="50" dirty="0">
                <a:latin typeface="Arial"/>
                <a:cs typeface="Arial"/>
              </a:rPr>
              <a:t>info</a:t>
            </a:r>
            <a:r>
              <a:rPr sz="2200" spc="-100" dirty="0">
                <a:latin typeface="Arial"/>
                <a:cs typeface="Arial"/>
              </a:rPr>
              <a:t> </a:t>
            </a:r>
            <a:r>
              <a:rPr lang="en-US" sz="2200" spc="50" dirty="0">
                <a:latin typeface="Arial"/>
                <a:cs typeface="Arial"/>
              </a:rPr>
              <a:t>I</a:t>
            </a:r>
            <a:r>
              <a:rPr sz="2200" spc="-8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am</a:t>
            </a:r>
            <a:r>
              <a:rPr sz="2200" spc="-8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going</a:t>
            </a:r>
            <a:r>
              <a:rPr sz="2200" spc="-105" dirty="0">
                <a:latin typeface="Arial"/>
                <a:cs typeface="Arial"/>
              </a:rPr>
              <a:t> </a:t>
            </a:r>
            <a:r>
              <a:rPr sz="2200" spc="90" dirty="0">
                <a:latin typeface="Arial"/>
                <a:cs typeface="Arial"/>
              </a:rPr>
              <a:t>to</a:t>
            </a:r>
            <a:r>
              <a:rPr sz="2200" spc="-85" dirty="0">
                <a:latin typeface="Arial"/>
                <a:cs typeface="Arial"/>
              </a:rPr>
              <a:t> </a:t>
            </a:r>
            <a:r>
              <a:rPr sz="2200" spc="-20" dirty="0">
                <a:latin typeface="Arial"/>
                <a:cs typeface="Arial"/>
              </a:rPr>
              <a:t>user </a:t>
            </a:r>
            <a:r>
              <a:rPr lang="en-HK" sz="2200" spc="-10" dirty="0">
                <a:latin typeface="Arial"/>
                <a:cs typeface="Arial"/>
              </a:rPr>
              <a:t>SERP</a:t>
            </a:r>
            <a:r>
              <a:rPr sz="2200" spc="-140" dirty="0">
                <a:latin typeface="Arial"/>
                <a:cs typeface="Arial"/>
              </a:rPr>
              <a:t> </a:t>
            </a:r>
            <a:r>
              <a:rPr lang="en-HK" sz="2200" spc="-25" dirty="0">
                <a:latin typeface="Arial"/>
                <a:cs typeface="Arial"/>
              </a:rPr>
              <a:t>API</a:t>
            </a:r>
            <a:endParaRPr sz="2200" dirty="0">
              <a:latin typeface="Arial"/>
              <a:cs typeface="Arial"/>
            </a:endParaRPr>
          </a:p>
          <a:p>
            <a:pPr marL="12700" marR="570865">
              <a:lnSpc>
                <a:spcPct val="100000"/>
              </a:lnSpc>
              <a:spcBef>
                <a:spcPts val="2400"/>
              </a:spcBef>
            </a:pPr>
            <a:r>
              <a:rPr sz="2200" dirty="0">
                <a:latin typeface="Arial"/>
                <a:cs typeface="Arial"/>
              </a:rPr>
              <a:t>now</a:t>
            </a:r>
            <a:r>
              <a:rPr sz="2200" spc="-90" dirty="0">
                <a:latin typeface="Arial"/>
                <a:cs typeface="Arial"/>
              </a:rPr>
              <a:t> </a:t>
            </a:r>
            <a:r>
              <a:rPr sz="2200" spc="-10" dirty="0">
                <a:latin typeface="Arial"/>
                <a:cs typeface="Arial"/>
              </a:rPr>
              <a:t>by</a:t>
            </a:r>
            <a:r>
              <a:rPr sz="2200" spc="-9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using</a:t>
            </a:r>
            <a:r>
              <a:rPr sz="2200" spc="-9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this</a:t>
            </a:r>
            <a:r>
              <a:rPr sz="2200" spc="-85" dirty="0">
                <a:latin typeface="Arial"/>
                <a:cs typeface="Arial"/>
              </a:rPr>
              <a:t> </a:t>
            </a:r>
            <a:r>
              <a:rPr lang="en-HK" sz="2200" spc="-20" dirty="0">
                <a:latin typeface="Arial"/>
                <a:cs typeface="Arial"/>
              </a:rPr>
              <a:t>SERP </a:t>
            </a:r>
            <a:r>
              <a:rPr lang="en-HK" sz="2200" spc="-85" dirty="0">
                <a:latin typeface="Arial"/>
                <a:cs typeface="Arial"/>
              </a:rPr>
              <a:t>API, </a:t>
            </a:r>
            <a:r>
              <a:rPr lang="en-US" sz="2200" spc="50" dirty="0">
                <a:latin typeface="Arial"/>
                <a:cs typeface="Arial"/>
              </a:rPr>
              <a:t>I</a:t>
            </a:r>
            <a:r>
              <a:rPr sz="2200" spc="-95" dirty="0">
                <a:latin typeface="Arial"/>
                <a:cs typeface="Arial"/>
              </a:rPr>
              <a:t> </a:t>
            </a:r>
            <a:r>
              <a:rPr sz="2200" spc="120" dirty="0">
                <a:latin typeface="Arial"/>
                <a:cs typeface="Arial"/>
              </a:rPr>
              <a:t>wll</a:t>
            </a:r>
            <a:r>
              <a:rPr sz="2200" spc="-8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call</a:t>
            </a:r>
            <a:r>
              <a:rPr sz="2200" spc="-95" dirty="0">
                <a:latin typeface="Arial"/>
                <a:cs typeface="Arial"/>
              </a:rPr>
              <a:t> </a:t>
            </a:r>
            <a:r>
              <a:rPr sz="2200" spc="35" dirty="0">
                <a:latin typeface="Arial"/>
                <a:cs typeface="Arial"/>
              </a:rPr>
              <a:t>google-</a:t>
            </a:r>
            <a:r>
              <a:rPr sz="2200" spc="-20" dirty="0">
                <a:latin typeface="Arial"/>
                <a:cs typeface="Arial"/>
              </a:rPr>
              <a:t>search</a:t>
            </a:r>
            <a:r>
              <a:rPr lang="en-HK" sz="2200" spc="-20" dirty="0">
                <a:latin typeface="Arial"/>
                <a:cs typeface="Arial"/>
              </a:rPr>
              <a:t> </a:t>
            </a:r>
            <a:r>
              <a:rPr sz="2200" spc="-10" dirty="0">
                <a:latin typeface="Arial"/>
                <a:cs typeface="Arial"/>
              </a:rPr>
              <a:t>engine</a:t>
            </a:r>
            <a:endParaRPr sz="22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400"/>
              </a:spcBef>
            </a:pPr>
            <a:r>
              <a:rPr sz="2200" spc="-25" dirty="0">
                <a:latin typeface="Arial"/>
                <a:cs typeface="Arial"/>
              </a:rPr>
              <a:t>and</a:t>
            </a:r>
            <a:r>
              <a:rPr sz="2200" spc="-95" dirty="0">
                <a:latin typeface="Arial"/>
                <a:cs typeface="Arial"/>
              </a:rPr>
              <a:t> </a:t>
            </a:r>
            <a:r>
              <a:rPr lang="en-HK" sz="2200" spc="50" dirty="0">
                <a:latin typeface="Arial"/>
                <a:cs typeface="Arial"/>
              </a:rPr>
              <a:t>I</a:t>
            </a:r>
            <a:r>
              <a:rPr sz="2200" spc="-85" dirty="0">
                <a:latin typeface="Arial"/>
                <a:cs typeface="Arial"/>
              </a:rPr>
              <a:t> </a:t>
            </a:r>
            <a:r>
              <a:rPr sz="2200" spc="100" dirty="0">
                <a:latin typeface="Arial"/>
                <a:cs typeface="Arial"/>
              </a:rPr>
              <a:t>will</a:t>
            </a:r>
            <a:r>
              <a:rPr sz="2200" spc="-9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extract</a:t>
            </a:r>
            <a:r>
              <a:rPr sz="2200" spc="-9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the</a:t>
            </a:r>
            <a:r>
              <a:rPr sz="2200" spc="-100" dirty="0">
                <a:latin typeface="Arial"/>
                <a:cs typeface="Arial"/>
              </a:rPr>
              <a:t> </a:t>
            </a:r>
            <a:r>
              <a:rPr sz="2200" spc="45" dirty="0">
                <a:latin typeface="Arial"/>
                <a:cs typeface="Arial"/>
              </a:rPr>
              <a:t>information</a:t>
            </a:r>
            <a:r>
              <a:rPr sz="2200" spc="-8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in</a:t>
            </a:r>
            <a:r>
              <a:rPr sz="2200" spc="-90" dirty="0">
                <a:latin typeface="Arial"/>
                <a:cs typeface="Arial"/>
              </a:rPr>
              <a:t> </a:t>
            </a:r>
            <a:r>
              <a:rPr sz="2200" spc="-120" dirty="0">
                <a:latin typeface="Arial"/>
                <a:cs typeface="Arial"/>
              </a:rPr>
              <a:t>a</a:t>
            </a:r>
            <a:r>
              <a:rPr sz="2200" spc="-9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real</a:t>
            </a:r>
            <a:r>
              <a:rPr lang="en-HK" sz="2200" spc="-100" dirty="0">
                <a:latin typeface="Arial"/>
                <a:cs typeface="Arial"/>
              </a:rPr>
              <a:t>-</a:t>
            </a:r>
            <a:r>
              <a:rPr sz="2200" spc="40" dirty="0">
                <a:latin typeface="Arial"/>
                <a:cs typeface="Arial"/>
              </a:rPr>
              <a:t>time</a:t>
            </a:r>
            <a:endParaRPr sz="2200" dirty="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50264" y="7705725"/>
            <a:ext cx="6073140" cy="1358900"/>
          </a:xfrm>
          <a:prstGeom prst="rect">
            <a:avLst/>
          </a:prstGeom>
          <a:solidFill>
            <a:srgbClr val="F4F4F4"/>
          </a:solidFill>
          <a:ln w="3175">
            <a:solidFill>
              <a:srgbClr val="E2E2E2"/>
            </a:solidFill>
          </a:ln>
        </p:spPr>
        <p:txBody>
          <a:bodyPr vert="horz" wrap="square" lIns="0" tIns="55244" rIns="0" bIns="0" rtlCol="0">
            <a:spAutoFit/>
          </a:bodyPr>
          <a:lstStyle/>
          <a:p>
            <a:pPr marL="64769">
              <a:lnSpc>
                <a:spcPct val="100000"/>
              </a:lnSpc>
              <a:spcBef>
                <a:spcPts val="434"/>
              </a:spcBef>
            </a:pP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serpapi_key=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"&lt;SeprAPI_KEY&gt;"</a:t>
            </a:r>
            <a:endParaRPr sz="1100">
              <a:latin typeface="Courier New"/>
              <a:cs typeface="Courier New"/>
            </a:endParaRPr>
          </a:p>
          <a:p>
            <a:pPr marL="64769" marR="2720340">
              <a:lnSpc>
                <a:spcPts val="1280"/>
              </a:lnSpc>
              <a:spcBef>
                <a:spcPts val="1035"/>
              </a:spcBef>
            </a:pPr>
            <a:r>
              <a:rPr sz="1100" dirty="0">
                <a:solidFill>
                  <a:srgbClr val="7827A0"/>
                </a:solidFill>
                <a:latin typeface="Courier New"/>
                <a:cs typeface="Courier New"/>
              </a:rPr>
              <a:t>from</a:t>
            </a:r>
            <a:r>
              <a:rPr sz="1100" spc="-85" dirty="0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1E1B1A"/>
                </a:solidFill>
                <a:latin typeface="Courier New"/>
                <a:cs typeface="Courier New"/>
              </a:rPr>
              <a:t>langchain.agents</a:t>
            </a:r>
            <a:r>
              <a:rPr sz="1100" spc="-65" dirty="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7827A0"/>
                </a:solidFill>
                <a:latin typeface="Courier New"/>
                <a:cs typeface="Courier New"/>
              </a:rPr>
              <a:t>import</a:t>
            </a:r>
            <a:r>
              <a:rPr sz="1100" spc="-80" dirty="0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AgentType </a:t>
            </a:r>
            <a:r>
              <a:rPr sz="1100" dirty="0">
                <a:solidFill>
                  <a:srgbClr val="7827A0"/>
                </a:solidFill>
                <a:latin typeface="Courier New"/>
                <a:cs typeface="Courier New"/>
              </a:rPr>
              <a:t>from</a:t>
            </a:r>
            <a:r>
              <a:rPr sz="1100" spc="-85" dirty="0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1E1B1A"/>
                </a:solidFill>
                <a:latin typeface="Courier New"/>
                <a:cs typeface="Courier New"/>
              </a:rPr>
              <a:t>langchain.agents</a:t>
            </a:r>
            <a:r>
              <a:rPr sz="1100" spc="-65" dirty="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7827A0"/>
                </a:solidFill>
                <a:latin typeface="Courier New"/>
                <a:cs typeface="Courier New"/>
              </a:rPr>
              <a:t>import</a:t>
            </a:r>
            <a:r>
              <a:rPr sz="1100" spc="-80" dirty="0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load_tools</a:t>
            </a:r>
            <a:endParaRPr sz="1100">
              <a:latin typeface="Courier New"/>
              <a:cs typeface="Courier New"/>
            </a:endParaRPr>
          </a:p>
          <a:p>
            <a:pPr marL="64769" marR="2215515">
              <a:lnSpc>
                <a:spcPts val="1280"/>
              </a:lnSpc>
            </a:pPr>
            <a:r>
              <a:rPr sz="1100" dirty="0">
                <a:solidFill>
                  <a:srgbClr val="7827A0"/>
                </a:solidFill>
                <a:latin typeface="Courier New"/>
                <a:cs typeface="Courier New"/>
              </a:rPr>
              <a:t>from</a:t>
            </a:r>
            <a:r>
              <a:rPr sz="1100" spc="-85" dirty="0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1E1B1A"/>
                </a:solidFill>
                <a:latin typeface="Courier New"/>
                <a:cs typeface="Courier New"/>
              </a:rPr>
              <a:t>langchain.agents</a:t>
            </a:r>
            <a:r>
              <a:rPr sz="1100" spc="-65" dirty="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7827A0"/>
                </a:solidFill>
                <a:latin typeface="Courier New"/>
                <a:cs typeface="Courier New"/>
              </a:rPr>
              <a:t>import</a:t>
            </a:r>
            <a:r>
              <a:rPr sz="1100" spc="-80" dirty="0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initialize_agent </a:t>
            </a:r>
            <a:r>
              <a:rPr sz="1100" dirty="0">
                <a:solidFill>
                  <a:srgbClr val="7827A0"/>
                </a:solidFill>
                <a:latin typeface="Courier New"/>
                <a:cs typeface="Courier New"/>
              </a:rPr>
              <a:t>from</a:t>
            </a:r>
            <a:r>
              <a:rPr sz="1100" spc="-80" dirty="0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1E1B1A"/>
                </a:solidFill>
                <a:latin typeface="Courier New"/>
                <a:cs typeface="Courier New"/>
              </a:rPr>
              <a:t>langchain.llms</a:t>
            </a:r>
            <a:r>
              <a:rPr sz="1100" spc="-60" dirty="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7827A0"/>
                </a:solidFill>
                <a:latin typeface="Courier New"/>
                <a:cs typeface="Courier New"/>
              </a:rPr>
              <a:t>import</a:t>
            </a:r>
            <a:r>
              <a:rPr sz="1100" spc="-65" dirty="0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OpenAI</a:t>
            </a:r>
            <a:endParaRPr sz="1100">
              <a:latin typeface="Courier New"/>
              <a:cs typeface="Courier New"/>
            </a:endParaRPr>
          </a:p>
          <a:p>
            <a:pPr marL="64769">
              <a:lnSpc>
                <a:spcPct val="100000"/>
              </a:lnSpc>
              <a:spcBef>
                <a:spcPts val="925"/>
              </a:spcBef>
            </a:pP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client=OpenAI(openai_api_key=OPENAI_KEY)</a:t>
            </a:r>
            <a:endParaRPr sz="11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47725" y="913764"/>
            <a:ext cx="6076950" cy="8089900"/>
            <a:chOff x="847725" y="913764"/>
            <a:chExt cx="6076950" cy="8089900"/>
          </a:xfrm>
        </p:grpSpPr>
        <p:sp>
          <p:nvSpPr>
            <p:cNvPr id="3" name="object 3"/>
            <p:cNvSpPr/>
            <p:nvPr/>
          </p:nvSpPr>
          <p:spPr>
            <a:xfrm>
              <a:off x="847725" y="913764"/>
              <a:ext cx="6076950" cy="8089900"/>
            </a:xfrm>
            <a:custGeom>
              <a:avLst/>
              <a:gdLst/>
              <a:ahLst/>
              <a:cxnLst/>
              <a:rect l="l" t="t" r="r" b="b"/>
              <a:pathLst>
                <a:path w="6076950" h="8089900">
                  <a:moveTo>
                    <a:pt x="6076950" y="0"/>
                  </a:moveTo>
                  <a:lnTo>
                    <a:pt x="0" y="0"/>
                  </a:lnTo>
                  <a:lnTo>
                    <a:pt x="0" y="229235"/>
                  </a:lnTo>
                  <a:lnTo>
                    <a:pt x="0" y="229870"/>
                  </a:lnTo>
                  <a:lnTo>
                    <a:pt x="0" y="8089900"/>
                  </a:lnTo>
                  <a:lnTo>
                    <a:pt x="6076950" y="8089900"/>
                  </a:lnTo>
                  <a:lnTo>
                    <a:pt x="6076950" y="229235"/>
                  </a:lnTo>
                  <a:lnTo>
                    <a:pt x="6076950" y="0"/>
                  </a:lnTo>
                  <a:close/>
                </a:path>
              </a:pathLst>
            </a:custGeom>
            <a:solidFill>
              <a:srgbClr val="F4F4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14400" y="2012950"/>
              <a:ext cx="5550535" cy="161925"/>
            </a:xfrm>
            <a:custGeom>
              <a:avLst/>
              <a:gdLst/>
              <a:ahLst/>
              <a:cxnLst/>
              <a:rect l="l" t="t" r="r" b="b"/>
              <a:pathLst>
                <a:path w="5550535" h="161925">
                  <a:moveTo>
                    <a:pt x="5550535" y="0"/>
                  </a:moveTo>
                  <a:lnTo>
                    <a:pt x="0" y="0"/>
                  </a:lnTo>
                  <a:lnTo>
                    <a:pt x="0" y="161925"/>
                  </a:lnTo>
                  <a:lnTo>
                    <a:pt x="5550535" y="161925"/>
                  </a:lnTo>
                  <a:lnTo>
                    <a:pt x="5550535" y="0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902969" y="958850"/>
            <a:ext cx="5914390" cy="1224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tool=load_tools([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"serpapi"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],serpapi_api_key=serpapi_key,llm=client)</a:t>
            </a:r>
            <a:endParaRPr sz="1100">
              <a:latin typeface="Courier New"/>
              <a:cs typeface="Courier New"/>
            </a:endParaRPr>
          </a:p>
          <a:p>
            <a:pPr marL="12700" marR="5080">
              <a:lnSpc>
                <a:spcPts val="1280"/>
              </a:lnSpc>
              <a:spcBef>
                <a:spcPts val="1035"/>
              </a:spcBef>
            </a:pP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agent=initialize_agent(tool,client,agent=AgentType.ZERO_SHOT_REACT_DES CRIPTION,verbose=</a:t>
            </a:r>
            <a:r>
              <a:rPr sz="1100" spc="-10" dirty="0">
                <a:solidFill>
                  <a:srgbClr val="A95C00"/>
                </a:solidFill>
                <a:latin typeface="Courier New"/>
                <a:cs typeface="Courier New"/>
              </a:rPr>
              <a:t>True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)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sz="1100" dirty="0">
                <a:solidFill>
                  <a:srgbClr val="1E1B1A"/>
                </a:solidFill>
                <a:latin typeface="Courier New"/>
                <a:cs typeface="Courier New"/>
              </a:rPr>
              <a:t>agent.run(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"can</a:t>
            </a:r>
            <a:r>
              <a:rPr sz="1100" spc="-5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you</a:t>
            </a:r>
            <a:r>
              <a:rPr sz="1100" spc="-5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tell</a:t>
            </a:r>
            <a:r>
              <a:rPr sz="1100" spc="-5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who</a:t>
            </a:r>
            <a:r>
              <a:rPr sz="1100" spc="-5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won</a:t>
            </a:r>
            <a:r>
              <a:rPr sz="1100" spc="-5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the</a:t>
            </a:r>
            <a:r>
              <a:rPr sz="1100" spc="-45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cricket</a:t>
            </a:r>
            <a:r>
              <a:rPr sz="1100" spc="-5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worldcup</a:t>
            </a:r>
            <a:r>
              <a:rPr sz="1100" spc="-4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recently?"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)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100" spc="-10" dirty="0">
                <a:latin typeface="Courier New"/>
                <a:cs typeface="Courier New"/>
              </a:rPr>
              <a:t>/Users/mayankchugh/opt/anaconda3/envs/genaifisrtprj/lib/python3.8/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4400" y="2175510"/>
            <a:ext cx="446976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spc="-10" dirty="0">
                <a:latin typeface="Courier New"/>
                <a:cs typeface="Courier New"/>
              </a:rPr>
              <a:t>site-packages/langchain_core/_api/deprecation.py:117: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14400" y="2338070"/>
            <a:ext cx="547941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spc="-10" dirty="0">
                <a:latin typeface="Courier New"/>
                <a:cs typeface="Courier New"/>
              </a:rPr>
              <a:t>LangChainDeprecationWarning: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function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`run`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was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deprecated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in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14400" y="2500527"/>
            <a:ext cx="547941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LangChain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0.1.0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will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be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removed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0.2.0.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Use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invoke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instead.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14400" y="2663189"/>
            <a:ext cx="5887085" cy="6274435"/>
          </a:xfrm>
          <a:custGeom>
            <a:avLst/>
            <a:gdLst/>
            <a:ahLst/>
            <a:cxnLst/>
            <a:rect l="l" t="t" r="r" b="b"/>
            <a:pathLst>
              <a:path w="5887084" h="6274434">
                <a:moveTo>
                  <a:pt x="1007745" y="2861310"/>
                </a:moveTo>
                <a:lnTo>
                  <a:pt x="0" y="2861310"/>
                </a:lnTo>
                <a:lnTo>
                  <a:pt x="0" y="3023235"/>
                </a:lnTo>
                <a:lnTo>
                  <a:pt x="1007745" y="3023235"/>
                </a:lnTo>
                <a:lnTo>
                  <a:pt x="1007745" y="2861310"/>
                </a:lnTo>
                <a:close/>
              </a:path>
              <a:path w="5887084" h="6274434">
                <a:moveTo>
                  <a:pt x="1175385" y="1073150"/>
                </a:moveTo>
                <a:lnTo>
                  <a:pt x="0" y="1073150"/>
                </a:lnTo>
                <a:lnTo>
                  <a:pt x="0" y="1235075"/>
                </a:lnTo>
                <a:lnTo>
                  <a:pt x="1175385" y="1235075"/>
                </a:lnTo>
                <a:lnTo>
                  <a:pt x="1175385" y="1073150"/>
                </a:lnTo>
                <a:close/>
              </a:path>
              <a:path w="5887084" h="6274434">
                <a:moveTo>
                  <a:pt x="1511935" y="0"/>
                </a:moveTo>
                <a:lnTo>
                  <a:pt x="0" y="0"/>
                </a:lnTo>
                <a:lnTo>
                  <a:pt x="0" y="161925"/>
                </a:lnTo>
                <a:lnTo>
                  <a:pt x="1511935" y="161925"/>
                </a:lnTo>
                <a:lnTo>
                  <a:pt x="1511935" y="0"/>
                </a:lnTo>
                <a:close/>
              </a:path>
              <a:path w="5887084" h="6274434">
                <a:moveTo>
                  <a:pt x="1597025" y="910590"/>
                </a:moveTo>
                <a:lnTo>
                  <a:pt x="0" y="910590"/>
                </a:lnTo>
                <a:lnTo>
                  <a:pt x="0" y="1072515"/>
                </a:lnTo>
                <a:lnTo>
                  <a:pt x="1597025" y="1072515"/>
                </a:lnTo>
                <a:lnTo>
                  <a:pt x="1597025" y="910590"/>
                </a:lnTo>
                <a:close/>
              </a:path>
              <a:path w="5887084" h="6274434">
                <a:moveTo>
                  <a:pt x="1764665" y="6112510"/>
                </a:moveTo>
                <a:lnTo>
                  <a:pt x="0" y="6112510"/>
                </a:lnTo>
                <a:lnTo>
                  <a:pt x="0" y="6274435"/>
                </a:lnTo>
                <a:lnTo>
                  <a:pt x="1764665" y="6274435"/>
                </a:lnTo>
                <a:lnTo>
                  <a:pt x="1764665" y="6112510"/>
                </a:lnTo>
                <a:close/>
              </a:path>
              <a:path w="5887084" h="6274434">
                <a:moveTo>
                  <a:pt x="1764665" y="4486910"/>
                </a:moveTo>
                <a:lnTo>
                  <a:pt x="0" y="4486910"/>
                </a:lnTo>
                <a:lnTo>
                  <a:pt x="0" y="4648835"/>
                </a:lnTo>
                <a:lnTo>
                  <a:pt x="1764665" y="4648835"/>
                </a:lnTo>
                <a:lnTo>
                  <a:pt x="1764665" y="4486910"/>
                </a:lnTo>
                <a:close/>
              </a:path>
              <a:path w="5887084" h="6274434">
                <a:moveTo>
                  <a:pt x="2185035" y="5462270"/>
                </a:moveTo>
                <a:lnTo>
                  <a:pt x="0" y="5462270"/>
                </a:lnTo>
                <a:lnTo>
                  <a:pt x="0" y="5624195"/>
                </a:lnTo>
                <a:lnTo>
                  <a:pt x="2185035" y="5624195"/>
                </a:lnTo>
                <a:lnTo>
                  <a:pt x="2185035" y="5462270"/>
                </a:lnTo>
                <a:close/>
              </a:path>
              <a:path w="5887084" h="6274434">
                <a:moveTo>
                  <a:pt x="2774315" y="2211070"/>
                </a:moveTo>
                <a:lnTo>
                  <a:pt x="0" y="2211070"/>
                </a:lnTo>
                <a:lnTo>
                  <a:pt x="0" y="2372995"/>
                </a:lnTo>
                <a:lnTo>
                  <a:pt x="2774315" y="2372995"/>
                </a:lnTo>
                <a:lnTo>
                  <a:pt x="2774315" y="2211070"/>
                </a:lnTo>
                <a:close/>
              </a:path>
              <a:path w="5887084" h="6274434">
                <a:moveTo>
                  <a:pt x="2943225" y="3836670"/>
                </a:moveTo>
                <a:lnTo>
                  <a:pt x="0" y="3836670"/>
                </a:lnTo>
                <a:lnTo>
                  <a:pt x="0" y="3998595"/>
                </a:lnTo>
                <a:lnTo>
                  <a:pt x="2943225" y="3998595"/>
                </a:lnTo>
                <a:lnTo>
                  <a:pt x="2943225" y="3836670"/>
                </a:lnTo>
                <a:close/>
              </a:path>
              <a:path w="5887084" h="6274434">
                <a:moveTo>
                  <a:pt x="3110865" y="585470"/>
                </a:moveTo>
                <a:lnTo>
                  <a:pt x="0" y="585470"/>
                </a:lnTo>
                <a:lnTo>
                  <a:pt x="0" y="747395"/>
                </a:lnTo>
                <a:lnTo>
                  <a:pt x="3110865" y="747395"/>
                </a:lnTo>
                <a:lnTo>
                  <a:pt x="3110865" y="585470"/>
                </a:lnTo>
                <a:close/>
              </a:path>
              <a:path w="5887084" h="6274434">
                <a:moveTo>
                  <a:pt x="3867785" y="1235710"/>
                </a:moveTo>
                <a:lnTo>
                  <a:pt x="0" y="1235710"/>
                </a:lnTo>
                <a:lnTo>
                  <a:pt x="0" y="1397635"/>
                </a:lnTo>
                <a:lnTo>
                  <a:pt x="3867785" y="1397635"/>
                </a:lnTo>
                <a:lnTo>
                  <a:pt x="3867785" y="1235710"/>
                </a:lnTo>
                <a:close/>
              </a:path>
              <a:path w="5887084" h="6274434">
                <a:moveTo>
                  <a:pt x="5046345" y="1398270"/>
                </a:moveTo>
                <a:lnTo>
                  <a:pt x="0" y="1398270"/>
                </a:lnTo>
                <a:lnTo>
                  <a:pt x="0" y="1560195"/>
                </a:lnTo>
                <a:lnTo>
                  <a:pt x="5046345" y="1560195"/>
                </a:lnTo>
                <a:lnTo>
                  <a:pt x="5046345" y="1398270"/>
                </a:lnTo>
                <a:close/>
              </a:path>
              <a:path w="5887084" h="6274434">
                <a:moveTo>
                  <a:pt x="5213985" y="1723390"/>
                </a:moveTo>
                <a:lnTo>
                  <a:pt x="0" y="1723390"/>
                </a:lnTo>
                <a:lnTo>
                  <a:pt x="0" y="1885315"/>
                </a:lnTo>
                <a:lnTo>
                  <a:pt x="5213985" y="1885315"/>
                </a:lnTo>
                <a:lnTo>
                  <a:pt x="5213985" y="1723390"/>
                </a:lnTo>
                <a:close/>
              </a:path>
              <a:path w="5887084" h="6274434">
                <a:moveTo>
                  <a:pt x="5299075" y="5949950"/>
                </a:moveTo>
                <a:lnTo>
                  <a:pt x="0" y="5949950"/>
                </a:lnTo>
                <a:lnTo>
                  <a:pt x="0" y="6111875"/>
                </a:lnTo>
                <a:lnTo>
                  <a:pt x="5299075" y="6111875"/>
                </a:lnTo>
                <a:lnTo>
                  <a:pt x="5299075" y="5949950"/>
                </a:lnTo>
                <a:close/>
              </a:path>
              <a:path w="5887084" h="6274434">
                <a:moveTo>
                  <a:pt x="5299075" y="4324350"/>
                </a:moveTo>
                <a:lnTo>
                  <a:pt x="0" y="4324350"/>
                </a:lnTo>
                <a:lnTo>
                  <a:pt x="0" y="4486275"/>
                </a:lnTo>
                <a:lnTo>
                  <a:pt x="5299075" y="4486275"/>
                </a:lnTo>
                <a:lnTo>
                  <a:pt x="5299075" y="4324350"/>
                </a:lnTo>
                <a:close/>
              </a:path>
              <a:path w="5887084" h="6274434">
                <a:moveTo>
                  <a:pt x="5382895" y="2048510"/>
                </a:moveTo>
                <a:lnTo>
                  <a:pt x="0" y="2048510"/>
                </a:lnTo>
                <a:lnTo>
                  <a:pt x="0" y="2210435"/>
                </a:lnTo>
                <a:lnTo>
                  <a:pt x="5382895" y="2210435"/>
                </a:lnTo>
                <a:lnTo>
                  <a:pt x="5382895" y="2048510"/>
                </a:lnTo>
                <a:close/>
              </a:path>
              <a:path w="5887084" h="6274434">
                <a:moveTo>
                  <a:pt x="5466715" y="3511550"/>
                </a:moveTo>
                <a:lnTo>
                  <a:pt x="0" y="3511550"/>
                </a:lnTo>
                <a:lnTo>
                  <a:pt x="0" y="3673475"/>
                </a:lnTo>
                <a:lnTo>
                  <a:pt x="5466715" y="3673475"/>
                </a:lnTo>
                <a:lnTo>
                  <a:pt x="5466715" y="3511550"/>
                </a:lnTo>
                <a:close/>
              </a:path>
              <a:path w="5887084" h="6274434">
                <a:moveTo>
                  <a:pt x="5550535" y="3674110"/>
                </a:moveTo>
                <a:lnTo>
                  <a:pt x="0" y="3674110"/>
                </a:lnTo>
                <a:lnTo>
                  <a:pt x="0" y="3836035"/>
                </a:lnTo>
                <a:lnTo>
                  <a:pt x="5550535" y="3836035"/>
                </a:lnTo>
                <a:lnTo>
                  <a:pt x="5550535" y="3674110"/>
                </a:lnTo>
                <a:close/>
              </a:path>
              <a:path w="5887084" h="6274434">
                <a:moveTo>
                  <a:pt x="5635625" y="748030"/>
                </a:moveTo>
                <a:lnTo>
                  <a:pt x="0" y="748030"/>
                </a:lnTo>
                <a:lnTo>
                  <a:pt x="0" y="909955"/>
                </a:lnTo>
                <a:lnTo>
                  <a:pt x="5635625" y="909955"/>
                </a:lnTo>
                <a:lnTo>
                  <a:pt x="5635625" y="748030"/>
                </a:lnTo>
                <a:close/>
              </a:path>
              <a:path w="5887084" h="6274434">
                <a:moveTo>
                  <a:pt x="5719445" y="5299710"/>
                </a:moveTo>
                <a:lnTo>
                  <a:pt x="0" y="5299710"/>
                </a:lnTo>
                <a:lnTo>
                  <a:pt x="0" y="5461635"/>
                </a:lnTo>
                <a:lnTo>
                  <a:pt x="5719445" y="5461635"/>
                </a:lnTo>
                <a:lnTo>
                  <a:pt x="5719445" y="5299710"/>
                </a:lnTo>
                <a:close/>
              </a:path>
              <a:path w="5887084" h="6274434">
                <a:moveTo>
                  <a:pt x="5719445" y="4974590"/>
                </a:moveTo>
                <a:lnTo>
                  <a:pt x="0" y="4974590"/>
                </a:lnTo>
                <a:lnTo>
                  <a:pt x="0" y="5136515"/>
                </a:lnTo>
                <a:lnTo>
                  <a:pt x="5719445" y="5136515"/>
                </a:lnTo>
                <a:lnTo>
                  <a:pt x="5719445" y="4974590"/>
                </a:lnTo>
                <a:close/>
              </a:path>
              <a:path w="5887084" h="6274434">
                <a:moveTo>
                  <a:pt x="5719445" y="3348990"/>
                </a:moveTo>
                <a:lnTo>
                  <a:pt x="0" y="3348990"/>
                </a:lnTo>
                <a:lnTo>
                  <a:pt x="0" y="3510915"/>
                </a:lnTo>
                <a:lnTo>
                  <a:pt x="5719445" y="3510915"/>
                </a:lnTo>
                <a:lnTo>
                  <a:pt x="5719445" y="3348990"/>
                </a:lnTo>
                <a:close/>
              </a:path>
              <a:path w="5887084" h="6274434">
                <a:moveTo>
                  <a:pt x="5803265" y="5137150"/>
                </a:moveTo>
                <a:lnTo>
                  <a:pt x="0" y="5137150"/>
                </a:lnTo>
                <a:lnTo>
                  <a:pt x="0" y="5299075"/>
                </a:lnTo>
                <a:lnTo>
                  <a:pt x="5803265" y="5299075"/>
                </a:lnTo>
                <a:lnTo>
                  <a:pt x="5803265" y="5137150"/>
                </a:lnTo>
                <a:close/>
              </a:path>
              <a:path w="5887084" h="6274434">
                <a:moveTo>
                  <a:pt x="5887085" y="5787390"/>
                </a:moveTo>
                <a:lnTo>
                  <a:pt x="0" y="5787390"/>
                </a:lnTo>
                <a:lnTo>
                  <a:pt x="0" y="5949315"/>
                </a:lnTo>
                <a:lnTo>
                  <a:pt x="5887085" y="5949315"/>
                </a:lnTo>
                <a:lnTo>
                  <a:pt x="5887085" y="5787390"/>
                </a:lnTo>
                <a:close/>
              </a:path>
              <a:path w="5887084" h="6274434">
                <a:moveTo>
                  <a:pt x="5887085" y="5624830"/>
                </a:moveTo>
                <a:lnTo>
                  <a:pt x="0" y="5624830"/>
                </a:lnTo>
                <a:lnTo>
                  <a:pt x="0" y="5786755"/>
                </a:lnTo>
                <a:lnTo>
                  <a:pt x="5887085" y="5786755"/>
                </a:lnTo>
                <a:lnTo>
                  <a:pt x="5887085" y="5624830"/>
                </a:lnTo>
                <a:close/>
              </a:path>
              <a:path w="5887084" h="6274434">
                <a:moveTo>
                  <a:pt x="5887085" y="4812030"/>
                </a:moveTo>
                <a:lnTo>
                  <a:pt x="0" y="4812030"/>
                </a:lnTo>
                <a:lnTo>
                  <a:pt x="0" y="4973955"/>
                </a:lnTo>
                <a:lnTo>
                  <a:pt x="5887085" y="4973955"/>
                </a:lnTo>
                <a:lnTo>
                  <a:pt x="5887085" y="4812030"/>
                </a:lnTo>
                <a:close/>
              </a:path>
              <a:path w="5887084" h="6274434">
                <a:moveTo>
                  <a:pt x="5887085" y="4649470"/>
                </a:moveTo>
                <a:lnTo>
                  <a:pt x="0" y="4649470"/>
                </a:lnTo>
                <a:lnTo>
                  <a:pt x="0" y="4811395"/>
                </a:lnTo>
                <a:lnTo>
                  <a:pt x="5887085" y="4811395"/>
                </a:lnTo>
                <a:lnTo>
                  <a:pt x="5887085" y="4649470"/>
                </a:lnTo>
                <a:close/>
              </a:path>
              <a:path w="5887084" h="6274434">
                <a:moveTo>
                  <a:pt x="5887085" y="4161790"/>
                </a:moveTo>
                <a:lnTo>
                  <a:pt x="0" y="4161790"/>
                </a:lnTo>
                <a:lnTo>
                  <a:pt x="0" y="4323715"/>
                </a:lnTo>
                <a:lnTo>
                  <a:pt x="5887085" y="4323715"/>
                </a:lnTo>
                <a:lnTo>
                  <a:pt x="5887085" y="4161790"/>
                </a:lnTo>
                <a:close/>
              </a:path>
              <a:path w="5887084" h="6274434">
                <a:moveTo>
                  <a:pt x="5887085" y="3999230"/>
                </a:moveTo>
                <a:lnTo>
                  <a:pt x="0" y="3999230"/>
                </a:lnTo>
                <a:lnTo>
                  <a:pt x="0" y="4161155"/>
                </a:lnTo>
                <a:lnTo>
                  <a:pt x="5887085" y="4161155"/>
                </a:lnTo>
                <a:lnTo>
                  <a:pt x="5887085" y="3999230"/>
                </a:lnTo>
                <a:close/>
              </a:path>
              <a:path w="5887084" h="6274434">
                <a:moveTo>
                  <a:pt x="5887085" y="3186430"/>
                </a:moveTo>
                <a:lnTo>
                  <a:pt x="0" y="3186430"/>
                </a:lnTo>
                <a:lnTo>
                  <a:pt x="0" y="3348355"/>
                </a:lnTo>
                <a:lnTo>
                  <a:pt x="5887085" y="3348355"/>
                </a:lnTo>
                <a:lnTo>
                  <a:pt x="5887085" y="3186430"/>
                </a:lnTo>
                <a:close/>
              </a:path>
              <a:path w="5887084" h="6274434">
                <a:moveTo>
                  <a:pt x="5887085" y="3023870"/>
                </a:moveTo>
                <a:lnTo>
                  <a:pt x="0" y="3023870"/>
                </a:lnTo>
                <a:lnTo>
                  <a:pt x="0" y="3185795"/>
                </a:lnTo>
                <a:lnTo>
                  <a:pt x="5887085" y="3185795"/>
                </a:lnTo>
                <a:lnTo>
                  <a:pt x="5887085" y="3023870"/>
                </a:lnTo>
                <a:close/>
              </a:path>
              <a:path w="5887084" h="6274434">
                <a:moveTo>
                  <a:pt x="5887085" y="2698750"/>
                </a:moveTo>
                <a:lnTo>
                  <a:pt x="0" y="2698750"/>
                </a:lnTo>
                <a:lnTo>
                  <a:pt x="0" y="2860675"/>
                </a:lnTo>
                <a:lnTo>
                  <a:pt x="5887085" y="2860675"/>
                </a:lnTo>
                <a:lnTo>
                  <a:pt x="5887085" y="2698750"/>
                </a:lnTo>
                <a:close/>
              </a:path>
              <a:path w="5887084" h="6274434">
                <a:moveTo>
                  <a:pt x="5887085" y="2536190"/>
                </a:moveTo>
                <a:lnTo>
                  <a:pt x="0" y="2536190"/>
                </a:lnTo>
                <a:lnTo>
                  <a:pt x="0" y="2698115"/>
                </a:lnTo>
                <a:lnTo>
                  <a:pt x="5887085" y="2698115"/>
                </a:lnTo>
                <a:lnTo>
                  <a:pt x="5887085" y="2536190"/>
                </a:lnTo>
                <a:close/>
              </a:path>
              <a:path w="5887084" h="6274434">
                <a:moveTo>
                  <a:pt x="5887085" y="2373630"/>
                </a:moveTo>
                <a:lnTo>
                  <a:pt x="0" y="2373630"/>
                </a:lnTo>
                <a:lnTo>
                  <a:pt x="0" y="2535555"/>
                </a:lnTo>
                <a:lnTo>
                  <a:pt x="5887085" y="2535555"/>
                </a:lnTo>
                <a:lnTo>
                  <a:pt x="5887085" y="2373630"/>
                </a:lnTo>
                <a:close/>
              </a:path>
              <a:path w="5887084" h="6274434">
                <a:moveTo>
                  <a:pt x="5887085" y="1885950"/>
                </a:moveTo>
                <a:lnTo>
                  <a:pt x="0" y="1885950"/>
                </a:lnTo>
                <a:lnTo>
                  <a:pt x="0" y="2047875"/>
                </a:lnTo>
                <a:lnTo>
                  <a:pt x="5887085" y="2047875"/>
                </a:lnTo>
                <a:lnTo>
                  <a:pt x="5887085" y="1885950"/>
                </a:lnTo>
                <a:close/>
              </a:path>
              <a:path w="5887084" h="6274434">
                <a:moveTo>
                  <a:pt x="5887085" y="1560830"/>
                </a:moveTo>
                <a:lnTo>
                  <a:pt x="0" y="1560830"/>
                </a:lnTo>
                <a:lnTo>
                  <a:pt x="0" y="1722755"/>
                </a:lnTo>
                <a:lnTo>
                  <a:pt x="5887085" y="1722755"/>
                </a:lnTo>
                <a:lnTo>
                  <a:pt x="5887085" y="156083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902969" y="2640330"/>
            <a:ext cx="5911850" cy="6305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034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latin typeface="Courier New"/>
                <a:cs typeface="Courier New"/>
              </a:rPr>
              <a:t>warn_deprecated(</a:t>
            </a:r>
            <a:endParaRPr sz="11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11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795"/>
              </a:spcBef>
            </a:pPr>
            <a:endParaRPr sz="1100">
              <a:latin typeface="Courier New"/>
              <a:cs typeface="Courier New"/>
            </a:endParaRPr>
          </a:p>
          <a:p>
            <a:pPr marL="179705" indent="-167005">
              <a:lnSpc>
                <a:spcPts val="1300"/>
              </a:lnSpc>
              <a:buChar char="&gt;"/>
              <a:tabLst>
                <a:tab pos="179705" algn="l"/>
              </a:tabLst>
            </a:pPr>
            <a:r>
              <a:rPr sz="1100" dirty="0">
                <a:latin typeface="Courier New"/>
                <a:cs typeface="Courier New"/>
              </a:rPr>
              <a:t>Entering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new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AgentExecutor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chain...</a:t>
            </a:r>
            <a:endParaRPr sz="1100">
              <a:latin typeface="Courier New"/>
              <a:cs typeface="Courier New"/>
            </a:endParaRPr>
          </a:p>
          <a:p>
            <a:pPr marL="12700" marR="257175" indent="83820">
              <a:lnSpc>
                <a:spcPts val="1280"/>
              </a:lnSpc>
              <a:spcBef>
                <a:spcPts val="55"/>
              </a:spcBef>
            </a:pPr>
            <a:r>
              <a:rPr sz="1100" dirty="0">
                <a:latin typeface="Courier New"/>
                <a:cs typeface="Courier New"/>
              </a:rPr>
              <a:t>Cricket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is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popular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sport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there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are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likely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many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news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articles </a:t>
            </a:r>
            <a:r>
              <a:rPr sz="1100" dirty="0">
                <a:latin typeface="Courier New"/>
                <a:cs typeface="Courier New"/>
              </a:rPr>
              <a:t>about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recent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events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ts val="1225"/>
              </a:lnSpc>
            </a:pPr>
            <a:r>
              <a:rPr sz="1100" dirty="0">
                <a:latin typeface="Courier New"/>
                <a:cs typeface="Courier New"/>
              </a:rPr>
              <a:t>Action: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Search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ts val="1280"/>
              </a:lnSpc>
            </a:pPr>
            <a:r>
              <a:rPr sz="1100" dirty="0">
                <a:latin typeface="Courier New"/>
                <a:cs typeface="Courier New"/>
              </a:rPr>
              <a:t>Action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Input: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"cricket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worldcup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recent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winner"</a:t>
            </a:r>
            <a:endParaRPr sz="1100">
              <a:latin typeface="Courier New"/>
              <a:cs typeface="Courier New"/>
            </a:endParaRPr>
          </a:p>
          <a:p>
            <a:pPr marL="12700" marR="5080">
              <a:lnSpc>
                <a:spcPts val="1280"/>
              </a:lnSpc>
              <a:spcBef>
                <a:spcPts val="60"/>
              </a:spcBef>
            </a:pPr>
            <a:r>
              <a:rPr sz="1100" dirty="0">
                <a:latin typeface="Courier New"/>
                <a:cs typeface="Courier New"/>
              </a:rPr>
              <a:t>Observation: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{'title':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'ICC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Cricket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World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Cup',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'thumbnail': 'https://serpapi.com/searches/65dd5202aef264728118dc92/images/2dbca4c6 8580a752f5760c5a19753c7405b872da9093743957d197ecfff87e37.png',</a:t>
            </a:r>
            <a:endParaRPr sz="1100">
              <a:latin typeface="Courier New"/>
              <a:cs typeface="Courier New"/>
            </a:endParaRPr>
          </a:p>
          <a:p>
            <a:pPr marL="12700" marR="5080">
              <a:lnSpc>
                <a:spcPts val="1280"/>
              </a:lnSpc>
            </a:pPr>
            <a:r>
              <a:rPr sz="1100" dirty="0">
                <a:latin typeface="Courier New"/>
                <a:cs typeface="Courier New"/>
              </a:rPr>
              <a:t>'games':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[{'tournament':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'ICC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Cricket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World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Cup',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'stadium':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'Narendra </a:t>
            </a:r>
            <a:r>
              <a:rPr sz="1100" dirty="0">
                <a:latin typeface="Courier New"/>
                <a:cs typeface="Courier New"/>
              </a:rPr>
              <a:t>Modi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Stadium',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'date':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'Nov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19,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23',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'teams':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[{'name':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'India', </a:t>
            </a:r>
            <a:r>
              <a:rPr sz="1100" dirty="0">
                <a:latin typeface="Courier New"/>
                <a:cs typeface="Courier New"/>
              </a:rPr>
              <a:t>'score':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'240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(50)',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'thumbnail': 'https://serpapi.com/searches/65dd5202aef264728118dc92/images/2dbca4c6 8580a752f1c33d12f003467b6b6230a07a2db798a771e1405dc6573f5faf8e53c03f0e 7c472fa7bdc57ff280.png'},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{'name':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'Australia',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'score':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'241/4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(43)', 'thumbnail': 'https://serpapi.com/searches/65dd5202aef264728118dc92/images/2dbca4c6 8580a752f1c33d12f003467b6b6230a07a2db7987ae76aa833000d64b3af5fbcac5c7b 3059bbab49cc0f06f3.png'}],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'status':</a:t>
            </a:r>
            <a:r>
              <a:rPr sz="1100" spc="-2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'AUS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won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by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6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wickets</a:t>
            </a:r>
            <a:r>
              <a:rPr sz="1100" spc="-2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(42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balls </a:t>
            </a:r>
            <a:r>
              <a:rPr sz="1100" dirty="0">
                <a:latin typeface="Courier New"/>
                <a:cs typeface="Courier New"/>
              </a:rPr>
              <a:t>left)'},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{'tournament':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'ICC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Cricket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World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Cup',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'stadium':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'Eden </a:t>
            </a:r>
            <a:r>
              <a:rPr sz="1100" dirty="0">
                <a:latin typeface="Courier New"/>
                <a:cs typeface="Courier New"/>
              </a:rPr>
              <a:t>Gardens',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'date':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'Nov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16,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23',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'teams':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[{'name':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'South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Africa', </a:t>
            </a:r>
            <a:r>
              <a:rPr sz="1100" dirty="0">
                <a:latin typeface="Courier New"/>
                <a:cs typeface="Courier New"/>
              </a:rPr>
              <a:t>'score':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'212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(49.4)',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'thumbnail': 'https://serpapi.com/searches/65dd5202aef264728118dc92/images/2dbca4c6 8580a752f1c33d12f003467b22aee7fe65ff1c1802f1be9c4516f662af15dacd3613bf 4f82980484a85d909d.png'},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{'name':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'Australia',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'score':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'215/7 </a:t>
            </a:r>
            <a:r>
              <a:rPr sz="1100" dirty="0">
                <a:latin typeface="Courier New"/>
                <a:cs typeface="Courier New"/>
              </a:rPr>
              <a:t>(47.2)',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'thumbnail': 'https://serpapi.com/searches/65dd5202aef264728118dc92/images/2dbca4c6 8580a752f1c33d12f003467b22aee7fe65ff1c189a827a0b37a065c466b27b7b507731 3136c2de66c04b0f1d.png'}],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'status':</a:t>
            </a:r>
            <a:r>
              <a:rPr sz="1100" spc="-2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'AUS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won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by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3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wickets</a:t>
            </a:r>
            <a:r>
              <a:rPr sz="1100" spc="-2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(16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balls </a:t>
            </a:r>
            <a:r>
              <a:rPr sz="1100" dirty="0">
                <a:latin typeface="Courier New"/>
                <a:cs typeface="Courier New"/>
              </a:rPr>
              <a:t>left)'},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{'tournament':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'ICC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Cricket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World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Cup',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'stadium':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'Wankhede </a:t>
            </a:r>
            <a:r>
              <a:rPr sz="1100" dirty="0">
                <a:latin typeface="Courier New"/>
                <a:cs typeface="Courier New"/>
              </a:rPr>
              <a:t>Stadium',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'date':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'Nov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15,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23',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'teams':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[{'name':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'India',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'score': </a:t>
            </a:r>
            <a:r>
              <a:rPr sz="1100" dirty="0">
                <a:latin typeface="Courier New"/>
                <a:cs typeface="Courier New"/>
              </a:rPr>
              <a:t>'397/4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(50)',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'thumbnail': 'https://serpapi.com/searches/65dd5202aef264728118dc92/images/2dbca4c6 8580a752f1c33d12f003467bddc843921c945d09ac54420a24f4c98e242c3d077acb99 54fc030d5a07a8f6e2.png'},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{'name':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'New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Zealand',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'score':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'327 </a:t>
            </a:r>
            <a:r>
              <a:rPr sz="1100" dirty="0">
                <a:latin typeface="Courier New"/>
                <a:cs typeface="Courier New"/>
              </a:rPr>
              <a:t>(48.5)',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'thumbnail':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48360" y="914400"/>
            <a:ext cx="6076315" cy="8089265"/>
          </a:xfrm>
          <a:custGeom>
            <a:avLst/>
            <a:gdLst/>
            <a:ahLst/>
            <a:cxnLst/>
            <a:rect l="l" t="t" r="r" b="b"/>
            <a:pathLst>
              <a:path w="6076315" h="8089265">
                <a:moveTo>
                  <a:pt x="0" y="1904"/>
                </a:moveTo>
                <a:lnTo>
                  <a:pt x="6076315" y="1904"/>
                </a:lnTo>
              </a:path>
              <a:path w="6076315" h="8089265">
                <a:moveTo>
                  <a:pt x="6075045" y="0"/>
                </a:moveTo>
                <a:lnTo>
                  <a:pt x="6075045" y="356234"/>
                </a:lnTo>
              </a:path>
              <a:path w="6076315" h="8089265">
                <a:moveTo>
                  <a:pt x="1905" y="356234"/>
                </a:moveTo>
                <a:lnTo>
                  <a:pt x="1905" y="0"/>
                </a:lnTo>
              </a:path>
              <a:path w="6076315" h="8089265">
                <a:moveTo>
                  <a:pt x="6075045" y="229234"/>
                </a:moveTo>
                <a:lnTo>
                  <a:pt x="6075045" y="808354"/>
                </a:lnTo>
              </a:path>
              <a:path w="6076315" h="8089265">
                <a:moveTo>
                  <a:pt x="1905" y="808354"/>
                </a:moveTo>
                <a:lnTo>
                  <a:pt x="1905" y="229234"/>
                </a:lnTo>
              </a:path>
              <a:path w="6076315" h="8089265">
                <a:moveTo>
                  <a:pt x="6075045" y="681354"/>
                </a:moveTo>
                <a:lnTo>
                  <a:pt x="6075045" y="1097915"/>
                </a:lnTo>
              </a:path>
              <a:path w="6076315" h="8089265">
                <a:moveTo>
                  <a:pt x="1905" y="1097915"/>
                </a:moveTo>
                <a:lnTo>
                  <a:pt x="1905" y="681354"/>
                </a:lnTo>
              </a:path>
              <a:path w="6076315" h="8089265">
                <a:moveTo>
                  <a:pt x="6075045" y="970915"/>
                </a:moveTo>
                <a:lnTo>
                  <a:pt x="6075045" y="2037715"/>
                </a:lnTo>
              </a:path>
              <a:path w="6076315" h="8089265">
                <a:moveTo>
                  <a:pt x="1905" y="2037715"/>
                </a:moveTo>
                <a:lnTo>
                  <a:pt x="1905" y="970915"/>
                </a:lnTo>
              </a:path>
              <a:path w="6076315" h="8089265">
                <a:moveTo>
                  <a:pt x="6075045" y="1910715"/>
                </a:moveTo>
                <a:lnTo>
                  <a:pt x="6075045" y="8089265"/>
                </a:lnTo>
              </a:path>
              <a:path w="6076315" h="8089265">
                <a:moveTo>
                  <a:pt x="6076315" y="8087995"/>
                </a:moveTo>
                <a:lnTo>
                  <a:pt x="0" y="8087995"/>
                </a:lnTo>
              </a:path>
              <a:path w="6076315" h="8089265">
                <a:moveTo>
                  <a:pt x="1905" y="8089265"/>
                </a:moveTo>
                <a:lnTo>
                  <a:pt x="1905" y="1910715"/>
                </a:lnTo>
              </a:path>
              <a:path w="6076315" h="8089265">
                <a:moveTo>
                  <a:pt x="0" y="1904"/>
                </a:moveTo>
                <a:lnTo>
                  <a:pt x="6076315" y="1904"/>
                </a:lnTo>
              </a:path>
              <a:path w="6076315" h="8089265">
                <a:moveTo>
                  <a:pt x="6075045" y="0"/>
                </a:moveTo>
                <a:lnTo>
                  <a:pt x="6075045" y="356234"/>
                </a:lnTo>
              </a:path>
              <a:path w="6076315" h="8089265">
                <a:moveTo>
                  <a:pt x="1905" y="356234"/>
                </a:moveTo>
                <a:lnTo>
                  <a:pt x="1905" y="0"/>
                </a:lnTo>
              </a:path>
              <a:path w="6076315" h="8089265">
                <a:moveTo>
                  <a:pt x="6075045" y="229234"/>
                </a:moveTo>
                <a:lnTo>
                  <a:pt x="6075045" y="808354"/>
                </a:lnTo>
              </a:path>
              <a:path w="6076315" h="8089265">
                <a:moveTo>
                  <a:pt x="1905" y="808354"/>
                </a:moveTo>
                <a:lnTo>
                  <a:pt x="1905" y="229234"/>
                </a:lnTo>
              </a:path>
              <a:path w="6076315" h="8089265">
                <a:moveTo>
                  <a:pt x="6075045" y="681354"/>
                </a:moveTo>
                <a:lnTo>
                  <a:pt x="6075045" y="1097915"/>
                </a:lnTo>
              </a:path>
              <a:path w="6076315" h="8089265">
                <a:moveTo>
                  <a:pt x="1905" y="1097915"/>
                </a:moveTo>
                <a:lnTo>
                  <a:pt x="1905" y="681354"/>
                </a:lnTo>
              </a:path>
              <a:path w="6076315" h="8089265">
                <a:moveTo>
                  <a:pt x="6075045" y="970915"/>
                </a:moveTo>
                <a:lnTo>
                  <a:pt x="6075045" y="2037715"/>
                </a:lnTo>
              </a:path>
              <a:path w="6076315" h="8089265">
                <a:moveTo>
                  <a:pt x="1905" y="2037715"/>
                </a:moveTo>
                <a:lnTo>
                  <a:pt x="1905" y="970915"/>
                </a:lnTo>
              </a:path>
              <a:path w="6076315" h="8089265">
                <a:moveTo>
                  <a:pt x="6075045" y="1910715"/>
                </a:moveTo>
                <a:lnTo>
                  <a:pt x="6075045" y="8089265"/>
                </a:lnTo>
              </a:path>
              <a:path w="6076315" h="8089265">
                <a:moveTo>
                  <a:pt x="6076315" y="8087995"/>
                </a:moveTo>
                <a:lnTo>
                  <a:pt x="0" y="8087995"/>
                </a:lnTo>
              </a:path>
              <a:path w="6076315" h="8089265">
                <a:moveTo>
                  <a:pt x="1905" y="8089265"/>
                </a:moveTo>
                <a:lnTo>
                  <a:pt x="1905" y="1910715"/>
                </a:lnTo>
              </a:path>
            </a:pathLst>
          </a:custGeom>
          <a:ln w="3175">
            <a:solidFill>
              <a:srgbClr val="E2E2E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47725" y="913764"/>
            <a:ext cx="6076950" cy="8111490"/>
            <a:chOff x="847725" y="913764"/>
            <a:chExt cx="6076950" cy="8111490"/>
          </a:xfrm>
        </p:grpSpPr>
        <p:sp>
          <p:nvSpPr>
            <p:cNvPr id="3" name="object 3"/>
            <p:cNvSpPr/>
            <p:nvPr/>
          </p:nvSpPr>
          <p:spPr>
            <a:xfrm>
              <a:off x="847725" y="913764"/>
              <a:ext cx="6076950" cy="8111490"/>
            </a:xfrm>
            <a:custGeom>
              <a:avLst/>
              <a:gdLst/>
              <a:ahLst/>
              <a:cxnLst/>
              <a:rect l="l" t="t" r="r" b="b"/>
              <a:pathLst>
                <a:path w="6076950" h="8111490">
                  <a:moveTo>
                    <a:pt x="6076950" y="0"/>
                  </a:moveTo>
                  <a:lnTo>
                    <a:pt x="0" y="0"/>
                  </a:lnTo>
                  <a:lnTo>
                    <a:pt x="0" y="6391910"/>
                  </a:lnTo>
                  <a:lnTo>
                    <a:pt x="0" y="6844030"/>
                  </a:lnTo>
                  <a:lnTo>
                    <a:pt x="0" y="7133590"/>
                  </a:lnTo>
                  <a:lnTo>
                    <a:pt x="0" y="8111490"/>
                  </a:lnTo>
                  <a:lnTo>
                    <a:pt x="6076950" y="8111490"/>
                  </a:lnTo>
                  <a:lnTo>
                    <a:pt x="6076950" y="7133590"/>
                  </a:lnTo>
                  <a:lnTo>
                    <a:pt x="6076950" y="6844030"/>
                  </a:lnTo>
                  <a:lnTo>
                    <a:pt x="6076950" y="6391910"/>
                  </a:lnTo>
                  <a:lnTo>
                    <a:pt x="6076950" y="0"/>
                  </a:lnTo>
                  <a:close/>
                </a:path>
              </a:pathLst>
            </a:custGeom>
            <a:solidFill>
              <a:srgbClr val="F4F4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14400" y="981709"/>
              <a:ext cx="5887085" cy="6014085"/>
            </a:xfrm>
            <a:custGeom>
              <a:avLst/>
              <a:gdLst/>
              <a:ahLst/>
              <a:cxnLst/>
              <a:rect l="l" t="t" r="r" b="b"/>
              <a:pathLst>
                <a:path w="5887084" h="6014084">
                  <a:moveTo>
                    <a:pt x="755015" y="5364480"/>
                  </a:moveTo>
                  <a:lnTo>
                    <a:pt x="0" y="5364480"/>
                  </a:lnTo>
                  <a:lnTo>
                    <a:pt x="0" y="5526405"/>
                  </a:lnTo>
                  <a:lnTo>
                    <a:pt x="755015" y="5526405"/>
                  </a:lnTo>
                  <a:lnTo>
                    <a:pt x="755015" y="5364480"/>
                  </a:lnTo>
                  <a:close/>
                </a:path>
                <a:path w="5887084" h="6014084">
                  <a:moveTo>
                    <a:pt x="1007745" y="3088640"/>
                  </a:moveTo>
                  <a:lnTo>
                    <a:pt x="0" y="3088640"/>
                  </a:lnTo>
                  <a:lnTo>
                    <a:pt x="0" y="3250565"/>
                  </a:lnTo>
                  <a:lnTo>
                    <a:pt x="1007745" y="3250565"/>
                  </a:lnTo>
                  <a:lnTo>
                    <a:pt x="1007745" y="3088640"/>
                  </a:lnTo>
                  <a:close/>
                </a:path>
                <a:path w="5887084" h="6014084">
                  <a:moveTo>
                    <a:pt x="1597025" y="2438400"/>
                  </a:moveTo>
                  <a:lnTo>
                    <a:pt x="0" y="2438400"/>
                  </a:lnTo>
                  <a:lnTo>
                    <a:pt x="0" y="2600325"/>
                  </a:lnTo>
                  <a:lnTo>
                    <a:pt x="1597025" y="2600325"/>
                  </a:lnTo>
                  <a:lnTo>
                    <a:pt x="1597025" y="2438400"/>
                  </a:lnTo>
                  <a:close/>
                </a:path>
                <a:path w="5887084" h="6014084">
                  <a:moveTo>
                    <a:pt x="1764665" y="4714240"/>
                  </a:moveTo>
                  <a:lnTo>
                    <a:pt x="0" y="4714240"/>
                  </a:lnTo>
                  <a:lnTo>
                    <a:pt x="0" y="4876165"/>
                  </a:lnTo>
                  <a:lnTo>
                    <a:pt x="1764665" y="4876165"/>
                  </a:lnTo>
                  <a:lnTo>
                    <a:pt x="1764665" y="4714240"/>
                  </a:lnTo>
                  <a:close/>
                </a:path>
                <a:path w="5887084" h="6014084">
                  <a:moveTo>
                    <a:pt x="1764665" y="1463040"/>
                  </a:moveTo>
                  <a:lnTo>
                    <a:pt x="0" y="1463040"/>
                  </a:lnTo>
                  <a:lnTo>
                    <a:pt x="0" y="1624965"/>
                  </a:lnTo>
                  <a:lnTo>
                    <a:pt x="1764665" y="1624965"/>
                  </a:lnTo>
                  <a:lnTo>
                    <a:pt x="1764665" y="1463040"/>
                  </a:lnTo>
                  <a:close/>
                </a:path>
                <a:path w="5887084" h="6014084">
                  <a:moveTo>
                    <a:pt x="2185035" y="812800"/>
                  </a:moveTo>
                  <a:lnTo>
                    <a:pt x="0" y="812800"/>
                  </a:lnTo>
                  <a:lnTo>
                    <a:pt x="0" y="974725"/>
                  </a:lnTo>
                  <a:lnTo>
                    <a:pt x="2185035" y="974725"/>
                  </a:lnTo>
                  <a:lnTo>
                    <a:pt x="2185035" y="812800"/>
                  </a:lnTo>
                  <a:close/>
                </a:path>
                <a:path w="5887084" h="6014084">
                  <a:moveTo>
                    <a:pt x="3783965" y="5852160"/>
                  </a:moveTo>
                  <a:lnTo>
                    <a:pt x="0" y="5852160"/>
                  </a:lnTo>
                  <a:lnTo>
                    <a:pt x="0" y="6014085"/>
                  </a:lnTo>
                  <a:lnTo>
                    <a:pt x="3783965" y="6014085"/>
                  </a:lnTo>
                  <a:lnTo>
                    <a:pt x="3783965" y="5852160"/>
                  </a:lnTo>
                  <a:close/>
                </a:path>
                <a:path w="5887084" h="6014084">
                  <a:moveTo>
                    <a:pt x="4120515" y="4064000"/>
                  </a:moveTo>
                  <a:lnTo>
                    <a:pt x="0" y="4064000"/>
                  </a:lnTo>
                  <a:lnTo>
                    <a:pt x="0" y="4225925"/>
                  </a:lnTo>
                  <a:lnTo>
                    <a:pt x="4120515" y="4225925"/>
                  </a:lnTo>
                  <a:lnTo>
                    <a:pt x="4120515" y="4064000"/>
                  </a:lnTo>
                  <a:close/>
                </a:path>
                <a:path w="5887084" h="6014084">
                  <a:moveTo>
                    <a:pt x="4962525" y="3576320"/>
                  </a:moveTo>
                  <a:lnTo>
                    <a:pt x="0" y="3576320"/>
                  </a:lnTo>
                  <a:lnTo>
                    <a:pt x="0" y="3738245"/>
                  </a:lnTo>
                  <a:lnTo>
                    <a:pt x="4962525" y="3738245"/>
                  </a:lnTo>
                  <a:lnTo>
                    <a:pt x="4962525" y="3576320"/>
                  </a:lnTo>
                  <a:close/>
                </a:path>
                <a:path w="5887084" h="6014084">
                  <a:moveTo>
                    <a:pt x="4962525" y="325120"/>
                  </a:moveTo>
                  <a:lnTo>
                    <a:pt x="0" y="325120"/>
                  </a:lnTo>
                  <a:lnTo>
                    <a:pt x="0" y="487045"/>
                  </a:lnTo>
                  <a:lnTo>
                    <a:pt x="4962525" y="487045"/>
                  </a:lnTo>
                  <a:lnTo>
                    <a:pt x="4962525" y="325120"/>
                  </a:lnTo>
                  <a:close/>
                </a:path>
                <a:path w="5887084" h="6014084">
                  <a:moveTo>
                    <a:pt x="5046345" y="1950720"/>
                  </a:moveTo>
                  <a:lnTo>
                    <a:pt x="0" y="1950720"/>
                  </a:lnTo>
                  <a:lnTo>
                    <a:pt x="0" y="2112645"/>
                  </a:lnTo>
                  <a:lnTo>
                    <a:pt x="5046345" y="2112645"/>
                  </a:lnTo>
                  <a:lnTo>
                    <a:pt x="5046345" y="1950720"/>
                  </a:lnTo>
                  <a:close/>
                </a:path>
                <a:path w="5887084" h="6014084">
                  <a:moveTo>
                    <a:pt x="5299075" y="4551680"/>
                  </a:moveTo>
                  <a:lnTo>
                    <a:pt x="0" y="4551680"/>
                  </a:lnTo>
                  <a:lnTo>
                    <a:pt x="0" y="4713605"/>
                  </a:lnTo>
                  <a:lnTo>
                    <a:pt x="5299075" y="4713605"/>
                  </a:lnTo>
                  <a:lnTo>
                    <a:pt x="5299075" y="4551680"/>
                  </a:lnTo>
                  <a:close/>
                </a:path>
                <a:path w="5887084" h="6014084">
                  <a:moveTo>
                    <a:pt x="5299075" y="3738880"/>
                  </a:moveTo>
                  <a:lnTo>
                    <a:pt x="0" y="3738880"/>
                  </a:lnTo>
                  <a:lnTo>
                    <a:pt x="0" y="3900805"/>
                  </a:lnTo>
                  <a:lnTo>
                    <a:pt x="5299075" y="3900805"/>
                  </a:lnTo>
                  <a:lnTo>
                    <a:pt x="5299075" y="3738880"/>
                  </a:lnTo>
                  <a:close/>
                </a:path>
                <a:path w="5887084" h="6014084">
                  <a:moveTo>
                    <a:pt x="5299075" y="1300480"/>
                  </a:moveTo>
                  <a:lnTo>
                    <a:pt x="0" y="1300480"/>
                  </a:lnTo>
                  <a:lnTo>
                    <a:pt x="0" y="1462405"/>
                  </a:lnTo>
                  <a:lnTo>
                    <a:pt x="5299075" y="1462405"/>
                  </a:lnTo>
                  <a:lnTo>
                    <a:pt x="5299075" y="1300480"/>
                  </a:lnTo>
                  <a:close/>
                </a:path>
                <a:path w="5887084" h="6014084">
                  <a:moveTo>
                    <a:pt x="5550535" y="2113280"/>
                  </a:moveTo>
                  <a:lnTo>
                    <a:pt x="0" y="2113280"/>
                  </a:lnTo>
                  <a:lnTo>
                    <a:pt x="0" y="2275205"/>
                  </a:lnTo>
                  <a:lnTo>
                    <a:pt x="5550535" y="2275205"/>
                  </a:lnTo>
                  <a:lnTo>
                    <a:pt x="5550535" y="2113280"/>
                  </a:lnTo>
                  <a:close/>
                </a:path>
                <a:path w="5887084" h="6014084">
                  <a:moveTo>
                    <a:pt x="5550535" y="487680"/>
                  </a:moveTo>
                  <a:lnTo>
                    <a:pt x="0" y="487680"/>
                  </a:lnTo>
                  <a:lnTo>
                    <a:pt x="0" y="649605"/>
                  </a:lnTo>
                  <a:lnTo>
                    <a:pt x="5550535" y="649605"/>
                  </a:lnTo>
                  <a:lnTo>
                    <a:pt x="5550535" y="487680"/>
                  </a:lnTo>
                  <a:close/>
                </a:path>
                <a:path w="5887084" h="6014084">
                  <a:moveTo>
                    <a:pt x="5635625" y="2275840"/>
                  </a:moveTo>
                  <a:lnTo>
                    <a:pt x="0" y="2275840"/>
                  </a:lnTo>
                  <a:lnTo>
                    <a:pt x="0" y="2437765"/>
                  </a:lnTo>
                  <a:lnTo>
                    <a:pt x="5635625" y="2437765"/>
                  </a:lnTo>
                  <a:lnTo>
                    <a:pt x="5635625" y="2275840"/>
                  </a:lnTo>
                  <a:close/>
                </a:path>
                <a:path w="5887084" h="6014084">
                  <a:moveTo>
                    <a:pt x="5719445" y="5201920"/>
                  </a:moveTo>
                  <a:lnTo>
                    <a:pt x="0" y="5201920"/>
                  </a:lnTo>
                  <a:lnTo>
                    <a:pt x="0" y="5363845"/>
                  </a:lnTo>
                  <a:lnTo>
                    <a:pt x="5719445" y="5363845"/>
                  </a:lnTo>
                  <a:lnTo>
                    <a:pt x="5719445" y="5201920"/>
                  </a:lnTo>
                  <a:close/>
                </a:path>
                <a:path w="5887084" h="6014084">
                  <a:moveTo>
                    <a:pt x="5719445" y="650240"/>
                  </a:moveTo>
                  <a:lnTo>
                    <a:pt x="0" y="650240"/>
                  </a:lnTo>
                  <a:lnTo>
                    <a:pt x="0" y="812165"/>
                  </a:lnTo>
                  <a:lnTo>
                    <a:pt x="5719445" y="812165"/>
                  </a:lnTo>
                  <a:lnTo>
                    <a:pt x="5719445" y="650240"/>
                  </a:lnTo>
                  <a:close/>
                </a:path>
                <a:path w="5887084" h="6014084">
                  <a:moveTo>
                    <a:pt x="5803265" y="2926080"/>
                  </a:moveTo>
                  <a:lnTo>
                    <a:pt x="0" y="2926080"/>
                  </a:lnTo>
                  <a:lnTo>
                    <a:pt x="0" y="3088005"/>
                  </a:lnTo>
                  <a:lnTo>
                    <a:pt x="5803265" y="3088005"/>
                  </a:lnTo>
                  <a:lnTo>
                    <a:pt x="5803265" y="2926080"/>
                  </a:lnTo>
                  <a:close/>
                </a:path>
                <a:path w="5887084" h="6014084">
                  <a:moveTo>
                    <a:pt x="5804535" y="5689600"/>
                  </a:moveTo>
                  <a:lnTo>
                    <a:pt x="0" y="5689600"/>
                  </a:lnTo>
                  <a:lnTo>
                    <a:pt x="0" y="5851525"/>
                  </a:lnTo>
                  <a:lnTo>
                    <a:pt x="5804535" y="5851525"/>
                  </a:lnTo>
                  <a:lnTo>
                    <a:pt x="5804535" y="5689600"/>
                  </a:lnTo>
                  <a:close/>
                </a:path>
                <a:path w="5887084" h="6014084">
                  <a:moveTo>
                    <a:pt x="5887085" y="5527040"/>
                  </a:moveTo>
                  <a:lnTo>
                    <a:pt x="0" y="5527040"/>
                  </a:lnTo>
                  <a:lnTo>
                    <a:pt x="0" y="5688965"/>
                  </a:lnTo>
                  <a:lnTo>
                    <a:pt x="5887085" y="5688965"/>
                  </a:lnTo>
                  <a:lnTo>
                    <a:pt x="5887085" y="5527040"/>
                  </a:lnTo>
                  <a:close/>
                </a:path>
                <a:path w="5887084" h="6014084">
                  <a:moveTo>
                    <a:pt x="5887085" y="5039360"/>
                  </a:moveTo>
                  <a:lnTo>
                    <a:pt x="0" y="5039360"/>
                  </a:lnTo>
                  <a:lnTo>
                    <a:pt x="0" y="5201285"/>
                  </a:lnTo>
                  <a:lnTo>
                    <a:pt x="5887085" y="5201285"/>
                  </a:lnTo>
                  <a:lnTo>
                    <a:pt x="5887085" y="5039360"/>
                  </a:lnTo>
                  <a:close/>
                </a:path>
                <a:path w="5887084" h="6014084">
                  <a:moveTo>
                    <a:pt x="5887085" y="4876800"/>
                  </a:moveTo>
                  <a:lnTo>
                    <a:pt x="0" y="4876800"/>
                  </a:lnTo>
                  <a:lnTo>
                    <a:pt x="0" y="5038725"/>
                  </a:lnTo>
                  <a:lnTo>
                    <a:pt x="5887085" y="5038725"/>
                  </a:lnTo>
                  <a:lnTo>
                    <a:pt x="5887085" y="4876800"/>
                  </a:lnTo>
                  <a:close/>
                </a:path>
                <a:path w="5887084" h="6014084">
                  <a:moveTo>
                    <a:pt x="5887085" y="4389120"/>
                  </a:moveTo>
                  <a:lnTo>
                    <a:pt x="0" y="4389120"/>
                  </a:lnTo>
                  <a:lnTo>
                    <a:pt x="0" y="4551045"/>
                  </a:lnTo>
                  <a:lnTo>
                    <a:pt x="5887085" y="4551045"/>
                  </a:lnTo>
                  <a:lnTo>
                    <a:pt x="5887085" y="4389120"/>
                  </a:lnTo>
                  <a:close/>
                </a:path>
                <a:path w="5887084" h="6014084">
                  <a:moveTo>
                    <a:pt x="5887085" y="4226560"/>
                  </a:moveTo>
                  <a:lnTo>
                    <a:pt x="0" y="4226560"/>
                  </a:lnTo>
                  <a:lnTo>
                    <a:pt x="0" y="4388485"/>
                  </a:lnTo>
                  <a:lnTo>
                    <a:pt x="5887085" y="4388485"/>
                  </a:lnTo>
                  <a:lnTo>
                    <a:pt x="5887085" y="4226560"/>
                  </a:lnTo>
                  <a:close/>
                </a:path>
                <a:path w="5887084" h="6014084">
                  <a:moveTo>
                    <a:pt x="5887085" y="3901440"/>
                  </a:moveTo>
                  <a:lnTo>
                    <a:pt x="0" y="3901440"/>
                  </a:lnTo>
                  <a:lnTo>
                    <a:pt x="0" y="4063365"/>
                  </a:lnTo>
                  <a:lnTo>
                    <a:pt x="5887085" y="4063365"/>
                  </a:lnTo>
                  <a:lnTo>
                    <a:pt x="5887085" y="3901440"/>
                  </a:lnTo>
                  <a:close/>
                </a:path>
                <a:path w="5887084" h="6014084">
                  <a:moveTo>
                    <a:pt x="5887085" y="3413760"/>
                  </a:moveTo>
                  <a:lnTo>
                    <a:pt x="0" y="3413760"/>
                  </a:lnTo>
                  <a:lnTo>
                    <a:pt x="0" y="3575685"/>
                  </a:lnTo>
                  <a:lnTo>
                    <a:pt x="5887085" y="3575685"/>
                  </a:lnTo>
                  <a:lnTo>
                    <a:pt x="5887085" y="3413760"/>
                  </a:lnTo>
                  <a:close/>
                </a:path>
                <a:path w="5887084" h="6014084">
                  <a:moveTo>
                    <a:pt x="5887085" y="3251200"/>
                  </a:moveTo>
                  <a:lnTo>
                    <a:pt x="0" y="3251200"/>
                  </a:lnTo>
                  <a:lnTo>
                    <a:pt x="0" y="3413125"/>
                  </a:lnTo>
                  <a:lnTo>
                    <a:pt x="5887085" y="3413125"/>
                  </a:lnTo>
                  <a:lnTo>
                    <a:pt x="5887085" y="3251200"/>
                  </a:lnTo>
                  <a:close/>
                </a:path>
                <a:path w="5887084" h="6014084">
                  <a:moveTo>
                    <a:pt x="5887085" y="2763520"/>
                  </a:moveTo>
                  <a:lnTo>
                    <a:pt x="0" y="2763520"/>
                  </a:lnTo>
                  <a:lnTo>
                    <a:pt x="0" y="2925445"/>
                  </a:lnTo>
                  <a:lnTo>
                    <a:pt x="5887085" y="2925445"/>
                  </a:lnTo>
                  <a:lnTo>
                    <a:pt x="5887085" y="2763520"/>
                  </a:lnTo>
                  <a:close/>
                </a:path>
                <a:path w="5887084" h="6014084">
                  <a:moveTo>
                    <a:pt x="5887085" y="2600960"/>
                  </a:moveTo>
                  <a:lnTo>
                    <a:pt x="0" y="2600960"/>
                  </a:lnTo>
                  <a:lnTo>
                    <a:pt x="0" y="2762885"/>
                  </a:lnTo>
                  <a:lnTo>
                    <a:pt x="5887085" y="2762885"/>
                  </a:lnTo>
                  <a:lnTo>
                    <a:pt x="5887085" y="2600960"/>
                  </a:lnTo>
                  <a:close/>
                </a:path>
                <a:path w="5887084" h="6014084">
                  <a:moveTo>
                    <a:pt x="5887085" y="1788160"/>
                  </a:moveTo>
                  <a:lnTo>
                    <a:pt x="0" y="1788160"/>
                  </a:lnTo>
                  <a:lnTo>
                    <a:pt x="0" y="1950085"/>
                  </a:lnTo>
                  <a:lnTo>
                    <a:pt x="5887085" y="1950085"/>
                  </a:lnTo>
                  <a:lnTo>
                    <a:pt x="5887085" y="1788160"/>
                  </a:lnTo>
                  <a:close/>
                </a:path>
                <a:path w="5887084" h="6014084">
                  <a:moveTo>
                    <a:pt x="5887085" y="1625600"/>
                  </a:moveTo>
                  <a:lnTo>
                    <a:pt x="0" y="1625600"/>
                  </a:lnTo>
                  <a:lnTo>
                    <a:pt x="0" y="1787525"/>
                  </a:lnTo>
                  <a:lnTo>
                    <a:pt x="5887085" y="1787525"/>
                  </a:lnTo>
                  <a:lnTo>
                    <a:pt x="5887085" y="1625600"/>
                  </a:lnTo>
                  <a:close/>
                </a:path>
                <a:path w="5887084" h="6014084">
                  <a:moveTo>
                    <a:pt x="5887085" y="1137920"/>
                  </a:moveTo>
                  <a:lnTo>
                    <a:pt x="0" y="1137920"/>
                  </a:lnTo>
                  <a:lnTo>
                    <a:pt x="0" y="1299845"/>
                  </a:lnTo>
                  <a:lnTo>
                    <a:pt x="5887085" y="1299845"/>
                  </a:lnTo>
                  <a:lnTo>
                    <a:pt x="5887085" y="1137920"/>
                  </a:lnTo>
                  <a:close/>
                </a:path>
                <a:path w="5887084" h="6014084">
                  <a:moveTo>
                    <a:pt x="5887085" y="975360"/>
                  </a:moveTo>
                  <a:lnTo>
                    <a:pt x="0" y="975360"/>
                  </a:lnTo>
                  <a:lnTo>
                    <a:pt x="0" y="1137285"/>
                  </a:lnTo>
                  <a:lnTo>
                    <a:pt x="5887085" y="1137285"/>
                  </a:lnTo>
                  <a:lnTo>
                    <a:pt x="5887085" y="975360"/>
                  </a:lnTo>
                  <a:close/>
                </a:path>
                <a:path w="5887084" h="6014084">
                  <a:moveTo>
                    <a:pt x="5887085" y="162560"/>
                  </a:moveTo>
                  <a:lnTo>
                    <a:pt x="0" y="162560"/>
                  </a:lnTo>
                  <a:lnTo>
                    <a:pt x="0" y="324485"/>
                  </a:lnTo>
                  <a:lnTo>
                    <a:pt x="5887085" y="324485"/>
                  </a:lnTo>
                  <a:lnTo>
                    <a:pt x="5887085" y="162560"/>
                  </a:lnTo>
                  <a:close/>
                </a:path>
                <a:path w="5887084" h="6014084">
                  <a:moveTo>
                    <a:pt x="5887085" y="0"/>
                  </a:moveTo>
                  <a:lnTo>
                    <a:pt x="0" y="0"/>
                  </a:lnTo>
                  <a:lnTo>
                    <a:pt x="0" y="161925"/>
                  </a:lnTo>
                  <a:lnTo>
                    <a:pt x="5887085" y="161925"/>
                  </a:lnTo>
                  <a:lnTo>
                    <a:pt x="5887085" y="0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902969" y="958850"/>
            <a:ext cx="5911850" cy="604520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 marR="5080" algn="just">
              <a:lnSpc>
                <a:spcPts val="1280"/>
              </a:lnSpc>
              <a:spcBef>
                <a:spcPts val="175"/>
              </a:spcBef>
            </a:pPr>
            <a:r>
              <a:rPr sz="1100" spc="-10" dirty="0">
                <a:latin typeface="Courier New"/>
                <a:cs typeface="Courier New"/>
              </a:rPr>
              <a:t>'https://serpapi.com/searches/65dd5202aef264728118dc92/images/2dbca4c6 8580a752f1c33d12f003467bddc843921c945d09f89fd81922f4b7d148ebef7dad3e89 52549f9b142d3e7ded.png'}],</a:t>
            </a:r>
            <a:r>
              <a:rPr sz="1100" spc="-2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'status':</a:t>
            </a:r>
            <a:r>
              <a:rPr sz="1100" spc="-2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'IND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won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by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70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runs'},</a:t>
            </a:r>
            <a:endParaRPr sz="1100">
              <a:latin typeface="Courier New"/>
              <a:cs typeface="Courier New"/>
            </a:endParaRPr>
          </a:p>
          <a:p>
            <a:pPr marL="12700" marR="5080">
              <a:lnSpc>
                <a:spcPts val="1280"/>
              </a:lnSpc>
            </a:pPr>
            <a:r>
              <a:rPr sz="1100" dirty="0">
                <a:latin typeface="Courier New"/>
                <a:cs typeface="Courier New"/>
              </a:rPr>
              <a:t>{'tournament':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'ICC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Cricket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World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Cup',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'stadium':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'M.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Chinnaswamy </a:t>
            </a:r>
            <a:r>
              <a:rPr sz="1100" dirty="0">
                <a:latin typeface="Courier New"/>
                <a:cs typeface="Courier New"/>
              </a:rPr>
              <a:t>Stadium',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'date':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'Nov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12,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23',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'teams':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[{'name':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'India',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'score': </a:t>
            </a:r>
            <a:r>
              <a:rPr sz="1100" dirty="0">
                <a:latin typeface="Courier New"/>
                <a:cs typeface="Courier New"/>
              </a:rPr>
              <a:t>'410/4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(50)',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'thumbnail': 'https://serpapi.com/searches/65dd5202aef264728118dc92/images/2dbca4c6 8580a752f1c33d12f003467ba439b52b65c6a9df9820a23a155d5fb517ff73e3c479d8 76ff42db90aed1bf0c.png'},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{'name':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'Netherlands',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'score':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'250 </a:t>
            </a:r>
            <a:r>
              <a:rPr sz="1100" dirty="0">
                <a:latin typeface="Courier New"/>
                <a:cs typeface="Courier New"/>
              </a:rPr>
              <a:t>(47.5)',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'thumbnail': 'https://serpapi.com/searches/65dd5202aef264728118dc92/images/2dbca4c6 8580a752f1c33d12f003467ba439b52b65c6a9df5d671e85ec1e0266d6383c1fd2cd18 979797b2040816c83e.png'}],</a:t>
            </a:r>
            <a:r>
              <a:rPr sz="1100" spc="-2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'status':</a:t>
            </a:r>
            <a:r>
              <a:rPr sz="1100" spc="-2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'IND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won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by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160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runs'},</a:t>
            </a:r>
            <a:endParaRPr sz="1100">
              <a:latin typeface="Courier New"/>
              <a:cs typeface="Courier New"/>
            </a:endParaRPr>
          </a:p>
          <a:p>
            <a:pPr marL="12700" marR="5080">
              <a:lnSpc>
                <a:spcPts val="1280"/>
              </a:lnSpc>
            </a:pPr>
            <a:r>
              <a:rPr sz="1100" dirty="0">
                <a:latin typeface="Courier New"/>
                <a:cs typeface="Courier New"/>
              </a:rPr>
              <a:t>{'tournament':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'ICC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Cricket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World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Cup',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'stadium':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'Eden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Gardens', </a:t>
            </a:r>
            <a:r>
              <a:rPr sz="1100" dirty="0">
                <a:latin typeface="Courier New"/>
                <a:cs typeface="Courier New"/>
              </a:rPr>
              <a:t>'date':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'Nov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11,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23',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'teams':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[{'name':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'England',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'score':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'337/9 </a:t>
            </a:r>
            <a:r>
              <a:rPr sz="1100" dirty="0">
                <a:latin typeface="Courier New"/>
                <a:cs typeface="Courier New"/>
              </a:rPr>
              <a:t>(50)',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'thumbnail': 'https://serpapi.com/searches/65dd5202aef264728118dc92/images/2dbca4c6 8580a752f1c33d12f003467b7ca5038f5a5d51a9ac43287975000f84218f18fc6a1991</a:t>
            </a:r>
            <a:endParaRPr sz="1100">
              <a:latin typeface="Courier New"/>
              <a:cs typeface="Courier New"/>
            </a:endParaRPr>
          </a:p>
          <a:p>
            <a:pPr marL="12700" marR="5080">
              <a:lnSpc>
                <a:spcPts val="1280"/>
              </a:lnSpc>
            </a:pPr>
            <a:r>
              <a:rPr sz="1100" spc="-10" dirty="0">
                <a:latin typeface="Courier New"/>
                <a:cs typeface="Courier New"/>
              </a:rPr>
              <a:t>226914c58950b207bf.png'},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{'name':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'Pakistan',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'score':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'244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(43.3)', 'thumbnail': 'https://serpapi.com/searches/65dd5202aef264728118dc92/images/2dbca4c6 8580a752f1c33d12f003467b7ca5038f5a5d51a9231ca5db4de9217f16cba5d935ca0f 9b3421729e0a056c41.png'}],</a:t>
            </a:r>
            <a:r>
              <a:rPr sz="1100" spc="-2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'status':</a:t>
            </a:r>
            <a:r>
              <a:rPr sz="1100" spc="-2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'ENG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won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by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93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runs'},</a:t>
            </a:r>
            <a:endParaRPr sz="1100">
              <a:latin typeface="Courier New"/>
              <a:cs typeface="Courier New"/>
            </a:endParaRPr>
          </a:p>
          <a:p>
            <a:pPr marL="12700" marR="5080">
              <a:lnSpc>
                <a:spcPts val="1280"/>
              </a:lnSpc>
            </a:pPr>
            <a:r>
              <a:rPr sz="1100" dirty="0">
                <a:latin typeface="Courier New"/>
                <a:cs typeface="Courier New"/>
              </a:rPr>
              <a:t>{'tournament':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'ICC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Cricket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World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Cup',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'stadium':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'Maharashtra</a:t>
            </a:r>
            <a:r>
              <a:rPr sz="1100" spc="50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Cricket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Association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Stadium',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'date':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'Nov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11,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23',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'teams':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[{'name': </a:t>
            </a:r>
            <a:r>
              <a:rPr sz="1100" dirty="0">
                <a:latin typeface="Courier New"/>
                <a:cs typeface="Courier New"/>
              </a:rPr>
              <a:t>'Bangladesh',</a:t>
            </a:r>
            <a:r>
              <a:rPr sz="1100" spc="-8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'score':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'306/8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(50)',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'thumbnail': 'https://serpapi.com/searches/65dd5202aef264728118dc92/images/2dbca4c6 8580a752f1c33d12f003467bd697482bf541ba56ed48644da6bd6252fb102eecc4c0b2 493a57d5decad7d079.png'},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{'name':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'Australia',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'score':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'307/2 </a:t>
            </a:r>
            <a:r>
              <a:rPr sz="1100" dirty="0">
                <a:latin typeface="Courier New"/>
                <a:cs typeface="Courier New"/>
              </a:rPr>
              <a:t>(44.4)',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'thumbnail': 'https://serpapi.com/searches/65dd5202aef264728118dc92/images/2dbca4c6 8580a752f1c33d12f003467bd697482bf541ba562cc8261a517d4c13938eff278ef0e1 6292120423f3764810.png'}],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'status':</a:t>
            </a:r>
            <a:r>
              <a:rPr sz="1100" spc="-2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'AUS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won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by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8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wickets</a:t>
            </a:r>
            <a:r>
              <a:rPr sz="1100" spc="-2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(32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balls left)'}]}</a:t>
            </a:r>
            <a:endParaRPr sz="1100">
              <a:latin typeface="Courier New"/>
              <a:cs typeface="Courier New"/>
            </a:endParaRPr>
          </a:p>
          <a:p>
            <a:pPr marL="12700" marR="5080">
              <a:lnSpc>
                <a:spcPts val="1280"/>
              </a:lnSpc>
            </a:pPr>
            <a:r>
              <a:rPr sz="1100" dirty="0">
                <a:latin typeface="Courier New"/>
                <a:cs typeface="Courier New"/>
              </a:rPr>
              <a:t>Thought: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most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recent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winner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of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Cricket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World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Cup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is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Australia. </a:t>
            </a:r>
            <a:r>
              <a:rPr sz="1100" dirty="0">
                <a:latin typeface="Courier New"/>
                <a:cs typeface="Courier New"/>
              </a:rPr>
              <a:t>Final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Answer: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final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answer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to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original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input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question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is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that </a:t>
            </a:r>
            <a:r>
              <a:rPr sz="1100" dirty="0">
                <a:latin typeface="Courier New"/>
                <a:cs typeface="Courier New"/>
              </a:rPr>
              <a:t>Australia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won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Cricket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World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Cup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recently.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4400" y="7143750"/>
            <a:ext cx="1440815" cy="16192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167640" indent="-167005">
              <a:lnSpc>
                <a:spcPts val="1240"/>
              </a:lnSpc>
              <a:buChar char="&gt;"/>
              <a:tabLst>
                <a:tab pos="167640" algn="l"/>
              </a:tabLst>
            </a:pPr>
            <a:r>
              <a:rPr sz="1100" dirty="0">
                <a:latin typeface="Courier New"/>
                <a:cs typeface="Courier New"/>
              </a:rPr>
              <a:t>Finished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chain.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14400" y="7433309"/>
            <a:ext cx="588835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'The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final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answer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to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original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input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question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is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that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Australia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won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14400" y="7595869"/>
            <a:ext cx="2703195" cy="16192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Cricket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World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Cup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recently.'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02969" y="7862569"/>
            <a:ext cx="431736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1E1B1A"/>
                </a:solidFill>
                <a:latin typeface="Courier New"/>
                <a:cs typeface="Courier New"/>
              </a:rPr>
              <a:t>agent.run(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"can</a:t>
            </a:r>
            <a:r>
              <a:rPr sz="1100" spc="-45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you</a:t>
            </a:r>
            <a:r>
              <a:rPr sz="1100" spc="-4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tell</a:t>
            </a:r>
            <a:r>
              <a:rPr sz="1100" spc="-45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me</a:t>
            </a:r>
            <a:r>
              <a:rPr sz="1100" spc="-4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5</a:t>
            </a:r>
            <a:r>
              <a:rPr sz="1100" spc="-45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top</a:t>
            </a:r>
            <a:r>
              <a:rPr sz="1100" spc="-4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current</a:t>
            </a:r>
            <a:r>
              <a:rPr sz="1100" spc="-35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affairs?"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)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14400" y="8470900"/>
            <a:ext cx="312356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167640" indent="-167005">
              <a:lnSpc>
                <a:spcPts val="1240"/>
              </a:lnSpc>
              <a:buChar char="&gt;"/>
              <a:tabLst>
                <a:tab pos="167640" algn="l"/>
              </a:tabLst>
            </a:pPr>
            <a:r>
              <a:rPr sz="1100" dirty="0">
                <a:latin typeface="Courier New"/>
                <a:cs typeface="Courier New"/>
              </a:rPr>
              <a:t>Entering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new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AgentExecutor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chain...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14400" y="8633459"/>
            <a:ext cx="428942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85090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I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should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search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for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list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of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top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current</a:t>
            </a:r>
            <a:r>
              <a:rPr sz="1100" spc="-2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affairs.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14400" y="8796019"/>
            <a:ext cx="1188085" cy="16192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Action: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Search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848360" y="914400"/>
            <a:ext cx="6076315" cy="8110855"/>
          </a:xfrm>
          <a:custGeom>
            <a:avLst/>
            <a:gdLst/>
            <a:ahLst/>
            <a:cxnLst/>
            <a:rect l="l" t="t" r="r" b="b"/>
            <a:pathLst>
              <a:path w="6076315" h="8110855">
                <a:moveTo>
                  <a:pt x="0" y="1904"/>
                </a:moveTo>
                <a:lnTo>
                  <a:pt x="6076315" y="1904"/>
                </a:lnTo>
              </a:path>
              <a:path w="6076315" h="8110855">
                <a:moveTo>
                  <a:pt x="6075045" y="0"/>
                </a:moveTo>
                <a:lnTo>
                  <a:pt x="6075045" y="6518909"/>
                </a:lnTo>
              </a:path>
              <a:path w="6076315" h="8110855">
                <a:moveTo>
                  <a:pt x="1905" y="6518909"/>
                </a:moveTo>
                <a:lnTo>
                  <a:pt x="1905" y="0"/>
                </a:lnTo>
              </a:path>
              <a:path w="6076315" h="8110855">
                <a:moveTo>
                  <a:pt x="6075045" y="6391910"/>
                </a:moveTo>
                <a:lnTo>
                  <a:pt x="6075045" y="6971030"/>
                </a:lnTo>
              </a:path>
              <a:path w="6076315" h="8110855">
                <a:moveTo>
                  <a:pt x="1905" y="6971030"/>
                </a:moveTo>
                <a:lnTo>
                  <a:pt x="1905" y="6391910"/>
                </a:lnTo>
              </a:path>
              <a:path w="6076315" h="8110855">
                <a:moveTo>
                  <a:pt x="6075045" y="6844030"/>
                </a:moveTo>
                <a:lnTo>
                  <a:pt x="6075045" y="7260590"/>
                </a:lnTo>
              </a:path>
              <a:path w="6076315" h="8110855">
                <a:moveTo>
                  <a:pt x="1905" y="7260590"/>
                </a:moveTo>
                <a:lnTo>
                  <a:pt x="1905" y="6844030"/>
                </a:lnTo>
              </a:path>
              <a:path w="6076315" h="8110855">
                <a:moveTo>
                  <a:pt x="6075045" y="7133590"/>
                </a:moveTo>
                <a:lnTo>
                  <a:pt x="6075045" y="8110855"/>
                </a:lnTo>
              </a:path>
              <a:path w="6076315" h="8110855">
                <a:moveTo>
                  <a:pt x="6076315" y="8109584"/>
                </a:moveTo>
                <a:lnTo>
                  <a:pt x="0" y="8109584"/>
                </a:lnTo>
              </a:path>
              <a:path w="6076315" h="8110855">
                <a:moveTo>
                  <a:pt x="1905" y="8110855"/>
                </a:moveTo>
                <a:lnTo>
                  <a:pt x="1905" y="7133590"/>
                </a:lnTo>
              </a:path>
              <a:path w="6076315" h="8110855">
                <a:moveTo>
                  <a:pt x="0" y="1904"/>
                </a:moveTo>
                <a:lnTo>
                  <a:pt x="6076315" y="1904"/>
                </a:lnTo>
              </a:path>
              <a:path w="6076315" h="8110855">
                <a:moveTo>
                  <a:pt x="6075045" y="0"/>
                </a:moveTo>
                <a:lnTo>
                  <a:pt x="6075045" y="6518909"/>
                </a:lnTo>
              </a:path>
              <a:path w="6076315" h="8110855">
                <a:moveTo>
                  <a:pt x="1905" y="6518909"/>
                </a:moveTo>
                <a:lnTo>
                  <a:pt x="1905" y="0"/>
                </a:lnTo>
              </a:path>
              <a:path w="6076315" h="8110855">
                <a:moveTo>
                  <a:pt x="6075045" y="6391910"/>
                </a:moveTo>
                <a:lnTo>
                  <a:pt x="6075045" y="6971030"/>
                </a:lnTo>
              </a:path>
              <a:path w="6076315" h="8110855">
                <a:moveTo>
                  <a:pt x="1905" y="6971030"/>
                </a:moveTo>
                <a:lnTo>
                  <a:pt x="1905" y="6391910"/>
                </a:lnTo>
              </a:path>
              <a:path w="6076315" h="8110855">
                <a:moveTo>
                  <a:pt x="6075045" y="6844030"/>
                </a:moveTo>
                <a:lnTo>
                  <a:pt x="6075045" y="7260590"/>
                </a:lnTo>
              </a:path>
              <a:path w="6076315" h="8110855">
                <a:moveTo>
                  <a:pt x="1905" y="7260590"/>
                </a:moveTo>
                <a:lnTo>
                  <a:pt x="1905" y="6844030"/>
                </a:lnTo>
              </a:path>
              <a:path w="6076315" h="8110855">
                <a:moveTo>
                  <a:pt x="6075045" y="7133590"/>
                </a:moveTo>
                <a:lnTo>
                  <a:pt x="6075045" y="8110855"/>
                </a:lnTo>
              </a:path>
              <a:path w="6076315" h="8110855">
                <a:moveTo>
                  <a:pt x="6076315" y="8109584"/>
                </a:moveTo>
                <a:lnTo>
                  <a:pt x="0" y="8109584"/>
                </a:lnTo>
              </a:path>
              <a:path w="6076315" h="8110855">
                <a:moveTo>
                  <a:pt x="1905" y="8110855"/>
                </a:moveTo>
                <a:lnTo>
                  <a:pt x="1905" y="7133590"/>
                </a:lnTo>
              </a:path>
            </a:pathLst>
          </a:custGeom>
          <a:ln w="3175">
            <a:solidFill>
              <a:srgbClr val="E2E2E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47725" y="913764"/>
            <a:ext cx="6076950" cy="8098790"/>
            <a:chOff x="847725" y="913764"/>
            <a:chExt cx="6076950" cy="8098790"/>
          </a:xfrm>
        </p:grpSpPr>
        <p:sp>
          <p:nvSpPr>
            <p:cNvPr id="3" name="object 3"/>
            <p:cNvSpPr/>
            <p:nvPr/>
          </p:nvSpPr>
          <p:spPr>
            <a:xfrm>
              <a:off x="847725" y="913764"/>
              <a:ext cx="6076950" cy="8098790"/>
            </a:xfrm>
            <a:custGeom>
              <a:avLst/>
              <a:gdLst/>
              <a:ahLst/>
              <a:cxnLst/>
              <a:rect l="l" t="t" r="r" b="b"/>
              <a:pathLst>
                <a:path w="6076950" h="8098790">
                  <a:moveTo>
                    <a:pt x="6076950" y="0"/>
                  </a:moveTo>
                  <a:lnTo>
                    <a:pt x="0" y="0"/>
                  </a:lnTo>
                  <a:lnTo>
                    <a:pt x="0" y="8098789"/>
                  </a:lnTo>
                  <a:lnTo>
                    <a:pt x="6076950" y="8098789"/>
                  </a:lnTo>
                  <a:lnTo>
                    <a:pt x="6076950" y="0"/>
                  </a:lnTo>
                  <a:close/>
                </a:path>
              </a:pathLst>
            </a:custGeom>
            <a:solidFill>
              <a:srgbClr val="F4F4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14400" y="981709"/>
              <a:ext cx="5888355" cy="7964805"/>
            </a:xfrm>
            <a:custGeom>
              <a:avLst/>
              <a:gdLst/>
              <a:ahLst/>
              <a:cxnLst/>
              <a:rect l="l" t="t" r="r" b="b"/>
              <a:pathLst>
                <a:path w="5888355" h="7964805">
                  <a:moveTo>
                    <a:pt x="1175385" y="4064000"/>
                  </a:moveTo>
                  <a:lnTo>
                    <a:pt x="0" y="4064000"/>
                  </a:lnTo>
                  <a:lnTo>
                    <a:pt x="0" y="4225925"/>
                  </a:lnTo>
                  <a:lnTo>
                    <a:pt x="1175385" y="4225925"/>
                  </a:lnTo>
                  <a:lnTo>
                    <a:pt x="1175385" y="4064000"/>
                  </a:lnTo>
                  <a:close/>
                </a:path>
                <a:path w="5888355" h="7964805">
                  <a:moveTo>
                    <a:pt x="2101215" y="3901440"/>
                  </a:moveTo>
                  <a:lnTo>
                    <a:pt x="0" y="3901440"/>
                  </a:lnTo>
                  <a:lnTo>
                    <a:pt x="0" y="4063365"/>
                  </a:lnTo>
                  <a:lnTo>
                    <a:pt x="2101215" y="4063365"/>
                  </a:lnTo>
                  <a:lnTo>
                    <a:pt x="2101215" y="3901440"/>
                  </a:lnTo>
                  <a:close/>
                </a:path>
                <a:path w="5888355" h="7964805">
                  <a:moveTo>
                    <a:pt x="2943225" y="0"/>
                  </a:moveTo>
                  <a:lnTo>
                    <a:pt x="0" y="0"/>
                  </a:lnTo>
                  <a:lnTo>
                    <a:pt x="0" y="161925"/>
                  </a:lnTo>
                  <a:lnTo>
                    <a:pt x="2943225" y="161925"/>
                  </a:lnTo>
                  <a:lnTo>
                    <a:pt x="2943225" y="0"/>
                  </a:lnTo>
                  <a:close/>
                </a:path>
                <a:path w="5888355" h="7964805">
                  <a:moveTo>
                    <a:pt x="3195955" y="3576320"/>
                  </a:moveTo>
                  <a:lnTo>
                    <a:pt x="0" y="3576320"/>
                  </a:lnTo>
                  <a:lnTo>
                    <a:pt x="0" y="3738245"/>
                  </a:lnTo>
                  <a:lnTo>
                    <a:pt x="3195955" y="3738245"/>
                  </a:lnTo>
                  <a:lnTo>
                    <a:pt x="3195955" y="3576320"/>
                  </a:lnTo>
                  <a:close/>
                </a:path>
                <a:path w="5888355" h="7964805">
                  <a:moveTo>
                    <a:pt x="3363595" y="4226560"/>
                  </a:moveTo>
                  <a:lnTo>
                    <a:pt x="0" y="4226560"/>
                  </a:lnTo>
                  <a:lnTo>
                    <a:pt x="0" y="4388485"/>
                  </a:lnTo>
                  <a:lnTo>
                    <a:pt x="3363595" y="4388485"/>
                  </a:lnTo>
                  <a:lnTo>
                    <a:pt x="3363595" y="4226560"/>
                  </a:lnTo>
                  <a:close/>
                </a:path>
                <a:path w="5888355" h="7964805">
                  <a:moveTo>
                    <a:pt x="4373245" y="7477760"/>
                  </a:moveTo>
                  <a:lnTo>
                    <a:pt x="0" y="7477760"/>
                  </a:lnTo>
                  <a:lnTo>
                    <a:pt x="0" y="7639685"/>
                  </a:lnTo>
                  <a:lnTo>
                    <a:pt x="4373245" y="7639685"/>
                  </a:lnTo>
                  <a:lnTo>
                    <a:pt x="4373245" y="7477760"/>
                  </a:lnTo>
                  <a:close/>
                </a:path>
                <a:path w="5888355" h="7964805">
                  <a:moveTo>
                    <a:pt x="4877435" y="7802880"/>
                  </a:moveTo>
                  <a:lnTo>
                    <a:pt x="0" y="7802880"/>
                  </a:lnTo>
                  <a:lnTo>
                    <a:pt x="0" y="7964805"/>
                  </a:lnTo>
                  <a:lnTo>
                    <a:pt x="4877435" y="7964805"/>
                  </a:lnTo>
                  <a:lnTo>
                    <a:pt x="4877435" y="7802880"/>
                  </a:lnTo>
                  <a:close/>
                </a:path>
                <a:path w="5888355" h="7964805">
                  <a:moveTo>
                    <a:pt x="5047615" y="1950720"/>
                  </a:moveTo>
                  <a:lnTo>
                    <a:pt x="0" y="1950720"/>
                  </a:lnTo>
                  <a:lnTo>
                    <a:pt x="0" y="2112645"/>
                  </a:lnTo>
                  <a:lnTo>
                    <a:pt x="5047615" y="2112645"/>
                  </a:lnTo>
                  <a:lnTo>
                    <a:pt x="5047615" y="1950720"/>
                  </a:lnTo>
                  <a:close/>
                </a:path>
                <a:path w="5888355" h="7964805">
                  <a:moveTo>
                    <a:pt x="5130165" y="5039360"/>
                  </a:moveTo>
                  <a:lnTo>
                    <a:pt x="0" y="5039360"/>
                  </a:lnTo>
                  <a:lnTo>
                    <a:pt x="0" y="5201285"/>
                  </a:lnTo>
                  <a:lnTo>
                    <a:pt x="5130165" y="5201285"/>
                  </a:lnTo>
                  <a:lnTo>
                    <a:pt x="5130165" y="5039360"/>
                  </a:lnTo>
                  <a:close/>
                </a:path>
                <a:path w="5888355" h="7964805">
                  <a:moveTo>
                    <a:pt x="5215255" y="6014720"/>
                  </a:moveTo>
                  <a:lnTo>
                    <a:pt x="0" y="6014720"/>
                  </a:lnTo>
                  <a:lnTo>
                    <a:pt x="0" y="6176645"/>
                  </a:lnTo>
                  <a:lnTo>
                    <a:pt x="5215255" y="6176645"/>
                  </a:lnTo>
                  <a:lnTo>
                    <a:pt x="5215255" y="6014720"/>
                  </a:lnTo>
                  <a:close/>
                </a:path>
                <a:path w="5888355" h="7964805">
                  <a:moveTo>
                    <a:pt x="5215255" y="3413760"/>
                  </a:moveTo>
                  <a:lnTo>
                    <a:pt x="0" y="3413760"/>
                  </a:lnTo>
                  <a:lnTo>
                    <a:pt x="0" y="3575685"/>
                  </a:lnTo>
                  <a:lnTo>
                    <a:pt x="5215255" y="3575685"/>
                  </a:lnTo>
                  <a:lnTo>
                    <a:pt x="5215255" y="3413760"/>
                  </a:lnTo>
                  <a:close/>
                </a:path>
                <a:path w="5888355" h="7964805">
                  <a:moveTo>
                    <a:pt x="5215255" y="325120"/>
                  </a:moveTo>
                  <a:lnTo>
                    <a:pt x="0" y="325120"/>
                  </a:lnTo>
                  <a:lnTo>
                    <a:pt x="0" y="487045"/>
                  </a:lnTo>
                  <a:lnTo>
                    <a:pt x="5215255" y="487045"/>
                  </a:lnTo>
                  <a:lnTo>
                    <a:pt x="5215255" y="325120"/>
                  </a:lnTo>
                  <a:close/>
                </a:path>
                <a:path w="5888355" h="7964805">
                  <a:moveTo>
                    <a:pt x="5299075" y="2763520"/>
                  </a:moveTo>
                  <a:lnTo>
                    <a:pt x="0" y="2763520"/>
                  </a:lnTo>
                  <a:lnTo>
                    <a:pt x="0" y="2925445"/>
                  </a:lnTo>
                  <a:lnTo>
                    <a:pt x="5299075" y="2925445"/>
                  </a:lnTo>
                  <a:lnTo>
                    <a:pt x="5299075" y="2763520"/>
                  </a:lnTo>
                  <a:close/>
                </a:path>
                <a:path w="5888355" h="7964805">
                  <a:moveTo>
                    <a:pt x="5299075" y="1625600"/>
                  </a:moveTo>
                  <a:lnTo>
                    <a:pt x="0" y="1625600"/>
                  </a:lnTo>
                  <a:lnTo>
                    <a:pt x="0" y="1787525"/>
                  </a:lnTo>
                  <a:lnTo>
                    <a:pt x="5299075" y="1787525"/>
                  </a:lnTo>
                  <a:lnTo>
                    <a:pt x="5299075" y="1625600"/>
                  </a:lnTo>
                  <a:close/>
                </a:path>
                <a:path w="5888355" h="7964805">
                  <a:moveTo>
                    <a:pt x="5382895" y="5852160"/>
                  </a:moveTo>
                  <a:lnTo>
                    <a:pt x="0" y="5852160"/>
                  </a:lnTo>
                  <a:lnTo>
                    <a:pt x="0" y="6014085"/>
                  </a:lnTo>
                  <a:lnTo>
                    <a:pt x="5382895" y="6014085"/>
                  </a:lnTo>
                  <a:lnTo>
                    <a:pt x="5382895" y="5852160"/>
                  </a:lnTo>
                  <a:close/>
                </a:path>
                <a:path w="5888355" h="7964805">
                  <a:moveTo>
                    <a:pt x="5382895" y="4714240"/>
                  </a:moveTo>
                  <a:lnTo>
                    <a:pt x="0" y="4714240"/>
                  </a:lnTo>
                  <a:lnTo>
                    <a:pt x="0" y="4876165"/>
                  </a:lnTo>
                  <a:lnTo>
                    <a:pt x="5382895" y="4876165"/>
                  </a:lnTo>
                  <a:lnTo>
                    <a:pt x="5382895" y="4714240"/>
                  </a:lnTo>
                  <a:close/>
                </a:path>
                <a:path w="5888355" h="7964805">
                  <a:moveTo>
                    <a:pt x="5382895" y="1788160"/>
                  </a:moveTo>
                  <a:lnTo>
                    <a:pt x="0" y="1788160"/>
                  </a:lnTo>
                  <a:lnTo>
                    <a:pt x="0" y="1950085"/>
                  </a:lnTo>
                  <a:lnTo>
                    <a:pt x="5382895" y="1950085"/>
                  </a:lnTo>
                  <a:lnTo>
                    <a:pt x="5382895" y="1788160"/>
                  </a:lnTo>
                  <a:close/>
                </a:path>
                <a:path w="5888355" h="7964805">
                  <a:moveTo>
                    <a:pt x="5384165" y="5527040"/>
                  </a:moveTo>
                  <a:lnTo>
                    <a:pt x="0" y="5527040"/>
                  </a:lnTo>
                  <a:lnTo>
                    <a:pt x="0" y="5688965"/>
                  </a:lnTo>
                  <a:lnTo>
                    <a:pt x="5384165" y="5688965"/>
                  </a:lnTo>
                  <a:lnTo>
                    <a:pt x="5384165" y="5527040"/>
                  </a:lnTo>
                  <a:close/>
                </a:path>
                <a:path w="5888355" h="7964805">
                  <a:moveTo>
                    <a:pt x="5467985" y="5364480"/>
                  </a:moveTo>
                  <a:lnTo>
                    <a:pt x="0" y="5364480"/>
                  </a:lnTo>
                  <a:lnTo>
                    <a:pt x="0" y="5526405"/>
                  </a:lnTo>
                  <a:lnTo>
                    <a:pt x="5467985" y="5526405"/>
                  </a:lnTo>
                  <a:lnTo>
                    <a:pt x="5467985" y="5364480"/>
                  </a:lnTo>
                  <a:close/>
                </a:path>
                <a:path w="5888355" h="7964805">
                  <a:moveTo>
                    <a:pt x="5550535" y="162560"/>
                  </a:moveTo>
                  <a:lnTo>
                    <a:pt x="0" y="162560"/>
                  </a:lnTo>
                  <a:lnTo>
                    <a:pt x="0" y="324485"/>
                  </a:lnTo>
                  <a:lnTo>
                    <a:pt x="5550535" y="324485"/>
                  </a:lnTo>
                  <a:lnTo>
                    <a:pt x="5550535" y="162560"/>
                  </a:lnTo>
                  <a:close/>
                </a:path>
                <a:path w="5888355" h="7964805">
                  <a:moveTo>
                    <a:pt x="5551805" y="6339840"/>
                  </a:moveTo>
                  <a:lnTo>
                    <a:pt x="0" y="6339840"/>
                  </a:lnTo>
                  <a:lnTo>
                    <a:pt x="0" y="6501765"/>
                  </a:lnTo>
                  <a:lnTo>
                    <a:pt x="5551805" y="6501765"/>
                  </a:lnTo>
                  <a:lnTo>
                    <a:pt x="5551805" y="6339840"/>
                  </a:lnTo>
                  <a:close/>
                </a:path>
                <a:path w="5888355" h="7964805">
                  <a:moveTo>
                    <a:pt x="5635625" y="6664960"/>
                  </a:moveTo>
                  <a:lnTo>
                    <a:pt x="0" y="6664960"/>
                  </a:lnTo>
                  <a:lnTo>
                    <a:pt x="0" y="6826885"/>
                  </a:lnTo>
                  <a:lnTo>
                    <a:pt x="5635625" y="6826885"/>
                  </a:lnTo>
                  <a:lnTo>
                    <a:pt x="5635625" y="6664960"/>
                  </a:lnTo>
                  <a:close/>
                </a:path>
                <a:path w="5888355" h="7964805">
                  <a:moveTo>
                    <a:pt x="5635625" y="5689600"/>
                  </a:moveTo>
                  <a:lnTo>
                    <a:pt x="0" y="5689600"/>
                  </a:lnTo>
                  <a:lnTo>
                    <a:pt x="0" y="5851525"/>
                  </a:lnTo>
                  <a:lnTo>
                    <a:pt x="5635625" y="5851525"/>
                  </a:lnTo>
                  <a:lnTo>
                    <a:pt x="5635625" y="5689600"/>
                  </a:lnTo>
                  <a:close/>
                </a:path>
                <a:path w="5888355" h="7964805">
                  <a:moveTo>
                    <a:pt x="5635625" y="3738880"/>
                  </a:moveTo>
                  <a:lnTo>
                    <a:pt x="0" y="3738880"/>
                  </a:lnTo>
                  <a:lnTo>
                    <a:pt x="0" y="3900805"/>
                  </a:lnTo>
                  <a:lnTo>
                    <a:pt x="5635625" y="3900805"/>
                  </a:lnTo>
                  <a:lnTo>
                    <a:pt x="5635625" y="3738880"/>
                  </a:lnTo>
                  <a:close/>
                </a:path>
                <a:path w="5888355" h="7964805">
                  <a:moveTo>
                    <a:pt x="5635625" y="3251200"/>
                  </a:moveTo>
                  <a:lnTo>
                    <a:pt x="0" y="3251200"/>
                  </a:lnTo>
                  <a:lnTo>
                    <a:pt x="0" y="3413125"/>
                  </a:lnTo>
                  <a:lnTo>
                    <a:pt x="5635625" y="3413125"/>
                  </a:lnTo>
                  <a:lnTo>
                    <a:pt x="5635625" y="3251200"/>
                  </a:lnTo>
                  <a:close/>
                </a:path>
                <a:path w="5888355" h="7964805">
                  <a:moveTo>
                    <a:pt x="5719445" y="6990080"/>
                  </a:moveTo>
                  <a:lnTo>
                    <a:pt x="0" y="6990080"/>
                  </a:lnTo>
                  <a:lnTo>
                    <a:pt x="0" y="7152005"/>
                  </a:lnTo>
                  <a:lnTo>
                    <a:pt x="5719445" y="7152005"/>
                  </a:lnTo>
                  <a:lnTo>
                    <a:pt x="5719445" y="6990080"/>
                  </a:lnTo>
                  <a:close/>
                </a:path>
                <a:path w="5888355" h="7964805">
                  <a:moveTo>
                    <a:pt x="5719445" y="6177280"/>
                  </a:moveTo>
                  <a:lnTo>
                    <a:pt x="0" y="6177280"/>
                  </a:lnTo>
                  <a:lnTo>
                    <a:pt x="0" y="6339205"/>
                  </a:lnTo>
                  <a:lnTo>
                    <a:pt x="5719445" y="6339205"/>
                  </a:lnTo>
                  <a:lnTo>
                    <a:pt x="5719445" y="6177280"/>
                  </a:lnTo>
                  <a:close/>
                </a:path>
                <a:path w="5888355" h="7964805">
                  <a:moveTo>
                    <a:pt x="5719445" y="2275840"/>
                  </a:moveTo>
                  <a:lnTo>
                    <a:pt x="0" y="2275840"/>
                  </a:lnTo>
                  <a:lnTo>
                    <a:pt x="0" y="2437765"/>
                  </a:lnTo>
                  <a:lnTo>
                    <a:pt x="5719445" y="2437765"/>
                  </a:lnTo>
                  <a:lnTo>
                    <a:pt x="5719445" y="2275840"/>
                  </a:lnTo>
                  <a:close/>
                </a:path>
                <a:path w="5888355" h="7964805">
                  <a:moveTo>
                    <a:pt x="5719445" y="650240"/>
                  </a:moveTo>
                  <a:lnTo>
                    <a:pt x="0" y="650240"/>
                  </a:lnTo>
                  <a:lnTo>
                    <a:pt x="0" y="812165"/>
                  </a:lnTo>
                  <a:lnTo>
                    <a:pt x="5719445" y="812165"/>
                  </a:lnTo>
                  <a:lnTo>
                    <a:pt x="5719445" y="650240"/>
                  </a:lnTo>
                  <a:close/>
                </a:path>
                <a:path w="5888355" h="7964805">
                  <a:moveTo>
                    <a:pt x="5720715" y="4876800"/>
                  </a:moveTo>
                  <a:lnTo>
                    <a:pt x="0" y="4876800"/>
                  </a:lnTo>
                  <a:lnTo>
                    <a:pt x="0" y="5038725"/>
                  </a:lnTo>
                  <a:lnTo>
                    <a:pt x="5720715" y="5038725"/>
                  </a:lnTo>
                  <a:lnTo>
                    <a:pt x="5720715" y="4876800"/>
                  </a:lnTo>
                  <a:close/>
                </a:path>
                <a:path w="5888355" h="7964805">
                  <a:moveTo>
                    <a:pt x="5720715" y="4551680"/>
                  </a:moveTo>
                  <a:lnTo>
                    <a:pt x="0" y="4551680"/>
                  </a:lnTo>
                  <a:lnTo>
                    <a:pt x="0" y="4713605"/>
                  </a:lnTo>
                  <a:lnTo>
                    <a:pt x="5720715" y="4713605"/>
                  </a:lnTo>
                  <a:lnTo>
                    <a:pt x="5720715" y="4551680"/>
                  </a:lnTo>
                  <a:close/>
                </a:path>
                <a:path w="5888355" h="7964805">
                  <a:moveTo>
                    <a:pt x="5720715" y="4389120"/>
                  </a:moveTo>
                  <a:lnTo>
                    <a:pt x="0" y="4389120"/>
                  </a:lnTo>
                  <a:lnTo>
                    <a:pt x="0" y="4551045"/>
                  </a:lnTo>
                  <a:lnTo>
                    <a:pt x="5720715" y="4551045"/>
                  </a:lnTo>
                  <a:lnTo>
                    <a:pt x="5720715" y="4389120"/>
                  </a:lnTo>
                  <a:close/>
                </a:path>
                <a:path w="5888355" h="7964805">
                  <a:moveTo>
                    <a:pt x="5720715" y="2600960"/>
                  </a:moveTo>
                  <a:lnTo>
                    <a:pt x="0" y="2600960"/>
                  </a:lnTo>
                  <a:lnTo>
                    <a:pt x="0" y="2762885"/>
                  </a:lnTo>
                  <a:lnTo>
                    <a:pt x="5720715" y="2762885"/>
                  </a:lnTo>
                  <a:lnTo>
                    <a:pt x="5720715" y="2600960"/>
                  </a:lnTo>
                  <a:close/>
                </a:path>
                <a:path w="5888355" h="7964805">
                  <a:moveTo>
                    <a:pt x="5803265" y="6502400"/>
                  </a:moveTo>
                  <a:lnTo>
                    <a:pt x="0" y="6502400"/>
                  </a:lnTo>
                  <a:lnTo>
                    <a:pt x="0" y="6664325"/>
                  </a:lnTo>
                  <a:lnTo>
                    <a:pt x="5803265" y="6664325"/>
                  </a:lnTo>
                  <a:lnTo>
                    <a:pt x="5803265" y="6502400"/>
                  </a:lnTo>
                  <a:close/>
                </a:path>
                <a:path w="5888355" h="7964805">
                  <a:moveTo>
                    <a:pt x="5803265" y="2926080"/>
                  </a:moveTo>
                  <a:lnTo>
                    <a:pt x="0" y="2926080"/>
                  </a:lnTo>
                  <a:lnTo>
                    <a:pt x="0" y="3088005"/>
                  </a:lnTo>
                  <a:lnTo>
                    <a:pt x="5803265" y="3088005"/>
                  </a:lnTo>
                  <a:lnTo>
                    <a:pt x="5803265" y="2926080"/>
                  </a:lnTo>
                  <a:close/>
                </a:path>
                <a:path w="5888355" h="7964805">
                  <a:moveTo>
                    <a:pt x="5803265" y="487680"/>
                  </a:moveTo>
                  <a:lnTo>
                    <a:pt x="0" y="487680"/>
                  </a:lnTo>
                  <a:lnTo>
                    <a:pt x="0" y="649605"/>
                  </a:lnTo>
                  <a:lnTo>
                    <a:pt x="5803265" y="649605"/>
                  </a:lnTo>
                  <a:lnTo>
                    <a:pt x="5803265" y="487680"/>
                  </a:lnTo>
                  <a:close/>
                </a:path>
                <a:path w="5888355" h="7964805">
                  <a:moveTo>
                    <a:pt x="5804535" y="7640320"/>
                  </a:moveTo>
                  <a:lnTo>
                    <a:pt x="0" y="7640320"/>
                  </a:lnTo>
                  <a:lnTo>
                    <a:pt x="0" y="7802245"/>
                  </a:lnTo>
                  <a:lnTo>
                    <a:pt x="5804535" y="7802245"/>
                  </a:lnTo>
                  <a:lnTo>
                    <a:pt x="5804535" y="7640320"/>
                  </a:lnTo>
                  <a:close/>
                </a:path>
                <a:path w="5888355" h="7964805">
                  <a:moveTo>
                    <a:pt x="5804535" y="6827520"/>
                  </a:moveTo>
                  <a:lnTo>
                    <a:pt x="0" y="6827520"/>
                  </a:lnTo>
                  <a:lnTo>
                    <a:pt x="0" y="6989445"/>
                  </a:lnTo>
                  <a:lnTo>
                    <a:pt x="5804535" y="6989445"/>
                  </a:lnTo>
                  <a:lnTo>
                    <a:pt x="5804535" y="6827520"/>
                  </a:lnTo>
                  <a:close/>
                </a:path>
                <a:path w="5888355" h="7964805">
                  <a:moveTo>
                    <a:pt x="5804535" y="2113280"/>
                  </a:moveTo>
                  <a:lnTo>
                    <a:pt x="0" y="2113280"/>
                  </a:lnTo>
                  <a:lnTo>
                    <a:pt x="0" y="2275205"/>
                  </a:lnTo>
                  <a:lnTo>
                    <a:pt x="5804535" y="2275205"/>
                  </a:lnTo>
                  <a:lnTo>
                    <a:pt x="5804535" y="2113280"/>
                  </a:lnTo>
                  <a:close/>
                </a:path>
                <a:path w="5888355" h="7964805">
                  <a:moveTo>
                    <a:pt x="5887085" y="5201920"/>
                  </a:moveTo>
                  <a:lnTo>
                    <a:pt x="0" y="5201920"/>
                  </a:lnTo>
                  <a:lnTo>
                    <a:pt x="0" y="5363845"/>
                  </a:lnTo>
                  <a:lnTo>
                    <a:pt x="5887085" y="5363845"/>
                  </a:lnTo>
                  <a:lnTo>
                    <a:pt x="5887085" y="5201920"/>
                  </a:lnTo>
                  <a:close/>
                </a:path>
                <a:path w="5888355" h="7964805">
                  <a:moveTo>
                    <a:pt x="5887085" y="975360"/>
                  </a:moveTo>
                  <a:lnTo>
                    <a:pt x="0" y="975360"/>
                  </a:lnTo>
                  <a:lnTo>
                    <a:pt x="0" y="1137285"/>
                  </a:lnTo>
                  <a:lnTo>
                    <a:pt x="5887085" y="1137285"/>
                  </a:lnTo>
                  <a:lnTo>
                    <a:pt x="5887085" y="975360"/>
                  </a:lnTo>
                  <a:close/>
                </a:path>
                <a:path w="5888355" h="7964805">
                  <a:moveTo>
                    <a:pt x="5888355" y="7315200"/>
                  </a:moveTo>
                  <a:lnTo>
                    <a:pt x="0" y="7315200"/>
                  </a:lnTo>
                  <a:lnTo>
                    <a:pt x="0" y="7477125"/>
                  </a:lnTo>
                  <a:lnTo>
                    <a:pt x="5888355" y="7477125"/>
                  </a:lnTo>
                  <a:lnTo>
                    <a:pt x="5888355" y="7315200"/>
                  </a:lnTo>
                  <a:close/>
                </a:path>
                <a:path w="5888355" h="7964805">
                  <a:moveTo>
                    <a:pt x="5888355" y="7152640"/>
                  </a:moveTo>
                  <a:lnTo>
                    <a:pt x="0" y="7152640"/>
                  </a:lnTo>
                  <a:lnTo>
                    <a:pt x="0" y="7314565"/>
                  </a:lnTo>
                  <a:lnTo>
                    <a:pt x="5888355" y="7314565"/>
                  </a:lnTo>
                  <a:lnTo>
                    <a:pt x="5888355" y="7152640"/>
                  </a:lnTo>
                  <a:close/>
                </a:path>
                <a:path w="5888355" h="7964805">
                  <a:moveTo>
                    <a:pt x="5888355" y="3088640"/>
                  </a:moveTo>
                  <a:lnTo>
                    <a:pt x="0" y="3088640"/>
                  </a:lnTo>
                  <a:lnTo>
                    <a:pt x="0" y="3250565"/>
                  </a:lnTo>
                  <a:lnTo>
                    <a:pt x="5888355" y="3250565"/>
                  </a:lnTo>
                  <a:lnTo>
                    <a:pt x="5888355" y="3088640"/>
                  </a:lnTo>
                  <a:close/>
                </a:path>
                <a:path w="5888355" h="7964805">
                  <a:moveTo>
                    <a:pt x="5888355" y="2438400"/>
                  </a:moveTo>
                  <a:lnTo>
                    <a:pt x="0" y="2438400"/>
                  </a:lnTo>
                  <a:lnTo>
                    <a:pt x="0" y="2600325"/>
                  </a:lnTo>
                  <a:lnTo>
                    <a:pt x="5888355" y="2600325"/>
                  </a:lnTo>
                  <a:lnTo>
                    <a:pt x="5888355" y="2438400"/>
                  </a:lnTo>
                  <a:close/>
                </a:path>
                <a:path w="5888355" h="7964805">
                  <a:moveTo>
                    <a:pt x="5888355" y="1463040"/>
                  </a:moveTo>
                  <a:lnTo>
                    <a:pt x="0" y="1463040"/>
                  </a:lnTo>
                  <a:lnTo>
                    <a:pt x="0" y="1624965"/>
                  </a:lnTo>
                  <a:lnTo>
                    <a:pt x="5888355" y="1624965"/>
                  </a:lnTo>
                  <a:lnTo>
                    <a:pt x="5888355" y="1463040"/>
                  </a:lnTo>
                  <a:close/>
                </a:path>
                <a:path w="5888355" h="7964805">
                  <a:moveTo>
                    <a:pt x="5888355" y="1300480"/>
                  </a:moveTo>
                  <a:lnTo>
                    <a:pt x="0" y="1300480"/>
                  </a:lnTo>
                  <a:lnTo>
                    <a:pt x="0" y="1462405"/>
                  </a:lnTo>
                  <a:lnTo>
                    <a:pt x="5888355" y="1462405"/>
                  </a:lnTo>
                  <a:lnTo>
                    <a:pt x="5888355" y="1300480"/>
                  </a:lnTo>
                  <a:close/>
                </a:path>
                <a:path w="5888355" h="7964805">
                  <a:moveTo>
                    <a:pt x="5888355" y="1137920"/>
                  </a:moveTo>
                  <a:lnTo>
                    <a:pt x="0" y="1137920"/>
                  </a:lnTo>
                  <a:lnTo>
                    <a:pt x="0" y="1299845"/>
                  </a:lnTo>
                  <a:lnTo>
                    <a:pt x="5888355" y="1299845"/>
                  </a:lnTo>
                  <a:lnTo>
                    <a:pt x="5888355" y="1137920"/>
                  </a:lnTo>
                  <a:close/>
                </a:path>
                <a:path w="5888355" h="7964805">
                  <a:moveTo>
                    <a:pt x="5888355" y="812800"/>
                  </a:moveTo>
                  <a:lnTo>
                    <a:pt x="0" y="812800"/>
                  </a:lnTo>
                  <a:lnTo>
                    <a:pt x="0" y="974725"/>
                  </a:lnTo>
                  <a:lnTo>
                    <a:pt x="5888355" y="974725"/>
                  </a:lnTo>
                  <a:lnTo>
                    <a:pt x="5888355" y="812800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902969" y="958850"/>
            <a:ext cx="5913120" cy="799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300"/>
              </a:lnSpc>
              <a:spcBef>
                <a:spcPts val="100"/>
              </a:spcBef>
            </a:pPr>
            <a:r>
              <a:rPr sz="1100" dirty="0">
                <a:latin typeface="Courier New"/>
                <a:cs typeface="Courier New"/>
              </a:rPr>
              <a:t>Action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Input: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"top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current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affairs"</a:t>
            </a:r>
            <a:endParaRPr sz="1100">
              <a:latin typeface="Courier New"/>
              <a:cs typeface="Courier New"/>
            </a:endParaRPr>
          </a:p>
          <a:p>
            <a:pPr marL="12700" marR="5715">
              <a:lnSpc>
                <a:spcPts val="1280"/>
              </a:lnSpc>
              <a:spcBef>
                <a:spcPts val="55"/>
              </a:spcBef>
            </a:pPr>
            <a:r>
              <a:rPr sz="1100" dirty="0">
                <a:latin typeface="Courier New"/>
                <a:cs typeface="Courier New"/>
              </a:rPr>
              <a:t>Observation: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["Get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international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breaking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news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current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affairs </a:t>
            </a:r>
            <a:r>
              <a:rPr sz="1100" dirty="0">
                <a:latin typeface="Courier New"/>
                <a:cs typeface="Courier New"/>
              </a:rPr>
              <a:t>reported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by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Nine's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network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of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reporters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correspondents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and</a:t>
            </a:r>
            <a:r>
              <a:rPr sz="1100" spc="50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partners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as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it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happens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US,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Europe,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Middle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...",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"GKToday's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Current </a:t>
            </a:r>
            <a:r>
              <a:rPr sz="1100" dirty="0">
                <a:latin typeface="Courier New"/>
                <a:cs typeface="Courier New"/>
              </a:rPr>
              <a:t>Affairs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Today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Section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provides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latest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Best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Daily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Current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Affairs 2022-</a:t>
            </a:r>
            <a:r>
              <a:rPr sz="1100" dirty="0">
                <a:latin typeface="Courier New"/>
                <a:cs typeface="Courier New"/>
              </a:rPr>
              <a:t>2023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for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UPSC,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IAS/PCS,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Banking,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IBPS,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SSC,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Railway,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UPPSC,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...",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ts val="1225"/>
              </a:lnSpc>
            </a:pPr>
            <a:r>
              <a:rPr sz="1100" dirty="0">
                <a:latin typeface="Courier New"/>
                <a:cs typeface="Courier New"/>
              </a:rPr>
              <a:t>'List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of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United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States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articles.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vertically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split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image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shows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former</a:t>
            </a:r>
            <a:endParaRPr sz="1100">
              <a:latin typeface="Courier New"/>
              <a:cs typeface="Courier New"/>
            </a:endParaRPr>
          </a:p>
          <a:p>
            <a:pPr marL="12700" marR="5080">
              <a:lnSpc>
                <a:spcPts val="1280"/>
              </a:lnSpc>
              <a:spcBef>
                <a:spcPts val="55"/>
              </a:spcBef>
            </a:pPr>
            <a:r>
              <a:rPr sz="1100" dirty="0">
                <a:latin typeface="Courier New"/>
                <a:cs typeface="Courier New"/>
              </a:rPr>
              <a:t>U.S.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President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Donald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Trump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on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left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current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U.S.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President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Joe </a:t>
            </a:r>
            <a:r>
              <a:rPr sz="1100" dirty="0">
                <a:latin typeface="Courier New"/>
                <a:cs typeface="Courier New"/>
              </a:rPr>
              <a:t>Biden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on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right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...',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'A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Current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Affairs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subscription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is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one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of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the </a:t>
            </a:r>
            <a:r>
              <a:rPr sz="1100" dirty="0">
                <a:latin typeface="Courier New"/>
                <a:cs typeface="Courier New"/>
              </a:rPr>
              <a:t>best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known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ways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to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improve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your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life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hurry.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Our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print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magazine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is </a:t>
            </a:r>
            <a:r>
              <a:rPr sz="1100" dirty="0">
                <a:latin typeface="Courier New"/>
                <a:cs typeface="Courier New"/>
              </a:rPr>
              <a:t>released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six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times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year,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...',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'Adda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247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current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affairs </a:t>
            </a:r>
            <a:r>
              <a:rPr sz="1100" dirty="0">
                <a:latin typeface="Courier New"/>
                <a:cs typeface="Courier New"/>
              </a:rPr>
              <a:t>sources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are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PIB,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NewsOnAir,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RBI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website,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Various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newspapers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like</a:t>
            </a:r>
            <a:r>
              <a:rPr sz="1100" spc="50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Hindu,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Indian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Express,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Financial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Express,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many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more.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Q.5</a:t>
            </a:r>
            <a:endParaRPr sz="1100">
              <a:latin typeface="Courier New"/>
              <a:cs typeface="Courier New"/>
            </a:endParaRPr>
          </a:p>
          <a:p>
            <a:pPr marL="12700" marR="5080">
              <a:lnSpc>
                <a:spcPts val="1280"/>
              </a:lnSpc>
            </a:pPr>
            <a:r>
              <a:rPr sz="1100" dirty="0">
                <a:latin typeface="Courier New"/>
                <a:cs typeface="Courier New"/>
              </a:rPr>
              <a:t>Does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...',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'Current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Affairs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·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India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Takes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Up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TS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Men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War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Issue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With </a:t>
            </a:r>
            <a:r>
              <a:rPr sz="1100" dirty="0">
                <a:latin typeface="Courier New"/>
                <a:cs typeface="Courier New"/>
              </a:rPr>
              <a:t>Russia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·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Villagers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Seek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Action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Against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Aqua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Farmers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·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Will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Not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Allow </a:t>
            </a:r>
            <a:r>
              <a:rPr sz="1100" dirty="0">
                <a:latin typeface="Courier New"/>
                <a:cs typeface="Courier New"/>
              </a:rPr>
              <a:t>Land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Grab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Vizag: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Dharmana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·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CM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...',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'Current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Affairs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Podcasts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·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1. </a:t>
            </a:r>
            <a:r>
              <a:rPr sz="1100" dirty="0">
                <a:latin typeface="Courier New"/>
                <a:cs typeface="Courier New"/>
              </a:rPr>
              <a:t>AM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·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2.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Current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Affairs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-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Views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News(Audio)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·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3.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Pacific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Waves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spc="-50" dirty="0">
                <a:latin typeface="Courier New"/>
                <a:cs typeface="Courier New"/>
              </a:rPr>
              <a:t>·</a:t>
            </a:r>
            <a:endParaRPr sz="1100">
              <a:latin typeface="Courier New"/>
              <a:cs typeface="Courier New"/>
            </a:endParaRPr>
          </a:p>
          <a:p>
            <a:pPr marL="12700" marR="90170">
              <a:lnSpc>
                <a:spcPts val="1280"/>
              </a:lnSpc>
            </a:pPr>
            <a:r>
              <a:rPr sz="1100" dirty="0">
                <a:latin typeface="Courier New"/>
                <a:cs typeface="Courier New"/>
              </a:rPr>
              <a:t>4.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World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Today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·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5.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Current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Affairs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·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6.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Nights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with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John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...', </a:t>
            </a:r>
            <a:r>
              <a:rPr sz="1100" dirty="0">
                <a:latin typeface="Courier New"/>
                <a:cs typeface="Courier New"/>
              </a:rPr>
              <a:t>'Popular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Current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Affairs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Blogs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·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1.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Jagran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Josh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·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2.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AffairsCloud.com</a:t>
            </a:r>
            <a:endParaRPr sz="1100">
              <a:latin typeface="Courier New"/>
              <a:cs typeface="Courier New"/>
            </a:endParaRPr>
          </a:p>
          <a:p>
            <a:pPr marL="12700" marR="5715">
              <a:lnSpc>
                <a:spcPts val="1280"/>
              </a:lnSpc>
            </a:pPr>
            <a:r>
              <a:rPr sz="1100" dirty="0">
                <a:latin typeface="Courier New"/>
                <a:cs typeface="Courier New"/>
              </a:rPr>
              <a:t>·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3.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CURRENT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AFFAIRS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Archives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-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INSIGHTSIAS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·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4.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Current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Affairs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2020: </a:t>
            </a:r>
            <a:r>
              <a:rPr sz="1100" dirty="0">
                <a:latin typeface="Courier New"/>
                <a:cs typeface="Courier New"/>
              </a:rPr>
              <a:t>Latest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&amp;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Daily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...',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'Special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Collections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·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1.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Blood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Money: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Why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the </a:t>
            </a:r>
            <a:r>
              <a:rPr sz="1100" dirty="0">
                <a:latin typeface="Courier New"/>
                <a:cs typeface="Courier New"/>
              </a:rPr>
              <a:t>Powerful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Turn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Blind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Eye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While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China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Kills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Americans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·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2.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The</a:t>
            </a:r>
            <a:r>
              <a:rPr sz="1100" spc="50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Victors: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Eisenhower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His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Boys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...']</a:t>
            </a:r>
            <a:endParaRPr sz="1100">
              <a:latin typeface="Courier New"/>
              <a:cs typeface="Courier New"/>
            </a:endParaRPr>
          </a:p>
          <a:p>
            <a:pPr marL="12700" marR="259079">
              <a:lnSpc>
                <a:spcPts val="1280"/>
              </a:lnSpc>
            </a:pPr>
            <a:r>
              <a:rPr sz="1100" dirty="0">
                <a:latin typeface="Courier New"/>
                <a:cs typeface="Courier New"/>
              </a:rPr>
              <a:t>Thought: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can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narrow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down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search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results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by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looking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for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recent </a:t>
            </a:r>
            <a:r>
              <a:rPr sz="1100" dirty="0">
                <a:latin typeface="Courier New"/>
                <a:cs typeface="Courier New"/>
              </a:rPr>
              <a:t>articles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or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news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sources.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ts val="1225"/>
              </a:lnSpc>
            </a:pPr>
            <a:r>
              <a:rPr sz="1100" dirty="0">
                <a:latin typeface="Courier New"/>
                <a:cs typeface="Courier New"/>
              </a:rPr>
              <a:t>Action: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Search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ts val="1280"/>
              </a:lnSpc>
            </a:pPr>
            <a:r>
              <a:rPr sz="1100" dirty="0">
                <a:latin typeface="Courier New"/>
                <a:cs typeface="Courier New"/>
              </a:rPr>
              <a:t>Action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Input: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"top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current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affairs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2021"</a:t>
            </a:r>
            <a:endParaRPr sz="1100">
              <a:latin typeface="Courier New"/>
              <a:cs typeface="Courier New"/>
            </a:endParaRPr>
          </a:p>
          <a:p>
            <a:pPr marL="12700" marR="173355">
              <a:lnSpc>
                <a:spcPts val="1280"/>
              </a:lnSpc>
              <a:spcBef>
                <a:spcPts val="55"/>
              </a:spcBef>
            </a:pPr>
            <a:r>
              <a:rPr sz="1100" dirty="0">
                <a:latin typeface="Courier New"/>
                <a:cs typeface="Courier New"/>
              </a:rPr>
              <a:t>Observation: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['Current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Affairs-</a:t>
            </a:r>
            <a:r>
              <a:rPr sz="1100" dirty="0">
                <a:latin typeface="Courier New"/>
                <a:cs typeface="Courier New"/>
              </a:rPr>
              <a:t>2021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;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July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2021,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Current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Affairs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and </a:t>
            </a:r>
            <a:r>
              <a:rPr sz="1100" dirty="0">
                <a:latin typeface="Courier New"/>
                <a:cs typeface="Courier New"/>
              </a:rPr>
              <a:t>Events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·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Current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Affairs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Events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;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June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2021,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Current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Affairs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and </a:t>
            </a:r>
            <a:r>
              <a:rPr sz="1100" dirty="0">
                <a:latin typeface="Courier New"/>
                <a:cs typeface="Courier New"/>
              </a:rPr>
              <a:t>Events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·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Current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Affairs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Events.',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'"1.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Competition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Focus </a:t>
            </a:r>
            <a:r>
              <a:rPr sz="1100" dirty="0">
                <a:latin typeface="Courier New"/>
                <a:cs typeface="Courier New"/>
              </a:rPr>
              <a:t>series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-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Current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Affairs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(yearly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2021)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is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best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selling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magazine.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br&gt;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ts val="1225"/>
              </a:lnSpc>
            </a:pPr>
            <a:r>
              <a:rPr sz="1100" dirty="0">
                <a:latin typeface="Courier New"/>
                <a:cs typeface="Courier New"/>
              </a:rPr>
              <a:t>2.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Provides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complete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coverage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of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current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Affairs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from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January</a:t>
            </a:r>
            <a:endParaRPr sz="1100">
              <a:latin typeface="Courier New"/>
              <a:cs typeface="Courier New"/>
            </a:endParaRPr>
          </a:p>
          <a:p>
            <a:pPr marL="12700" marR="5080">
              <a:lnSpc>
                <a:spcPts val="1280"/>
              </a:lnSpc>
              <a:spcBef>
                <a:spcPts val="60"/>
              </a:spcBef>
            </a:pPr>
            <a:r>
              <a:rPr sz="1100" dirty="0">
                <a:latin typeface="Courier New"/>
                <a:cs typeface="Courier New"/>
              </a:rPr>
              <a:t>2020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...',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'Prepare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for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upcoming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UPSC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exam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with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latest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current </a:t>
            </a:r>
            <a:r>
              <a:rPr sz="1100" dirty="0">
                <a:latin typeface="Courier New"/>
                <a:cs typeface="Courier New"/>
              </a:rPr>
              <a:t>affairs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from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2021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to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2024.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Get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list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of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current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events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news </a:t>
            </a:r>
            <a:r>
              <a:rPr sz="1100" dirty="0">
                <a:latin typeface="Courier New"/>
                <a:cs typeface="Courier New"/>
              </a:rPr>
              <a:t>important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from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IAS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prelims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...',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'January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to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December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2021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spc="-50" dirty="0">
                <a:latin typeface="Courier New"/>
                <a:cs typeface="Courier New"/>
              </a:rPr>
              <a:t>| </a:t>
            </a:r>
            <a:r>
              <a:rPr sz="1100" dirty="0">
                <a:latin typeface="Courier New"/>
                <a:cs typeface="Courier New"/>
              </a:rPr>
              <a:t>Current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Affairs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2021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|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Complete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Revision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|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6:30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AM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...',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"GKToday's </a:t>
            </a:r>
            <a:r>
              <a:rPr sz="1100" dirty="0">
                <a:latin typeface="Courier New"/>
                <a:cs typeface="Courier New"/>
              </a:rPr>
              <a:t>Current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Affairs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Today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Section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provides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latest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Best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Daily </a:t>
            </a:r>
            <a:r>
              <a:rPr sz="1100" dirty="0">
                <a:latin typeface="Courier New"/>
                <a:cs typeface="Courier New"/>
              </a:rPr>
              <a:t>Current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Affairs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2024-</a:t>
            </a:r>
            <a:r>
              <a:rPr sz="1100" dirty="0">
                <a:latin typeface="Courier New"/>
                <a:cs typeface="Courier New"/>
              </a:rPr>
              <a:t>25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for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UPSC,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IAS/PCS,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Banking,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IBPS,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SSC,</a:t>
            </a:r>
            <a:r>
              <a:rPr sz="1100" spc="50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Railway,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UPPSC,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RPSC,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...",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'Are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you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preparing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for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competitive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exams </a:t>
            </a:r>
            <a:r>
              <a:rPr sz="1100" dirty="0">
                <a:latin typeface="Courier New"/>
                <a:cs typeface="Courier New"/>
              </a:rPr>
              <a:t>2021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or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looking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for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Current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Affairs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2020-</a:t>
            </a:r>
            <a:r>
              <a:rPr sz="1100" dirty="0">
                <a:latin typeface="Courier New"/>
                <a:cs typeface="Courier New"/>
              </a:rPr>
              <a:t>2021?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We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have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app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that </a:t>
            </a:r>
            <a:r>
              <a:rPr sz="1100" dirty="0">
                <a:latin typeface="Courier New"/>
                <a:cs typeface="Courier New"/>
              </a:rPr>
              <a:t>fulfills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all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your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study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needs.',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'Get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daily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updates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on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latest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Current </a:t>
            </a:r>
            <a:r>
              <a:rPr sz="1100" dirty="0">
                <a:latin typeface="Courier New"/>
                <a:cs typeface="Courier New"/>
              </a:rPr>
              <a:t>Affairs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2024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for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upcoming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Bank,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SSC,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Railway,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Defence,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UPSC,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UPPSC, </a:t>
            </a:r>
            <a:r>
              <a:rPr sz="1100" dirty="0">
                <a:latin typeface="Courier New"/>
                <a:cs typeface="Courier New"/>
              </a:rPr>
              <a:t>BPSC,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MPPSC,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RPSC,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KPSC,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&amp;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all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other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Govt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...',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'Get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daily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updates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on </a:t>
            </a:r>
            <a:r>
              <a:rPr sz="1100" dirty="0">
                <a:latin typeface="Courier New"/>
                <a:cs typeface="Courier New"/>
              </a:rPr>
              <a:t>Daily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Current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Affairs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2024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for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upcoming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Bank,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SSC,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Railway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UPSC. </a:t>
            </a:r>
            <a:r>
              <a:rPr sz="1100" dirty="0">
                <a:latin typeface="Courier New"/>
                <a:cs typeface="Courier New"/>
              </a:rPr>
              <a:t>Download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monthly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current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affairs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2024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PDF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&amp;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updates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for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all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govt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...'] </a:t>
            </a:r>
            <a:r>
              <a:rPr sz="1100" dirty="0">
                <a:latin typeface="Courier New"/>
                <a:cs typeface="Courier New"/>
              </a:rPr>
              <a:t>Thought: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should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read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through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articles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make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list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of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top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ts val="1225"/>
              </a:lnSpc>
            </a:pPr>
            <a:r>
              <a:rPr sz="1100" dirty="0">
                <a:latin typeface="Courier New"/>
                <a:cs typeface="Courier New"/>
              </a:rPr>
              <a:t>5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current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affairs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based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on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relevance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importance.</a:t>
            </a:r>
            <a:endParaRPr sz="1100">
              <a:latin typeface="Courier New"/>
              <a:cs typeface="Courier New"/>
            </a:endParaRPr>
          </a:p>
          <a:p>
            <a:pPr marL="12700" marR="88900">
              <a:lnSpc>
                <a:spcPts val="1280"/>
              </a:lnSpc>
              <a:spcBef>
                <a:spcPts val="55"/>
              </a:spcBef>
            </a:pPr>
            <a:r>
              <a:rPr sz="1100" dirty="0">
                <a:latin typeface="Courier New"/>
                <a:cs typeface="Courier New"/>
              </a:rPr>
              <a:t>Final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Answer: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top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5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current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affairs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for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2021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are: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1.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COVID-</a:t>
            </a:r>
            <a:r>
              <a:rPr sz="1100" spc="-25" dirty="0">
                <a:latin typeface="Courier New"/>
                <a:cs typeface="Courier New"/>
              </a:rPr>
              <a:t>19 </a:t>
            </a:r>
            <a:r>
              <a:rPr sz="1100" dirty="0">
                <a:latin typeface="Courier New"/>
                <a:cs typeface="Courier New"/>
              </a:rPr>
              <a:t>pandemic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its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impact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on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world,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2.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United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States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48360" y="914400"/>
            <a:ext cx="6076315" cy="8098155"/>
          </a:xfrm>
          <a:custGeom>
            <a:avLst/>
            <a:gdLst/>
            <a:ahLst/>
            <a:cxnLst/>
            <a:rect l="l" t="t" r="r" b="b"/>
            <a:pathLst>
              <a:path w="6076315" h="8098155">
                <a:moveTo>
                  <a:pt x="0" y="1904"/>
                </a:moveTo>
                <a:lnTo>
                  <a:pt x="6076315" y="1904"/>
                </a:lnTo>
              </a:path>
              <a:path w="6076315" h="8098155">
                <a:moveTo>
                  <a:pt x="6075045" y="0"/>
                </a:moveTo>
                <a:lnTo>
                  <a:pt x="6075045" y="8098155"/>
                </a:lnTo>
              </a:path>
              <a:path w="6076315" h="8098155">
                <a:moveTo>
                  <a:pt x="6076315" y="8096884"/>
                </a:moveTo>
                <a:lnTo>
                  <a:pt x="0" y="8096884"/>
                </a:lnTo>
              </a:path>
              <a:path w="6076315" h="8098155">
                <a:moveTo>
                  <a:pt x="1905" y="8098155"/>
                </a:moveTo>
                <a:lnTo>
                  <a:pt x="1905" y="0"/>
                </a:lnTo>
              </a:path>
              <a:path w="6076315" h="8098155">
                <a:moveTo>
                  <a:pt x="0" y="1904"/>
                </a:moveTo>
                <a:lnTo>
                  <a:pt x="6076315" y="1904"/>
                </a:lnTo>
              </a:path>
              <a:path w="6076315" h="8098155">
                <a:moveTo>
                  <a:pt x="6075045" y="0"/>
                </a:moveTo>
                <a:lnTo>
                  <a:pt x="6075045" y="8098155"/>
                </a:lnTo>
              </a:path>
              <a:path w="6076315" h="8098155">
                <a:moveTo>
                  <a:pt x="6076315" y="8096884"/>
                </a:moveTo>
                <a:lnTo>
                  <a:pt x="0" y="8096884"/>
                </a:lnTo>
              </a:path>
              <a:path w="6076315" h="8098155">
                <a:moveTo>
                  <a:pt x="1905" y="8098155"/>
                </a:moveTo>
                <a:lnTo>
                  <a:pt x="1905" y="0"/>
                </a:lnTo>
              </a:path>
            </a:pathLst>
          </a:custGeom>
          <a:ln w="3175">
            <a:solidFill>
              <a:srgbClr val="E2E2E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47725" y="913764"/>
            <a:ext cx="6076950" cy="8111490"/>
          </a:xfrm>
          <a:custGeom>
            <a:avLst/>
            <a:gdLst/>
            <a:ahLst/>
            <a:cxnLst/>
            <a:rect l="l" t="t" r="r" b="b"/>
            <a:pathLst>
              <a:path w="6076950" h="8111490">
                <a:moveTo>
                  <a:pt x="6076950" y="0"/>
                </a:moveTo>
                <a:lnTo>
                  <a:pt x="0" y="0"/>
                </a:lnTo>
                <a:lnTo>
                  <a:pt x="0" y="1027430"/>
                </a:lnTo>
                <a:lnTo>
                  <a:pt x="0" y="2129790"/>
                </a:lnTo>
                <a:lnTo>
                  <a:pt x="0" y="2419350"/>
                </a:lnTo>
                <a:lnTo>
                  <a:pt x="0" y="8111490"/>
                </a:lnTo>
                <a:lnTo>
                  <a:pt x="6076950" y="8111490"/>
                </a:lnTo>
                <a:lnTo>
                  <a:pt x="6076950" y="2419350"/>
                </a:lnTo>
                <a:lnTo>
                  <a:pt x="6076950" y="2129790"/>
                </a:lnTo>
                <a:lnTo>
                  <a:pt x="6076950" y="1027430"/>
                </a:lnTo>
                <a:lnTo>
                  <a:pt x="6076950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14400" y="981710"/>
            <a:ext cx="573214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presidential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election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its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aftermath,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3.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ongoing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protests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for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4400" y="1144167"/>
            <a:ext cx="5719445" cy="16319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racial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justice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equality,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4.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environmental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crisis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efforts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14400" y="1306830"/>
            <a:ext cx="556323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for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sustainability,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5.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rise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of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virtual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learning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remote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4400" y="1469389"/>
            <a:ext cx="2113915" cy="16192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work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due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to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pandemic.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14400" y="1779270"/>
            <a:ext cx="1440815" cy="16192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167640" indent="-167005">
              <a:lnSpc>
                <a:spcPts val="1240"/>
              </a:lnSpc>
              <a:buChar char="&gt;"/>
              <a:tabLst>
                <a:tab pos="167640" algn="l"/>
              </a:tabLst>
            </a:pPr>
            <a:r>
              <a:rPr sz="1100" dirty="0">
                <a:latin typeface="Courier New"/>
                <a:cs typeface="Courier New"/>
              </a:rPr>
              <a:t>Finished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chain.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14400" y="2068829"/>
            <a:ext cx="5803900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'The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top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5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current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affairs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for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2021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are: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1.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COVID-</a:t>
            </a:r>
            <a:r>
              <a:rPr sz="1100" dirty="0">
                <a:latin typeface="Courier New"/>
                <a:cs typeface="Courier New"/>
              </a:rPr>
              <a:t>19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pandemic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and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14400" y="2231389"/>
            <a:ext cx="563562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its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impact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on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world,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2.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United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States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presidential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election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14400" y="2393950"/>
            <a:ext cx="546798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its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aftermath,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3.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ongoing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protests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for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racial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justice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and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14400" y="2556510"/>
            <a:ext cx="5803900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equality,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4.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environmental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crisis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efforts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for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sustainability,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14400" y="2719070"/>
            <a:ext cx="522795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5.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rise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of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virtual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learning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remote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work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due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to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the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14400" y="2881629"/>
            <a:ext cx="851535" cy="16192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spc="-10" dirty="0">
                <a:latin typeface="Courier New"/>
                <a:cs typeface="Courier New"/>
              </a:rPr>
              <a:t>pandemic.'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14400" y="3756659"/>
            <a:ext cx="5888355" cy="5201285"/>
          </a:xfrm>
          <a:custGeom>
            <a:avLst/>
            <a:gdLst/>
            <a:ahLst/>
            <a:cxnLst/>
            <a:rect l="l" t="t" r="r" b="b"/>
            <a:pathLst>
              <a:path w="5888355" h="5201284">
                <a:moveTo>
                  <a:pt x="1175385" y="4551680"/>
                </a:moveTo>
                <a:lnTo>
                  <a:pt x="0" y="4551680"/>
                </a:lnTo>
                <a:lnTo>
                  <a:pt x="0" y="4713605"/>
                </a:lnTo>
                <a:lnTo>
                  <a:pt x="1175385" y="4713605"/>
                </a:lnTo>
                <a:lnTo>
                  <a:pt x="1175385" y="4551680"/>
                </a:lnTo>
                <a:close/>
              </a:path>
              <a:path w="5888355" h="5201284">
                <a:moveTo>
                  <a:pt x="1175385" y="325120"/>
                </a:moveTo>
                <a:lnTo>
                  <a:pt x="0" y="325120"/>
                </a:lnTo>
                <a:lnTo>
                  <a:pt x="0" y="487045"/>
                </a:lnTo>
                <a:lnTo>
                  <a:pt x="1175385" y="487045"/>
                </a:lnTo>
                <a:lnTo>
                  <a:pt x="1175385" y="325120"/>
                </a:lnTo>
                <a:close/>
              </a:path>
              <a:path w="5888355" h="5201284">
                <a:moveTo>
                  <a:pt x="2943225" y="487680"/>
                </a:moveTo>
                <a:lnTo>
                  <a:pt x="0" y="487680"/>
                </a:lnTo>
                <a:lnTo>
                  <a:pt x="0" y="649605"/>
                </a:lnTo>
                <a:lnTo>
                  <a:pt x="2943225" y="649605"/>
                </a:lnTo>
                <a:lnTo>
                  <a:pt x="2943225" y="487680"/>
                </a:lnTo>
                <a:close/>
              </a:path>
              <a:path w="5888355" h="5201284">
                <a:moveTo>
                  <a:pt x="3027045" y="4714240"/>
                </a:moveTo>
                <a:lnTo>
                  <a:pt x="0" y="4714240"/>
                </a:lnTo>
                <a:lnTo>
                  <a:pt x="0" y="4876165"/>
                </a:lnTo>
                <a:lnTo>
                  <a:pt x="3027045" y="4876165"/>
                </a:lnTo>
                <a:lnTo>
                  <a:pt x="3027045" y="4714240"/>
                </a:lnTo>
                <a:close/>
              </a:path>
              <a:path w="5888355" h="5201284">
                <a:moveTo>
                  <a:pt x="3110865" y="0"/>
                </a:moveTo>
                <a:lnTo>
                  <a:pt x="0" y="0"/>
                </a:lnTo>
                <a:lnTo>
                  <a:pt x="0" y="161925"/>
                </a:lnTo>
                <a:lnTo>
                  <a:pt x="3110865" y="161925"/>
                </a:lnTo>
                <a:lnTo>
                  <a:pt x="3110865" y="0"/>
                </a:lnTo>
                <a:close/>
              </a:path>
              <a:path w="5888355" h="5201284">
                <a:moveTo>
                  <a:pt x="3195955" y="4064000"/>
                </a:moveTo>
                <a:lnTo>
                  <a:pt x="0" y="4064000"/>
                </a:lnTo>
                <a:lnTo>
                  <a:pt x="0" y="4225925"/>
                </a:lnTo>
                <a:lnTo>
                  <a:pt x="3195955" y="4225925"/>
                </a:lnTo>
                <a:lnTo>
                  <a:pt x="3195955" y="4064000"/>
                </a:lnTo>
                <a:close/>
              </a:path>
              <a:path w="5888355" h="5201284">
                <a:moveTo>
                  <a:pt x="5047615" y="2438400"/>
                </a:moveTo>
                <a:lnTo>
                  <a:pt x="0" y="2438400"/>
                </a:lnTo>
                <a:lnTo>
                  <a:pt x="0" y="2600325"/>
                </a:lnTo>
                <a:lnTo>
                  <a:pt x="5047615" y="2600325"/>
                </a:lnTo>
                <a:lnTo>
                  <a:pt x="5047615" y="2438400"/>
                </a:lnTo>
                <a:close/>
              </a:path>
              <a:path w="5888355" h="5201284">
                <a:moveTo>
                  <a:pt x="5215255" y="3901440"/>
                </a:moveTo>
                <a:lnTo>
                  <a:pt x="0" y="3901440"/>
                </a:lnTo>
                <a:lnTo>
                  <a:pt x="0" y="4063365"/>
                </a:lnTo>
                <a:lnTo>
                  <a:pt x="5215255" y="4063365"/>
                </a:lnTo>
                <a:lnTo>
                  <a:pt x="5215255" y="3901440"/>
                </a:lnTo>
                <a:close/>
              </a:path>
              <a:path w="5888355" h="5201284">
                <a:moveTo>
                  <a:pt x="5215255" y="812800"/>
                </a:moveTo>
                <a:lnTo>
                  <a:pt x="0" y="812800"/>
                </a:lnTo>
                <a:lnTo>
                  <a:pt x="0" y="974725"/>
                </a:lnTo>
                <a:lnTo>
                  <a:pt x="5215255" y="974725"/>
                </a:lnTo>
                <a:lnTo>
                  <a:pt x="5215255" y="812800"/>
                </a:lnTo>
                <a:close/>
              </a:path>
              <a:path w="5888355" h="5201284">
                <a:moveTo>
                  <a:pt x="5299075" y="3251200"/>
                </a:moveTo>
                <a:lnTo>
                  <a:pt x="0" y="3251200"/>
                </a:lnTo>
                <a:lnTo>
                  <a:pt x="0" y="3413125"/>
                </a:lnTo>
                <a:lnTo>
                  <a:pt x="5299075" y="3413125"/>
                </a:lnTo>
                <a:lnTo>
                  <a:pt x="5299075" y="3251200"/>
                </a:lnTo>
                <a:close/>
              </a:path>
              <a:path w="5888355" h="5201284">
                <a:moveTo>
                  <a:pt x="5299075" y="2113280"/>
                </a:moveTo>
                <a:lnTo>
                  <a:pt x="0" y="2113280"/>
                </a:lnTo>
                <a:lnTo>
                  <a:pt x="0" y="2275205"/>
                </a:lnTo>
                <a:lnTo>
                  <a:pt x="5299075" y="2275205"/>
                </a:lnTo>
                <a:lnTo>
                  <a:pt x="5299075" y="2113280"/>
                </a:lnTo>
                <a:close/>
              </a:path>
              <a:path w="5888355" h="5201284">
                <a:moveTo>
                  <a:pt x="5382895" y="2275840"/>
                </a:moveTo>
                <a:lnTo>
                  <a:pt x="0" y="2275840"/>
                </a:lnTo>
                <a:lnTo>
                  <a:pt x="0" y="2437765"/>
                </a:lnTo>
                <a:lnTo>
                  <a:pt x="5382895" y="2437765"/>
                </a:lnTo>
                <a:lnTo>
                  <a:pt x="5382895" y="2275840"/>
                </a:lnTo>
                <a:close/>
              </a:path>
              <a:path w="5888355" h="5201284">
                <a:moveTo>
                  <a:pt x="5550535" y="650240"/>
                </a:moveTo>
                <a:lnTo>
                  <a:pt x="0" y="650240"/>
                </a:lnTo>
                <a:lnTo>
                  <a:pt x="0" y="812165"/>
                </a:lnTo>
                <a:lnTo>
                  <a:pt x="5550535" y="812165"/>
                </a:lnTo>
                <a:lnTo>
                  <a:pt x="5550535" y="650240"/>
                </a:lnTo>
                <a:close/>
              </a:path>
              <a:path w="5888355" h="5201284">
                <a:moveTo>
                  <a:pt x="5635625" y="5039360"/>
                </a:moveTo>
                <a:lnTo>
                  <a:pt x="0" y="5039360"/>
                </a:lnTo>
                <a:lnTo>
                  <a:pt x="0" y="5201285"/>
                </a:lnTo>
                <a:lnTo>
                  <a:pt x="5635625" y="5201285"/>
                </a:lnTo>
                <a:lnTo>
                  <a:pt x="5635625" y="5039360"/>
                </a:lnTo>
                <a:close/>
              </a:path>
              <a:path w="5888355" h="5201284">
                <a:moveTo>
                  <a:pt x="5635625" y="3738880"/>
                </a:moveTo>
                <a:lnTo>
                  <a:pt x="0" y="3738880"/>
                </a:lnTo>
                <a:lnTo>
                  <a:pt x="0" y="3900805"/>
                </a:lnTo>
                <a:lnTo>
                  <a:pt x="5635625" y="3900805"/>
                </a:lnTo>
                <a:lnTo>
                  <a:pt x="5635625" y="3738880"/>
                </a:lnTo>
                <a:close/>
              </a:path>
              <a:path w="5888355" h="5201284">
                <a:moveTo>
                  <a:pt x="5719445" y="2763520"/>
                </a:moveTo>
                <a:lnTo>
                  <a:pt x="0" y="2763520"/>
                </a:lnTo>
                <a:lnTo>
                  <a:pt x="0" y="2925445"/>
                </a:lnTo>
                <a:lnTo>
                  <a:pt x="5719445" y="2925445"/>
                </a:lnTo>
                <a:lnTo>
                  <a:pt x="5719445" y="2763520"/>
                </a:lnTo>
                <a:close/>
              </a:path>
              <a:path w="5888355" h="5201284">
                <a:moveTo>
                  <a:pt x="5719445" y="1137920"/>
                </a:moveTo>
                <a:lnTo>
                  <a:pt x="0" y="1137920"/>
                </a:lnTo>
                <a:lnTo>
                  <a:pt x="0" y="1299845"/>
                </a:lnTo>
                <a:lnTo>
                  <a:pt x="5719445" y="1299845"/>
                </a:lnTo>
                <a:lnTo>
                  <a:pt x="5719445" y="1137920"/>
                </a:lnTo>
                <a:close/>
              </a:path>
              <a:path w="5888355" h="5201284">
                <a:moveTo>
                  <a:pt x="5720715" y="3088640"/>
                </a:moveTo>
                <a:lnTo>
                  <a:pt x="0" y="3088640"/>
                </a:lnTo>
                <a:lnTo>
                  <a:pt x="0" y="3250565"/>
                </a:lnTo>
                <a:lnTo>
                  <a:pt x="5720715" y="3250565"/>
                </a:lnTo>
                <a:lnTo>
                  <a:pt x="5720715" y="3088640"/>
                </a:lnTo>
                <a:close/>
              </a:path>
              <a:path w="5888355" h="5201284">
                <a:moveTo>
                  <a:pt x="5803265" y="4389120"/>
                </a:moveTo>
                <a:lnTo>
                  <a:pt x="0" y="4389120"/>
                </a:lnTo>
                <a:lnTo>
                  <a:pt x="0" y="4551045"/>
                </a:lnTo>
                <a:lnTo>
                  <a:pt x="5803265" y="4551045"/>
                </a:lnTo>
                <a:lnTo>
                  <a:pt x="5803265" y="4389120"/>
                </a:lnTo>
                <a:close/>
              </a:path>
              <a:path w="5888355" h="5201284">
                <a:moveTo>
                  <a:pt x="5803265" y="3413760"/>
                </a:moveTo>
                <a:lnTo>
                  <a:pt x="0" y="3413760"/>
                </a:lnTo>
                <a:lnTo>
                  <a:pt x="0" y="3575685"/>
                </a:lnTo>
                <a:lnTo>
                  <a:pt x="5803265" y="3575685"/>
                </a:lnTo>
                <a:lnTo>
                  <a:pt x="5803265" y="3413760"/>
                </a:lnTo>
                <a:close/>
              </a:path>
              <a:path w="5888355" h="5201284">
                <a:moveTo>
                  <a:pt x="5803265" y="975360"/>
                </a:moveTo>
                <a:lnTo>
                  <a:pt x="0" y="975360"/>
                </a:lnTo>
                <a:lnTo>
                  <a:pt x="0" y="1137285"/>
                </a:lnTo>
                <a:lnTo>
                  <a:pt x="5803265" y="1137285"/>
                </a:lnTo>
                <a:lnTo>
                  <a:pt x="5803265" y="975360"/>
                </a:lnTo>
                <a:close/>
              </a:path>
              <a:path w="5888355" h="5201284">
                <a:moveTo>
                  <a:pt x="5804535" y="4876800"/>
                </a:moveTo>
                <a:lnTo>
                  <a:pt x="0" y="4876800"/>
                </a:lnTo>
                <a:lnTo>
                  <a:pt x="0" y="5038725"/>
                </a:lnTo>
                <a:lnTo>
                  <a:pt x="5804535" y="5038725"/>
                </a:lnTo>
                <a:lnTo>
                  <a:pt x="5804535" y="4876800"/>
                </a:lnTo>
                <a:close/>
              </a:path>
              <a:path w="5888355" h="5201284">
                <a:moveTo>
                  <a:pt x="5804535" y="2600960"/>
                </a:moveTo>
                <a:lnTo>
                  <a:pt x="0" y="2600960"/>
                </a:lnTo>
                <a:lnTo>
                  <a:pt x="0" y="2762885"/>
                </a:lnTo>
                <a:lnTo>
                  <a:pt x="5804535" y="2762885"/>
                </a:lnTo>
                <a:lnTo>
                  <a:pt x="5804535" y="2600960"/>
                </a:lnTo>
                <a:close/>
              </a:path>
              <a:path w="5888355" h="5201284">
                <a:moveTo>
                  <a:pt x="5887085" y="1463040"/>
                </a:moveTo>
                <a:lnTo>
                  <a:pt x="0" y="1463040"/>
                </a:lnTo>
                <a:lnTo>
                  <a:pt x="0" y="1624965"/>
                </a:lnTo>
                <a:lnTo>
                  <a:pt x="5887085" y="1624965"/>
                </a:lnTo>
                <a:lnTo>
                  <a:pt x="5887085" y="1463040"/>
                </a:lnTo>
                <a:close/>
              </a:path>
              <a:path w="5888355" h="5201284">
                <a:moveTo>
                  <a:pt x="5887085" y="162560"/>
                </a:moveTo>
                <a:lnTo>
                  <a:pt x="0" y="162560"/>
                </a:lnTo>
                <a:lnTo>
                  <a:pt x="0" y="324485"/>
                </a:lnTo>
                <a:lnTo>
                  <a:pt x="5887085" y="324485"/>
                </a:lnTo>
                <a:lnTo>
                  <a:pt x="5887085" y="162560"/>
                </a:lnTo>
                <a:close/>
              </a:path>
              <a:path w="5888355" h="5201284">
                <a:moveTo>
                  <a:pt x="5888355" y="4226560"/>
                </a:moveTo>
                <a:lnTo>
                  <a:pt x="0" y="4226560"/>
                </a:lnTo>
                <a:lnTo>
                  <a:pt x="0" y="4388485"/>
                </a:lnTo>
                <a:lnTo>
                  <a:pt x="5888355" y="4388485"/>
                </a:lnTo>
                <a:lnTo>
                  <a:pt x="5888355" y="4226560"/>
                </a:lnTo>
                <a:close/>
              </a:path>
              <a:path w="5888355" h="5201284">
                <a:moveTo>
                  <a:pt x="5888355" y="3576320"/>
                </a:moveTo>
                <a:lnTo>
                  <a:pt x="0" y="3576320"/>
                </a:lnTo>
                <a:lnTo>
                  <a:pt x="0" y="3738245"/>
                </a:lnTo>
                <a:lnTo>
                  <a:pt x="5888355" y="3738245"/>
                </a:lnTo>
                <a:lnTo>
                  <a:pt x="5888355" y="3576320"/>
                </a:lnTo>
                <a:close/>
              </a:path>
              <a:path w="5888355" h="5201284">
                <a:moveTo>
                  <a:pt x="5888355" y="2926080"/>
                </a:moveTo>
                <a:lnTo>
                  <a:pt x="0" y="2926080"/>
                </a:lnTo>
                <a:lnTo>
                  <a:pt x="0" y="3088005"/>
                </a:lnTo>
                <a:lnTo>
                  <a:pt x="5888355" y="3088005"/>
                </a:lnTo>
                <a:lnTo>
                  <a:pt x="5888355" y="2926080"/>
                </a:lnTo>
                <a:close/>
              </a:path>
              <a:path w="5888355" h="5201284">
                <a:moveTo>
                  <a:pt x="5888355" y="1950720"/>
                </a:moveTo>
                <a:lnTo>
                  <a:pt x="0" y="1950720"/>
                </a:lnTo>
                <a:lnTo>
                  <a:pt x="0" y="2112645"/>
                </a:lnTo>
                <a:lnTo>
                  <a:pt x="5888355" y="2112645"/>
                </a:lnTo>
                <a:lnTo>
                  <a:pt x="5888355" y="1950720"/>
                </a:lnTo>
                <a:close/>
              </a:path>
              <a:path w="5888355" h="5201284">
                <a:moveTo>
                  <a:pt x="5888355" y="1788160"/>
                </a:moveTo>
                <a:lnTo>
                  <a:pt x="0" y="1788160"/>
                </a:lnTo>
                <a:lnTo>
                  <a:pt x="0" y="1950085"/>
                </a:lnTo>
                <a:lnTo>
                  <a:pt x="5888355" y="1950085"/>
                </a:lnTo>
                <a:lnTo>
                  <a:pt x="5888355" y="1788160"/>
                </a:lnTo>
                <a:close/>
              </a:path>
              <a:path w="5888355" h="5201284">
                <a:moveTo>
                  <a:pt x="5888355" y="1625600"/>
                </a:moveTo>
                <a:lnTo>
                  <a:pt x="0" y="1625600"/>
                </a:lnTo>
                <a:lnTo>
                  <a:pt x="0" y="1787525"/>
                </a:lnTo>
                <a:lnTo>
                  <a:pt x="5888355" y="1787525"/>
                </a:lnTo>
                <a:lnTo>
                  <a:pt x="5888355" y="1625600"/>
                </a:lnTo>
                <a:close/>
              </a:path>
              <a:path w="5888355" h="5201284">
                <a:moveTo>
                  <a:pt x="5888355" y="1300480"/>
                </a:moveTo>
                <a:lnTo>
                  <a:pt x="0" y="1300480"/>
                </a:lnTo>
                <a:lnTo>
                  <a:pt x="0" y="1462405"/>
                </a:lnTo>
                <a:lnTo>
                  <a:pt x="5888355" y="1462405"/>
                </a:lnTo>
                <a:lnTo>
                  <a:pt x="5888355" y="130048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902969" y="3148330"/>
            <a:ext cx="5913120" cy="5817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1E1B1A"/>
                </a:solidFill>
                <a:latin typeface="Courier New"/>
                <a:cs typeface="Courier New"/>
              </a:rPr>
              <a:t>agent.run(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"can</a:t>
            </a:r>
            <a:r>
              <a:rPr sz="1100" spc="-45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you</a:t>
            </a:r>
            <a:r>
              <a:rPr sz="1100" spc="-4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tell</a:t>
            </a:r>
            <a:r>
              <a:rPr sz="1100" spc="-45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me</a:t>
            </a:r>
            <a:r>
              <a:rPr sz="1100" spc="-4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5</a:t>
            </a:r>
            <a:r>
              <a:rPr sz="1100" spc="-45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top</a:t>
            </a:r>
            <a:r>
              <a:rPr sz="1100" spc="-4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current</a:t>
            </a:r>
            <a:r>
              <a:rPr sz="1100" spc="-35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affairs?"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)</a:t>
            </a:r>
            <a:endParaRPr sz="11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11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795"/>
              </a:spcBef>
            </a:pPr>
            <a:endParaRPr sz="1100">
              <a:latin typeface="Courier New"/>
              <a:cs typeface="Courier New"/>
            </a:endParaRPr>
          </a:p>
          <a:p>
            <a:pPr marL="179705" indent="-167005">
              <a:lnSpc>
                <a:spcPts val="1300"/>
              </a:lnSpc>
              <a:buChar char="&gt;"/>
              <a:tabLst>
                <a:tab pos="179705" algn="l"/>
              </a:tabLst>
            </a:pPr>
            <a:r>
              <a:rPr sz="1100" dirty="0">
                <a:latin typeface="Courier New"/>
                <a:cs typeface="Courier New"/>
              </a:rPr>
              <a:t>Entering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new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AgentExecutor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chain...</a:t>
            </a:r>
            <a:endParaRPr sz="1100">
              <a:latin typeface="Courier New"/>
              <a:cs typeface="Courier New"/>
            </a:endParaRPr>
          </a:p>
          <a:p>
            <a:pPr marL="12700" marR="6350" indent="83820">
              <a:lnSpc>
                <a:spcPts val="1280"/>
              </a:lnSpc>
              <a:spcBef>
                <a:spcPts val="55"/>
              </a:spcBef>
            </a:pPr>
            <a:r>
              <a:rPr sz="1100" dirty="0">
                <a:latin typeface="Courier New"/>
                <a:cs typeface="Courier New"/>
              </a:rPr>
              <a:t>I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should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try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to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find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reputable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news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source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to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answer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this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question. </a:t>
            </a:r>
            <a:r>
              <a:rPr sz="1100" dirty="0">
                <a:latin typeface="Courier New"/>
                <a:cs typeface="Courier New"/>
              </a:rPr>
              <a:t>Action: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Search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ts val="1225"/>
              </a:lnSpc>
            </a:pPr>
            <a:r>
              <a:rPr sz="1100" dirty="0">
                <a:latin typeface="Courier New"/>
                <a:cs typeface="Courier New"/>
              </a:rPr>
              <a:t>Action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Input: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"top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current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affairs"</a:t>
            </a:r>
            <a:endParaRPr sz="1100">
              <a:latin typeface="Courier New"/>
              <a:cs typeface="Courier New"/>
            </a:endParaRPr>
          </a:p>
          <a:p>
            <a:pPr marL="12700" marR="5715">
              <a:lnSpc>
                <a:spcPts val="1280"/>
              </a:lnSpc>
              <a:spcBef>
                <a:spcPts val="60"/>
              </a:spcBef>
            </a:pPr>
            <a:r>
              <a:rPr sz="1100" dirty="0">
                <a:latin typeface="Courier New"/>
                <a:cs typeface="Courier New"/>
              </a:rPr>
              <a:t>Observation: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["Get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international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breaking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news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current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affairs </a:t>
            </a:r>
            <a:r>
              <a:rPr sz="1100" dirty="0">
                <a:latin typeface="Courier New"/>
                <a:cs typeface="Courier New"/>
              </a:rPr>
              <a:t>reported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by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Nine's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network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of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reporters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correspondents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and</a:t>
            </a:r>
            <a:r>
              <a:rPr sz="1100" spc="50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partners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as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it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happens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US,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Europe,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Middle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...",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"GKToday's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Current </a:t>
            </a:r>
            <a:r>
              <a:rPr sz="1100" dirty="0">
                <a:latin typeface="Courier New"/>
                <a:cs typeface="Courier New"/>
              </a:rPr>
              <a:t>Affairs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Today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Section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provides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latest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Best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Daily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Current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Affairs 2022-</a:t>
            </a:r>
            <a:r>
              <a:rPr sz="1100" dirty="0">
                <a:latin typeface="Courier New"/>
                <a:cs typeface="Courier New"/>
              </a:rPr>
              <a:t>2023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for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UPSC,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IAS/PCS,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Banking,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IBPS,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SSC,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Railway,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UPPSC,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...",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ts val="1225"/>
              </a:lnSpc>
            </a:pPr>
            <a:r>
              <a:rPr sz="1100" dirty="0">
                <a:latin typeface="Courier New"/>
                <a:cs typeface="Courier New"/>
              </a:rPr>
              <a:t>'List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of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United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States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articles.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vertically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split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image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shows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former</a:t>
            </a:r>
            <a:endParaRPr sz="1100">
              <a:latin typeface="Courier New"/>
              <a:cs typeface="Courier New"/>
            </a:endParaRPr>
          </a:p>
          <a:p>
            <a:pPr marL="12700" marR="5080">
              <a:lnSpc>
                <a:spcPts val="1280"/>
              </a:lnSpc>
              <a:spcBef>
                <a:spcPts val="55"/>
              </a:spcBef>
            </a:pPr>
            <a:r>
              <a:rPr sz="1100" dirty="0">
                <a:latin typeface="Courier New"/>
                <a:cs typeface="Courier New"/>
              </a:rPr>
              <a:t>U.S.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President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Donald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Trump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on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left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current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U.S.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President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Joe </a:t>
            </a:r>
            <a:r>
              <a:rPr sz="1100" dirty="0">
                <a:latin typeface="Courier New"/>
                <a:cs typeface="Courier New"/>
              </a:rPr>
              <a:t>Biden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on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right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...',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'A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Current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Affairs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subscription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is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one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of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the </a:t>
            </a:r>
            <a:r>
              <a:rPr sz="1100" dirty="0">
                <a:latin typeface="Courier New"/>
                <a:cs typeface="Courier New"/>
              </a:rPr>
              <a:t>best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known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ways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to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improve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your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life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hurry.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Our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print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magazine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is </a:t>
            </a:r>
            <a:r>
              <a:rPr sz="1100" dirty="0">
                <a:latin typeface="Courier New"/>
                <a:cs typeface="Courier New"/>
              </a:rPr>
              <a:t>released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six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times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year,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...',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'Adda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247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current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affairs </a:t>
            </a:r>
            <a:r>
              <a:rPr sz="1100" dirty="0">
                <a:latin typeface="Courier New"/>
                <a:cs typeface="Courier New"/>
              </a:rPr>
              <a:t>sources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are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PIB,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NewsOnAir,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RBI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website,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Various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newspapers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like</a:t>
            </a:r>
            <a:r>
              <a:rPr sz="1100" spc="50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Hindu,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Indian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Express,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Financial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Express,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many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more.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Q.5</a:t>
            </a:r>
            <a:endParaRPr sz="1100">
              <a:latin typeface="Courier New"/>
              <a:cs typeface="Courier New"/>
            </a:endParaRPr>
          </a:p>
          <a:p>
            <a:pPr marL="12700" marR="5080">
              <a:lnSpc>
                <a:spcPts val="1280"/>
              </a:lnSpc>
            </a:pPr>
            <a:r>
              <a:rPr sz="1100" dirty="0">
                <a:latin typeface="Courier New"/>
                <a:cs typeface="Courier New"/>
              </a:rPr>
              <a:t>Does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...',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'Current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Affairs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·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India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Takes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Up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TS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Men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War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Issue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With </a:t>
            </a:r>
            <a:r>
              <a:rPr sz="1100" dirty="0">
                <a:latin typeface="Courier New"/>
                <a:cs typeface="Courier New"/>
              </a:rPr>
              <a:t>Russia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·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Villagers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Seek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Action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Against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Aqua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Farmers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·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Will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Not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Allow </a:t>
            </a:r>
            <a:r>
              <a:rPr sz="1100" dirty="0">
                <a:latin typeface="Courier New"/>
                <a:cs typeface="Courier New"/>
              </a:rPr>
              <a:t>Land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Grab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Vizag: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Dharmana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·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CM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...',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'Current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Affairs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Podcasts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·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1. </a:t>
            </a:r>
            <a:r>
              <a:rPr sz="1100" dirty="0">
                <a:latin typeface="Courier New"/>
                <a:cs typeface="Courier New"/>
              </a:rPr>
              <a:t>AM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·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2.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Current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Affairs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-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Views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News(Audio)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·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3.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Pacific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Waves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spc="-50" dirty="0">
                <a:latin typeface="Courier New"/>
                <a:cs typeface="Courier New"/>
              </a:rPr>
              <a:t>·</a:t>
            </a:r>
            <a:endParaRPr sz="1100">
              <a:latin typeface="Courier New"/>
              <a:cs typeface="Courier New"/>
            </a:endParaRPr>
          </a:p>
          <a:p>
            <a:pPr marL="12700" marR="90170">
              <a:lnSpc>
                <a:spcPts val="1280"/>
              </a:lnSpc>
            </a:pPr>
            <a:r>
              <a:rPr sz="1100" dirty="0">
                <a:latin typeface="Courier New"/>
                <a:cs typeface="Courier New"/>
              </a:rPr>
              <a:t>4.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World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Today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·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5.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Current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Affairs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·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6.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Nights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with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John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...', </a:t>
            </a:r>
            <a:r>
              <a:rPr sz="1100" dirty="0">
                <a:latin typeface="Courier New"/>
                <a:cs typeface="Courier New"/>
              </a:rPr>
              <a:t>'Popular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Current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Affairs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Blogs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·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1.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Jagran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Josh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·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2.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AffairsCloud.com</a:t>
            </a:r>
            <a:endParaRPr sz="1100">
              <a:latin typeface="Courier New"/>
              <a:cs typeface="Courier New"/>
            </a:endParaRPr>
          </a:p>
          <a:p>
            <a:pPr marL="12700" marR="5715">
              <a:lnSpc>
                <a:spcPts val="1280"/>
              </a:lnSpc>
            </a:pPr>
            <a:r>
              <a:rPr sz="1100" dirty="0">
                <a:latin typeface="Courier New"/>
                <a:cs typeface="Courier New"/>
              </a:rPr>
              <a:t>·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3.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CURRENT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AFFAIRS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Archives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-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INSIGHTSIAS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·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4.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Current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Affairs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2020: </a:t>
            </a:r>
            <a:r>
              <a:rPr sz="1100" dirty="0">
                <a:latin typeface="Courier New"/>
                <a:cs typeface="Courier New"/>
              </a:rPr>
              <a:t>Latest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&amp;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Daily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...',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'Special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Collections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·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1.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Blood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Money: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Why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the </a:t>
            </a:r>
            <a:r>
              <a:rPr sz="1100" dirty="0">
                <a:latin typeface="Courier New"/>
                <a:cs typeface="Courier New"/>
              </a:rPr>
              <a:t>Powerful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Turn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Blind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Eye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While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China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Kills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Americans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·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2.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The</a:t>
            </a:r>
            <a:r>
              <a:rPr sz="1100" spc="50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Victors: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Eisenhower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His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Boys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...']</a:t>
            </a:r>
            <a:endParaRPr sz="1100">
              <a:latin typeface="Courier New"/>
              <a:cs typeface="Courier New"/>
            </a:endParaRPr>
          </a:p>
          <a:p>
            <a:pPr marL="12700" marR="5080">
              <a:lnSpc>
                <a:spcPts val="1280"/>
              </a:lnSpc>
            </a:pPr>
            <a:r>
              <a:rPr sz="1100" dirty="0">
                <a:latin typeface="Courier New"/>
                <a:cs typeface="Courier New"/>
              </a:rPr>
              <a:t>Thought: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There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are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lot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of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sources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to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choose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from,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so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should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try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to </a:t>
            </a:r>
            <a:r>
              <a:rPr sz="1100" dirty="0">
                <a:latin typeface="Courier New"/>
                <a:cs typeface="Courier New"/>
              </a:rPr>
              <a:t>narrow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it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down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by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looking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at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different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categories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or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specific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events. </a:t>
            </a:r>
            <a:r>
              <a:rPr sz="1100" dirty="0">
                <a:latin typeface="Courier New"/>
                <a:cs typeface="Courier New"/>
              </a:rPr>
              <a:t>Action: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Search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ts val="1225"/>
              </a:lnSpc>
            </a:pPr>
            <a:r>
              <a:rPr sz="1100" dirty="0">
                <a:latin typeface="Courier New"/>
                <a:cs typeface="Courier New"/>
              </a:rPr>
              <a:t>Action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Input: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"2022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current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affairs"</a:t>
            </a:r>
            <a:endParaRPr sz="1100">
              <a:latin typeface="Courier New"/>
              <a:cs typeface="Courier New"/>
            </a:endParaRPr>
          </a:p>
          <a:p>
            <a:pPr marL="12700" marR="90170">
              <a:lnSpc>
                <a:spcPts val="1280"/>
              </a:lnSpc>
              <a:spcBef>
                <a:spcPts val="55"/>
              </a:spcBef>
            </a:pPr>
            <a:r>
              <a:rPr sz="1100" dirty="0">
                <a:latin typeface="Courier New"/>
                <a:cs typeface="Courier New"/>
              </a:rPr>
              <a:t>Observation: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['Current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Affairs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-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2022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;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Dec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2022,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Current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Affairs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and </a:t>
            </a:r>
            <a:r>
              <a:rPr sz="1100" dirty="0">
                <a:latin typeface="Courier New"/>
                <a:cs typeface="Courier New"/>
              </a:rPr>
              <a:t>Events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·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Current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Affairs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Events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;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Nov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2022,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Current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Affairs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and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848360" y="914400"/>
            <a:ext cx="6076315" cy="8110855"/>
          </a:xfrm>
          <a:custGeom>
            <a:avLst/>
            <a:gdLst/>
            <a:ahLst/>
            <a:cxnLst/>
            <a:rect l="l" t="t" r="r" b="b"/>
            <a:pathLst>
              <a:path w="6076315" h="8110855">
                <a:moveTo>
                  <a:pt x="0" y="1904"/>
                </a:moveTo>
                <a:lnTo>
                  <a:pt x="6076315" y="1904"/>
                </a:lnTo>
              </a:path>
              <a:path w="6076315" h="8110855">
                <a:moveTo>
                  <a:pt x="6075045" y="0"/>
                </a:moveTo>
                <a:lnTo>
                  <a:pt x="6075045" y="1154429"/>
                </a:lnTo>
              </a:path>
              <a:path w="6076315" h="8110855">
                <a:moveTo>
                  <a:pt x="1905" y="1154429"/>
                </a:moveTo>
                <a:lnTo>
                  <a:pt x="1905" y="0"/>
                </a:lnTo>
              </a:path>
              <a:path w="6076315" h="8110855">
                <a:moveTo>
                  <a:pt x="6075045" y="1027429"/>
                </a:moveTo>
                <a:lnTo>
                  <a:pt x="6075045" y="2256790"/>
                </a:lnTo>
              </a:path>
              <a:path w="6076315" h="8110855">
                <a:moveTo>
                  <a:pt x="1905" y="2256790"/>
                </a:moveTo>
                <a:lnTo>
                  <a:pt x="1905" y="1027429"/>
                </a:lnTo>
              </a:path>
              <a:path w="6076315" h="8110855">
                <a:moveTo>
                  <a:pt x="6075045" y="2129790"/>
                </a:moveTo>
                <a:lnTo>
                  <a:pt x="6075045" y="2546350"/>
                </a:lnTo>
              </a:path>
              <a:path w="6076315" h="8110855">
                <a:moveTo>
                  <a:pt x="1905" y="2546350"/>
                </a:moveTo>
                <a:lnTo>
                  <a:pt x="1905" y="2129790"/>
                </a:lnTo>
              </a:path>
              <a:path w="6076315" h="8110855">
                <a:moveTo>
                  <a:pt x="6075045" y="2419350"/>
                </a:moveTo>
                <a:lnTo>
                  <a:pt x="6075045" y="8110855"/>
                </a:lnTo>
              </a:path>
              <a:path w="6076315" h="8110855">
                <a:moveTo>
                  <a:pt x="6076315" y="8109584"/>
                </a:moveTo>
                <a:lnTo>
                  <a:pt x="0" y="8109584"/>
                </a:lnTo>
              </a:path>
              <a:path w="6076315" h="8110855">
                <a:moveTo>
                  <a:pt x="1905" y="8110855"/>
                </a:moveTo>
                <a:lnTo>
                  <a:pt x="1905" y="2419350"/>
                </a:lnTo>
              </a:path>
              <a:path w="6076315" h="8110855">
                <a:moveTo>
                  <a:pt x="0" y="1904"/>
                </a:moveTo>
                <a:lnTo>
                  <a:pt x="6076315" y="1904"/>
                </a:lnTo>
              </a:path>
              <a:path w="6076315" h="8110855">
                <a:moveTo>
                  <a:pt x="6075045" y="0"/>
                </a:moveTo>
                <a:lnTo>
                  <a:pt x="6075045" y="1154429"/>
                </a:lnTo>
              </a:path>
              <a:path w="6076315" h="8110855">
                <a:moveTo>
                  <a:pt x="1905" y="1154429"/>
                </a:moveTo>
                <a:lnTo>
                  <a:pt x="1905" y="0"/>
                </a:lnTo>
              </a:path>
              <a:path w="6076315" h="8110855">
                <a:moveTo>
                  <a:pt x="6075045" y="1027429"/>
                </a:moveTo>
                <a:lnTo>
                  <a:pt x="6075045" y="2256790"/>
                </a:lnTo>
              </a:path>
              <a:path w="6076315" h="8110855">
                <a:moveTo>
                  <a:pt x="1905" y="2256790"/>
                </a:moveTo>
                <a:lnTo>
                  <a:pt x="1905" y="1027429"/>
                </a:lnTo>
              </a:path>
              <a:path w="6076315" h="8110855">
                <a:moveTo>
                  <a:pt x="6075045" y="2129790"/>
                </a:moveTo>
                <a:lnTo>
                  <a:pt x="6075045" y="2546350"/>
                </a:lnTo>
              </a:path>
              <a:path w="6076315" h="8110855">
                <a:moveTo>
                  <a:pt x="1905" y="2546350"/>
                </a:moveTo>
                <a:lnTo>
                  <a:pt x="1905" y="2129790"/>
                </a:lnTo>
              </a:path>
              <a:path w="6076315" h="8110855">
                <a:moveTo>
                  <a:pt x="6075045" y="2419350"/>
                </a:moveTo>
                <a:lnTo>
                  <a:pt x="6075045" y="8110855"/>
                </a:lnTo>
              </a:path>
              <a:path w="6076315" h="8110855">
                <a:moveTo>
                  <a:pt x="6076315" y="8109584"/>
                </a:moveTo>
                <a:lnTo>
                  <a:pt x="0" y="8109584"/>
                </a:lnTo>
              </a:path>
              <a:path w="6076315" h="8110855">
                <a:moveTo>
                  <a:pt x="1905" y="8110855"/>
                </a:moveTo>
                <a:lnTo>
                  <a:pt x="1905" y="2419350"/>
                </a:lnTo>
              </a:path>
            </a:pathLst>
          </a:custGeom>
          <a:ln w="3175">
            <a:solidFill>
              <a:srgbClr val="E2E2E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47725" y="913764"/>
            <a:ext cx="6076950" cy="8098790"/>
            <a:chOff x="847725" y="913764"/>
            <a:chExt cx="6076950" cy="8098790"/>
          </a:xfrm>
        </p:grpSpPr>
        <p:sp>
          <p:nvSpPr>
            <p:cNvPr id="3" name="object 3"/>
            <p:cNvSpPr/>
            <p:nvPr/>
          </p:nvSpPr>
          <p:spPr>
            <a:xfrm>
              <a:off x="847725" y="913764"/>
              <a:ext cx="6076950" cy="8098790"/>
            </a:xfrm>
            <a:custGeom>
              <a:avLst/>
              <a:gdLst/>
              <a:ahLst/>
              <a:cxnLst/>
              <a:rect l="l" t="t" r="r" b="b"/>
              <a:pathLst>
                <a:path w="6076950" h="8098790">
                  <a:moveTo>
                    <a:pt x="6076950" y="0"/>
                  </a:moveTo>
                  <a:lnTo>
                    <a:pt x="0" y="0"/>
                  </a:lnTo>
                  <a:lnTo>
                    <a:pt x="0" y="8098789"/>
                  </a:lnTo>
                  <a:lnTo>
                    <a:pt x="6076950" y="8098789"/>
                  </a:lnTo>
                  <a:lnTo>
                    <a:pt x="6076950" y="0"/>
                  </a:lnTo>
                  <a:close/>
                </a:path>
              </a:pathLst>
            </a:custGeom>
            <a:solidFill>
              <a:srgbClr val="F4F4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14400" y="981709"/>
              <a:ext cx="5888355" cy="7964805"/>
            </a:xfrm>
            <a:custGeom>
              <a:avLst/>
              <a:gdLst/>
              <a:ahLst/>
              <a:cxnLst/>
              <a:rect l="l" t="t" r="r" b="b"/>
              <a:pathLst>
                <a:path w="5888355" h="7964805">
                  <a:moveTo>
                    <a:pt x="755015" y="3738880"/>
                  </a:moveTo>
                  <a:lnTo>
                    <a:pt x="0" y="3738880"/>
                  </a:lnTo>
                  <a:lnTo>
                    <a:pt x="0" y="3900805"/>
                  </a:lnTo>
                  <a:lnTo>
                    <a:pt x="755015" y="3900805"/>
                  </a:lnTo>
                  <a:lnTo>
                    <a:pt x="755015" y="3738880"/>
                  </a:lnTo>
                  <a:close/>
                </a:path>
                <a:path w="5888355" h="7964805">
                  <a:moveTo>
                    <a:pt x="1175385" y="3901440"/>
                  </a:moveTo>
                  <a:lnTo>
                    <a:pt x="0" y="3901440"/>
                  </a:lnTo>
                  <a:lnTo>
                    <a:pt x="0" y="4063365"/>
                  </a:lnTo>
                  <a:lnTo>
                    <a:pt x="1175385" y="4063365"/>
                  </a:lnTo>
                  <a:lnTo>
                    <a:pt x="1175385" y="3901440"/>
                  </a:lnTo>
                  <a:close/>
                </a:path>
                <a:path w="5888355" h="7964805">
                  <a:moveTo>
                    <a:pt x="2690495" y="3251200"/>
                  </a:moveTo>
                  <a:lnTo>
                    <a:pt x="0" y="3251200"/>
                  </a:lnTo>
                  <a:lnTo>
                    <a:pt x="0" y="3413125"/>
                  </a:lnTo>
                  <a:lnTo>
                    <a:pt x="2690495" y="3413125"/>
                  </a:lnTo>
                  <a:lnTo>
                    <a:pt x="2690495" y="3251200"/>
                  </a:lnTo>
                  <a:close/>
                </a:path>
                <a:path w="5888355" h="7964805">
                  <a:moveTo>
                    <a:pt x="3700145" y="4064000"/>
                  </a:moveTo>
                  <a:lnTo>
                    <a:pt x="0" y="4064000"/>
                  </a:lnTo>
                  <a:lnTo>
                    <a:pt x="0" y="4225925"/>
                  </a:lnTo>
                  <a:lnTo>
                    <a:pt x="3700145" y="4225925"/>
                  </a:lnTo>
                  <a:lnTo>
                    <a:pt x="3700145" y="4064000"/>
                  </a:lnTo>
                  <a:close/>
                </a:path>
                <a:path w="5888355" h="7964805">
                  <a:moveTo>
                    <a:pt x="5046345" y="7802880"/>
                  </a:moveTo>
                  <a:lnTo>
                    <a:pt x="0" y="7802880"/>
                  </a:lnTo>
                  <a:lnTo>
                    <a:pt x="0" y="7964805"/>
                  </a:lnTo>
                  <a:lnTo>
                    <a:pt x="5046345" y="7964805"/>
                  </a:lnTo>
                  <a:lnTo>
                    <a:pt x="5046345" y="7802880"/>
                  </a:lnTo>
                  <a:close/>
                </a:path>
                <a:path w="5888355" h="7964805">
                  <a:moveTo>
                    <a:pt x="5213985" y="7315200"/>
                  </a:moveTo>
                  <a:lnTo>
                    <a:pt x="0" y="7315200"/>
                  </a:lnTo>
                  <a:lnTo>
                    <a:pt x="0" y="7477125"/>
                  </a:lnTo>
                  <a:lnTo>
                    <a:pt x="5213985" y="7477125"/>
                  </a:lnTo>
                  <a:lnTo>
                    <a:pt x="5213985" y="7315200"/>
                  </a:lnTo>
                  <a:close/>
                </a:path>
                <a:path w="5888355" h="7964805">
                  <a:moveTo>
                    <a:pt x="5215255" y="5689600"/>
                  </a:moveTo>
                  <a:lnTo>
                    <a:pt x="0" y="5689600"/>
                  </a:lnTo>
                  <a:lnTo>
                    <a:pt x="0" y="5851525"/>
                  </a:lnTo>
                  <a:lnTo>
                    <a:pt x="5215255" y="5851525"/>
                  </a:lnTo>
                  <a:lnTo>
                    <a:pt x="5215255" y="5689600"/>
                  </a:lnTo>
                  <a:close/>
                </a:path>
                <a:path w="5888355" h="7964805">
                  <a:moveTo>
                    <a:pt x="5299075" y="6014720"/>
                  </a:moveTo>
                  <a:lnTo>
                    <a:pt x="0" y="6014720"/>
                  </a:lnTo>
                  <a:lnTo>
                    <a:pt x="0" y="6176645"/>
                  </a:lnTo>
                  <a:lnTo>
                    <a:pt x="5299075" y="6176645"/>
                  </a:lnTo>
                  <a:lnTo>
                    <a:pt x="5299075" y="6014720"/>
                  </a:lnTo>
                  <a:close/>
                </a:path>
                <a:path w="5888355" h="7964805">
                  <a:moveTo>
                    <a:pt x="5466715" y="3088640"/>
                  </a:moveTo>
                  <a:lnTo>
                    <a:pt x="0" y="3088640"/>
                  </a:lnTo>
                  <a:lnTo>
                    <a:pt x="0" y="3250565"/>
                  </a:lnTo>
                  <a:lnTo>
                    <a:pt x="5466715" y="3250565"/>
                  </a:lnTo>
                  <a:lnTo>
                    <a:pt x="5466715" y="3088640"/>
                  </a:lnTo>
                  <a:close/>
                </a:path>
                <a:path w="5888355" h="7964805">
                  <a:moveTo>
                    <a:pt x="5466715" y="2438400"/>
                  </a:moveTo>
                  <a:lnTo>
                    <a:pt x="0" y="2438400"/>
                  </a:lnTo>
                  <a:lnTo>
                    <a:pt x="0" y="2600325"/>
                  </a:lnTo>
                  <a:lnTo>
                    <a:pt x="5466715" y="2600325"/>
                  </a:lnTo>
                  <a:lnTo>
                    <a:pt x="5466715" y="2438400"/>
                  </a:lnTo>
                  <a:close/>
                </a:path>
                <a:path w="5888355" h="7964805">
                  <a:moveTo>
                    <a:pt x="5466715" y="650240"/>
                  </a:moveTo>
                  <a:lnTo>
                    <a:pt x="0" y="650240"/>
                  </a:lnTo>
                  <a:lnTo>
                    <a:pt x="0" y="812165"/>
                  </a:lnTo>
                  <a:lnTo>
                    <a:pt x="5466715" y="812165"/>
                  </a:lnTo>
                  <a:lnTo>
                    <a:pt x="5466715" y="650240"/>
                  </a:lnTo>
                  <a:close/>
                </a:path>
                <a:path w="5888355" h="7964805">
                  <a:moveTo>
                    <a:pt x="5466715" y="325120"/>
                  </a:moveTo>
                  <a:lnTo>
                    <a:pt x="0" y="325120"/>
                  </a:lnTo>
                  <a:lnTo>
                    <a:pt x="0" y="487045"/>
                  </a:lnTo>
                  <a:lnTo>
                    <a:pt x="5466715" y="487045"/>
                  </a:lnTo>
                  <a:lnTo>
                    <a:pt x="5466715" y="325120"/>
                  </a:lnTo>
                  <a:close/>
                </a:path>
                <a:path w="5888355" h="7964805">
                  <a:moveTo>
                    <a:pt x="5467985" y="6827520"/>
                  </a:moveTo>
                  <a:lnTo>
                    <a:pt x="0" y="6827520"/>
                  </a:lnTo>
                  <a:lnTo>
                    <a:pt x="0" y="6989445"/>
                  </a:lnTo>
                  <a:lnTo>
                    <a:pt x="5467985" y="6989445"/>
                  </a:lnTo>
                  <a:lnTo>
                    <a:pt x="5467985" y="6827520"/>
                  </a:lnTo>
                  <a:close/>
                </a:path>
                <a:path w="5888355" h="7964805">
                  <a:moveTo>
                    <a:pt x="5467985" y="1137920"/>
                  </a:moveTo>
                  <a:lnTo>
                    <a:pt x="0" y="1137920"/>
                  </a:lnTo>
                  <a:lnTo>
                    <a:pt x="0" y="1299845"/>
                  </a:lnTo>
                  <a:lnTo>
                    <a:pt x="5467985" y="1299845"/>
                  </a:lnTo>
                  <a:lnTo>
                    <a:pt x="5467985" y="1137920"/>
                  </a:lnTo>
                  <a:close/>
                </a:path>
                <a:path w="5888355" h="7964805">
                  <a:moveTo>
                    <a:pt x="5550535" y="6664960"/>
                  </a:moveTo>
                  <a:lnTo>
                    <a:pt x="0" y="6664960"/>
                  </a:lnTo>
                  <a:lnTo>
                    <a:pt x="0" y="6826885"/>
                  </a:lnTo>
                  <a:lnTo>
                    <a:pt x="5550535" y="6826885"/>
                  </a:lnTo>
                  <a:lnTo>
                    <a:pt x="5550535" y="6664960"/>
                  </a:lnTo>
                  <a:close/>
                </a:path>
                <a:path w="5888355" h="7964805">
                  <a:moveTo>
                    <a:pt x="5550535" y="5364480"/>
                  </a:moveTo>
                  <a:lnTo>
                    <a:pt x="0" y="5364480"/>
                  </a:lnTo>
                  <a:lnTo>
                    <a:pt x="0" y="5526405"/>
                  </a:lnTo>
                  <a:lnTo>
                    <a:pt x="5550535" y="5526405"/>
                  </a:lnTo>
                  <a:lnTo>
                    <a:pt x="5550535" y="5364480"/>
                  </a:lnTo>
                  <a:close/>
                </a:path>
                <a:path w="5888355" h="7964805">
                  <a:moveTo>
                    <a:pt x="5550535" y="1788160"/>
                  </a:moveTo>
                  <a:lnTo>
                    <a:pt x="0" y="1788160"/>
                  </a:lnTo>
                  <a:lnTo>
                    <a:pt x="0" y="1950085"/>
                  </a:lnTo>
                  <a:lnTo>
                    <a:pt x="5550535" y="1950085"/>
                  </a:lnTo>
                  <a:lnTo>
                    <a:pt x="5550535" y="1788160"/>
                  </a:lnTo>
                  <a:close/>
                </a:path>
                <a:path w="5888355" h="7964805">
                  <a:moveTo>
                    <a:pt x="5551805" y="7477760"/>
                  </a:moveTo>
                  <a:lnTo>
                    <a:pt x="0" y="7477760"/>
                  </a:lnTo>
                  <a:lnTo>
                    <a:pt x="0" y="7639685"/>
                  </a:lnTo>
                  <a:lnTo>
                    <a:pt x="5551805" y="7639685"/>
                  </a:lnTo>
                  <a:lnTo>
                    <a:pt x="5551805" y="7477760"/>
                  </a:lnTo>
                  <a:close/>
                </a:path>
                <a:path w="5888355" h="7964805">
                  <a:moveTo>
                    <a:pt x="5551805" y="6502400"/>
                  </a:moveTo>
                  <a:lnTo>
                    <a:pt x="0" y="6502400"/>
                  </a:lnTo>
                  <a:lnTo>
                    <a:pt x="0" y="6664325"/>
                  </a:lnTo>
                  <a:lnTo>
                    <a:pt x="5551805" y="6664325"/>
                  </a:lnTo>
                  <a:lnTo>
                    <a:pt x="5551805" y="6502400"/>
                  </a:lnTo>
                  <a:close/>
                </a:path>
                <a:path w="5888355" h="7964805">
                  <a:moveTo>
                    <a:pt x="5551805" y="5039360"/>
                  </a:moveTo>
                  <a:lnTo>
                    <a:pt x="0" y="5039360"/>
                  </a:lnTo>
                  <a:lnTo>
                    <a:pt x="0" y="5201285"/>
                  </a:lnTo>
                  <a:lnTo>
                    <a:pt x="5551805" y="5201285"/>
                  </a:lnTo>
                  <a:lnTo>
                    <a:pt x="5551805" y="5039360"/>
                  </a:lnTo>
                  <a:close/>
                </a:path>
                <a:path w="5888355" h="7964805">
                  <a:moveTo>
                    <a:pt x="5553075" y="3413760"/>
                  </a:moveTo>
                  <a:lnTo>
                    <a:pt x="0" y="3413760"/>
                  </a:lnTo>
                  <a:lnTo>
                    <a:pt x="0" y="3575685"/>
                  </a:lnTo>
                  <a:lnTo>
                    <a:pt x="5553075" y="3575685"/>
                  </a:lnTo>
                  <a:lnTo>
                    <a:pt x="5553075" y="3413760"/>
                  </a:lnTo>
                  <a:close/>
                </a:path>
                <a:path w="5888355" h="7964805">
                  <a:moveTo>
                    <a:pt x="5635625" y="4551680"/>
                  </a:moveTo>
                  <a:lnTo>
                    <a:pt x="0" y="4551680"/>
                  </a:lnTo>
                  <a:lnTo>
                    <a:pt x="0" y="4713605"/>
                  </a:lnTo>
                  <a:lnTo>
                    <a:pt x="5635625" y="4713605"/>
                  </a:lnTo>
                  <a:lnTo>
                    <a:pt x="5635625" y="4551680"/>
                  </a:lnTo>
                  <a:close/>
                </a:path>
                <a:path w="5888355" h="7964805">
                  <a:moveTo>
                    <a:pt x="5635625" y="1950720"/>
                  </a:moveTo>
                  <a:lnTo>
                    <a:pt x="0" y="1950720"/>
                  </a:lnTo>
                  <a:lnTo>
                    <a:pt x="0" y="2112645"/>
                  </a:lnTo>
                  <a:lnTo>
                    <a:pt x="5635625" y="2112645"/>
                  </a:lnTo>
                  <a:lnTo>
                    <a:pt x="5635625" y="1950720"/>
                  </a:lnTo>
                  <a:close/>
                </a:path>
                <a:path w="5888355" h="7964805">
                  <a:moveTo>
                    <a:pt x="5635625" y="1625600"/>
                  </a:moveTo>
                  <a:lnTo>
                    <a:pt x="0" y="1625600"/>
                  </a:lnTo>
                  <a:lnTo>
                    <a:pt x="0" y="1787525"/>
                  </a:lnTo>
                  <a:lnTo>
                    <a:pt x="5635625" y="1787525"/>
                  </a:lnTo>
                  <a:lnTo>
                    <a:pt x="5635625" y="1625600"/>
                  </a:lnTo>
                  <a:close/>
                </a:path>
                <a:path w="5888355" h="7964805">
                  <a:moveTo>
                    <a:pt x="5635625" y="0"/>
                  </a:moveTo>
                  <a:lnTo>
                    <a:pt x="0" y="0"/>
                  </a:lnTo>
                  <a:lnTo>
                    <a:pt x="0" y="161925"/>
                  </a:lnTo>
                  <a:lnTo>
                    <a:pt x="5635625" y="161925"/>
                  </a:lnTo>
                  <a:lnTo>
                    <a:pt x="5635625" y="0"/>
                  </a:lnTo>
                  <a:close/>
                </a:path>
                <a:path w="5888355" h="7964805">
                  <a:moveTo>
                    <a:pt x="5719445" y="6339840"/>
                  </a:moveTo>
                  <a:lnTo>
                    <a:pt x="0" y="6339840"/>
                  </a:lnTo>
                  <a:lnTo>
                    <a:pt x="0" y="6501765"/>
                  </a:lnTo>
                  <a:lnTo>
                    <a:pt x="5719445" y="6501765"/>
                  </a:lnTo>
                  <a:lnTo>
                    <a:pt x="5719445" y="6339840"/>
                  </a:lnTo>
                  <a:close/>
                </a:path>
                <a:path w="5888355" h="7964805">
                  <a:moveTo>
                    <a:pt x="5719445" y="5527040"/>
                  </a:moveTo>
                  <a:lnTo>
                    <a:pt x="0" y="5527040"/>
                  </a:lnTo>
                  <a:lnTo>
                    <a:pt x="0" y="5688965"/>
                  </a:lnTo>
                  <a:lnTo>
                    <a:pt x="5719445" y="5688965"/>
                  </a:lnTo>
                  <a:lnTo>
                    <a:pt x="5719445" y="5527040"/>
                  </a:lnTo>
                  <a:close/>
                </a:path>
                <a:path w="5888355" h="7964805">
                  <a:moveTo>
                    <a:pt x="5719445" y="4714240"/>
                  </a:moveTo>
                  <a:lnTo>
                    <a:pt x="0" y="4714240"/>
                  </a:lnTo>
                  <a:lnTo>
                    <a:pt x="0" y="4876165"/>
                  </a:lnTo>
                  <a:lnTo>
                    <a:pt x="5719445" y="4876165"/>
                  </a:lnTo>
                  <a:lnTo>
                    <a:pt x="5719445" y="4714240"/>
                  </a:lnTo>
                  <a:close/>
                </a:path>
                <a:path w="5888355" h="7964805">
                  <a:moveTo>
                    <a:pt x="5719445" y="4389120"/>
                  </a:moveTo>
                  <a:lnTo>
                    <a:pt x="0" y="4389120"/>
                  </a:lnTo>
                  <a:lnTo>
                    <a:pt x="0" y="4551045"/>
                  </a:lnTo>
                  <a:lnTo>
                    <a:pt x="5719445" y="4551045"/>
                  </a:lnTo>
                  <a:lnTo>
                    <a:pt x="5719445" y="4389120"/>
                  </a:lnTo>
                  <a:close/>
                </a:path>
                <a:path w="5888355" h="7964805">
                  <a:moveTo>
                    <a:pt x="5719445" y="487680"/>
                  </a:moveTo>
                  <a:lnTo>
                    <a:pt x="0" y="487680"/>
                  </a:lnTo>
                  <a:lnTo>
                    <a:pt x="0" y="649605"/>
                  </a:lnTo>
                  <a:lnTo>
                    <a:pt x="5719445" y="649605"/>
                  </a:lnTo>
                  <a:lnTo>
                    <a:pt x="5719445" y="487680"/>
                  </a:lnTo>
                  <a:close/>
                </a:path>
                <a:path w="5888355" h="7964805">
                  <a:moveTo>
                    <a:pt x="5719445" y="162560"/>
                  </a:moveTo>
                  <a:lnTo>
                    <a:pt x="0" y="162560"/>
                  </a:lnTo>
                  <a:lnTo>
                    <a:pt x="0" y="324485"/>
                  </a:lnTo>
                  <a:lnTo>
                    <a:pt x="5719445" y="324485"/>
                  </a:lnTo>
                  <a:lnTo>
                    <a:pt x="5719445" y="162560"/>
                  </a:lnTo>
                  <a:close/>
                </a:path>
                <a:path w="5888355" h="7964805">
                  <a:moveTo>
                    <a:pt x="5720715" y="6177280"/>
                  </a:moveTo>
                  <a:lnTo>
                    <a:pt x="0" y="6177280"/>
                  </a:lnTo>
                  <a:lnTo>
                    <a:pt x="0" y="6339205"/>
                  </a:lnTo>
                  <a:lnTo>
                    <a:pt x="5720715" y="6339205"/>
                  </a:lnTo>
                  <a:lnTo>
                    <a:pt x="5720715" y="6177280"/>
                  </a:lnTo>
                  <a:close/>
                </a:path>
                <a:path w="5888355" h="7964805">
                  <a:moveTo>
                    <a:pt x="5803265" y="7640320"/>
                  </a:moveTo>
                  <a:lnTo>
                    <a:pt x="0" y="7640320"/>
                  </a:lnTo>
                  <a:lnTo>
                    <a:pt x="0" y="7802245"/>
                  </a:lnTo>
                  <a:lnTo>
                    <a:pt x="5803265" y="7802245"/>
                  </a:lnTo>
                  <a:lnTo>
                    <a:pt x="5803265" y="7640320"/>
                  </a:lnTo>
                  <a:close/>
                </a:path>
                <a:path w="5888355" h="7964805">
                  <a:moveTo>
                    <a:pt x="5803265" y="5201920"/>
                  </a:moveTo>
                  <a:lnTo>
                    <a:pt x="0" y="5201920"/>
                  </a:lnTo>
                  <a:lnTo>
                    <a:pt x="0" y="5363845"/>
                  </a:lnTo>
                  <a:lnTo>
                    <a:pt x="5803265" y="5363845"/>
                  </a:lnTo>
                  <a:lnTo>
                    <a:pt x="5803265" y="5201920"/>
                  </a:lnTo>
                  <a:close/>
                </a:path>
                <a:path w="5888355" h="7964805">
                  <a:moveTo>
                    <a:pt x="5803265" y="4876800"/>
                  </a:moveTo>
                  <a:lnTo>
                    <a:pt x="0" y="4876800"/>
                  </a:lnTo>
                  <a:lnTo>
                    <a:pt x="0" y="5038725"/>
                  </a:lnTo>
                  <a:lnTo>
                    <a:pt x="5803265" y="5038725"/>
                  </a:lnTo>
                  <a:lnTo>
                    <a:pt x="5803265" y="4876800"/>
                  </a:lnTo>
                  <a:close/>
                </a:path>
                <a:path w="5888355" h="7964805">
                  <a:moveTo>
                    <a:pt x="5803265" y="2275840"/>
                  </a:moveTo>
                  <a:lnTo>
                    <a:pt x="0" y="2275840"/>
                  </a:lnTo>
                  <a:lnTo>
                    <a:pt x="0" y="2437765"/>
                  </a:lnTo>
                  <a:lnTo>
                    <a:pt x="5803265" y="2437765"/>
                  </a:lnTo>
                  <a:lnTo>
                    <a:pt x="5803265" y="2275840"/>
                  </a:lnTo>
                  <a:close/>
                </a:path>
                <a:path w="5888355" h="7964805">
                  <a:moveTo>
                    <a:pt x="5804535" y="2763520"/>
                  </a:moveTo>
                  <a:lnTo>
                    <a:pt x="0" y="2763520"/>
                  </a:lnTo>
                  <a:lnTo>
                    <a:pt x="0" y="2925445"/>
                  </a:lnTo>
                  <a:lnTo>
                    <a:pt x="5804535" y="2925445"/>
                  </a:lnTo>
                  <a:lnTo>
                    <a:pt x="5804535" y="2763520"/>
                  </a:lnTo>
                  <a:close/>
                </a:path>
                <a:path w="5888355" h="7964805">
                  <a:moveTo>
                    <a:pt x="5804535" y="2113280"/>
                  </a:moveTo>
                  <a:lnTo>
                    <a:pt x="0" y="2113280"/>
                  </a:lnTo>
                  <a:lnTo>
                    <a:pt x="0" y="2275205"/>
                  </a:lnTo>
                  <a:lnTo>
                    <a:pt x="5804535" y="2275205"/>
                  </a:lnTo>
                  <a:lnTo>
                    <a:pt x="5804535" y="2113280"/>
                  </a:lnTo>
                  <a:close/>
                </a:path>
                <a:path w="5888355" h="7964805">
                  <a:moveTo>
                    <a:pt x="5804535" y="1463040"/>
                  </a:moveTo>
                  <a:lnTo>
                    <a:pt x="0" y="1463040"/>
                  </a:lnTo>
                  <a:lnTo>
                    <a:pt x="0" y="1624965"/>
                  </a:lnTo>
                  <a:lnTo>
                    <a:pt x="5804535" y="1624965"/>
                  </a:lnTo>
                  <a:lnTo>
                    <a:pt x="5804535" y="1463040"/>
                  </a:lnTo>
                  <a:close/>
                </a:path>
                <a:path w="5888355" h="7964805">
                  <a:moveTo>
                    <a:pt x="5804535" y="975360"/>
                  </a:moveTo>
                  <a:lnTo>
                    <a:pt x="0" y="975360"/>
                  </a:lnTo>
                  <a:lnTo>
                    <a:pt x="0" y="1137285"/>
                  </a:lnTo>
                  <a:lnTo>
                    <a:pt x="5804535" y="1137285"/>
                  </a:lnTo>
                  <a:lnTo>
                    <a:pt x="5804535" y="975360"/>
                  </a:lnTo>
                  <a:close/>
                </a:path>
                <a:path w="5888355" h="7964805">
                  <a:moveTo>
                    <a:pt x="5887085" y="5852160"/>
                  </a:moveTo>
                  <a:lnTo>
                    <a:pt x="0" y="5852160"/>
                  </a:lnTo>
                  <a:lnTo>
                    <a:pt x="0" y="6014085"/>
                  </a:lnTo>
                  <a:lnTo>
                    <a:pt x="5887085" y="6014085"/>
                  </a:lnTo>
                  <a:lnTo>
                    <a:pt x="5887085" y="5852160"/>
                  </a:lnTo>
                  <a:close/>
                </a:path>
                <a:path w="5888355" h="7964805">
                  <a:moveTo>
                    <a:pt x="5887085" y="3576320"/>
                  </a:moveTo>
                  <a:lnTo>
                    <a:pt x="0" y="3576320"/>
                  </a:lnTo>
                  <a:lnTo>
                    <a:pt x="0" y="3738245"/>
                  </a:lnTo>
                  <a:lnTo>
                    <a:pt x="5887085" y="3738245"/>
                  </a:lnTo>
                  <a:lnTo>
                    <a:pt x="5887085" y="3576320"/>
                  </a:lnTo>
                  <a:close/>
                </a:path>
                <a:path w="5888355" h="7964805">
                  <a:moveTo>
                    <a:pt x="5887085" y="2926080"/>
                  </a:moveTo>
                  <a:lnTo>
                    <a:pt x="0" y="2926080"/>
                  </a:lnTo>
                  <a:lnTo>
                    <a:pt x="0" y="3088005"/>
                  </a:lnTo>
                  <a:lnTo>
                    <a:pt x="5887085" y="3088005"/>
                  </a:lnTo>
                  <a:lnTo>
                    <a:pt x="5887085" y="2926080"/>
                  </a:lnTo>
                  <a:close/>
                </a:path>
                <a:path w="5888355" h="7964805">
                  <a:moveTo>
                    <a:pt x="5887085" y="2600960"/>
                  </a:moveTo>
                  <a:lnTo>
                    <a:pt x="0" y="2600960"/>
                  </a:lnTo>
                  <a:lnTo>
                    <a:pt x="0" y="2762885"/>
                  </a:lnTo>
                  <a:lnTo>
                    <a:pt x="5887085" y="2762885"/>
                  </a:lnTo>
                  <a:lnTo>
                    <a:pt x="5887085" y="2600960"/>
                  </a:lnTo>
                  <a:close/>
                </a:path>
                <a:path w="5888355" h="7964805">
                  <a:moveTo>
                    <a:pt x="5887085" y="1300480"/>
                  </a:moveTo>
                  <a:lnTo>
                    <a:pt x="0" y="1300480"/>
                  </a:lnTo>
                  <a:lnTo>
                    <a:pt x="0" y="1462405"/>
                  </a:lnTo>
                  <a:lnTo>
                    <a:pt x="5887085" y="1462405"/>
                  </a:lnTo>
                  <a:lnTo>
                    <a:pt x="5887085" y="1300480"/>
                  </a:lnTo>
                  <a:close/>
                </a:path>
                <a:path w="5888355" h="7964805">
                  <a:moveTo>
                    <a:pt x="5887085" y="812800"/>
                  </a:moveTo>
                  <a:lnTo>
                    <a:pt x="0" y="812800"/>
                  </a:lnTo>
                  <a:lnTo>
                    <a:pt x="0" y="974725"/>
                  </a:lnTo>
                  <a:lnTo>
                    <a:pt x="5887085" y="974725"/>
                  </a:lnTo>
                  <a:lnTo>
                    <a:pt x="5887085" y="812800"/>
                  </a:lnTo>
                  <a:close/>
                </a:path>
                <a:path w="5888355" h="7964805">
                  <a:moveTo>
                    <a:pt x="5888355" y="7152640"/>
                  </a:moveTo>
                  <a:lnTo>
                    <a:pt x="0" y="7152640"/>
                  </a:lnTo>
                  <a:lnTo>
                    <a:pt x="0" y="7314565"/>
                  </a:lnTo>
                  <a:lnTo>
                    <a:pt x="5888355" y="7314565"/>
                  </a:lnTo>
                  <a:lnTo>
                    <a:pt x="5888355" y="7152640"/>
                  </a:lnTo>
                  <a:close/>
                </a:path>
                <a:path w="5888355" h="7964805">
                  <a:moveTo>
                    <a:pt x="5888355" y="6990080"/>
                  </a:moveTo>
                  <a:lnTo>
                    <a:pt x="0" y="6990080"/>
                  </a:lnTo>
                  <a:lnTo>
                    <a:pt x="0" y="7152005"/>
                  </a:lnTo>
                  <a:lnTo>
                    <a:pt x="5888355" y="7152005"/>
                  </a:lnTo>
                  <a:lnTo>
                    <a:pt x="5888355" y="6990080"/>
                  </a:lnTo>
                  <a:close/>
                </a:path>
                <a:path w="5888355" h="7964805">
                  <a:moveTo>
                    <a:pt x="5888355" y="4226560"/>
                  </a:moveTo>
                  <a:lnTo>
                    <a:pt x="0" y="4226560"/>
                  </a:lnTo>
                  <a:lnTo>
                    <a:pt x="0" y="4388485"/>
                  </a:lnTo>
                  <a:lnTo>
                    <a:pt x="5888355" y="4388485"/>
                  </a:lnTo>
                  <a:lnTo>
                    <a:pt x="5888355" y="4226560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902969" y="958850"/>
            <a:ext cx="5911850" cy="799592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 marR="5080">
              <a:lnSpc>
                <a:spcPts val="1280"/>
              </a:lnSpc>
              <a:spcBef>
                <a:spcPts val="175"/>
              </a:spcBef>
            </a:pPr>
            <a:r>
              <a:rPr sz="1100" dirty="0">
                <a:latin typeface="Courier New"/>
                <a:cs typeface="Courier New"/>
              </a:rPr>
              <a:t>Events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·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Current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Affairs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Events.',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'Get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daily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updates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on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latest </a:t>
            </a:r>
            <a:r>
              <a:rPr sz="1100" dirty="0">
                <a:latin typeface="Courier New"/>
                <a:cs typeface="Courier New"/>
              </a:rPr>
              <a:t>Current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Affairs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2024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for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upcoming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Bank,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SSC,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Railway,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Defence,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UPSC, </a:t>
            </a:r>
            <a:r>
              <a:rPr sz="1100" dirty="0">
                <a:latin typeface="Courier New"/>
                <a:cs typeface="Courier New"/>
              </a:rPr>
              <a:t>UPPSC,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BPSC,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MPPSC,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RPSC,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KPSC,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&amp;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all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other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Govt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...',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"GKToday's </a:t>
            </a:r>
            <a:r>
              <a:rPr sz="1100" dirty="0">
                <a:latin typeface="Courier New"/>
                <a:cs typeface="Courier New"/>
              </a:rPr>
              <a:t>Current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Affairs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Today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Section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provides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latest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Best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Daily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Current </a:t>
            </a:r>
            <a:r>
              <a:rPr sz="1100" dirty="0">
                <a:latin typeface="Courier New"/>
                <a:cs typeface="Courier New"/>
              </a:rPr>
              <a:t>Affairs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2022-</a:t>
            </a:r>
            <a:r>
              <a:rPr sz="1100" dirty="0">
                <a:latin typeface="Courier New"/>
                <a:cs typeface="Courier New"/>
              </a:rPr>
              <a:t>2023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for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UPSC,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IAS/PCS,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Banking,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IBPS,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SSC,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Railway, </a:t>
            </a:r>
            <a:r>
              <a:rPr sz="1100" dirty="0">
                <a:latin typeface="Courier New"/>
                <a:cs typeface="Courier New"/>
              </a:rPr>
              <a:t>UPPSC,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...",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'Latest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Current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Affairs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2022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·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1.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Cheetah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re-</a:t>
            </a:r>
            <a:r>
              <a:rPr sz="1100" spc="-10" dirty="0">
                <a:latin typeface="Courier New"/>
                <a:cs typeface="Courier New"/>
              </a:rPr>
              <a:t>introduction </a:t>
            </a:r>
            <a:r>
              <a:rPr sz="1100" dirty="0">
                <a:latin typeface="Courier New"/>
                <a:cs typeface="Courier New"/>
              </a:rPr>
              <a:t>Plan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·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2.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INS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Vikrant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·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3.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Legal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Age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for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Marriage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·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4.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5G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launched</a:t>
            </a:r>
            <a:r>
              <a:rPr sz="1100" spc="-15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in </a:t>
            </a:r>
            <a:r>
              <a:rPr sz="1100" dirty="0">
                <a:latin typeface="Courier New"/>
                <a:cs typeface="Courier New"/>
              </a:rPr>
              <a:t>India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·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5.',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'Get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daily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updates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on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Daily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Current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Affairs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2024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for </a:t>
            </a:r>
            <a:r>
              <a:rPr sz="1100" dirty="0">
                <a:latin typeface="Courier New"/>
                <a:cs typeface="Courier New"/>
              </a:rPr>
              <a:t>upcoming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Bank,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SSC,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Railway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UPSC.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Download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monthly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current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affairs </a:t>
            </a:r>
            <a:r>
              <a:rPr sz="1100" dirty="0">
                <a:latin typeface="Courier New"/>
                <a:cs typeface="Courier New"/>
              </a:rPr>
              <a:t>2024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PDF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&amp;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updates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for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all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govt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...',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'Current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Affairs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2023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is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one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of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most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important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sections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competitive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exams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such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as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UPSC,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SSC, </a:t>
            </a:r>
            <a:r>
              <a:rPr sz="1100" dirty="0">
                <a:latin typeface="Courier New"/>
                <a:cs typeface="Courier New"/>
              </a:rPr>
              <a:t>Bank,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other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Government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Exams.',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'Get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daily,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weekly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monthly </a:t>
            </a:r>
            <a:r>
              <a:rPr sz="1100" dirty="0">
                <a:latin typeface="Courier New"/>
                <a:cs typeface="Courier New"/>
              </a:rPr>
              <a:t>current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affairs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PDF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2024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for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UPSC,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SSC,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RRB,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Government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exams,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Bank </a:t>
            </a:r>
            <a:r>
              <a:rPr sz="1100" dirty="0">
                <a:latin typeface="Courier New"/>
                <a:cs typeface="Courier New"/>
              </a:rPr>
              <a:t>exams.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Stay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updated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with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compiled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GK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updates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...',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'We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are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an </a:t>
            </a:r>
            <a:r>
              <a:rPr sz="1100" dirty="0">
                <a:latin typeface="Courier New"/>
                <a:cs typeface="Courier New"/>
              </a:rPr>
              <a:t>online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platform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to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prepare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aspirants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for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government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competitive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exams </a:t>
            </a:r>
            <a:r>
              <a:rPr sz="1100" dirty="0">
                <a:latin typeface="Courier New"/>
                <a:cs typeface="Courier New"/>
              </a:rPr>
              <a:t>like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UPSC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,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MPPSC,</a:t>
            </a:r>
            <a:r>
              <a:rPr sz="1100" spc="-2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CAPF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,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CDS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,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NDA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Etc.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We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provide</a:t>
            </a:r>
            <a:r>
              <a:rPr sz="1100" spc="-2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exam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oriented </a:t>
            </a:r>
            <a:r>
              <a:rPr sz="1100" dirty="0">
                <a:latin typeface="Courier New"/>
                <a:cs typeface="Courier New"/>
              </a:rPr>
              <a:t>material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...',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'November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2022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·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October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2022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·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September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2022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·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August </a:t>
            </a:r>
            <a:r>
              <a:rPr sz="1100" dirty="0">
                <a:latin typeface="Courier New"/>
                <a:cs typeface="Courier New"/>
              </a:rPr>
              <a:t>2022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·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July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2022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·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June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2022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...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Supplementary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Current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Affairs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2018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spc="-50" dirty="0">
                <a:latin typeface="Courier New"/>
                <a:cs typeface="Courier New"/>
              </a:rPr>
              <a:t>· </a:t>
            </a:r>
            <a:r>
              <a:rPr sz="1100" dirty="0">
                <a:latin typeface="Courier New"/>
                <a:cs typeface="Courier New"/>
              </a:rPr>
              <a:t>April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2018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·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March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2018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·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February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...',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'43K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Followers,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16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Following, </a:t>
            </a:r>
            <a:r>
              <a:rPr sz="1100" dirty="0">
                <a:latin typeface="Courier New"/>
                <a:cs typeface="Courier New"/>
              </a:rPr>
              <a:t>2014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Posts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-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See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Instagram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photos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videos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from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Current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Affairs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ts val="1225"/>
              </a:lnSpc>
            </a:pPr>
            <a:r>
              <a:rPr sz="1100" spc="-10" dirty="0">
                <a:latin typeface="Courier New"/>
                <a:cs typeface="Courier New"/>
              </a:rPr>
              <a:t>2022-</a:t>
            </a:r>
            <a:r>
              <a:rPr sz="1100" dirty="0">
                <a:latin typeface="Courier New"/>
                <a:cs typeface="Courier New"/>
              </a:rPr>
              <a:t>23</a:t>
            </a:r>
            <a:r>
              <a:rPr sz="1100" spc="-1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(@current_affair_2023)']</a:t>
            </a:r>
            <a:endParaRPr sz="1100">
              <a:latin typeface="Courier New"/>
              <a:cs typeface="Courier New"/>
            </a:endParaRPr>
          </a:p>
          <a:p>
            <a:pPr marL="12700" marR="5080">
              <a:lnSpc>
                <a:spcPts val="1280"/>
              </a:lnSpc>
              <a:spcBef>
                <a:spcPts val="55"/>
              </a:spcBef>
            </a:pPr>
            <a:r>
              <a:rPr sz="1100" dirty="0">
                <a:latin typeface="Courier New"/>
                <a:cs typeface="Courier New"/>
              </a:rPr>
              <a:t>Thought: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These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results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seem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more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relevant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to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current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events,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but</a:t>
            </a:r>
            <a:r>
              <a:rPr sz="1100" spc="-50" dirty="0">
                <a:latin typeface="Courier New"/>
                <a:cs typeface="Courier New"/>
              </a:rPr>
              <a:t> I </a:t>
            </a:r>
            <a:r>
              <a:rPr sz="1100" dirty="0">
                <a:latin typeface="Courier New"/>
                <a:cs typeface="Courier New"/>
              </a:rPr>
              <a:t>should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also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consider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checking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different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sources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for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more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comprehensive coverage.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ts val="1225"/>
              </a:lnSpc>
            </a:pPr>
            <a:r>
              <a:rPr sz="1100" dirty="0">
                <a:latin typeface="Courier New"/>
                <a:cs typeface="Courier New"/>
              </a:rPr>
              <a:t>Action: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Search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ts val="1280"/>
              </a:lnSpc>
            </a:pPr>
            <a:r>
              <a:rPr sz="1100" dirty="0">
                <a:latin typeface="Courier New"/>
                <a:cs typeface="Courier New"/>
              </a:rPr>
              <a:t>Action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Input: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"current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affairs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2022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sources"</a:t>
            </a:r>
            <a:endParaRPr sz="1100">
              <a:latin typeface="Courier New"/>
              <a:cs typeface="Courier New"/>
            </a:endParaRPr>
          </a:p>
          <a:p>
            <a:pPr marL="12700" marR="5080">
              <a:lnSpc>
                <a:spcPts val="1280"/>
              </a:lnSpc>
              <a:spcBef>
                <a:spcPts val="55"/>
              </a:spcBef>
            </a:pPr>
            <a:r>
              <a:rPr sz="1100" dirty="0">
                <a:latin typeface="Courier New"/>
                <a:cs typeface="Courier New"/>
              </a:rPr>
              <a:t>Observation: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['A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Current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Affairs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subscription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is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one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of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best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known </a:t>
            </a:r>
            <a:r>
              <a:rPr sz="1100" dirty="0">
                <a:latin typeface="Courier New"/>
                <a:cs typeface="Courier New"/>
              </a:rPr>
              <a:t>ways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to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improve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your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life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hurry.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Our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print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magazine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is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released </a:t>
            </a:r>
            <a:r>
              <a:rPr sz="1100" dirty="0">
                <a:latin typeface="Courier New"/>
                <a:cs typeface="Courier New"/>
              </a:rPr>
              <a:t>six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times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year,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beautiful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...',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'The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best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bet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to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cover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daily </a:t>
            </a:r>
            <a:r>
              <a:rPr sz="1100" dirty="0">
                <a:latin typeface="Courier New"/>
                <a:cs typeface="Courier New"/>
              </a:rPr>
              <a:t>current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affairs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is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newspaper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following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credible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sources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like </a:t>
            </a:r>
            <a:r>
              <a:rPr sz="1100" dirty="0">
                <a:latin typeface="Courier New"/>
                <a:cs typeface="Courier New"/>
              </a:rPr>
              <a:t>Press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Information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Bureau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(PIB)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Yojana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Magazine.',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'Source: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Latest </a:t>
            </a:r>
            <a:r>
              <a:rPr sz="1100" dirty="0">
                <a:latin typeface="Courier New"/>
                <a:cs typeface="Courier New"/>
              </a:rPr>
              <a:t>Current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Affairs.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Last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Modified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: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2/7/2024.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4.3.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30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ratings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...</a:t>
            </a:r>
            <a:endParaRPr sz="1100">
              <a:latin typeface="Courier New"/>
              <a:cs typeface="Courier New"/>
            </a:endParaRPr>
          </a:p>
          <a:p>
            <a:pPr marL="12700" marR="5080">
              <a:lnSpc>
                <a:spcPts val="1280"/>
              </a:lnSpc>
            </a:pPr>
            <a:r>
              <a:rPr sz="1100" dirty="0">
                <a:latin typeface="Courier New"/>
                <a:cs typeface="Courier New"/>
              </a:rPr>
              <a:t>2022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current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affairs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full.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REPLY.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Ajay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Kumar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Yadav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1/2/2023,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10:05:38 </a:t>
            </a:r>
            <a:r>
              <a:rPr sz="1100" dirty="0">
                <a:latin typeface="Courier New"/>
                <a:cs typeface="Courier New"/>
              </a:rPr>
              <a:t>AM.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Very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...',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'There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are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several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sources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available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to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get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current </a:t>
            </a:r>
            <a:r>
              <a:rPr sz="1100" dirty="0">
                <a:latin typeface="Courier New"/>
                <a:cs typeface="Courier New"/>
              </a:rPr>
              <a:t>affairs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English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for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competitive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exams.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Here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are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few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of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best </a:t>
            </a:r>
            <a:r>
              <a:rPr sz="1100" dirty="0">
                <a:latin typeface="Courier New"/>
                <a:cs typeface="Courier New"/>
              </a:rPr>
              <a:t>sources: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1.',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"Adda247's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current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affairs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materials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span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wide</a:t>
            </a:r>
            <a:r>
              <a:rPr sz="1100" spc="50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spectrum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of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topics.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From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national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international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news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to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government </a:t>
            </a:r>
            <a:r>
              <a:rPr sz="1100" dirty="0">
                <a:latin typeface="Courier New"/>
                <a:cs typeface="Courier New"/>
              </a:rPr>
              <a:t>schemes,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sports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events,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awards,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...",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"Which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Source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Is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Best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For</a:t>
            </a:r>
            <a:r>
              <a:rPr sz="1100" spc="50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Current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Affairs?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...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BYJU'S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Current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Affairs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covers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daily,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weekly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and </a:t>
            </a:r>
            <a:r>
              <a:rPr sz="1100" dirty="0">
                <a:latin typeface="Courier New"/>
                <a:cs typeface="Courier New"/>
              </a:rPr>
              <a:t>monthly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coverage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of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news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that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is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of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national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international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...", </a:t>
            </a:r>
            <a:r>
              <a:rPr sz="1100" dirty="0">
                <a:latin typeface="Courier New"/>
                <a:cs typeface="Courier New"/>
              </a:rPr>
              <a:t>'Foreign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Affairs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is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leading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magazine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for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in-</a:t>
            </a:r>
            <a:r>
              <a:rPr sz="1100" dirty="0">
                <a:latin typeface="Courier New"/>
                <a:cs typeface="Courier New"/>
              </a:rPr>
              <a:t>depth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analysis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and </a:t>
            </a:r>
            <a:r>
              <a:rPr sz="1100" dirty="0">
                <a:latin typeface="Courier New"/>
                <a:cs typeface="Courier New"/>
              </a:rPr>
              <a:t>debate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of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foreign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policy,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geopolitics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international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affairs.', </a:t>
            </a:r>
            <a:r>
              <a:rPr sz="1100" dirty="0">
                <a:latin typeface="Courier New"/>
                <a:cs typeface="Courier New"/>
              </a:rPr>
              <a:t>"GKToday's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Current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Affairs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Today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Section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provides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latest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Best</a:t>
            </a:r>
            <a:r>
              <a:rPr sz="1100" spc="50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Daily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Current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Affairs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2022-</a:t>
            </a:r>
            <a:r>
              <a:rPr sz="1100" dirty="0">
                <a:latin typeface="Courier New"/>
                <a:cs typeface="Courier New"/>
              </a:rPr>
              <a:t>2023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for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UPSC,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IAS/PCS,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Banking,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IBPS,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SSC, </a:t>
            </a:r>
            <a:r>
              <a:rPr sz="1100" dirty="0">
                <a:latin typeface="Courier New"/>
                <a:cs typeface="Courier New"/>
              </a:rPr>
              <a:t>Railway,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UPPSC,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...",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'US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News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is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recognized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leader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college,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grad </a:t>
            </a:r>
            <a:r>
              <a:rPr sz="1100" dirty="0">
                <a:latin typeface="Courier New"/>
                <a:cs typeface="Courier New"/>
              </a:rPr>
              <a:t>school,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hospital,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mutual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fund,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car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rankings.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Track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elected </a:t>
            </a:r>
            <a:r>
              <a:rPr sz="1100" dirty="0">
                <a:latin typeface="Courier New"/>
                <a:cs typeface="Courier New"/>
              </a:rPr>
              <a:t>officials,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research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health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conditions,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...',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'Get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daily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updates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on </a:t>
            </a:r>
            <a:r>
              <a:rPr sz="1100" dirty="0">
                <a:latin typeface="Courier New"/>
                <a:cs typeface="Courier New"/>
              </a:rPr>
              <a:t>latest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Current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Affairs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2024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for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upcoming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Bank,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SSC,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Railway,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Defence, </a:t>
            </a:r>
            <a:r>
              <a:rPr sz="1100" dirty="0">
                <a:latin typeface="Courier New"/>
                <a:cs typeface="Courier New"/>
              </a:rPr>
              <a:t>UPSC,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UPPSC,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BPSC,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MPPSC,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RPSC,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KPSC,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&amp;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all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other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Govt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...']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48360" y="914400"/>
            <a:ext cx="6076315" cy="8098155"/>
          </a:xfrm>
          <a:custGeom>
            <a:avLst/>
            <a:gdLst/>
            <a:ahLst/>
            <a:cxnLst/>
            <a:rect l="l" t="t" r="r" b="b"/>
            <a:pathLst>
              <a:path w="6076315" h="8098155">
                <a:moveTo>
                  <a:pt x="0" y="1904"/>
                </a:moveTo>
                <a:lnTo>
                  <a:pt x="6076315" y="1904"/>
                </a:lnTo>
              </a:path>
              <a:path w="6076315" h="8098155">
                <a:moveTo>
                  <a:pt x="6075045" y="0"/>
                </a:moveTo>
                <a:lnTo>
                  <a:pt x="6075045" y="8098155"/>
                </a:lnTo>
              </a:path>
              <a:path w="6076315" h="8098155">
                <a:moveTo>
                  <a:pt x="6076315" y="8096884"/>
                </a:moveTo>
                <a:lnTo>
                  <a:pt x="0" y="8096884"/>
                </a:lnTo>
              </a:path>
              <a:path w="6076315" h="8098155">
                <a:moveTo>
                  <a:pt x="1905" y="8098155"/>
                </a:moveTo>
                <a:lnTo>
                  <a:pt x="1905" y="0"/>
                </a:lnTo>
              </a:path>
              <a:path w="6076315" h="8098155">
                <a:moveTo>
                  <a:pt x="0" y="1904"/>
                </a:moveTo>
                <a:lnTo>
                  <a:pt x="6076315" y="1904"/>
                </a:lnTo>
              </a:path>
              <a:path w="6076315" h="8098155">
                <a:moveTo>
                  <a:pt x="6075045" y="0"/>
                </a:moveTo>
                <a:lnTo>
                  <a:pt x="6075045" y="8098155"/>
                </a:lnTo>
              </a:path>
              <a:path w="6076315" h="8098155">
                <a:moveTo>
                  <a:pt x="6076315" y="8096884"/>
                </a:moveTo>
                <a:lnTo>
                  <a:pt x="0" y="8096884"/>
                </a:lnTo>
              </a:path>
              <a:path w="6076315" h="8098155">
                <a:moveTo>
                  <a:pt x="1905" y="8098155"/>
                </a:moveTo>
                <a:lnTo>
                  <a:pt x="1905" y="0"/>
                </a:lnTo>
              </a:path>
            </a:pathLst>
          </a:custGeom>
          <a:ln w="3175">
            <a:solidFill>
              <a:srgbClr val="E2E2E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47725" y="913764"/>
            <a:ext cx="6076950" cy="8202930"/>
            <a:chOff x="847725" y="913764"/>
            <a:chExt cx="6076950" cy="8202930"/>
          </a:xfrm>
        </p:grpSpPr>
        <p:sp>
          <p:nvSpPr>
            <p:cNvPr id="3" name="object 3"/>
            <p:cNvSpPr/>
            <p:nvPr/>
          </p:nvSpPr>
          <p:spPr>
            <a:xfrm>
              <a:off x="847725" y="913764"/>
              <a:ext cx="6076950" cy="8202930"/>
            </a:xfrm>
            <a:custGeom>
              <a:avLst/>
              <a:gdLst/>
              <a:ahLst/>
              <a:cxnLst/>
              <a:rect l="l" t="t" r="r" b="b"/>
              <a:pathLst>
                <a:path w="6076950" h="8202930">
                  <a:moveTo>
                    <a:pt x="6076950" y="0"/>
                  </a:moveTo>
                  <a:lnTo>
                    <a:pt x="0" y="0"/>
                  </a:lnTo>
                  <a:lnTo>
                    <a:pt x="0" y="1515110"/>
                  </a:lnTo>
                  <a:lnTo>
                    <a:pt x="0" y="2454910"/>
                  </a:lnTo>
                  <a:lnTo>
                    <a:pt x="0" y="2744470"/>
                  </a:lnTo>
                  <a:lnTo>
                    <a:pt x="0" y="3196590"/>
                  </a:lnTo>
                  <a:lnTo>
                    <a:pt x="0" y="3486150"/>
                  </a:lnTo>
                  <a:lnTo>
                    <a:pt x="0" y="8202930"/>
                  </a:lnTo>
                  <a:lnTo>
                    <a:pt x="6076950" y="8202930"/>
                  </a:lnTo>
                  <a:lnTo>
                    <a:pt x="6076950" y="1515110"/>
                  </a:lnTo>
                  <a:lnTo>
                    <a:pt x="6076950" y="0"/>
                  </a:lnTo>
                  <a:close/>
                </a:path>
              </a:pathLst>
            </a:custGeom>
            <a:solidFill>
              <a:srgbClr val="F4F4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14400" y="981709"/>
              <a:ext cx="5804535" cy="161925"/>
            </a:xfrm>
            <a:custGeom>
              <a:avLst/>
              <a:gdLst/>
              <a:ahLst/>
              <a:cxnLst/>
              <a:rect l="l" t="t" r="r" b="b"/>
              <a:pathLst>
                <a:path w="5804534" h="161925">
                  <a:moveTo>
                    <a:pt x="5804534" y="0"/>
                  </a:moveTo>
                  <a:lnTo>
                    <a:pt x="0" y="0"/>
                  </a:lnTo>
                  <a:lnTo>
                    <a:pt x="0" y="161925"/>
                  </a:lnTo>
                  <a:lnTo>
                    <a:pt x="5804534" y="161925"/>
                  </a:lnTo>
                  <a:lnTo>
                    <a:pt x="5804534" y="0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902969" y="958850"/>
            <a:ext cx="582803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Courier New"/>
                <a:cs typeface="Courier New"/>
              </a:rPr>
              <a:t>Thought: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After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looking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at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different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sources,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should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now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have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good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4400" y="1144269"/>
            <a:ext cx="420560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understanding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of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top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current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affairs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for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2022.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14400" y="1306830"/>
            <a:ext cx="5563870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Final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Answer: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Some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of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top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current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affairs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for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2022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include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the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14400" y="1469389"/>
            <a:ext cx="546798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Cheetah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reintroduction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plan,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launch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of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5G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India,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legal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age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for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14400" y="1631950"/>
            <a:ext cx="5563870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marriage,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INS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Vikrant.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Additionally,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reputable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sources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for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14400" y="1794407"/>
            <a:ext cx="5563870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staying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informed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on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current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affairs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include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newspapers,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government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14400" y="1957070"/>
            <a:ext cx="5719445" cy="161925"/>
          </a:xfrm>
          <a:custGeom>
            <a:avLst/>
            <a:gdLst/>
            <a:ahLst/>
            <a:cxnLst/>
            <a:rect l="l" t="t" r="r" b="b"/>
            <a:pathLst>
              <a:path w="5719445" h="161925">
                <a:moveTo>
                  <a:pt x="5719445" y="0"/>
                </a:moveTo>
                <a:lnTo>
                  <a:pt x="0" y="0"/>
                </a:lnTo>
                <a:lnTo>
                  <a:pt x="0" y="161925"/>
                </a:lnTo>
                <a:lnTo>
                  <a:pt x="5719445" y="161925"/>
                </a:lnTo>
                <a:lnTo>
                  <a:pt x="5719445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902969" y="1934209"/>
            <a:ext cx="574294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Courier New"/>
                <a:cs typeface="Courier New"/>
              </a:rPr>
              <a:t>websites,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magazines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such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as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Current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Affairs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Foreign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Affairs.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14400" y="2266950"/>
            <a:ext cx="1440815" cy="16192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167640" indent="-167005">
              <a:lnSpc>
                <a:spcPts val="1240"/>
              </a:lnSpc>
              <a:buChar char="&gt;"/>
              <a:tabLst>
                <a:tab pos="167640" algn="l"/>
              </a:tabLst>
            </a:pPr>
            <a:r>
              <a:rPr sz="1100" dirty="0">
                <a:latin typeface="Courier New"/>
                <a:cs typeface="Courier New"/>
              </a:rPr>
              <a:t>Finished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chain.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14400" y="2556510"/>
            <a:ext cx="5130165" cy="161925"/>
          </a:xfrm>
          <a:custGeom>
            <a:avLst/>
            <a:gdLst/>
            <a:ahLst/>
            <a:cxnLst/>
            <a:rect l="l" t="t" r="r" b="b"/>
            <a:pathLst>
              <a:path w="5130165" h="161925">
                <a:moveTo>
                  <a:pt x="5130165" y="0"/>
                </a:moveTo>
                <a:lnTo>
                  <a:pt x="0" y="0"/>
                </a:lnTo>
                <a:lnTo>
                  <a:pt x="0" y="161925"/>
                </a:lnTo>
                <a:lnTo>
                  <a:pt x="5130165" y="161925"/>
                </a:lnTo>
                <a:lnTo>
                  <a:pt x="5130165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902969" y="2533650"/>
            <a:ext cx="515493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Courier New"/>
                <a:cs typeface="Courier New"/>
              </a:rPr>
              <a:t>'Some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of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top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current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affairs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for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2022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include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Cheetah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14400" y="2719070"/>
            <a:ext cx="563562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reintroduction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plan,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launch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of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5G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India,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legal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age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for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marriage,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14400" y="2881629"/>
            <a:ext cx="538289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INS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Vikrant.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Additionally,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reputable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sources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for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staying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14400" y="3044189"/>
            <a:ext cx="5719445" cy="16192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informed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on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current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affairs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include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newspapers,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government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websites,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914400" y="3206749"/>
            <a:ext cx="4962525" cy="1778635"/>
          </a:xfrm>
          <a:custGeom>
            <a:avLst/>
            <a:gdLst/>
            <a:ahLst/>
            <a:cxnLst/>
            <a:rect l="l" t="t" r="r" b="b"/>
            <a:pathLst>
              <a:path w="4962525" h="1778635">
                <a:moveTo>
                  <a:pt x="3110865" y="1616710"/>
                </a:moveTo>
                <a:lnTo>
                  <a:pt x="0" y="1616710"/>
                </a:lnTo>
                <a:lnTo>
                  <a:pt x="0" y="1778635"/>
                </a:lnTo>
                <a:lnTo>
                  <a:pt x="3110865" y="1778635"/>
                </a:lnTo>
                <a:lnTo>
                  <a:pt x="3110865" y="1616710"/>
                </a:lnTo>
                <a:close/>
              </a:path>
              <a:path w="4962525" h="1778635">
                <a:moveTo>
                  <a:pt x="4962525" y="0"/>
                </a:moveTo>
                <a:lnTo>
                  <a:pt x="0" y="0"/>
                </a:lnTo>
                <a:lnTo>
                  <a:pt x="0" y="161925"/>
                </a:lnTo>
                <a:lnTo>
                  <a:pt x="4962525" y="161925"/>
                </a:lnTo>
                <a:lnTo>
                  <a:pt x="4962525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902969" y="3183890"/>
            <a:ext cx="5914390" cy="1809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magazines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such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as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Current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Affairs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Foreign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Affairs.'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tool=load_tools([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"wikipedia"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],llm=client)</a:t>
            </a:r>
            <a:endParaRPr sz="1100">
              <a:latin typeface="Courier New"/>
              <a:cs typeface="Courier New"/>
            </a:endParaRPr>
          </a:p>
          <a:p>
            <a:pPr marL="12700" marR="5080">
              <a:lnSpc>
                <a:spcPts val="1280"/>
              </a:lnSpc>
              <a:spcBef>
                <a:spcPts val="1035"/>
              </a:spcBef>
            </a:pP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agent=initialize_agent(tool,client,agent=AgentType.ZERO_SHOT_REACT_DES CRIPTION,verbose=</a:t>
            </a:r>
            <a:r>
              <a:rPr sz="1100" spc="-10" dirty="0">
                <a:solidFill>
                  <a:srgbClr val="A95C00"/>
                </a:solidFill>
                <a:latin typeface="Courier New"/>
                <a:cs typeface="Courier New"/>
              </a:rPr>
              <a:t>True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)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sz="1100" dirty="0">
                <a:solidFill>
                  <a:srgbClr val="1E1B1A"/>
                </a:solidFill>
                <a:latin typeface="Courier New"/>
                <a:cs typeface="Courier New"/>
              </a:rPr>
              <a:t>agent.run(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"can</a:t>
            </a:r>
            <a:r>
              <a:rPr sz="1100" spc="-55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you</a:t>
            </a:r>
            <a:r>
              <a:rPr sz="1100" spc="-5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tell</a:t>
            </a:r>
            <a:r>
              <a:rPr sz="1100" spc="-5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me</a:t>
            </a:r>
            <a:r>
              <a:rPr sz="1100" spc="-55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about</a:t>
            </a:r>
            <a:r>
              <a:rPr sz="1100" spc="-4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this</a:t>
            </a:r>
            <a:r>
              <a:rPr sz="1100" spc="-5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recent</a:t>
            </a:r>
            <a:r>
              <a:rPr sz="1100" spc="-45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cricket</a:t>
            </a:r>
            <a:r>
              <a:rPr sz="1100" spc="-4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worldcup?"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)</a:t>
            </a:r>
            <a:endParaRPr sz="11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11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795"/>
              </a:spcBef>
            </a:pPr>
            <a:endParaRPr sz="1100">
              <a:latin typeface="Courier New"/>
              <a:cs typeface="Courier New"/>
            </a:endParaRPr>
          </a:p>
          <a:p>
            <a:pPr marL="179705" indent="-167005">
              <a:lnSpc>
                <a:spcPct val="100000"/>
              </a:lnSpc>
              <a:buChar char="&gt;"/>
              <a:tabLst>
                <a:tab pos="179705" algn="l"/>
              </a:tabLst>
            </a:pPr>
            <a:r>
              <a:rPr sz="1100" dirty="0">
                <a:latin typeface="Courier New"/>
                <a:cs typeface="Courier New"/>
              </a:rPr>
              <a:t>Entering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new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AgentExecutor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chain...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14400" y="4986020"/>
            <a:ext cx="522795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85090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2019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Cricket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World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Cup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was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12th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Cricket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World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Cup,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an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14400" y="5148579"/>
            <a:ext cx="555180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international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cricket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tournament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contested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by</a:t>
            </a:r>
            <a:r>
              <a:rPr sz="1100" spc="-8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men's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national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teams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14400" y="5311140"/>
            <a:ext cx="379666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from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International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Cricket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Council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(ICC).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914400" y="5473700"/>
            <a:ext cx="144081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Action: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wikipedia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14400" y="5636259"/>
            <a:ext cx="302831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Action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Input: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2019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Cricket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World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Cup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914400" y="5798820"/>
            <a:ext cx="344868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Observation: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Page: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2019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Cricket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World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Cup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914400" y="5961379"/>
            <a:ext cx="555180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Summary: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2019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ICC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Cricket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World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Cup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was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12th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Cricket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World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14400" y="6123940"/>
            <a:ext cx="547941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Cup,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quadrennial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One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Day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International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(ODI)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cricket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tournament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914400" y="6286500"/>
            <a:ext cx="5720080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contested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by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men's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national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teams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organised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by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International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914400" y="6449059"/>
            <a:ext cx="590105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Cricket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Council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(ICC).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tournament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was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hosted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between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30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May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14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914400" y="6611619"/>
            <a:ext cx="5720080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July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across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10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venues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England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single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venue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Wales.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It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was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914400" y="6774180"/>
            <a:ext cx="5803900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fifth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time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that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England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had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hosted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World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Cup,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while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for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Wales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914400" y="6936740"/>
            <a:ext cx="160972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it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was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their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third.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914400" y="7099300"/>
            <a:ext cx="5816600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tournament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was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contested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by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10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teams,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decrease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from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14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teams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in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914400" y="7261756"/>
            <a:ext cx="5816600" cy="16319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previous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edition,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with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format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of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tournament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changing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to</a:t>
            </a:r>
            <a:r>
              <a:rPr sz="1100" spc="-50" dirty="0">
                <a:latin typeface="Courier New"/>
                <a:cs typeface="Courier New"/>
              </a:rPr>
              <a:t> a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914400" y="7424419"/>
            <a:ext cx="588835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single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round-</a:t>
            </a:r>
            <a:r>
              <a:rPr sz="1100" dirty="0">
                <a:latin typeface="Courier New"/>
                <a:cs typeface="Courier New"/>
              </a:rPr>
              <a:t>robin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group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with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top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four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teams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qualifying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through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to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914400" y="7586980"/>
            <a:ext cx="5803900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knockout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stage.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After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six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weeks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of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round-</a:t>
            </a:r>
            <a:r>
              <a:rPr sz="1100" dirty="0">
                <a:latin typeface="Courier New"/>
                <a:cs typeface="Courier New"/>
              </a:rPr>
              <a:t>robin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matches,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which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saw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914400" y="7749540"/>
            <a:ext cx="538416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four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games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not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have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result,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India,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Australia,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England,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New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914400" y="7912100"/>
            <a:ext cx="590105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Zealand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finished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as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top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four,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with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Pakistan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missing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out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on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net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run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914400" y="8074659"/>
            <a:ext cx="43116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spc="-10" dirty="0">
                <a:latin typeface="Courier New"/>
                <a:cs typeface="Courier New"/>
              </a:rPr>
              <a:t>rate.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914400" y="8237219"/>
            <a:ext cx="563689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In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knockout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stage,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England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New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Zealand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won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their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respective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914400" y="8399677"/>
            <a:ext cx="5636895" cy="16319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spc="-10" dirty="0">
                <a:latin typeface="Courier New"/>
                <a:cs typeface="Courier New"/>
              </a:rPr>
              <a:t>semi-</a:t>
            </a:r>
            <a:r>
              <a:rPr sz="1100" dirty="0">
                <a:latin typeface="Courier New"/>
                <a:cs typeface="Courier New"/>
              </a:rPr>
              <a:t>finals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to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qualify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for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final,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which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was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played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at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Lord's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in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914400" y="8562340"/>
            <a:ext cx="588835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London.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final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ended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tie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after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match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ended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with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both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teams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914400" y="8724900"/>
            <a:ext cx="5803900" cy="16192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scoring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241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runs,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followed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by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first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Super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Over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ODI;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England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914400" y="8887459"/>
            <a:ext cx="5720715" cy="161925"/>
          </a:xfrm>
          <a:custGeom>
            <a:avLst/>
            <a:gdLst/>
            <a:ahLst/>
            <a:cxnLst/>
            <a:rect l="l" t="t" r="r" b="b"/>
            <a:pathLst>
              <a:path w="5720715" h="161925">
                <a:moveTo>
                  <a:pt x="5720715" y="0"/>
                </a:moveTo>
                <a:lnTo>
                  <a:pt x="0" y="0"/>
                </a:lnTo>
                <a:lnTo>
                  <a:pt x="0" y="161925"/>
                </a:lnTo>
                <a:lnTo>
                  <a:pt x="5720715" y="161925"/>
                </a:lnTo>
                <a:lnTo>
                  <a:pt x="5720715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 txBox="1"/>
          <p:nvPr/>
        </p:nvSpPr>
        <p:spPr>
          <a:xfrm>
            <a:off x="902969" y="8864600"/>
            <a:ext cx="574421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Courier New"/>
                <a:cs typeface="Courier New"/>
              </a:rPr>
              <a:t>won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title,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their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first,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on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boundary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countback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rule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after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the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848360" y="914400"/>
            <a:ext cx="6076315" cy="8202295"/>
          </a:xfrm>
          <a:custGeom>
            <a:avLst/>
            <a:gdLst/>
            <a:ahLst/>
            <a:cxnLst/>
            <a:rect l="l" t="t" r="r" b="b"/>
            <a:pathLst>
              <a:path w="6076315" h="8202295">
                <a:moveTo>
                  <a:pt x="0" y="1904"/>
                </a:moveTo>
                <a:lnTo>
                  <a:pt x="6076315" y="1904"/>
                </a:lnTo>
              </a:path>
              <a:path w="6076315" h="8202295">
                <a:moveTo>
                  <a:pt x="6075045" y="0"/>
                </a:moveTo>
                <a:lnTo>
                  <a:pt x="6075045" y="1642109"/>
                </a:lnTo>
              </a:path>
              <a:path w="6076315" h="8202295">
                <a:moveTo>
                  <a:pt x="1905" y="1642109"/>
                </a:moveTo>
                <a:lnTo>
                  <a:pt x="1905" y="0"/>
                </a:lnTo>
              </a:path>
              <a:path w="6076315" h="8202295">
                <a:moveTo>
                  <a:pt x="6075045" y="1515109"/>
                </a:moveTo>
                <a:lnTo>
                  <a:pt x="6075045" y="2581909"/>
                </a:lnTo>
              </a:path>
              <a:path w="6076315" h="8202295">
                <a:moveTo>
                  <a:pt x="1905" y="2581909"/>
                </a:moveTo>
                <a:lnTo>
                  <a:pt x="1905" y="1515109"/>
                </a:lnTo>
              </a:path>
              <a:path w="6076315" h="8202295">
                <a:moveTo>
                  <a:pt x="6075045" y="2454909"/>
                </a:moveTo>
                <a:lnTo>
                  <a:pt x="6075045" y="2871470"/>
                </a:lnTo>
              </a:path>
              <a:path w="6076315" h="8202295">
                <a:moveTo>
                  <a:pt x="1905" y="2871470"/>
                </a:moveTo>
                <a:lnTo>
                  <a:pt x="1905" y="2454909"/>
                </a:lnTo>
              </a:path>
              <a:path w="6076315" h="8202295">
                <a:moveTo>
                  <a:pt x="6075045" y="2744470"/>
                </a:moveTo>
                <a:lnTo>
                  <a:pt x="6075045" y="3323590"/>
                </a:lnTo>
              </a:path>
              <a:path w="6076315" h="8202295">
                <a:moveTo>
                  <a:pt x="1905" y="3323590"/>
                </a:moveTo>
                <a:lnTo>
                  <a:pt x="1905" y="2744470"/>
                </a:lnTo>
              </a:path>
              <a:path w="6076315" h="8202295">
                <a:moveTo>
                  <a:pt x="6075045" y="3196590"/>
                </a:moveTo>
                <a:lnTo>
                  <a:pt x="6075045" y="3613150"/>
                </a:lnTo>
              </a:path>
              <a:path w="6076315" h="8202295">
                <a:moveTo>
                  <a:pt x="1905" y="3613150"/>
                </a:moveTo>
                <a:lnTo>
                  <a:pt x="1905" y="3196590"/>
                </a:lnTo>
              </a:path>
              <a:path w="6076315" h="8202295">
                <a:moveTo>
                  <a:pt x="6075045" y="3486150"/>
                </a:moveTo>
                <a:lnTo>
                  <a:pt x="6075045" y="8202295"/>
                </a:lnTo>
              </a:path>
              <a:path w="6076315" h="8202295">
                <a:moveTo>
                  <a:pt x="6076315" y="8201025"/>
                </a:moveTo>
                <a:lnTo>
                  <a:pt x="0" y="8201025"/>
                </a:lnTo>
              </a:path>
              <a:path w="6076315" h="8202295">
                <a:moveTo>
                  <a:pt x="1905" y="8202295"/>
                </a:moveTo>
                <a:lnTo>
                  <a:pt x="1905" y="3486150"/>
                </a:lnTo>
              </a:path>
              <a:path w="6076315" h="8202295">
                <a:moveTo>
                  <a:pt x="0" y="1904"/>
                </a:moveTo>
                <a:lnTo>
                  <a:pt x="6076315" y="1904"/>
                </a:lnTo>
              </a:path>
              <a:path w="6076315" h="8202295">
                <a:moveTo>
                  <a:pt x="6075045" y="0"/>
                </a:moveTo>
                <a:lnTo>
                  <a:pt x="6075045" y="1642109"/>
                </a:lnTo>
              </a:path>
              <a:path w="6076315" h="8202295">
                <a:moveTo>
                  <a:pt x="1905" y="1642109"/>
                </a:moveTo>
                <a:lnTo>
                  <a:pt x="1905" y="0"/>
                </a:lnTo>
              </a:path>
              <a:path w="6076315" h="8202295">
                <a:moveTo>
                  <a:pt x="6075045" y="1515109"/>
                </a:moveTo>
                <a:lnTo>
                  <a:pt x="6075045" y="2581909"/>
                </a:lnTo>
              </a:path>
              <a:path w="6076315" h="8202295">
                <a:moveTo>
                  <a:pt x="1905" y="2581909"/>
                </a:moveTo>
                <a:lnTo>
                  <a:pt x="1905" y="1515109"/>
                </a:lnTo>
              </a:path>
              <a:path w="6076315" h="8202295">
                <a:moveTo>
                  <a:pt x="6075045" y="2454909"/>
                </a:moveTo>
                <a:lnTo>
                  <a:pt x="6075045" y="2871470"/>
                </a:lnTo>
              </a:path>
              <a:path w="6076315" h="8202295">
                <a:moveTo>
                  <a:pt x="1905" y="2871470"/>
                </a:moveTo>
                <a:lnTo>
                  <a:pt x="1905" y="2454909"/>
                </a:lnTo>
              </a:path>
              <a:path w="6076315" h="8202295">
                <a:moveTo>
                  <a:pt x="6075045" y="2744470"/>
                </a:moveTo>
                <a:lnTo>
                  <a:pt x="6075045" y="3323590"/>
                </a:lnTo>
              </a:path>
              <a:path w="6076315" h="8202295">
                <a:moveTo>
                  <a:pt x="1905" y="3323590"/>
                </a:moveTo>
                <a:lnTo>
                  <a:pt x="1905" y="2744470"/>
                </a:lnTo>
              </a:path>
              <a:path w="6076315" h="8202295">
                <a:moveTo>
                  <a:pt x="6075045" y="3196590"/>
                </a:moveTo>
                <a:lnTo>
                  <a:pt x="6075045" y="3613150"/>
                </a:lnTo>
              </a:path>
              <a:path w="6076315" h="8202295">
                <a:moveTo>
                  <a:pt x="1905" y="3613150"/>
                </a:moveTo>
                <a:lnTo>
                  <a:pt x="1905" y="3196590"/>
                </a:lnTo>
              </a:path>
              <a:path w="6076315" h="8202295">
                <a:moveTo>
                  <a:pt x="6075045" y="3486150"/>
                </a:moveTo>
                <a:lnTo>
                  <a:pt x="6075045" y="8202295"/>
                </a:lnTo>
              </a:path>
              <a:path w="6076315" h="8202295">
                <a:moveTo>
                  <a:pt x="6076315" y="8201025"/>
                </a:moveTo>
                <a:lnTo>
                  <a:pt x="0" y="8201025"/>
                </a:lnTo>
              </a:path>
              <a:path w="6076315" h="8202295">
                <a:moveTo>
                  <a:pt x="1905" y="8202295"/>
                </a:moveTo>
                <a:lnTo>
                  <a:pt x="1905" y="3486150"/>
                </a:lnTo>
              </a:path>
            </a:pathLst>
          </a:custGeom>
          <a:ln w="3175">
            <a:solidFill>
              <a:srgbClr val="E2E2E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47725" y="913764"/>
            <a:ext cx="6076950" cy="8069580"/>
            <a:chOff x="847725" y="913764"/>
            <a:chExt cx="6076950" cy="8069580"/>
          </a:xfrm>
        </p:grpSpPr>
        <p:sp>
          <p:nvSpPr>
            <p:cNvPr id="3" name="object 3"/>
            <p:cNvSpPr/>
            <p:nvPr/>
          </p:nvSpPr>
          <p:spPr>
            <a:xfrm>
              <a:off x="847725" y="913764"/>
              <a:ext cx="6076950" cy="8069580"/>
            </a:xfrm>
            <a:custGeom>
              <a:avLst/>
              <a:gdLst/>
              <a:ahLst/>
              <a:cxnLst/>
              <a:rect l="l" t="t" r="r" b="b"/>
              <a:pathLst>
                <a:path w="6076950" h="8069580">
                  <a:moveTo>
                    <a:pt x="6076950" y="0"/>
                  </a:moveTo>
                  <a:lnTo>
                    <a:pt x="0" y="0"/>
                  </a:lnTo>
                  <a:lnTo>
                    <a:pt x="0" y="8069580"/>
                  </a:lnTo>
                  <a:lnTo>
                    <a:pt x="6076950" y="8069580"/>
                  </a:lnTo>
                  <a:lnTo>
                    <a:pt x="6076950" y="0"/>
                  </a:lnTo>
                  <a:close/>
                </a:path>
              </a:pathLst>
            </a:custGeom>
            <a:solidFill>
              <a:srgbClr val="F4F4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14400" y="981709"/>
              <a:ext cx="5635625" cy="161925"/>
            </a:xfrm>
            <a:custGeom>
              <a:avLst/>
              <a:gdLst/>
              <a:ahLst/>
              <a:cxnLst/>
              <a:rect l="l" t="t" r="r" b="b"/>
              <a:pathLst>
                <a:path w="5635625" h="161925">
                  <a:moveTo>
                    <a:pt x="5635625" y="0"/>
                  </a:moveTo>
                  <a:lnTo>
                    <a:pt x="0" y="0"/>
                  </a:lnTo>
                  <a:lnTo>
                    <a:pt x="0" y="161925"/>
                  </a:lnTo>
                  <a:lnTo>
                    <a:pt x="5635625" y="161925"/>
                  </a:lnTo>
                  <a:lnTo>
                    <a:pt x="5635625" y="0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902969" y="958850"/>
            <a:ext cx="566039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Courier New"/>
                <a:cs typeface="Courier New"/>
              </a:rPr>
              <a:t>Super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Over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also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finished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level.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total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attendance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throughout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the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4400" y="1144269"/>
            <a:ext cx="327977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2019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ICC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Cricket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World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Cup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was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752,000.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14400" y="1306830"/>
            <a:ext cx="555180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Overall,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videos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of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group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stages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amassed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over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2.6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billion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views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14400" y="1469389"/>
            <a:ext cx="5803265" cy="16192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from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around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world,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making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it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most-</a:t>
            </a:r>
            <a:r>
              <a:rPr sz="1100" dirty="0">
                <a:latin typeface="Courier New"/>
                <a:cs typeface="Courier New"/>
              </a:rPr>
              <a:t>watched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cricket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competition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14400" y="1631949"/>
            <a:ext cx="2355215" cy="471805"/>
          </a:xfrm>
          <a:custGeom>
            <a:avLst/>
            <a:gdLst/>
            <a:ahLst/>
            <a:cxnLst/>
            <a:rect l="l" t="t" r="r" b="b"/>
            <a:pathLst>
              <a:path w="2355215" h="471805">
                <a:moveTo>
                  <a:pt x="923925" y="0"/>
                </a:moveTo>
                <a:lnTo>
                  <a:pt x="0" y="0"/>
                </a:lnTo>
                <a:lnTo>
                  <a:pt x="0" y="161925"/>
                </a:lnTo>
                <a:lnTo>
                  <a:pt x="923925" y="161925"/>
                </a:lnTo>
                <a:lnTo>
                  <a:pt x="923925" y="0"/>
                </a:lnTo>
                <a:close/>
              </a:path>
              <a:path w="2355215" h="471805">
                <a:moveTo>
                  <a:pt x="2355215" y="309880"/>
                </a:moveTo>
                <a:lnTo>
                  <a:pt x="0" y="309880"/>
                </a:lnTo>
                <a:lnTo>
                  <a:pt x="0" y="471805"/>
                </a:lnTo>
                <a:lnTo>
                  <a:pt x="2355215" y="471805"/>
                </a:lnTo>
                <a:lnTo>
                  <a:pt x="2355215" y="30988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902969" y="1609090"/>
            <a:ext cx="2379980" cy="502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Courier New"/>
                <a:cs typeface="Courier New"/>
              </a:rPr>
              <a:t>as</a:t>
            </a:r>
            <a:r>
              <a:rPr sz="1100" spc="-1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of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2019.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120"/>
              </a:spcBef>
            </a:pPr>
            <a:r>
              <a:rPr sz="1100" dirty="0">
                <a:latin typeface="Courier New"/>
                <a:cs typeface="Courier New"/>
              </a:rPr>
              <a:t>Page: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2023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Cricket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World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Cup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14400" y="2104389"/>
            <a:ext cx="556450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Summary: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2023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ICC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Men's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Cricket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World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Cup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(also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referred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to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as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14400" y="2266950"/>
            <a:ext cx="5887720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simply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2023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Cricket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World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Cup)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was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13th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edition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of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Cricket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14400" y="2429510"/>
            <a:ext cx="504634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World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Cup,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quadrennial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One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Day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International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(ODI)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cricket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14400" y="2592070"/>
            <a:ext cx="5636260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tournament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organized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by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International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Cricket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Council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(ICC).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It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14400" y="2754629"/>
            <a:ext cx="556450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was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hosted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from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5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October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to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19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November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2023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across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ten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venues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in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14400" y="2917189"/>
            <a:ext cx="514984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spc="-10" dirty="0">
                <a:latin typeface="Courier New"/>
                <a:cs typeface="Courier New"/>
              </a:rPr>
              <a:t>India.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14400" y="3079750"/>
            <a:ext cx="5636260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tournament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was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contested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by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ten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national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teams,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maintaining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the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14400" y="3242310"/>
            <a:ext cx="571944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same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format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used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2019.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knockout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stage,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India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Australia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14400" y="3404870"/>
            <a:ext cx="538416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beat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New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Zealand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South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Africa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respectively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to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advance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to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the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14400" y="3567429"/>
            <a:ext cx="5887720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final,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played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on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19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November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at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Narendra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Modi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Stadium.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Australia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would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14400" y="3729990"/>
            <a:ext cx="522668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win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by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6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wickets,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winning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their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sixth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Cricket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World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Cup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title.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14400" y="3892550"/>
            <a:ext cx="580453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Virat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Kohli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was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player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of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tournament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also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scored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most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14400" y="4055109"/>
            <a:ext cx="514413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runs;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Mohammed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Shami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was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leading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wicket-</a:t>
            </a:r>
            <a:r>
              <a:rPr sz="1100" dirty="0">
                <a:latin typeface="Courier New"/>
                <a:cs typeface="Courier New"/>
              </a:rPr>
              <a:t>taker.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total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of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914400" y="4217670"/>
            <a:ext cx="538416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1,250,307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spectators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attended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matches,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highest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number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any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14400" y="4380229"/>
            <a:ext cx="5887720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Cricket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World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Cup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to-</a:t>
            </a:r>
            <a:r>
              <a:rPr sz="1100" dirty="0">
                <a:latin typeface="Courier New"/>
                <a:cs typeface="Courier New"/>
              </a:rPr>
              <a:t>date.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tournament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final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set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viewership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records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914400" y="4542687"/>
            <a:ext cx="5887720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in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India,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with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518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million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viewers,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peak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of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57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million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streaming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914400" y="4705349"/>
            <a:ext cx="1933575" cy="473075"/>
          </a:xfrm>
          <a:custGeom>
            <a:avLst/>
            <a:gdLst/>
            <a:ahLst/>
            <a:cxnLst/>
            <a:rect l="l" t="t" r="r" b="b"/>
            <a:pathLst>
              <a:path w="1933575" h="473075">
                <a:moveTo>
                  <a:pt x="671195" y="0"/>
                </a:moveTo>
                <a:lnTo>
                  <a:pt x="0" y="0"/>
                </a:lnTo>
                <a:lnTo>
                  <a:pt x="0" y="161925"/>
                </a:lnTo>
                <a:lnTo>
                  <a:pt x="671195" y="161925"/>
                </a:lnTo>
                <a:lnTo>
                  <a:pt x="671195" y="0"/>
                </a:lnTo>
                <a:close/>
              </a:path>
              <a:path w="1933575" h="473075">
                <a:moveTo>
                  <a:pt x="1933575" y="311150"/>
                </a:moveTo>
                <a:lnTo>
                  <a:pt x="0" y="311150"/>
                </a:lnTo>
                <a:lnTo>
                  <a:pt x="0" y="473075"/>
                </a:lnTo>
                <a:lnTo>
                  <a:pt x="1933575" y="473075"/>
                </a:lnTo>
                <a:lnTo>
                  <a:pt x="1933575" y="31115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902969" y="4682490"/>
            <a:ext cx="1959610" cy="504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latin typeface="Courier New"/>
                <a:cs typeface="Courier New"/>
              </a:rPr>
              <a:t>viewers.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130"/>
              </a:spcBef>
            </a:pPr>
            <a:r>
              <a:rPr sz="1100" dirty="0">
                <a:latin typeface="Courier New"/>
                <a:cs typeface="Courier New"/>
              </a:rPr>
              <a:t>Page: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Cricket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World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Cup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914400" y="5179059"/>
            <a:ext cx="581596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Summary: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Cricket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World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Cup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(officially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known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as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ICC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Men's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Cricket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914400" y="5341516"/>
            <a:ext cx="5815965" cy="16319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World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Cup)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is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international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championship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of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One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Day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International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914400" y="5504179"/>
            <a:ext cx="572071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(ODI)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cricket.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event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is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organised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by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sport's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governing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body,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914400" y="5666740"/>
            <a:ext cx="531177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International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Cricket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Council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(ICC),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every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four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years,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with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914400" y="5829300"/>
            <a:ext cx="563562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preliminary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qualification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rounds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leading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up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to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finals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tournament.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914400" y="5991859"/>
            <a:ext cx="572071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tournament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is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one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of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world's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most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viewed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sporting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events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and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914400" y="6154420"/>
            <a:ext cx="522668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considered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as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"flagship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event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of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international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cricket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914400" y="6316979"/>
            <a:ext cx="489013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calendar"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by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ICC.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It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is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widely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considered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pinnacle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914400" y="6479540"/>
            <a:ext cx="312356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championship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of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sport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of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cricket.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914400" y="6642100"/>
            <a:ext cx="564832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first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World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Cup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was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organised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England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June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1975,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with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the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914400" y="6804556"/>
            <a:ext cx="5635625" cy="16319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first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ODI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cricket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match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having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been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played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only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four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years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earlier.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914400" y="6967219"/>
            <a:ext cx="581596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However,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separate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Women's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Cricket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World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Cup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had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been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held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two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years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914400" y="7129780"/>
            <a:ext cx="588708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before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first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men's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tournament,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tournament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involving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multiple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914400" y="7292340"/>
            <a:ext cx="581596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international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teams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had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been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held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as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early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as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1912,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when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triangular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914400" y="7454900"/>
            <a:ext cx="572071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tournament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of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Test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matches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was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played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between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Australia,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England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and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914400" y="7617459"/>
            <a:ext cx="564832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South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Africa.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first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three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World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Cups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were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held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England.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From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914400" y="7780019"/>
            <a:ext cx="589978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1987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tournament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onwards,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hosting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has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been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shared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between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countries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914400" y="7942580"/>
            <a:ext cx="581596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under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unofficial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rotation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system,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with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fourteen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ICC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members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having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914400" y="8105140"/>
            <a:ext cx="370014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hosted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at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least</a:t>
            </a:r>
            <a:r>
              <a:rPr sz="1100" spc="-2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one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match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tournament.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914400" y="8267700"/>
            <a:ext cx="572071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current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format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involves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qualification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phase,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which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takes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place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914400" y="8430156"/>
            <a:ext cx="5720715" cy="16319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over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preceding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three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years,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to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determine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which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teams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qualify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for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914400" y="8592819"/>
            <a:ext cx="4542155" cy="16192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tournament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phase.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tournament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phase,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10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team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914400" y="8755380"/>
            <a:ext cx="3027045" cy="161925"/>
          </a:xfrm>
          <a:custGeom>
            <a:avLst/>
            <a:gdLst/>
            <a:ahLst/>
            <a:cxnLst/>
            <a:rect l="l" t="t" r="r" b="b"/>
            <a:pathLst>
              <a:path w="3027045" h="161925">
                <a:moveTo>
                  <a:pt x="3027045" y="0"/>
                </a:moveTo>
                <a:lnTo>
                  <a:pt x="0" y="0"/>
                </a:lnTo>
                <a:lnTo>
                  <a:pt x="0" y="161925"/>
                </a:lnTo>
                <a:lnTo>
                  <a:pt x="3027045" y="161925"/>
                </a:lnTo>
                <a:lnTo>
                  <a:pt x="3027045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 txBox="1"/>
          <p:nvPr/>
        </p:nvSpPr>
        <p:spPr>
          <a:xfrm>
            <a:off x="902969" y="8732519"/>
            <a:ext cx="305117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Courier New"/>
                <a:cs typeface="Courier New"/>
              </a:rPr>
              <a:t>Thought: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now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know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final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answer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848360" y="914400"/>
            <a:ext cx="6076315" cy="8068945"/>
          </a:xfrm>
          <a:custGeom>
            <a:avLst/>
            <a:gdLst/>
            <a:ahLst/>
            <a:cxnLst/>
            <a:rect l="l" t="t" r="r" b="b"/>
            <a:pathLst>
              <a:path w="6076315" h="8068945">
                <a:moveTo>
                  <a:pt x="0" y="1904"/>
                </a:moveTo>
                <a:lnTo>
                  <a:pt x="6076315" y="1904"/>
                </a:lnTo>
              </a:path>
              <a:path w="6076315" h="8068945">
                <a:moveTo>
                  <a:pt x="6075045" y="0"/>
                </a:moveTo>
                <a:lnTo>
                  <a:pt x="6075045" y="8068945"/>
                </a:lnTo>
              </a:path>
              <a:path w="6076315" h="8068945">
                <a:moveTo>
                  <a:pt x="6076315" y="8067675"/>
                </a:moveTo>
                <a:lnTo>
                  <a:pt x="0" y="8067675"/>
                </a:lnTo>
              </a:path>
              <a:path w="6076315" h="8068945">
                <a:moveTo>
                  <a:pt x="1905" y="8068945"/>
                </a:moveTo>
                <a:lnTo>
                  <a:pt x="1905" y="0"/>
                </a:lnTo>
              </a:path>
              <a:path w="6076315" h="8068945">
                <a:moveTo>
                  <a:pt x="0" y="1904"/>
                </a:moveTo>
                <a:lnTo>
                  <a:pt x="6076315" y="1904"/>
                </a:lnTo>
              </a:path>
              <a:path w="6076315" h="8068945">
                <a:moveTo>
                  <a:pt x="6075045" y="0"/>
                </a:moveTo>
                <a:lnTo>
                  <a:pt x="6075045" y="8068945"/>
                </a:lnTo>
              </a:path>
              <a:path w="6076315" h="8068945">
                <a:moveTo>
                  <a:pt x="6076315" y="8067675"/>
                </a:moveTo>
                <a:lnTo>
                  <a:pt x="0" y="8067675"/>
                </a:lnTo>
              </a:path>
              <a:path w="6076315" h="8068945">
                <a:moveTo>
                  <a:pt x="1905" y="8068945"/>
                </a:moveTo>
                <a:lnTo>
                  <a:pt x="1905" y="0"/>
                </a:lnTo>
              </a:path>
            </a:pathLst>
          </a:custGeom>
          <a:ln w="3175">
            <a:solidFill>
              <a:srgbClr val="E2E2E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47725" y="913764"/>
            <a:ext cx="6076950" cy="8111490"/>
            <a:chOff x="847725" y="913764"/>
            <a:chExt cx="6076950" cy="8111490"/>
          </a:xfrm>
        </p:grpSpPr>
        <p:sp>
          <p:nvSpPr>
            <p:cNvPr id="3" name="object 3"/>
            <p:cNvSpPr/>
            <p:nvPr/>
          </p:nvSpPr>
          <p:spPr>
            <a:xfrm>
              <a:off x="847725" y="913764"/>
              <a:ext cx="6076950" cy="8111490"/>
            </a:xfrm>
            <a:custGeom>
              <a:avLst/>
              <a:gdLst/>
              <a:ahLst/>
              <a:cxnLst/>
              <a:rect l="l" t="t" r="r" b="b"/>
              <a:pathLst>
                <a:path w="6076950" h="8111490">
                  <a:moveTo>
                    <a:pt x="6076950" y="0"/>
                  </a:moveTo>
                  <a:lnTo>
                    <a:pt x="0" y="0"/>
                  </a:lnTo>
                  <a:lnTo>
                    <a:pt x="0" y="1352550"/>
                  </a:lnTo>
                  <a:lnTo>
                    <a:pt x="0" y="2454910"/>
                  </a:lnTo>
                  <a:lnTo>
                    <a:pt x="0" y="2744470"/>
                  </a:lnTo>
                  <a:lnTo>
                    <a:pt x="0" y="8111490"/>
                  </a:lnTo>
                  <a:lnTo>
                    <a:pt x="6076950" y="8111490"/>
                  </a:lnTo>
                  <a:lnTo>
                    <a:pt x="6076950" y="2744470"/>
                  </a:lnTo>
                  <a:lnTo>
                    <a:pt x="6076950" y="2454910"/>
                  </a:lnTo>
                  <a:lnTo>
                    <a:pt x="6076950" y="1352550"/>
                  </a:lnTo>
                  <a:lnTo>
                    <a:pt x="6076950" y="0"/>
                  </a:lnTo>
                  <a:close/>
                </a:path>
              </a:pathLst>
            </a:custGeom>
            <a:solidFill>
              <a:srgbClr val="F4F4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14400" y="981709"/>
              <a:ext cx="5803265" cy="161925"/>
            </a:xfrm>
            <a:custGeom>
              <a:avLst/>
              <a:gdLst/>
              <a:ahLst/>
              <a:cxnLst/>
              <a:rect l="l" t="t" r="r" b="b"/>
              <a:pathLst>
                <a:path w="5803265" h="161925">
                  <a:moveTo>
                    <a:pt x="5803265" y="0"/>
                  </a:moveTo>
                  <a:lnTo>
                    <a:pt x="0" y="0"/>
                  </a:lnTo>
                  <a:lnTo>
                    <a:pt x="0" y="161925"/>
                  </a:lnTo>
                  <a:lnTo>
                    <a:pt x="5803265" y="161925"/>
                  </a:lnTo>
                  <a:lnTo>
                    <a:pt x="5803265" y="0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902969" y="958850"/>
            <a:ext cx="582739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Courier New"/>
                <a:cs typeface="Courier New"/>
              </a:rPr>
              <a:t>Final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Answer: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2019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Cricket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World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Cup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was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12th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edition,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hosted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4400" y="1144269"/>
            <a:ext cx="539559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by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England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Wales.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It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was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won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by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England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thrilling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final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14400" y="1306830"/>
            <a:ext cx="573214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against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New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Zealand.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next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Cricket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World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Cup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will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be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held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2023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14400" y="1469389"/>
            <a:ext cx="489013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in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India.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Cricket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World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Cup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is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considered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pinnacle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14400" y="1631950"/>
            <a:ext cx="5563235" cy="16192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championship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of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sport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of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cricket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is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one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of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most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viewed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14400" y="1794510"/>
            <a:ext cx="2437765" cy="161925"/>
          </a:xfrm>
          <a:custGeom>
            <a:avLst/>
            <a:gdLst/>
            <a:ahLst/>
            <a:cxnLst/>
            <a:rect l="l" t="t" r="r" b="b"/>
            <a:pathLst>
              <a:path w="2437765" h="161925">
                <a:moveTo>
                  <a:pt x="2437765" y="0"/>
                </a:moveTo>
                <a:lnTo>
                  <a:pt x="0" y="0"/>
                </a:lnTo>
                <a:lnTo>
                  <a:pt x="0" y="161925"/>
                </a:lnTo>
                <a:lnTo>
                  <a:pt x="2437765" y="161925"/>
                </a:lnTo>
                <a:lnTo>
                  <a:pt x="2437765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902969" y="1771650"/>
            <a:ext cx="246380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Courier New"/>
                <a:cs typeface="Courier New"/>
              </a:rPr>
              <a:t>sporting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events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world.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14400" y="2104389"/>
            <a:ext cx="1440815" cy="16192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167640" indent="-167005">
              <a:lnSpc>
                <a:spcPts val="1240"/>
              </a:lnSpc>
              <a:buChar char="&gt;"/>
              <a:tabLst>
                <a:tab pos="167640" algn="l"/>
              </a:tabLst>
            </a:pPr>
            <a:r>
              <a:rPr sz="1100" dirty="0">
                <a:latin typeface="Courier New"/>
                <a:cs typeface="Courier New"/>
              </a:rPr>
              <a:t>Finished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chain.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914400" y="2393950"/>
            <a:ext cx="5635625" cy="161925"/>
          </a:xfrm>
          <a:custGeom>
            <a:avLst/>
            <a:gdLst/>
            <a:ahLst/>
            <a:cxnLst/>
            <a:rect l="l" t="t" r="r" b="b"/>
            <a:pathLst>
              <a:path w="5635625" h="161925">
                <a:moveTo>
                  <a:pt x="5635625" y="0"/>
                </a:moveTo>
                <a:lnTo>
                  <a:pt x="0" y="0"/>
                </a:lnTo>
                <a:lnTo>
                  <a:pt x="0" y="161925"/>
                </a:lnTo>
                <a:lnTo>
                  <a:pt x="5635625" y="161925"/>
                </a:lnTo>
                <a:lnTo>
                  <a:pt x="5635625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902969" y="2371090"/>
            <a:ext cx="565912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Courier New"/>
                <a:cs typeface="Courier New"/>
              </a:rPr>
              <a:t>'The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2019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Cricket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World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Cup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was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12th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edition,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hosted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by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England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14400" y="2556510"/>
            <a:ext cx="546798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Wales.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It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was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won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by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England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thrilling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final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against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New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14400" y="2719070"/>
            <a:ext cx="588835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Zealand.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next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Cricket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World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Cup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will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be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held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2023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India.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The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14400" y="2881527"/>
            <a:ext cx="5888355" cy="16319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Cricket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World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Cup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is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considered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pinnacle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championship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of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sport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14400" y="3044189"/>
            <a:ext cx="5311775" cy="16192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of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cricket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is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one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of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most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viewed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sporting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events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the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914400" y="3206749"/>
            <a:ext cx="5888355" cy="5751195"/>
          </a:xfrm>
          <a:custGeom>
            <a:avLst/>
            <a:gdLst/>
            <a:ahLst/>
            <a:cxnLst/>
            <a:rect l="l" t="t" r="r" b="b"/>
            <a:pathLst>
              <a:path w="5888355" h="5751195">
                <a:moveTo>
                  <a:pt x="587375" y="0"/>
                </a:moveTo>
                <a:lnTo>
                  <a:pt x="0" y="0"/>
                </a:lnTo>
                <a:lnTo>
                  <a:pt x="0" y="161925"/>
                </a:lnTo>
                <a:lnTo>
                  <a:pt x="587375" y="161925"/>
                </a:lnTo>
                <a:lnTo>
                  <a:pt x="587375" y="0"/>
                </a:lnTo>
                <a:close/>
              </a:path>
              <a:path w="5888355" h="5751195">
                <a:moveTo>
                  <a:pt x="1428115" y="1200150"/>
                </a:moveTo>
                <a:lnTo>
                  <a:pt x="0" y="1200150"/>
                </a:lnTo>
                <a:lnTo>
                  <a:pt x="0" y="1362075"/>
                </a:lnTo>
                <a:lnTo>
                  <a:pt x="1428115" y="1362075"/>
                </a:lnTo>
                <a:lnTo>
                  <a:pt x="1428115" y="1200150"/>
                </a:lnTo>
                <a:close/>
              </a:path>
              <a:path w="5888355" h="5751195">
                <a:moveTo>
                  <a:pt x="1765935" y="1362710"/>
                </a:moveTo>
                <a:lnTo>
                  <a:pt x="0" y="1362710"/>
                </a:lnTo>
                <a:lnTo>
                  <a:pt x="0" y="1524635"/>
                </a:lnTo>
                <a:lnTo>
                  <a:pt x="1765935" y="1524635"/>
                </a:lnTo>
                <a:lnTo>
                  <a:pt x="1765935" y="1362710"/>
                </a:lnTo>
                <a:close/>
              </a:path>
              <a:path w="5888355" h="5751195">
                <a:moveTo>
                  <a:pt x="3110865" y="875030"/>
                </a:moveTo>
                <a:lnTo>
                  <a:pt x="0" y="875030"/>
                </a:lnTo>
                <a:lnTo>
                  <a:pt x="0" y="1036955"/>
                </a:lnTo>
                <a:lnTo>
                  <a:pt x="3110865" y="1036955"/>
                </a:lnTo>
                <a:lnTo>
                  <a:pt x="3110865" y="875030"/>
                </a:lnTo>
                <a:close/>
              </a:path>
              <a:path w="5888355" h="5751195">
                <a:moveTo>
                  <a:pt x="3952875" y="1525270"/>
                </a:moveTo>
                <a:lnTo>
                  <a:pt x="0" y="1525270"/>
                </a:lnTo>
                <a:lnTo>
                  <a:pt x="0" y="1687195"/>
                </a:lnTo>
                <a:lnTo>
                  <a:pt x="3952875" y="1687195"/>
                </a:lnTo>
                <a:lnTo>
                  <a:pt x="3952875" y="1525270"/>
                </a:lnTo>
                <a:close/>
              </a:path>
              <a:path w="5888355" h="5751195">
                <a:moveTo>
                  <a:pt x="4542155" y="1037590"/>
                </a:moveTo>
                <a:lnTo>
                  <a:pt x="0" y="1037590"/>
                </a:lnTo>
                <a:lnTo>
                  <a:pt x="0" y="1199515"/>
                </a:lnTo>
                <a:lnTo>
                  <a:pt x="4542155" y="1199515"/>
                </a:lnTo>
                <a:lnTo>
                  <a:pt x="4542155" y="1037590"/>
                </a:lnTo>
                <a:close/>
              </a:path>
              <a:path w="5888355" h="5751195">
                <a:moveTo>
                  <a:pt x="5213985" y="4939030"/>
                </a:moveTo>
                <a:lnTo>
                  <a:pt x="0" y="4939030"/>
                </a:lnTo>
                <a:lnTo>
                  <a:pt x="0" y="5100955"/>
                </a:lnTo>
                <a:lnTo>
                  <a:pt x="5213985" y="5100955"/>
                </a:lnTo>
                <a:lnTo>
                  <a:pt x="5213985" y="4939030"/>
                </a:lnTo>
                <a:close/>
              </a:path>
              <a:path w="5888355" h="5751195">
                <a:moveTo>
                  <a:pt x="5213985" y="3150870"/>
                </a:moveTo>
                <a:lnTo>
                  <a:pt x="0" y="3150870"/>
                </a:lnTo>
                <a:lnTo>
                  <a:pt x="0" y="3312795"/>
                </a:lnTo>
                <a:lnTo>
                  <a:pt x="5213985" y="3312795"/>
                </a:lnTo>
                <a:lnTo>
                  <a:pt x="5213985" y="3150870"/>
                </a:lnTo>
                <a:close/>
              </a:path>
              <a:path w="5888355" h="5751195">
                <a:moveTo>
                  <a:pt x="5299075" y="4776470"/>
                </a:moveTo>
                <a:lnTo>
                  <a:pt x="0" y="4776470"/>
                </a:lnTo>
                <a:lnTo>
                  <a:pt x="0" y="4938395"/>
                </a:lnTo>
                <a:lnTo>
                  <a:pt x="5299075" y="4938395"/>
                </a:lnTo>
                <a:lnTo>
                  <a:pt x="5299075" y="4776470"/>
                </a:lnTo>
                <a:close/>
              </a:path>
              <a:path w="5888355" h="5751195">
                <a:moveTo>
                  <a:pt x="5299075" y="1687830"/>
                </a:moveTo>
                <a:lnTo>
                  <a:pt x="0" y="1687830"/>
                </a:lnTo>
                <a:lnTo>
                  <a:pt x="0" y="1849755"/>
                </a:lnTo>
                <a:lnTo>
                  <a:pt x="5299075" y="1849755"/>
                </a:lnTo>
                <a:lnTo>
                  <a:pt x="5299075" y="1687830"/>
                </a:lnTo>
                <a:close/>
              </a:path>
              <a:path w="5888355" h="5751195">
                <a:moveTo>
                  <a:pt x="5382895" y="5101590"/>
                </a:moveTo>
                <a:lnTo>
                  <a:pt x="0" y="5101590"/>
                </a:lnTo>
                <a:lnTo>
                  <a:pt x="0" y="5263515"/>
                </a:lnTo>
                <a:lnTo>
                  <a:pt x="5382895" y="5263515"/>
                </a:lnTo>
                <a:lnTo>
                  <a:pt x="5382895" y="5101590"/>
                </a:lnTo>
                <a:close/>
              </a:path>
              <a:path w="5888355" h="5751195">
                <a:moveTo>
                  <a:pt x="5382895" y="4126230"/>
                </a:moveTo>
                <a:lnTo>
                  <a:pt x="0" y="4126230"/>
                </a:lnTo>
                <a:lnTo>
                  <a:pt x="0" y="4288155"/>
                </a:lnTo>
                <a:lnTo>
                  <a:pt x="5382895" y="4288155"/>
                </a:lnTo>
                <a:lnTo>
                  <a:pt x="5382895" y="4126230"/>
                </a:lnTo>
                <a:close/>
              </a:path>
              <a:path w="5888355" h="5751195">
                <a:moveTo>
                  <a:pt x="5384165" y="2175510"/>
                </a:moveTo>
                <a:lnTo>
                  <a:pt x="0" y="2175510"/>
                </a:lnTo>
                <a:lnTo>
                  <a:pt x="0" y="2337435"/>
                </a:lnTo>
                <a:lnTo>
                  <a:pt x="5384165" y="2337435"/>
                </a:lnTo>
                <a:lnTo>
                  <a:pt x="5384165" y="2175510"/>
                </a:lnTo>
                <a:close/>
              </a:path>
              <a:path w="5888355" h="5751195">
                <a:moveTo>
                  <a:pt x="5550535" y="5264150"/>
                </a:moveTo>
                <a:lnTo>
                  <a:pt x="0" y="5264150"/>
                </a:lnTo>
                <a:lnTo>
                  <a:pt x="0" y="5426075"/>
                </a:lnTo>
                <a:lnTo>
                  <a:pt x="5550535" y="5426075"/>
                </a:lnTo>
                <a:lnTo>
                  <a:pt x="5550535" y="5264150"/>
                </a:lnTo>
                <a:close/>
              </a:path>
              <a:path w="5888355" h="5751195">
                <a:moveTo>
                  <a:pt x="5635625" y="4613910"/>
                </a:moveTo>
                <a:lnTo>
                  <a:pt x="0" y="4613910"/>
                </a:lnTo>
                <a:lnTo>
                  <a:pt x="0" y="4775835"/>
                </a:lnTo>
                <a:lnTo>
                  <a:pt x="5635625" y="4775835"/>
                </a:lnTo>
                <a:lnTo>
                  <a:pt x="5635625" y="4613910"/>
                </a:lnTo>
                <a:close/>
              </a:path>
              <a:path w="5888355" h="5751195">
                <a:moveTo>
                  <a:pt x="5635625" y="3638550"/>
                </a:moveTo>
                <a:lnTo>
                  <a:pt x="0" y="3638550"/>
                </a:lnTo>
                <a:lnTo>
                  <a:pt x="0" y="3800475"/>
                </a:lnTo>
                <a:lnTo>
                  <a:pt x="5635625" y="3800475"/>
                </a:lnTo>
                <a:lnTo>
                  <a:pt x="5635625" y="3638550"/>
                </a:lnTo>
                <a:close/>
              </a:path>
              <a:path w="5888355" h="5751195">
                <a:moveTo>
                  <a:pt x="5635625" y="3475990"/>
                </a:moveTo>
                <a:lnTo>
                  <a:pt x="0" y="3475990"/>
                </a:lnTo>
                <a:lnTo>
                  <a:pt x="0" y="3637915"/>
                </a:lnTo>
                <a:lnTo>
                  <a:pt x="5635625" y="3637915"/>
                </a:lnTo>
                <a:lnTo>
                  <a:pt x="5635625" y="3475990"/>
                </a:lnTo>
                <a:close/>
              </a:path>
              <a:path w="5888355" h="5751195">
                <a:moveTo>
                  <a:pt x="5719445" y="5589270"/>
                </a:moveTo>
                <a:lnTo>
                  <a:pt x="0" y="5589270"/>
                </a:lnTo>
                <a:lnTo>
                  <a:pt x="0" y="5751195"/>
                </a:lnTo>
                <a:lnTo>
                  <a:pt x="5719445" y="5751195"/>
                </a:lnTo>
                <a:lnTo>
                  <a:pt x="5719445" y="5589270"/>
                </a:lnTo>
                <a:close/>
              </a:path>
              <a:path w="5888355" h="5751195">
                <a:moveTo>
                  <a:pt x="5719445" y="4288790"/>
                </a:moveTo>
                <a:lnTo>
                  <a:pt x="0" y="4288790"/>
                </a:lnTo>
                <a:lnTo>
                  <a:pt x="0" y="4450715"/>
                </a:lnTo>
                <a:lnTo>
                  <a:pt x="5719445" y="4450715"/>
                </a:lnTo>
                <a:lnTo>
                  <a:pt x="5719445" y="4288790"/>
                </a:lnTo>
                <a:close/>
              </a:path>
              <a:path w="5888355" h="5751195">
                <a:moveTo>
                  <a:pt x="5719445" y="3801110"/>
                </a:moveTo>
                <a:lnTo>
                  <a:pt x="0" y="3801110"/>
                </a:lnTo>
                <a:lnTo>
                  <a:pt x="0" y="3963035"/>
                </a:lnTo>
                <a:lnTo>
                  <a:pt x="5719445" y="3963035"/>
                </a:lnTo>
                <a:lnTo>
                  <a:pt x="5719445" y="3801110"/>
                </a:lnTo>
                <a:close/>
              </a:path>
              <a:path w="5888355" h="5751195">
                <a:moveTo>
                  <a:pt x="5720715" y="4451350"/>
                </a:moveTo>
                <a:lnTo>
                  <a:pt x="0" y="4451350"/>
                </a:lnTo>
                <a:lnTo>
                  <a:pt x="0" y="4613275"/>
                </a:lnTo>
                <a:lnTo>
                  <a:pt x="5720715" y="4613275"/>
                </a:lnTo>
                <a:lnTo>
                  <a:pt x="5720715" y="4451350"/>
                </a:lnTo>
                <a:close/>
              </a:path>
              <a:path w="5888355" h="5751195">
                <a:moveTo>
                  <a:pt x="5720715" y="2663190"/>
                </a:moveTo>
                <a:lnTo>
                  <a:pt x="0" y="2663190"/>
                </a:lnTo>
                <a:lnTo>
                  <a:pt x="0" y="2825115"/>
                </a:lnTo>
                <a:lnTo>
                  <a:pt x="5720715" y="2825115"/>
                </a:lnTo>
                <a:lnTo>
                  <a:pt x="5720715" y="2663190"/>
                </a:lnTo>
                <a:close/>
              </a:path>
              <a:path w="5888355" h="5751195">
                <a:moveTo>
                  <a:pt x="5803265" y="3963670"/>
                </a:moveTo>
                <a:lnTo>
                  <a:pt x="0" y="3963670"/>
                </a:lnTo>
                <a:lnTo>
                  <a:pt x="0" y="4125595"/>
                </a:lnTo>
                <a:lnTo>
                  <a:pt x="5803265" y="4125595"/>
                </a:lnTo>
                <a:lnTo>
                  <a:pt x="5803265" y="3963670"/>
                </a:lnTo>
                <a:close/>
              </a:path>
              <a:path w="5888355" h="5751195">
                <a:moveTo>
                  <a:pt x="5803265" y="2988310"/>
                </a:moveTo>
                <a:lnTo>
                  <a:pt x="0" y="2988310"/>
                </a:lnTo>
                <a:lnTo>
                  <a:pt x="0" y="3150235"/>
                </a:lnTo>
                <a:lnTo>
                  <a:pt x="5803265" y="3150235"/>
                </a:lnTo>
                <a:lnTo>
                  <a:pt x="5803265" y="2988310"/>
                </a:lnTo>
                <a:close/>
              </a:path>
              <a:path w="5888355" h="5751195">
                <a:moveTo>
                  <a:pt x="5803265" y="2500630"/>
                </a:moveTo>
                <a:lnTo>
                  <a:pt x="0" y="2500630"/>
                </a:lnTo>
                <a:lnTo>
                  <a:pt x="0" y="2662555"/>
                </a:lnTo>
                <a:lnTo>
                  <a:pt x="5803265" y="2662555"/>
                </a:lnTo>
                <a:lnTo>
                  <a:pt x="5803265" y="2500630"/>
                </a:lnTo>
                <a:close/>
              </a:path>
              <a:path w="5888355" h="5751195">
                <a:moveTo>
                  <a:pt x="5804535" y="2012950"/>
                </a:moveTo>
                <a:lnTo>
                  <a:pt x="0" y="2012950"/>
                </a:lnTo>
                <a:lnTo>
                  <a:pt x="0" y="2174875"/>
                </a:lnTo>
                <a:lnTo>
                  <a:pt x="5804535" y="2174875"/>
                </a:lnTo>
                <a:lnTo>
                  <a:pt x="5804535" y="2012950"/>
                </a:lnTo>
                <a:close/>
              </a:path>
              <a:path w="5888355" h="5751195">
                <a:moveTo>
                  <a:pt x="5804535" y="1850390"/>
                </a:moveTo>
                <a:lnTo>
                  <a:pt x="0" y="1850390"/>
                </a:lnTo>
                <a:lnTo>
                  <a:pt x="0" y="2012315"/>
                </a:lnTo>
                <a:lnTo>
                  <a:pt x="5804535" y="2012315"/>
                </a:lnTo>
                <a:lnTo>
                  <a:pt x="5804535" y="1850390"/>
                </a:lnTo>
                <a:close/>
              </a:path>
              <a:path w="5888355" h="5751195">
                <a:moveTo>
                  <a:pt x="5887085" y="5426710"/>
                </a:moveTo>
                <a:lnTo>
                  <a:pt x="0" y="5426710"/>
                </a:lnTo>
                <a:lnTo>
                  <a:pt x="0" y="5588635"/>
                </a:lnTo>
                <a:lnTo>
                  <a:pt x="5887085" y="5588635"/>
                </a:lnTo>
                <a:lnTo>
                  <a:pt x="5887085" y="5426710"/>
                </a:lnTo>
                <a:close/>
              </a:path>
              <a:path w="5888355" h="5751195">
                <a:moveTo>
                  <a:pt x="5887085" y="2825750"/>
                </a:moveTo>
                <a:lnTo>
                  <a:pt x="0" y="2825750"/>
                </a:lnTo>
                <a:lnTo>
                  <a:pt x="0" y="2987675"/>
                </a:lnTo>
                <a:lnTo>
                  <a:pt x="5887085" y="2987675"/>
                </a:lnTo>
                <a:lnTo>
                  <a:pt x="5887085" y="2825750"/>
                </a:lnTo>
                <a:close/>
              </a:path>
              <a:path w="5888355" h="5751195">
                <a:moveTo>
                  <a:pt x="5888355" y="3313430"/>
                </a:moveTo>
                <a:lnTo>
                  <a:pt x="0" y="3313430"/>
                </a:lnTo>
                <a:lnTo>
                  <a:pt x="0" y="3475355"/>
                </a:lnTo>
                <a:lnTo>
                  <a:pt x="5888355" y="3475355"/>
                </a:lnTo>
                <a:lnTo>
                  <a:pt x="5888355" y="3313430"/>
                </a:lnTo>
                <a:close/>
              </a:path>
              <a:path w="5888355" h="5751195">
                <a:moveTo>
                  <a:pt x="5888355" y="2338070"/>
                </a:moveTo>
                <a:lnTo>
                  <a:pt x="0" y="2338070"/>
                </a:lnTo>
                <a:lnTo>
                  <a:pt x="0" y="2499995"/>
                </a:lnTo>
                <a:lnTo>
                  <a:pt x="5888355" y="2499995"/>
                </a:lnTo>
                <a:lnTo>
                  <a:pt x="5888355" y="233807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902969" y="3183890"/>
            <a:ext cx="5912485" cy="5782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latin typeface="Courier New"/>
                <a:cs typeface="Courier New"/>
              </a:rPr>
              <a:t>world.'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100" dirty="0">
                <a:solidFill>
                  <a:srgbClr val="1E1B1A"/>
                </a:solidFill>
                <a:latin typeface="Courier New"/>
                <a:cs typeface="Courier New"/>
              </a:rPr>
              <a:t>agent.run(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"can</a:t>
            </a:r>
            <a:r>
              <a:rPr sz="1100" spc="-4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you</a:t>
            </a:r>
            <a:r>
              <a:rPr sz="1100" spc="-4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tell</a:t>
            </a:r>
            <a:r>
              <a:rPr sz="1100" spc="-4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me</a:t>
            </a:r>
            <a:r>
              <a:rPr sz="1100" spc="-4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what</a:t>
            </a:r>
            <a:r>
              <a:rPr sz="1100" spc="-4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is</a:t>
            </a:r>
            <a:r>
              <a:rPr sz="1100" spc="-4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current</a:t>
            </a:r>
            <a:r>
              <a:rPr sz="1100" spc="-3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GDP</a:t>
            </a:r>
            <a:r>
              <a:rPr sz="1100" spc="-4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of</a:t>
            </a:r>
            <a:r>
              <a:rPr sz="1100" spc="-4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usa?"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)</a:t>
            </a:r>
            <a:endParaRPr sz="11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11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795"/>
              </a:spcBef>
            </a:pPr>
            <a:endParaRPr sz="1100">
              <a:latin typeface="Courier New"/>
              <a:cs typeface="Courier New"/>
            </a:endParaRPr>
          </a:p>
          <a:p>
            <a:pPr marL="179705" indent="-167005">
              <a:lnSpc>
                <a:spcPts val="1300"/>
              </a:lnSpc>
              <a:buChar char="&gt;"/>
              <a:tabLst>
                <a:tab pos="179705" algn="l"/>
              </a:tabLst>
            </a:pPr>
            <a:r>
              <a:rPr sz="1100" dirty="0">
                <a:latin typeface="Courier New"/>
                <a:cs typeface="Courier New"/>
              </a:rPr>
              <a:t>Entering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new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AgentExecutor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chain...</a:t>
            </a:r>
            <a:endParaRPr sz="1100">
              <a:latin typeface="Courier New"/>
              <a:cs typeface="Courier New"/>
            </a:endParaRPr>
          </a:p>
          <a:p>
            <a:pPr marL="12700" marR="1350645" indent="83820">
              <a:lnSpc>
                <a:spcPts val="1280"/>
              </a:lnSpc>
              <a:spcBef>
                <a:spcPts val="55"/>
              </a:spcBef>
            </a:pPr>
            <a:r>
              <a:rPr sz="1100" dirty="0">
                <a:latin typeface="Courier New"/>
                <a:cs typeface="Courier New"/>
              </a:rPr>
              <a:t>I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should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use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wikipedia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to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find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current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GDP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of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USA </a:t>
            </a:r>
            <a:r>
              <a:rPr sz="1100" dirty="0">
                <a:latin typeface="Courier New"/>
                <a:cs typeface="Courier New"/>
              </a:rPr>
              <a:t>Action: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wikipedia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ts val="1225"/>
              </a:lnSpc>
            </a:pPr>
            <a:r>
              <a:rPr sz="1100" dirty="0">
                <a:latin typeface="Courier New"/>
                <a:cs typeface="Courier New"/>
              </a:rPr>
              <a:t>Action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Input: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usa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GDP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ts val="1280"/>
              </a:lnSpc>
            </a:pPr>
            <a:r>
              <a:rPr sz="1100" dirty="0">
                <a:latin typeface="Courier New"/>
                <a:cs typeface="Courier New"/>
              </a:rPr>
              <a:t>Observation: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Page: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Economy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of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United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States</a:t>
            </a:r>
            <a:endParaRPr sz="1100">
              <a:latin typeface="Courier New"/>
              <a:cs typeface="Courier New"/>
            </a:endParaRPr>
          </a:p>
          <a:p>
            <a:pPr marL="12700" marR="5080">
              <a:lnSpc>
                <a:spcPts val="1280"/>
              </a:lnSpc>
              <a:spcBef>
                <a:spcPts val="60"/>
              </a:spcBef>
            </a:pPr>
            <a:r>
              <a:rPr sz="1100" dirty="0">
                <a:latin typeface="Courier New"/>
                <a:cs typeface="Courier New"/>
              </a:rPr>
              <a:t>Summary: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United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States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is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highly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developed/advanced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mixed </a:t>
            </a:r>
            <a:r>
              <a:rPr sz="1100" dirty="0">
                <a:latin typeface="Courier New"/>
                <a:cs typeface="Courier New"/>
              </a:rPr>
              <a:t>economy.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It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is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world's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largest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economy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by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nominal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GDP;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it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is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also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second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largest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by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purchasing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power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parity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(PPP),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behind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China.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It </a:t>
            </a:r>
            <a:r>
              <a:rPr sz="1100" dirty="0">
                <a:latin typeface="Courier New"/>
                <a:cs typeface="Courier New"/>
              </a:rPr>
              <a:t>has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world's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seventh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highest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per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capita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GDP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(nominal)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the</a:t>
            </a:r>
            <a:r>
              <a:rPr sz="1100" spc="50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eighth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highest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per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capita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GDP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(PPP)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as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of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2022.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U.S.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accounted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for </a:t>
            </a:r>
            <a:r>
              <a:rPr sz="1100" dirty="0">
                <a:latin typeface="Courier New"/>
                <a:cs typeface="Courier New"/>
              </a:rPr>
              <a:t>25.4%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of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global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economy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2022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nominal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terms,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about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15.6% </a:t>
            </a:r>
            <a:r>
              <a:rPr sz="1100" dirty="0">
                <a:latin typeface="Courier New"/>
                <a:cs typeface="Courier New"/>
              </a:rPr>
              <a:t>in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PPP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terms.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U.S.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dollar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is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currency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of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record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most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used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in </a:t>
            </a:r>
            <a:r>
              <a:rPr sz="1100" dirty="0">
                <a:latin typeface="Courier New"/>
                <a:cs typeface="Courier New"/>
              </a:rPr>
              <a:t>international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transactions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is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world's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reserve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currency,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backed </a:t>
            </a:r>
            <a:r>
              <a:rPr sz="1100" dirty="0">
                <a:latin typeface="Courier New"/>
                <a:cs typeface="Courier New"/>
              </a:rPr>
              <a:t>by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large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U.S.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treasuries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market,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its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role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as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reference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standard </a:t>
            </a:r>
            <a:r>
              <a:rPr sz="1100" dirty="0">
                <a:latin typeface="Courier New"/>
                <a:cs typeface="Courier New"/>
              </a:rPr>
              <a:t>for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petrodollar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system,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its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linked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eurodollar.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Several </a:t>
            </a:r>
            <a:r>
              <a:rPr sz="1100" dirty="0">
                <a:latin typeface="Courier New"/>
                <a:cs typeface="Courier New"/>
              </a:rPr>
              <a:t>countries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use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it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as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their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official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currency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others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it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is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de </a:t>
            </a:r>
            <a:r>
              <a:rPr sz="1100" dirty="0">
                <a:latin typeface="Courier New"/>
                <a:cs typeface="Courier New"/>
              </a:rPr>
              <a:t>facto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currency.The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American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economy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is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fueled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by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high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productivity, </a:t>
            </a:r>
            <a:r>
              <a:rPr sz="1100" dirty="0">
                <a:latin typeface="Courier New"/>
                <a:cs typeface="Courier New"/>
              </a:rPr>
              <a:t>well</a:t>
            </a:r>
            <a:r>
              <a:rPr sz="1100" spc="-8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developed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transportation</a:t>
            </a:r>
            <a:r>
              <a:rPr sz="1100" spc="-8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infrastructure,</a:t>
            </a:r>
            <a:r>
              <a:rPr sz="1100" spc="-8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8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extensive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natural </a:t>
            </a:r>
            <a:r>
              <a:rPr sz="1100" dirty="0">
                <a:latin typeface="Courier New"/>
                <a:cs typeface="Courier New"/>
              </a:rPr>
              <a:t>resources.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Americans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have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highest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average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household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employee </a:t>
            </a:r>
            <a:r>
              <a:rPr sz="1100" dirty="0">
                <a:latin typeface="Courier New"/>
                <a:cs typeface="Courier New"/>
              </a:rPr>
              <a:t>income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among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OECD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member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states.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2021,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they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had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highest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median </a:t>
            </a:r>
            <a:r>
              <a:rPr sz="1100" dirty="0">
                <a:latin typeface="Courier New"/>
                <a:cs typeface="Courier New"/>
              </a:rPr>
              <a:t>household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income.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U.S.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has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one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of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world's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highest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income </a:t>
            </a:r>
            <a:r>
              <a:rPr sz="1100" dirty="0">
                <a:latin typeface="Courier New"/>
                <a:cs typeface="Courier New"/>
              </a:rPr>
              <a:t>inequalities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among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developed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countries.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largest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U.S.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trading </a:t>
            </a:r>
            <a:r>
              <a:rPr sz="1100" dirty="0">
                <a:latin typeface="Courier New"/>
                <a:cs typeface="Courier New"/>
              </a:rPr>
              <a:t>partners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are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Canada,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Mexico,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China,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Japan,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Germany,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South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Korea,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the </a:t>
            </a:r>
            <a:r>
              <a:rPr sz="1100" dirty="0">
                <a:latin typeface="Courier New"/>
                <a:cs typeface="Courier New"/>
              </a:rPr>
              <a:t>United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Kingdom,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Taiwan,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India,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Vietnam.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U.S.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is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world's </a:t>
            </a:r>
            <a:r>
              <a:rPr sz="1100" dirty="0">
                <a:latin typeface="Courier New"/>
                <a:cs typeface="Courier New"/>
              </a:rPr>
              <a:t>largest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importer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second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largest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exporter.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It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has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free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trade </a:t>
            </a:r>
            <a:r>
              <a:rPr sz="1100" dirty="0">
                <a:latin typeface="Courier New"/>
                <a:cs typeface="Courier New"/>
              </a:rPr>
              <a:t>agreements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with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several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countries,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including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Canada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Mexico</a:t>
            </a:r>
            <a:r>
              <a:rPr sz="1100" spc="50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(through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USMCA),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Australia,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South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Korea,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Israel,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several</a:t>
            </a:r>
            <a:r>
              <a:rPr sz="1100" spc="50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others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that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are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effect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or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under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negotiation.By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1890,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United </a:t>
            </a:r>
            <a:r>
              <a:rPr sz="1100" dirty="0">
                <a:latin typeface="Courier New"/>
                <a:cs typeface="Courier New"/>
              </a:rPr>
              <a:t>States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had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overtaken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British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Empire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as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world's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most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productive </a:t>
            </a:r>
            <a:r>
              <a:rPr sz="1100" dirty="0">
                <a:latin typeface="Courier New"/>
                <a:cs typeface="Courier New"/>
              </a:rPr>
              <a:t>economy.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It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is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world's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largest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producer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of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petroleum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natural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848360" y="914400"/>
            <a:ext cx="6076315" cy="8110855"/>
          </a:xfrm>
          <a:custGeom>
            <a:avLst/>
            <a:gdLst/>
            <a:ahLst/>
            <a:cxnLst/>
            <a:rect l="l" t="t" r="r" b="b"/>
            <a:pathLst>
              <a:path w="6076315" h="8110855">
                <a:moveTo>
                  <a:pt x="0" y="1904"/>
                </a:moveTo>
                <a:lnTo>
                  <a:pt x="6076315" y="1904"/>
                </a:lnTo>
              </a:path>
              <a:path w="6076315" h="8110855">
                <a:moveTo>
                  <a:pt x="6075045" y="0"/>
                </a:moveTo>
                <a:lnTo>
                  <a:pt x="6075045" y="1479550"/>
                </a:lnTo>
              </a:path>
              <a:path w="6076315" h="8110855">
                <a:moveTo>
                  <a:pt x="1905" y="1479550"/>
                </a:moveTo>
                <a:lnTo>
                  <a:pt x="1905" y="0"/>
                </a:lnTo>
              </a:path>
              <a:path w="6076315" h="8110855">
                <a:moveTo>
                  <a:pt x="6075045" y="1352550"/>
                </a:moveTo>
                <a:lnTo>
                  <a:pt x="6075045" y="2581909"/>
                </a:lnTo>
              </a:path>
              <a:path w="6076315" h="8110855">
                <a:moveTo>
                  <a:pt x="1905" y="2581909"/>
                </a:moveTo>
                <a:lnTo>
                  <a:pt x="1905" y="1352550"/>
                </a:lnTo>
              </a:path>
              <a:path w="6076315" h="8110855">
                <a:moveTo>
                  <a:pt x="6075045" y="2454909"/>
                </a:moveTo>
                <a:lnTo>
                  <a:pt x="6075045" y="2871470"/>
                </a:lnTo>
              </a:path>
              <a:path w="6076315" h="8110855">
                <a:moveTo>
                  <a:pt x="1905" y="2871470"/>
                </a:moveTo>
                <a:lnTo>
                  <a:pt x="1905" y="2454909"/>
                </a:lnTo>
              </a:path>
              <a:path w="6076315" h="8110855">
                <a:moveTo>
                  <a:pt x="6075045" y="2744470"/>
                </a:moveTo>
                <a:lnTo>
                  <a:pt x="6075045" y="8110855"/>
                </a:lnTo>
              </a:path>
              <a:path w="6076315" h="8110855">
                <a:moveTo>
                  <a:pt x="6076315" y="8109584"/>
                </a:moveTo>
                <a:lnTo>
                  <a:pt x="0" y="8109584"/>
                </a:lnTo>
              </a:path>
              <a:path w="6076315" h="8110855">
                <a:moveTo>
                  <a:pt x="1905" y="8110855"/>
                </a:moveTo>
                <a:lnTo>
                  <a:pt x="1905" y="2744470"/>
                </a:lnTo>
              </a:path>
              <a:path w="6076315" h="8110855">
                <a:moveTo>
                  <a:pt x="0" y="1904"/>
                </a:moveTo>
                <a:lnTo>
                  <a:pt x="6076315" y="1904"/>
                </a:lnTo>
              </a:path>
              <a:path w="6076315" h="8110855">
                <a:moveTo>
                  <a:pt x="6075045" y="0"/>
                </a:moveTo>
                <a:lnTo>
                  <a:pt x="6075045" y="1479550"/>
                </a:lnTo>
              </a:path>
              <a:path w="6076315" h="8110855">
                <a:moveTo>
                  <a:pt x="1905" y="1479550"/>
                </a:moveTo>
                <a:lnTo>
                  <a:pt x="1905" y="0"/>
                </a:lnTo>
              </a:path>
              <a:path w="6076315" h="8110855">
                <a:moveTo>
                  <a:pt x="6075045" y="1352550"/>
                </a:moveTo>
                <a:lnTo>
                  <a:pt x="6075045" y="2581909"/>
                </a:lnTo>
              </a:path>
              <a:path w="6076315" h="8110855">
                <a:moveTo>
                  <a:pt x="1905" y="2581909"/>
                </a:moveTo>
                <a:lnTo>
                  <a:pt x="1905" y="1352550"/>
                </a:lnTo>
              </a:path>
              <a:path w="6076315" h="8110855">
                <a:moveTo>
                  <a:pt x="6075045" y="2454909"/>
                </a:moveTo>
                <a:lnTo>
                  <a:pt x="6075045" y="2871470"/>
                </a:lnTo>
              </a:path>
              <a:path w="6076315" h="8110855">
                <a:moveTo>
                  <a:pt x="1905" y="2871470"/>
                </a:moveTo>
                <a:lnTo>
                  <a:pt x="1905" y="2454909"/>
                </a:lnTo>
              </a:path>
              <a:path w="6076315" h="8110855">
                <a:moveTo>
                  <a:pt x="6075045" y="2744470"/>
                </a:moveTo>
                <a:lnTo>
                  <a:pt x="6075045" y="8110855"/>
                </a:lnTo>
              </a:path>
              <a:path w="6076315" h="8110855">
                <a:moveTo>
                  <a:pt x="6076315" y="8109584"/>
                </a:moveTo>
                <a:lnTo>
                  <a:pt x="0" y="8109584"/>
                </a:lnTo>
              </a:path>
              <a:path w="6076315" h="8110855">
                <a:moveTo>
                  <a:pt x="1905" y="8110855"/>
                </a:moveTo>
                <a:lnTo>
                  <a:pt x="1905" y="2744470"/>
                </a:lnTo>
              </a:path>
            </a:pathLst>
          </a:custGeom>
          <a:ln w="3175">
            <a:solidFill>
              <a:srgbClr val="E2E2E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47725" y="913764"/>
            <a:ext cx="6076950" cy="6733540"/>
            <a:chOff x="847725" y="913764"/>
            <a:chExt cx="6076950" cy="6733540"/>
          </a:xfrm>
        </p:grpSpPr>
        <p:sp>
          <p:nvSpPr>
            <p:cNvPr id="3" name="object 3"/>
            <p:cNvSpPr/>
            <p:nvPr/>
          </p:nvSpPr>
          <p:spPr>
            <a:xfrm>
              <a:off x="847725" y="913764"/>
              <a:ext cx="6076950" cy="6733540"/>
            </a:xfrm>
            <a:custGeom>
              <a:avLst/>
              <a:gdLst/>
              <a:ahLst/>
              <a:cxnLst/>
              <a:rect l="l" t="t" r="r" b="b"/>
              <a:pathLst>
                <a:path w="6076950" h="6733540">
                  <a:moveTo>
                    <a:pt x="6076950" y="0"/>
                  </a:moveTo>
                  <a:lnTo>
                    <a:pt x="0" y="0"/>
                  </a:lnTo>
                  <a:lnTo>
                    <a:pt x="0" y="6377305"/>
                  </a:lnTo>
                  <a:lnTo>
                    <a:pt x="0" y="6377940"/>
                  </a:lnTo>
                  <a:lnTo>
                    <a:pt x="0" y="6733540"/>
                  </a:lnTo>
                  <a:lnTo>
                    <a:pt x="6076950" y="6733540"/>
                  </a:lnTo>
                  <a:lnTo>
                    <a:pt x="6076950" y="6377940"/>
                  </a:lnTo>
                  <a:lnTo>
                    <a:pt x="6076950" y="6377305"/>
                  </a:lnTo>
                  <a:lnTo>
                    <a:pt x="6076950" y="0"/>
                  </a:lnTo>
                  <a:close/>
                </a:path>
              </a:pathLst>
            </a:custGeom>
            <a:solidFill>
              <a:srgbClr val="F4F4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14400" y="981709"/>
              <a:ext cx="5635625" cy="161925"/>
            </a:xfrm>
            <a:custGeom>
              <a:avLst/>
              <a:gdLst/>
              <a:ahLst/>
              <a:cxnLst/>
              <a:rect l="l" t="t" r="r" b="b"/>
              <a:pathLst>
                <a:path w="5635625" h="161925">
                  <a:moveTo>
                    <a:pt x="5635625" y="0"/>
                  </a:moveTo>
                  <a:lnTo>
                    <a:pt x="0" y="0"/>
                  </a:lnTo>
                  <a:lnTo>
                    <a:pt x="0" y="161925"/>
                  </a:lnTo>
                  <a:lnTo>
                    <a:pt x="5635625" y="161925"/>
                  </a:lnTo>
                  <a:lnTo>
                    <a:pt x="5635625" y="0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902969" y="958850"/>
            <a:ext cx="565912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Courier New"/>
                <a:cs typeface="Courier New"/>
              </a:rPr>
              <a:t>gas.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2016,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it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was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world's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largest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trading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country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second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4400" y="1144167"/>
            <a:ext cx="590105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largest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manufacturer,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with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American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manufacturing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making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up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fifth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of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14400" y="1306727"/>
            <a:ext cx="563562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global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total.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U.S.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not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only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has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largest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internal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market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14400" y="1469287"/>
            <a:ext cx="588835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for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goods,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but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also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dominates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services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trade.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Total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U.S.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trade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was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14400" y="1631847"/>
            <a:ext cx="5720080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$4.2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trillion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2018.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Of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world's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500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largest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companies,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121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are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14400" y="1794407"/>
            <a:ext cx="5720080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headquartered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U.S.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U.S.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has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world's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highest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number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of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14400" y="1956966"/>
            <a:ext cx="547941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billionaires,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with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total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wealth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of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$3.0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trillion.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U.S.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commercial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14400" y="2119527"/>
            <a:ext cx="538289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banks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had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$22.9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trillion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assets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December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2022.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U.S.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global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14400" y="2282087"/>
            <a:ext cx="5720080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assets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under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management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had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more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than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$30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trillion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assets.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During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14400" y="2444647"/>
            <a:ext cx="5720080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Great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Recession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of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2008,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U.S.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economy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suffered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significant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14400" y="2607207"/>
            <a:ext cx="590105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decline.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American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Reinvestment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Recovery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Act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was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enacted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by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the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14400" y="2769766"/>
            <a:ext cx="580453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United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States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Congress,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ensuing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years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U.S.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experienced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14400" y="2932327"/>
            <a:ext cx="555180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longest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economic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expansion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on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record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by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July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2019.The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New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York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14400" y="3094887"/>
            <a:ext cx="5720080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Stock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Exchange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Nasdaq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are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world's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largest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stock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exchanges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by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14400" y="3257446"/>
            <a:ext cx="580453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market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capitalization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trade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volume.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2014,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U.S.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economy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was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14400" y="3420007"/>
            <a:ext cx="563562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ranked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first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international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ranking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on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venture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capital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global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14400" y="3582566"/>
            <a:ext cx="5720080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research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development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funding.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Consumer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spending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comprised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68%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of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14400" y="3745127"/>
            <a:ext cx="5720080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U.S.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economy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2022,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while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its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labor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share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of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income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was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44%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in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14400" y="3907687"/>
            <a:ext cx="5720080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2021.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U.S.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has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world's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largest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consumer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market.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nation's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914400" y="4070246"/>
            <a:ext cx="580453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labor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market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has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attracted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immigrants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from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all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over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world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its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14400" y="4232807"/>
            <a:ext cx="580453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net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migration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rate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is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among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highest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world.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U.S.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is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one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914400" y="4395366"/>
            <a:ext cx="5720080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of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top-</a:t>
            </a:r>
            <a:r>
              <a:rPr sz="1100" dirty="0">
                <a:latin typeface="Courier New"/>
                <a:cs typeface="Courier New"/>
              </a:rPr>
              <a:t>performing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economies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studies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such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as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Ease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of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Doing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914400" y="4558029"/>
            <a:ext cx="5213985" cy="471805"/>
          </a:xfrm>
          <a:custGeom>
            <a:avLst/>
            <a:gdLst/>
            <a:ahLst/>
            <a:cxnLst/>
            <a:rect l="l" t="t" r="r" b="b"/>
            <a:pathLst>
              <a:path w="5213985" h="471804">
                <a:moveTo>
                  <a:pt x="4037965" y="309880"/>
                </a:moveTo>
                <a:lnTo>
                  <a:pt x="0" y="309880"/>
                </a:lnTo>
                <a:lnTo>
                  <a:pt x="0" y="471805"/>
                </a:lnTo>
                <a:lnTo>
                  <a:pt x="4037965" y="471805"/>
                </a:lnTo>
                <a:lnTo>
                  <a:pt x="4037965" y="309880"/>
                </a:lnTo>
                <a:close/>
              </a:path>
              <a:path w="5213985" h="471804">
                <a:moveTo>
                  <a:pt x="5213985" y="0"/>
                </a:moveTo>
                <a:lnTo>
                  <a:pt x="0" y="0"/>
                </a:lnTo>
                <a:lnTo>
                  <a:pt x="0" y="161925"/>
                </a:lnTo>
                <a:lnTo>
                  <a:pt x="5213985" y="161925"/>
                </a:lnTo>
                <a:lnTo>
                  <a:pt x="5213985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902969" y="4535170"/>
            <a:ext cx="5238750" cy="502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Courier New"/>
                <a:cs typeface="Courier New"/>
              </a:rPr>
              <a:t>Business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Index,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Global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Competitiveness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Report,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others.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120"/>
              </a:spcBef>
            </a:pPr>
            <a:r>
              <a:rPr sz="1100" dirty="0">
                <a:latin typeface="Courier New"/>
                <a:cs typeface="Courier New"/>
              </a:rPr>
              <a:t>Page: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List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of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U.S.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states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territories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by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GDP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914400" y="5030470"/>
            <a:ext cx="529907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Summary: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This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is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list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of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U.S.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states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territories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by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gross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914400" y="5193029"/>
            <a:ext cx="572071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domestic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product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(GDP).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This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article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presents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50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U.S.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states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and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914400" y="5355590"/>
            <a:ext cx="5467350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District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of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Columbia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their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nominal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GDP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at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current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prices.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914400" y="5518150"/>
            <a:ext cx="580453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data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source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for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list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is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Bureau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of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Economic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Analysis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(BEA)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914400" y="5680607"/>
            <a:ext cx="5804535" cy="16319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in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2022.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BEA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defined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GDP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by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state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as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"the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sum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of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value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added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from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914400" y="5843270"/>
            <a:ext cx="563562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all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industries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state."Nominal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GDP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does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not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take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into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account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914400" y="6005829"/>
            <a:ext cx="5467350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differences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cost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of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living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different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countries,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the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914400" y="6168390"/>
            <a:ext cx="489140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results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can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vary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greatly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from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one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year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to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another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based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on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914400" y="6330950"/>
            <a:ext cx="555180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fluctuations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exchange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rates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of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country's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currency.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Such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914400" y="6493509"/>
            <a:ext cx="320865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fluctuations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may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change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country's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ra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914400" y="6656069"/>
            <a:ext cx="5142865" cy="16192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Thought: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now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know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current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GDP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of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USA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is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$22.68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trillion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914400" y="6818630"/>
            <a:ext cx="4625975" cy="161925"/>
          </a:xfrm>
          <a:custGeom>
            <a:avLst/>
            <a:gdLst/>
            <a:ahLst/>
            <a:cxnLst/>
            <a:rect l="l" t="t" r="r" b="b"/>
            <a:pathLst>
              <a:path w="4625975" h="161925">
                <a:moveTo>
                  <a:pt x="4625975" y="0"/>
                </a:moveTo>
                <a:lnTo>
                  <a:pt x="0" y="0"/>
                </a:lnTo>
                <a:lnTo>
                  <a:pt x="0" y="161925"/>
                </a:lnTo>
                <a:lnTo>
                  <a:pt x="4625975" y="161925"/>
                </a:lnTo>
                <a:lnTo>
                  <a:pt x="4625975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902969" y="6795769"/>
            <a:ext cx="464947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Courier New"/>
                <a:cs typeface="Courier New"/>
              </a:rPr>
              <a:t>Final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Answer: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current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GDP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of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USA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is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$22.68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trillion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914400" y="7129780"/>
            <a:ext cx="1440815" cy="16192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167640" indent="-167005">
              <a:lnSpc>
                <a:spcPts val="1240"/>
              </a:lnSpc>
              <a:buChar char="&gt;"/>
              <a:tabLst>
                <a:tab pos="167640" algn="l"/>
              </a:tabLst>
            </a:pPr>
            <a:r>
              <a:rPr sz="1100" dirty="0">
                <a:latin typeface="Courier New"/>
                <a:cs typeface="Courier New"/>
              </a:rPr>
              <a:t>Finished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chain.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914400" y="7419340"/>
            <a:ext cx="3616325" cy="16192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'The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current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GDP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of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USA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is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$22.68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trillion'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902969" y="7936230"/>
            <a:ext cx="5857875" cy="11468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10" dirty="0">
                <a:latin typeface="Arial"/>
                <a:cs typeface="Arial"/>
              </a:rPr>
              <a:t>Chain</a:t>
            </a:r>
            <a:endParaRPr sz="22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910"/>
              </a:spcBef>
            </a:pPr>
            <a:r>
              <a:rPr sz="1100" dirty="0">
                <a:latin typeface="Arial"/>
                <a:cs typeface="Arial"/>
              </a:rPr>
              <a:t>Central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50" dirty="0">
                <a:latin typeface="Arial"/>
                <a:cs typeface="Arial"/>
              </a:rPr>
              <a:t>to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LangChain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is </a:t>
            </a:r>
            <a:r>
              <a:rPr sz="1100" spc="-65" dirty="0">
                <a:latin typeface="Arial"/>
                <a:cs typeface="Arial"/>
              </a:rPr>
              <a:t>a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vital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component known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60" dirty="0">
                <a:latin typeface="Arial"/>
                <a:cs typeface="Arial"/>
              </a:rPr>
              <a:t>as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LangChain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Chains,</a:t>
            </a:r>
            <a:r>
              <a:rPr sz="1100" dirty="0">
                <a:latin typeface="Arial"/>
                <a:cs typeface="Arial"/>
              </a:rPr>
              <a:t> forming the </a:t>
            </a:r>
            <a:r>
              <a:rPr sz="1100" spc="-20" dirty="0">
                <a:latin typeface="Arial"/>
                <a:cs typeface="Arial"/>
              </a:rPr>
              <a:t>core </a:t>
            </a:r>
            <a:r>
              <a:rPr sz="1100" dirty="0">
                <a:latin typeface="Arial"/>
                <a:cs typeface="Arial"/>
              </a:rPr>
              <a:t>connection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among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one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or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several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large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language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models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spc="-40" dirty="0">
                <a:latin typeface="Arial"/>
                <a:cs typeface="Arial"/>
              </a:rPr>
              <a:t>(LLMs). </a:t>
            </a:r>
            <a:r>
              <a:rPr sz="1100" spc="-10" dirty="0">
                <a:latin typeface="Arial"/>
                <a:cs typeface="Arial"/>
              </a:rPr>
              <a:t>In</a:t>
            </a:r>
            <a:r>
              <a:rPr sz="1100" spc="-5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certain</a:t>
            </a:r>
            <a:r>
              <a:rPr sz="1100" spc="-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sophisticated applications,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spc="55" dirty="0">
                <a:latin typeface="Arial"/>
                <a:cs typeface="Arial"/>
              </a:rPr>
              <a:t>it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becomes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30" dirty="0">
                <a:latin typeface="Arial"/>
                <a:cs typeface="Arial"/>
              </a:rPr>
              <a:t>necessary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spc="50" dirty="0">
                <a:latin typeface="Arial"/>
                <a:cs typeface="Arial"/>
              </a:rPr>
              <a:t>to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chain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spc="-40" dirty="0">
                <a:latin typeface="Arial"/>
                <a:cs typeface="Arial"/>
              </a:rPr>
              <a:t>LLMs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together,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either with </a:t>
            </a:r>
            <a:r>
              <a:rPr sz="1100" spc="-40" dirty="0">
                <a:latin typeface="Arial"/>
                <a:cs typeface="Arial"/>
              </a:rPr>
              <a:t>each</a:t>
            </a:r>
            <a:r>
              <a:rPr sz="1100" dirty="0">
                <a:latin typeface="Arial"/>
                <a:cs typeface="Arial"/>
              </a:rPr>
              <a:t> other or with </a:t>
            </a:r>
            <a:r>
              <a:rPr sz="1100" spc="-10" dirty="0">
                <a:latin typeface="Arial"/>
                <a:cs typeface="Arial"/>
              </a:rPr>
              <a:t>other elements.</a:t>
            </a:r>
            <a:endParaRPr sz="1100">
              <a:latin typeface="Arial"/>
              <a:cs typeface="Arial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848360" y="914400"/>
            <a:ext cx="6076315" cy="6732905"/>
          </a:xfrm>
          <a:custGeom>
            <a:avLst/>
            <a:gdLst/>
            <a:ahLst/>
            <a:cxnLst/>
            <a:rect l="l" t="t" r="r" b="b"/>
            <a:pathLst>
              <a:path w="6076315" h="6732905">
                <a:moveTo>
                  <a:pt x="0" y="1904"/>
                </a:moveTo>
                <a:lnTo>
                  <a:pt x="6076315" y="1904"/>
                </a:lnTo>
              </a:path>
              <a:path w="6076315" h="6732905">
                <a:moveTo>
                  <a:pt x="6075045" y="0"/>
                </a:moveTo>
                <a:lnTo>
                  <a:pt x="6075045" y="6504305"/>
                </a:lnTo>
              </a:path>
              <a:path w="6076315" h="6732905">
                <a:moveTo>
                  <a:pt x="1905" y="6504305"/>
                </a:moveTo>
                <a:lnTo>
                  <a:pt x="1905" y="0"/>
                </a:lnTo>
              </a:path>
              <a:path w="6076315" h="6732905">
                <a:moveTo>
                  <a:pt x="6075045" y="6377305"/>
                </a:moveTo>
                <a:lnTo>
                  <a:pt x="6075045" y="6732905"/>
                </a:lnTo>
              </a:path>
              <a:path w="6076315" h="6732905">
                <a:moveTo>
                  <a:pt x="6076315" y="6731634"/>
                </a:moveTo>
                <a:lnTo>
                  <a:pt x="0" y="6731634"/>
                </a:lnTo>
              </a:path>
              <a:path w="6076315" h="6732905">
                <a:moveTo>
                  <a:pt x="1905" y="6732905"/>
                </a:moveTo>
                <a:lnTo>
                  <a:pt x="1905" y="6377305"/>
                </a:lnTo>
              </a:path>
              <a:path w="6076315" h="6732905">
                <a:moveTo>
                  <a:pt x="0" y="1904"/>
                </a:moveTo>
                <a:lnTo>
                  <a:pt x="6076315" y="1904"/>
                </a:lnTo>
              </a:path>
              <a:path w="6076315" h="6732905">
                <a:moveTo>
                  <a:pt x="6075045" y="0"/>
                </a:moveTo>
                <a:lnTo>
                  <a:pt x="6075045" y="6504305"/>
                </a:lnTo>
              </a:path>
              <a:path w="6076315" h="6732905">
                <a:moveTo>
                  <a:pt x="1905" y="6504305"/>
                </a:moveTo>
                <a:lnTo>
                  <a:pt x="1905" y="0"/>
                </a:lnTo>
              </a:path>
              <a:path w="6076315" h="6732905">
                <a:moveTo>
                  <a:pt x="6075045" y="6377305"/>
                </a:moveTo>
                <a:lnTo>
                  <a:pt x="6075045" y="6732905"/>
                </a:lnTo>
              </a:path>
              <a:path w="6076315" h="6732905">
                <a:moveTo>
                  <a:pt x="6076315" y="6731634"/>
                </a:moveTo>
                <a:lnTo>
                  <a:pt x="0" y="6731634"/>
                </a:lnTo>
              </a:path>
              <a:path w="6076315" h="6732905">
                <a:moveTo>
                  <a:pt x="1905" y="6732905"/>
                </a:moveTo>
                <a:lnTo>
                  <a:pt x="1905" y="6377305"/>
                </a:lnTo>
              </a:path>
            </a:pathLst>
          </a:custGeom>
          <a:ln w="3175">
            <a:solidFill>
              <a:srgbClr val="E2E2E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47725" y="913764"/>
            <a:ext cx="6076950" cy="8110220"/>
            <a:chOff x="847725" y="913764"/>
            <a:chExt cx="6076950" cy="8110220"/>
          </a:xfrm>
        </p:grpSpPr>
        <p:sp>
          <p:nvSpPr>
            <p:cNvPr id="3" name="object 3"/>
            <p:cNvSpPr/>
            <p:nvPr/>
          </p:nvSpPr>
          <p:spPr>
            <a:xfrm>
              <a:off x="847725" y="913764"/>
              <a:ext cx="6076950" cy="8110220"/>
            </a:xfrm>
            <a:custGeom>
              <a:avLst/>
              <a:gdLst/>
              <a:ahLst/>
              <a:cxnLst/>
              <a:rect l="l" t="t" r="r" b="b"/>
              <a:pathLst>
                <a:path w="6076950" h="8110220">
                  <a:moveTo>
                    <a:pt x="6076950" y="0"/>
                  </a:moveTo>
                  <a:lnTo>
                    <a:pt x="0" y="0"/>
                  </a:lnTo>
                  <a:lnTo>
                    <a:pt x="0" y="229235"/>
                  </a:lnTo>
                  <a:lnTo>
                    <a:pt x="0" y="229870"/>
                  </a:lnTo>
                  <a:lnTo>
                    <a:pt x="0" y="8110220"/>
                  </a:lnTo>
                  <a:lnTo>
                    <a:pt x="6076950" y="8110220"/>
                  </a:lnTo>
                  <a:lnTo>
                    <a:pt x="6076950" y="229235"/>
                  </a:lnTo>
                  <a:lnTo>
                    <a:pt x="6076950" y="0"/>
                  </a:lnTo>
                  <a:close/>
                </a:path>
              </a:pathLst>
            </a:custGeom>
            <a:solidFill>
              <a:srgbClr val="F4F4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14400" y="1271269"/>
              <a:ext cx="5467985" cy="161925"/>
            </a:xfrm>
            <a:custGeom>
              <a:avLst/>
              <a:gdLst/>
              <a:ahLst/>
              <a:cxnLst/>
              <a:rect l="l" t="t" r="r" b="b"/>
              <a:pathLst>
                <a:path w="5467985" h="161925">
                  <a:moveTo>
                    <a:pt x="5467985" y="0"/>
                  </a:moveTo>
                  <a:lnTo>
                    <a:pt x="0" y="0"/>
                  </a:lnTo>
                  <a:lnTo>
                    <a:pt x="0" y="161925"/>
                  </a:lnTo>
                  <a:lnTo>
                    <a:pt x="5467985" y="161925"/>
                  </a:lnTo>
                  <a:lnTo>
                    <a:pt x="5467985" y="0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902969" y="958850"/>
            <a:ext cx="549211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client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100" spc="-10" dirty="0">
                <a:latin typeface="Courier New"/>
                <a:cs typeface="Courier New"/>
              </a:rPr>
              <a:t>OpenAI(client=&lt;openai.resources.completions.Completions</a:t>
            </a:r>
            <a:r>
              <a:rPr sz="1100" dirty="0">
                <a:latin typeface="Courier New"/>
                <a:cs typeface="Courier New"/>
              </a:rPr>
              <a:t> object </a:t>
            </a:r>
            <a:r>
              <a:rPr sz="1100" spc="-25" dirty="0">
                <a:latin typeface="Courier New"/>
                <a:cs typeface="Courier New"/>
              </a:rPr>
              <a:t>at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4400" y="1433830"/>
            <a:ext cx="135699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spc="-10" dirty="0">
                <a:latin typeface="Courier New"/>
                <a:cs typeface="Courier New"/>
              </a:rPr>
              <a:t>0x7faa19c8a520&gt;,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14400" y="1596389"/>
            <a:ext cx="580453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spc="-10" dirty="0">
                <a:latin typeface="Courier New"/>
                <a:cs typeface="Courier New"/>
              </a:rPr>
              <a:t>async_client=&lt;openai.resources.completions.AsyncCompletions</a:t>
            </a:r>
            <a:r>
              <a:rPr sz="1100" dirty="0">
                <a:latin typeface="Courier New"/>
                <a:cs typeface="Courier New"/>
              </a:rPr>
              <a:t> object </a:t>
            </a:r>
            <a:r>
              <a:rPr sz="1100" spc="-25" dirty="0">
                <a:latin typeface="Courier New"/>
                <a:cs typeface="Courier New"/>
              </a:rPr>
              <a:t>at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14400" y="1758950"/>
            <a:ext cx="3027045" cy="16192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0x7faa1a749f70&gt;,</a:t>
            </a:r>
            <a:r>
              <a:rPr sz="1100" spc="-15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openai_api_key='sk-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14400" y="1921509"/>
            <a:ext cx="5635625" cy="2082164"/>
          </a:xfrm>
          <a:custGeom>
            <a:avLst/>
            <a:gdLst/>
            <a:ahLst/>
            <a:cxnLst/>
            <a:rect l="l" t="t" r="r" b="b"/>
            <a:pathLst>
              <a:path w="5635625" h="2082164">
                <a:moveTo>
                  <a:pt x="1007745" y="1920240"/>
                </a:moveTo>
                <a:lnTo>
                  <a:pt x="0" y="1920240"/>
                </a:lnTo>
                <a:lnTo>
                  <a:pt x="0" y="2082165"/>
                </a:lnTo>
                <a:lnTo>
                  <a:pt x="1007745" y="2082165"/>
                </a:lnTo>
                <a:lnTo>
                  <a:pt x="1007745" y="1920240"/>
                </a:lnTo>
                <a:close/>
              </a:path>
              <a:path w="5635625" h="2082164">
                <a:moveTo>
                  <a:pt x="5635625" y="0"/>
                </a:moveTo>
                <a:lnTo>
                  <a:pt x="0" y="0"/>
                </a:lnTo>
                <a:lnTo>
                  <a:pt x="0" y="161925"/>
                </a:lnTo>
                <a:lnTo>
                  <a:pt x="5635625" y="161925"/>
                </a:lnTo>
                <a:lnTo>
                  <a:pt x="5635625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902969" y="1898650"/>
            <a:ext cx="5913755" cy="2113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latin typeface="Courier New"/>
                <a:cs typeface="Courier New"/>
              </a:rPr>
              <a:t>ixPKbjCWCiitxbPAy0tnT3BlbkFJsWFJs5LSD3ctcVYg9o8V',</a:t>
            </a:r>
            <a:r>
              <a:rPr sz="1100" spc="4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openai_proxy='')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100" dirty="0">
                <a:solidFill>
                  <a:srgbClr val="7827A0"/>
                </a:solidFill>
                <a:latin typeface="Courier New"/>
                <a:cs typeface="Courier New"/>
              </a:rPr>
              <a:t>from</a:t>
            </a:r>
            <a:r>
              <a:rPr sz="1100" spc="-85" dirty="0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1E1B1A"/>
                </a:solidFill>
                <a:latin typeface="Courier New"/>
                <a:cs typeface="Courier New"/>
              </a:rPr>
              <a:t>langchain.prompts</a:t>
            </a:r>
            <a:r>
              <a:rPr sz="1100" spc="-70" dirty="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7827A0"/>
                </a:solidFill>
                <a:latin typeface="Courier New"/>
                <a:cs typeface="Courier New"/>
              </a:rPr>
              <a:t>import</a:t>
            </a:r>
            <a:r>
              <a:rPr sz="1100" spc="-75" dirty="0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PromptTemplate</a:t>
            </a:r>
            <a:endParaRPr sz="1100">
              <a:latin typeface="Courier New"/>
              <a:cs typeface="Courier New"/>
            </a:endParaRPr>
          </a:p>
          <a:p>
            <a:pPr marL="12700" marR="5080">
              <a:lnSpc>
                <a:spcPts val="1280"/>
              </a:lnSpc>
              <a:spcBef>
                <a:spcPts val="1195"/>
              </a:spcBef>
            </a:pP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prompt=PromptTemplate.from_template(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"what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is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a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good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name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for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a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 company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that</a:t>
            </a:r>
            <a:r>
              <a:rPr sz="1100" spc="-45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makes</a:t>
            </a:r>
            <a:r>
              <a:rPr sz="1100" spc="-3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3CADE8"/>
                </a:solidFill>
                <a:latin typeface="Courier New"/>
                <a:cs typeface="Courier New"/>
              </a:rPr>
              <a:t>{product}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"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)</a:t>
            </a:r>
            <a:endParaRPr sz="1100">
              <a:latin typeface="Courier New"/>
              <a:cs typeface="Courier New"/>
            </a:endParaRPr>
          </a:p>
          <a:p>
            <a:pPr marL="12700" marR="2527300">
              <a:lnSpc>
                <a:spcPts val="2280"/>
              </a:lnSpc>
              <a:spcBef>
                <a:spcPts val="200"/>
              </a:spcBef>
            </a:pPr>
            <a:r>
              <a:rPr sz="1100" dirty="0">
                <a:solidFill>
                  <a:srgbClr val="7827A0"/>
                </a:solidFill>
                <a:latin typeface="Courier New"/>
                <a:cs typeface="Courier New"/>
              </a:rPr>
              <a:t>from</a:t>
            </a:r>
            <a:r>
              <a:rPr sz="1100" spc="-85" dirty="0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1E1B1A"/>
                </a:solidFill>
                <a:latin typeface="Courier New"/>
                <a:cs typeface="Courier New"/>
              </a:rPr>
              <a:t>langchain.chains</a:t>
            </a:r>
            <a:r>
              <a:rPr sz="1100" spc="-65" dirty="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7827A0"/>
                </a:solidFill>
                <a:latin typeface="Courier New"/>
                <a:cs typeface="Courier New"/>
              </a:rPr>
              <a:t>import</a:t>
            </a:r>
            <a:r>
              <a:rPr sz="1100" spc="-80" dirty="0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LLMChain chain=LLMChain(llm=client,prompt=prompt) </a:t>
            </a:r>
            <a:r>
              <a:rPr sz="1100" spc="-10" dirty="0">
                <a:solidFill>
                  <a:srgbClr val="A95C00"/>
                </a:solidFill>
                <a:latin typeface="Courier New"/>
                <a:cs typeface="Courier New"/>
              </a:rPr>
              <a:t>print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(chain.run(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"Wine"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).strip())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725"/>
              </a:spcBef>
            </a:pPr>
            <a:r>
              <a:rPr sz="1100" dirty="0">
                <a:latin typeface="Courier New"/>
                <a:cs typeface="Courier New"/>
              </a:rPr>
              <a:t>1.</a:t>
            </a:r>
            <a:r>
              <a:rPr sz="1100" spc="-1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VinoVerse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14400" y="4004309"/>
            <a:ext cx="135826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2.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Grapevine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Co.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14400" y="4166870"/>
            <a:ext cx="1525270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3.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Cellar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Crafters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14400" y="4329429"/>
            <a:ext cx="127317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4.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Noble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Nectar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14400" y="4491990"/>
            <a:ext cx="169354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5.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Bacchus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Beverages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14400" y="4654550"/>
            <a:ext cx="144081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6.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Vinum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Ventures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14400" y="4817109"/>
            <a:ext cx="1525270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7.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Red</a:t>
            </a:r>
            <a:r>
              <a:rPr sz="1100" spc="-2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&amp;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White</a:t>
            </a:r>
            <a:r>
              <a:rPr sz="1100" spc="-10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Co.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14400" y="4979670"/>
            <a:ext cx="127317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8.</a:t>
            </a:r>
            <a:r>
              <a:rPr sz="1100" spc="-2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Cork</a:t>
            </a:r>
            <a:r>
              <a:rPr sz="1100" spc="-1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&amp;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Vines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14400" y="5142127"/>
            <a:ext cx="127317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9.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WineWise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Co.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914400" y="5304790"/>
            <a:ext cx="1765935" cy="161925"/>
          </a:xfrm>
          <a:custGeom>
            <a:avLst/>
            <a:gdLst/>
            <a:ahLst/>
            <a:cxnLst/>
            <a:rect l="l" t="t" r="r" b="b"/>
            <a:pathLst>
              <a:path w="1765935" h="161925">
                <a:moveTo>
                  <a:pt x="1765935" y="0"/>
                </a:moveTo>
                <a:lnTo>
                  <a:pt x="0" y="0"/>
                </a:lnTo>
                <a:lnTo>
                  <a:pt x="0" y="161925"/>
                </a:lnTo>
                <a:lnTo>
                  <a:pt x="1765935" y="161925"/>
                </a:lnTo>
                <a:lnTo>
                  <a:pt x="1765935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902969" y="5281929"/>
            <a:ext cx="3053715" cy="645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Courier New"/>
                <a:cs typeface="Courier New"/>
              </a:rPr>
              <a:t>10.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Vintage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Vines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Co.</a:t>
            </a:r>
            <a:endParaRPr sz="1100">
              <a:latin typeface="Courier New"/>
              <a:cs typeface="Courier New"/>
            </a:endParaRPr>
          </a:p>
          <a:p>
            <a:pPr marL="349250" marR="5080" indent="-336550">
              <a:lnSpc>
                <a:spcPts val="1280"/>
              </a:lnSpc>
              <a:spcBef>
                <a:spcPts val="1035"/>
              </a:spcBef>
            </a:pPr>
            <a:r>
              <a:rPr sz="1100" dirty="0">
                <a:solidFill>
                  <a:srgbClr val="7827A0"/>
                </a:solidFill>
                <a:latin typeface="Courier New"/>
                <a:cs typeface="Courier New"/>
              </a:rPr>
              <a:t>for</a:t>
            </a:r>
            <a:r>
              <a:rPr sz="1100" spc="-15" dirty="0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1E1B1A"/>
                </a:solidFill>
                <a:latin typeface="Courier New"/>
                <a:cs typeface="Courier New"/>
              </a:rPr>
              <a:t>i</a:t>
            </a:r>
            <a:r>
              <a:rPr sz="1100" spc="-15" dirty="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7827A0"/>
                </a:solidFill>
                <a:latin typeface="Courier New"/>
                <a:cs typeface="Courier New"/>
              </a:rPr>
              <a:t>in</a:t>
            </a:r>
            <a:r>
              <a:rPr sz="1100" spc="-10" dirty="0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A95C00"/>
                </a:solidFill>
                <a:latin typeface="Courier New"/>
                <a:cs typeface="Courier New"/>
              </a:rPr>
              <a:t>range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(</a:t>
            </a:r>
            <a:r>
              <a:rPr sz="1100" spc="-10" dirty="0">
                <a:solidFill>
                  <a:srgbClr val="A95C00"/>
                </a:solidFill>
                <a:latin typeface="Courier New"/>
                <a:cs typeface="Courier New"/>
              </a:rPr>
              <a:t>0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,</a:t>
            </a:r>
            <a:r>
              <a:rPr sz="1100" spc="-10" dirty="0">
                <a:solidFill>
                  <a:srgbClr val="A95C00"/>
                </a:solidFill>
                <a:latin typeface="Courier New"/>
                <a:cs typeface="Courier New"/>
              </a:rPr>
              <a:t>10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): </a:t>
            </a:r>
            <a:r>
              <a:rPr sz="1100" spc="-10" dirty="0">
                <a:solidFill>
                  <a:srgbClr val="A95C00"/>
                </a:solidFill>
                <a:latin typeface="Courier New"/>
                <a:cs typeface="Courier New"/>
              </a:rPr>
              <a:t>print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(chain.run(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"Wine"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).strip())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14400" y="6046470"/>
            <a:ext cx="1273175" cy="16192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Vine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&amp;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Vino</a:t>
            </a:r>
            <a:r>
              <a:rPr sz="1100" spc="-25" dirty="0">
                <a:latin typeface="Courier New"/>
                <a:cs typeface="Courier New"/>
              </a:rPr>
              <a:t> Co.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914400" y="6357620"/>
            <a:ext cx="1680845" cy="161925"/>
          </a:xfrm>
          <a:custGeom>
            <a:avLst/>
            <a:gdLst/>
            <a:ahLst/>
            <a:cxnLst/>
            <a:rect l="l" t="t" r="r" b="b"/>
            <a:pathLst>
              <a:path w="1680845" h="161925">
                <a:moveTo>
                  <a:pt x="1680845" y="0"/>
                </a:moveTo>
                <a:lnTo>
                  <a:pt x="0" y="0"/>
                </a:lnTo>
                <a:lnTo>
                  <a:pt x="0" y="161925"/>
                </a:lnTo>
                <a:lnTo>
                  <a:pt x="1680845" y="161925"/>
                </a:lnTo>
                <a:lnTo>
                  <a:pt x="1680845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902969" y="6334759"/>
            <a:ext cx="170561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Courier New"/>
                <a:cs typeface="Courier New"/>
              </a:rPr>
              <a:t>Grape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&amp;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Glass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Winery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914400" y="6520180"/>
            <a:ext cx="1778000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Cheers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&amp;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Co.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Wine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Co.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14400" y="6682740"/>
            <a:ext cx="118935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Vineyard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Vista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914400" y="6845300"/>
            <a:ext cx="1357630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WineCrafters</a:t>
            </a:r>
            <a:r>
              <a:rPr sz="1100" spc="-110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Co.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914400" y="7007859"/>
            <a:ext cx="102171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WineHive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Co.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14400" y="7170419"/>
            <a:ext cx="93662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spc="-10" dirty="0">
                <a:latin typeface="Courier New"/>
                <a:cs typeface="Courier New"/>
              </a:rPr>
              <a:t>VinoVerdant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914400" y="7332980"/>
            <a:ext cx="1778000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Grapes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&amp;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Glitz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Winery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914400" y="7495540"/>
            <a:ext cx="102171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WineWise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Co.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914400" y="7658100"/>
            <a:ext cx="160972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Vine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Garden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Co.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914400" y="7820556"/>
            <a:ext cx="1609725" cy="16319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1.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Vineyard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Visions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914400" y="7983219"/>
            <a:ext cx="118935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2.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Grape</a:t>
            </a:r>
            <a:r>
              <a:rPr sz="1100" spc="-2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&amp;</a:t>
            </a:r>
            <a:r>
              <a:rPr sz="1100" spc="-20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Co.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914400" y="8145780"/>
            <a:ext cx="160972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3.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Cellar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Creations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914400" y="8308340"/>
            <a:ext cx="144081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4.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Vintage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Valley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914400" y="8470900"/>
            <a:ext cx="127317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5.</a:t>
            </a:r>
            <a:r>
              <a:rPr sz="1100" spc="-1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WineCrafters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914400" y="8633459"/>
            <a:ext cx="1357630" cy="16192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6.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Bottled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Bliss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914400" y="8796019"/>
            <a:ext cx="1260475" cy="161925"/>
          </a:xfrm>
          <a:custGeom>
            <a:avLst/>
            <a:gdLst/>
            <a:ahLst/>
            <a:cxnLst/>
            <a:rect l="l" t="t" r="r" b="b"/>
            <a:pathLst>
              <a:path w="1260475" h="161925">
                <a:moveTo>
                  <a:pt x="1260475" y="0"/>
                </a:moveTo>
                <a:lnTo>
                  <a:pt x="0" y="0"/>
                </a:lnTo>
                <a:lnTo>
                  <a:pt x="0" y="161924"/>
                </a:lnTo>
                <a:lnTo>
                  <a:pt x="1260475" y="161924"/>
                </a:lnTo>
                <a:lnTo>
                  <a:pt x="1260475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902969" y="8773159"/>
            <a:ext cx="128524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Courier New"/>
                <a:cs typeface="Courier New"/>
              </a:rPr>
              <a:t>7.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Noble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Nectar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848360" y="914400"/>
            <a:ext cx="6076315" cy="8109584"/>
          </a:xfrm>
          <a:custGeom>
            <a:avLst/>
            <a:gdLst/>
            <a:ahLst/>
            <a:cxnLst/>
            <a:rect l="l" t="t" r="r" b="b"/>
            <a:pathLst>
              <a:path w="6076315" h="8109584">
                <a:moveTo>
                  <a:pt x="0" y="1904"/>
                </a:moveTo>
                <a:lnTo>
                  <a:pt x="6076315" y="1904"/>
                </a:lnTo>
              </a:path>
              <a:path w="6076315" h="8109584">
                <a:moveTo>
                  <a:pt x="6075045" y="0"/>
                </a:moveTo>
                <a:lnTo>
                  <a:pt x="6075045" y="356234"/>
                </a:lnTo>
              </a:path>
              <a:path w="6076315" h="8109584">
                <a:moveTo>
                  <a:pt x="1905" y="356234"/>
                </a:moveTo>
                <a:lnTo>
                  <a:pt x="1905" y="0"/>
                </a:lnTo>
              </a:path>
              <a:path w="6076315" h="8109584">
                <a:moveTo>
                  <a:pt x="6075045" y="229234"/>
                </a:moveTo>
                <a:lnTo>
                  <a:pt x="6075045" y="1296034"/>
                </a:lnTo>
              </a:path>
              <a:path w="6076315" h="8109584">
                <a:moveTo>
                  <a:pt x="1905" y="1296034"/>
                </a:moveTo>
                <a:lnTo>
                  <a:pt x="1905" y="229234"/>
                </a:lnTo>
              </a:path>
              <a:path w="6076315" h="8109584">
                <a:moveTo>
                  <a:pt x="6075045" y="1169034"/>
                </a:moveTo>
                <a:lnTo>
                  <a:pt x="6075045" y="2058670"/>
                </a:lnTo>
              </a:path>
              <a:path w="6076315" h="8109584">
                <a:moveTo>
                  <a:pt x="1905" y="2058670"/>
                </a:moveTo>
                <a:lnTo>
                  <a:pt x="1905" y="1169034"/>
                </a:lnTo>
              </a:path>
              <a:path w="6076315" h="8109584">
                <a:moveTo>
                  <a:pt x="6075045" y="1931670"/>
                </a:moveTo>
                <a:lnTo>
                  <a:pt x="6075045" y="2348229"/>
                </a:lnTo>
              </a:path>
              <a:path w="6076315" h="8109584">
                <a:moveTo>
                  <a:pt x="1905" y="2348229"/>
                </a:moveTo>
                <a:lnTo>
                  <a:pt x="1905" y="1931670"/>
                </a:lnTo>
              </a:path>
              <a:path w="6076315" h="8109584">
                <a:moveTo>
                  <a:pt x="6075045" y="2221229"/>
                </a:moveTo>
                <a:lnTo>
                  <a:pt x="6075045" y="2637790"/>
                </a:lnTo>
              </a:path>
              <a:path w="6076315" h="8109584">
                <a:moveTo>
                  <a:pt x="1905" y="2637790"/>
                </a:moveTo>
                <a:lnTo>
                  <a:pt x="1905" y="2221229"/>
                </a:lnTo>
              </a:path>
              <a:path w="6076315" h="8109584">
                <a:moveTo>
                  <a:pt x="6075045" y="2510790"/>
                </a:moveTo>
                <a:lnTo>
                  <a:pt x="6075045" y="2927350"/>
                </a:lnTo>
              </a:path>
              <a:path w="6076315" h="8109584">
                <a:moveTo>
                  <a:pt x="1905" y="2927350"/>
                </a:moveTo>
                <a:lnTo>
                  <a:pt x="1905" y="2510790"/>
                </a:lnTo>
              </a:path>
              <a:path w="6076315" h="8109584">
                <a:moveTo>
                  <a:pt x="6075045" y="2800350"/>
                </a:moveTo>
                <a:lnTo>
                  <a:pt x="6075045" y="4679950"/>
                </a:lnTo>
              </a:path>
              <a:path w="6076315" h="8109584">
                <a:moveTo>
                  <a:pt x="1905" y="4679950"/>
                </a:moveTo>
                <a:lnTo>
                  <a:pt x="1905" y="2800350"/>
                </a:lnTo>
              </a:path>
              <a:path w="6076315" h="8109584">
                <a:moveTo>
                  <a:pt x="6075045" y="4552950"/>
                </a:moveTo>
                <a:lnTo>
                  <a:pt x="6075045" y="5132070"/>
                </a:lnTo>
              </a:path>
              <a:path w="6076315" h="8109584">
                <a:moveTo>
                  <a:pt x="1905" y="5132070"/>
                </a:moveTo>
                <a:lnTo>
                  <a:pt x="1905" y="4552950"/>
                </a:lnTo>
              </a:path>
              <a:path w="6076315" h="8109584">
                <a:moveTo>
                  <a:pt x="6075045" y="5005070"/>
                </a:moveTo>
                <a:lnTo>
                  <a:pt x="6075045" y="8109584"/>
                </a:lnTo>
              </a:path>
              <a:path w="6076315" h="8109584">
                <a:moveTo>
                  <a:pt x="6076315" y="8108315"/>
                </a:moveTo>
                <a:lnTo>
                  <a:pt x="0" y="8108315"/>
                </a:lnTo>
              </a:path>
              <a:path w="6076315" h="8109584">
                <a:moveTo>
                  <a:pt x="1905" y="8109584"/>
                </a:moveTo>
                <a:lnTo>
                  <a:pt x="1905" y="5005070"/>
                </a:lnTo>
              </a:path>
              <a:path w="6076315" h="8109584">
                <a:moveTo>
                  <a:pt x="0" y="1904"/>
                </a:moveTo>
                <a:lnTo>
                  <a:pt x="6076315" y="1904"/>
                </a:lnTo>
              </a:path>
              <a:path w="6076315" h="8109584">
                <a:moveTo>
                  <a:pt x="6075045" y="0"/>
                </a:moveTo>
                <a:lnTo>
                  <a:pt x="6075045" y="356234"/>
                </a:lnTo>
              </a:path>
              <a:path w="6076315" h="8109584">
                <a:moveTo>
                  <a:pt x="1905" y="356234"/>
                </a:moveTo>
                <a:lnTo>
                  <a:pt x="1905" y="0"/>
                </a:lnTo>
              </a:path>
              <a:path w="6076315" h="8109584">
                <a:moveTo>
                  <a:pt x="6075045" y="229234"/>
                </a:moveTo>
                <a:lnTo>
                  <a:pt x="6075045" y="1296034"/>
                </a:lnTo>
              </a:path>
              <a:path w="6076315" h="8109584">
                <a:moveTo>
                  <a:pt x="1905" y="1296034"/>
                </a:moveTo>
                <a:lnTo>
                  <a:pt x="1905" y="229234"/>
                </a:lnTo>
              </a:path>
              <a:path w="6076315" h="8109584">
                <a:moveTo>
                  <a:pt x="6075045" y="1169034"/>
                </a:moveTo>
                <a:lnTo>
                  <a:pt x="6075045" y="2058670"/>
                </a:lnTo>
              </a:path>
              <a:path w="6076315" h="8109584">
                <a:moveTo>
                  <a:pt x="1905" y="2058670"/>
                </a:moveTo>
                <a:lnTo>
                  <a:pt x="1905" y="1169034"/>
                </a:lnTo>
              </a:path>
              <a:path w="6076315" h="8109584">
                <a:moveTo>
                  <a:pt x="6075045" y="1931670"/>
                </a:moveTo>
                <a:lnTo>
                  <a:pt x="6075045" y="2348229"/>
                </a:lnTo>
              </a:path>
              <a:path w="6076315" h="8109584">
                <a:moveTo>
                  <a:pt x="1905" y="2348229"/>
                </a:moveTo>
                <a:lnTo>
                  <a:pt x="1905" y="1931670"/>
                </a:lnTo>
              </a:path>
              <a:path w="6076315" h="8109584">
                <a:moveTo>
                  <a:pt x="6075045" y="2221229"/>
                </a:moveTo>
                <a:lnTo>
                  <a:pt x="6075045" y="2637790"/>
                </a:lnTo>
              </a:path>
              <a:path w="6076315" h="8109584">
                <a:moveTo>
                  <a:pt x="1905" y="2637790"/>
                </a:moveTo>
                <a:lnTo>
                  <a:pt x="1905" y="2221229"/>
                </a:lnTo>
              </a:path>
              <a:path w="6076315" h="8109584">
                <a:moveTo>
                  <a:pt x="6075045" y="2510790"/>
                </a:moveTo>
                <a:lnTo>
                  <a:pt x="6075045" y="2927350"/>
                </a:lnTo>
              </a:path>
              <a:path w="6076315" h="8109584">
                <a:moveTo>
                  <a:pt x="1905" y="2927350"/>
                </a:moveTo>
                <a:lnTo>
                  <a:pt x="1905" y="2510790"/>
                </a:lnTo>
              </a:path>
              <a:path w="6076315" h="8109584">
                <a:moveTo>
                  <a:pt x="6075045" y="2800350"/>
                </a:moveTo>
                <a:lnTo>
                  <a:pt x="6075045" y="4679950"/>
                </a:lnTo>
              </a:path>
              <a:path w="6076315" h="8109584">
                <a:moveTo>
                  <a:pt x="1905" y="4679950"/>
                </a:moveTo>
                <a:lnTo>
                  <a:pt x="1905" y="2800350"/>
                </a:lnTo>
              </a:path>
              <a:path w="6076315" h="8109584">
                <a:moveTo>
                  <a:pt x="6075045" y="4552950"/>
                </a:moveTo>
                <a:lnTo>
                  <a:pt x="6075045" y="5132070"/>
                </a:lnTo>
              </a:path>
              <a:path w="6076315" h="8109584">
                <a:moveTo>
                  <a:pt x="1905" y="5132070"/>
                </a:moveTo>
                <a:lnTo>
                  <a:pt x="1905" y="4552950"/>
                </a:lnTo>
              </a:path>
              <a:path w="6076315" h="8109584">
                <a:moveTo>
                  <a:pt x="6075045" y="5005070"/>
                </a:moveTo>
                <a:lnTo>
                  <a:pt x="6075045" y="8109584"/>
                </a:lnTo>
              </a:path>
              <a:path w="6076315" h="8109584">
                <a:moveTo>
                  <a:pt x="6076315" y="8108315"/>
                </a:moveTo>
                <a:lnTo>
                  <a:pt x="0" y="8108315"/>
                </a:lnTo>
              </a:path>
              <a:path w="6076315" h="8109584">
                <a:moveTo>
                  <a:pt x="1905" y="8109584"/>
                </a:moveTo>
                <a:lnTo>
                  <a:pt x="1905" y="5005070"/>
                </a:lnTo>
              </a:path>
            </a:pathLst>
          </a:custGeom>
          <a:ln w="3175">
            <a:solidFill>
              <a:srgbClr val="E2E2E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47725" y="913764"/>
            <a:ext cx="6076950" cy="8098790"/>
            <a:chOff x="847725" y="913764"/>
            <a:chExt cx="6076950" cy="8098790"/>
          </a:xfrm>
        </p:grpSpPr>
        <p:sp>
          <p:nvSpPr>
            <p:cNvPr id="3" name="object 3"/>
            <p:cNvSpPr/>
            <p:nvPr/>
          </p:nvSpPr>
          <p:spPr>
            <a:xfrm>
              <a:off x="847725" y="913764"/>
              <a:ext cx="6076950" cy="8098790"/>
            </a:xfrm>
            <a:custGeom>
              <a:avLst/>
              <a:gdLst/>
              <a:ahLst/>
              <a:cxnLst/>
              <a:rect l="l" t="t" r="r" b="b"/>
              <a:pathLst>
                <a:path w="6076950" h="8098790">
                  <a:moveTo>
                    <a:pt x="6076950" y="0"/>
                  </a:moveTo>
                  <a:lnTo>
                    <a:pt x="0" y="0"/>
                  </a:lnTo>
                  <a:lnTo>
                    <a:pt x="0" y="8098789"/>
                  </a:lnTo>
                  <a:lnTo>
                    <a:pt x="6076950" y="8098789"/>
                  </a:lnTo>
                  <a:lnTo>
                    <a:pt x="6076950" y="0"/>
                  </a:lnTo>
                  <a:close/>
                </a:path>
              </a:pathLst>
            </a:custGeom>
            <a:solidFill>
              <a:srgbClr val="F4F4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14400" y="981709"/>
              <a:ext cx="1428115" cy="161925"/>
            </a:xfrm>
            <a:custGeom>
              <a:avLst/>
              <a:gdLst/>
              <a:ahLst/>
              <a:cxnLst/>
              <a:rect l="l" t="t" r="r" b="b"/>
              <a:pathLst>
                <a:path w="1428114" h="161925">
                  <a:moveTo>
                    <a:pt x="1428114" y="0"/>
                  </a:moveTo>
                  <a:lnTo>
                    <a:pt x="0" y="0"/>
                  </a:lnTo>
                  <a:lnTo>
                    <a:pt x="0" y="161925"/>
                  </a:lnTo>
                  <a:lnTo>
                    <a:pt x="1428114" y="161925"/>
                  </a:lnTo>
                  <a:lnTo>
                    <a:pt x="1428114" y="0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902969" y="958850"/>
            <a:ext cx="145415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Courier New"/>
                <a:cs typeface="Courier New"/>
              </a:rPr>
              <a:t>8.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Winery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Wonders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4400" y="1144269"/>
            <a:ext cx="1357630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9.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Barrel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&amp;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Vine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14400" y="1306830"/>
            <a:ext cx="194627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10.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Liquid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Luxury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Wines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14400" y="1469389"/>
            <a:ext cx="1681480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11.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Grape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Escape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14400" y="1631950"/>
            <a:ext cx="1441450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12.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Vino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Ventures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14400" y="1794510"/>
            <a:ext cx="1020444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13.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WineWise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14400" y="1957070"/>
            <a:ext cx="118935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14.</a:t>
            </a:r>
            <a:r>
              <a:rPr sz="1100" spc="-2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Oak</a:t>
            </a:r>
            <a:r>
              <a:rPr sz="1100" spc="-1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&amp;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Vine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14400" y="2119629"/>
            <a:ext cx="160972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15.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Cork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&amp;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Cask</a:t>
            </a:r>
            <a:r>
              <a:rPr sz="1100" spc="-25" dirty="0">
                <a:latin typeface="Courier New"/>
                <a:cs typeface="Courier New"/>
              </a:rPr>
              <a:t> Co.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14400" y="2282189"/>
            <a:ext cx="1694180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16.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Tasteful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Terroir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14400" y="2444750"/>
            <a:ext cx="160972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17.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Vintner's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Vault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14400" y="2607310"/>
            <a:ext cx="1357630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18.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Harvest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Hues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14400" y="2769870"/>
            <a:ext cx="160972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19.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Sip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&amp;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Savor</a:t>
            </a:r>
            <a:r>
              <a:rPr sz="1100" spc="-15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Co.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14400" y="2932429"/>
            <a:ext cx="152590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20.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Chateau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Charm.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14400" y="3094989"/>
            <a:ext cx="118935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Vineyard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Vines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14400" y="3257550"/>
            <a:ext cx="1441450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Grapevine</a:t>
            </a:r>
            <a:r>
              <a:rPr sz="1100" spc="-8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Cellars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14400" y="3420109"/>
            <a:ext cx="1694180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Vintage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Vines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Winery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14400" y="3582670"/>
            <a:ext cx="160972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Crimson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Crush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Wines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14400" y="3745229"/>
            <a:ext cx="152590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Sip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&amp;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Savor</a:t>
            </a:r>
            <a:r>
              <a:rPr sz="1100" spc="-1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Winery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14400" y="3907687"/>
            <a:ext cx="1525905" cy="16319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Harvest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Hill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Wines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914400" y="4070350"/>
            <a:ext cx="127317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Chateau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de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Vino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14400" y="4232909"/>
            <a:ext cx="1778000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Grapes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&amp;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Glory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Winery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914400" y="4395470"/>
            <a:ext cx="1441450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Sommelier</a:t>
            </a:r>
            <a:r>
              <a:rPr sz="1100" spc="-8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Selects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914400" y="4558029"/>
            <a:ext cx="152590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Bottled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Brilliance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14400" y="4720590"/>
            <a:ext cx="93662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Corks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&amp;</a:t>
            </a:r>
            <a:r>
              <a:rPr sz="1100" spc="-25" dirty="0">
                <a:latin typeface="Courier New"/>
                <a:cs typeface="Courier New"/>
              </a:rPr>
              <a:t> Co.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914400" y="4883150"/>
            <a:ext cx="1778000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Nectar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&amp;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Vines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Winery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914400" y="5045709"/>
            <a:ext cx="152590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1.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Grapevine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Wines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914400" y="5208270"/>
            <a:ext cx="1357630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2.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Vino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Ventures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914400" y="5370727"/>
            <a:ext cx="1357630" cy="16319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3.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Cellar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Savant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914400" y="5533390"/>
            <a:ext cx="152590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4.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Bacchus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Bottles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914400" y="5695950"/>
            <a:ext cx="1778000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5.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Vineyard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Varietals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914400" y="5858509"/>
            <a:ext cx="152590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6.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Red</a:t>
            </a:r>
            <a:r>
              <a:rPr sz="1100" spc="-2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&amp;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White</a:t>
            </a:r>
            <a:r>
              <a:rPr sz="1100" spc="-10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Co.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914400" y="6021070"/>
            <a:ext cx="1681480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7.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Chateau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Creations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914400" y="6183527"/>
            <a:ext cx="1694180" cy="16319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8.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Cork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&amp;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Barrel</a:t>
            </a:r>
            <a:r>
              <a:rPr sz="1100" spc="-20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Co.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914400" y="6346190"/>
            <a:ext cx="1778000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9.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Vintage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Vines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Inc.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914400" y="6508750"/>
            <a:ext cx="1441450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10.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WineCrafters.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914400" y="6671309"/>
            <a:ext cx="194627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"Vintage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Vineyards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Co."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914400" y="6833869"/>
            <a:ext cx="152590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Vineyard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Vines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Co.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914400" y="6996430"/>
            <a:ext cx="1441450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Grape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&amp;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Grain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Co.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914400" y="7158990"/>
            <a:ext cx="160972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Taste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&amp;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Terroir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Co.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914400" y="7321550"/>
            <a:ext cx="1357630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Vino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Veritas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Co.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914400" y="7484109"/>
            <a:ext cx="1778000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Vintage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Vineyards</a:t>
            </a:r>
            <a:r>
              <a:rPr sz="1100" spc="-80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Co.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914400" y="7646669"/>
            <a:ext cx="160972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Bacchus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Bottles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Co.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914400" y="7809127"/>
            <a:ext cx="1609725" cy="16319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Wine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Cellar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Co.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914400" y="7971790"/>
            <a:ext cx="1441450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Winemaker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Co.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914400" y="8134350"/>
            <a:ext cx="160972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Harvest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&amp;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Crush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Co.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914400" y="8296909"/>
            <a:ext cx="1441450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Corks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&amp;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Casks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Co.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914400" y="8459469"/>
            <a:ext cx="1357630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Sip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&amp;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Savour</a:t>
            </a:r>
            <a:r>
              <a:rPr sz="1100" spc="-20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Co.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914400" y="8622030"/>
            <a:ext cx="1694180" cy="16192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Cultivate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&amp;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Cork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Co.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914400" y="8784590"/>
            <a:ext cx="1597025" cy="161925"/>
          </a:xfrm>
          <a:custGeom>
            <a:avLst/>
            <a:gdLst/>
            <a:ahLst/>
            <a:cxnLst/>
            <a:rect l="l" t="t" r="r" b="b"/>
            <a:pathLst>
              <a:path w="1597025" h="161925">
                <a:moveTo>
                  <a:pt x="1597025" y="0"/>
                </a:moveTo>
                <a:lnTo>
                  <a:pt x="0" y="0"/>
                </a:lnTo>
                <a:lnTo>
                  <a:pt x="0" y="161924"/>
                </a:lnTo>
                <a:lnTo>
                  <a:pt x="1597025" y="161924"/>
                </a:lnTo>
                <a:lnTo>
                  <a:pt x="1597025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 txBox="1"/>
          <p:nvPr/>
        </p:nvSpPr>
        <p:spPr>
          <a:xfrm>
            <a:off x="902969" y="8761730"/>
            <a:ext cx="162179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Courier New"/>
                <a:cs typeface="Courier New"/>
              </a:rPr>
              <a:t>1.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"Vineyard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Vista"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848360" y="914400"/>
            <a:ext cx="6076315" cy="8098155"/>
          </a:xfrm>
          <a:custGeom>
            <a:avLst/>
            <a:gdLst/>
            <a:ahLst/>
            <a:cxnLst/>
            <a:rect l="l" t="t" r="r" b="b"/>
            <a:pathLst>
              <a:path w="6076315" h="8098155">
                <a:moveTo>
                  <a:pt x="0" y="1904"/>
                </a:moveTo>
                <a:lnTo>
                  <a:pt x="6076315" y="1904"/>
                </a:lnTo>
              </a:path>
              <a:path w="6076315" h="8098155">
                <a:moveTo>
                  <a:pt x="6075045" y="0"/>
                </a:moveTo>
                <a:lnTo>
                  <a:pt x="6075045" y="8098155"/>
                </a:lnTo>
              </a:path>
              <a:path w="6076315" h="8098155">
                <a:moveTo>
                  <a:pt x="6076315" y="8096884"/>
                </a:moveTo>
                <a:lnTo>
                  <a:pt x="0" y="8096884"/>
                </a:lnTo>
              </a:path>
              <a:path w="6076315" h="8098155">
                <a:moveTo>
                  <a:pt x="1905" y="8098155"/>
                </a:moveTo>
                <a:lnTo>
                  <a:pt x="1905" y="0"/>
                </a:lnTo>
              </a:path>
              <a:path w="6076315" h="8098155">
                <a:moveTo>
                  <a:pt x="0" y="1904"/>
                </a:moveTo>
                <a:lnTo>
                  <a:pt x="6076315" y="1904"/>
                </a:lnTo>
              </a:path>
              <a:path w="6076315" h="8098155">
                <a:moveTo>
                  <a:pt x="6075045" y="0"/>
                </a:moveTo>
                <a:lnTo>
                  <a:pt x="6075045" y="8098155"/>
                </a:lnTo>
              </a:path>
              <a:path w="6076315" h="8098155">
                <a:moveTo>
                  <a:pt x="6076315" y="8096884"/>
                </a:moveTo>
                <a:lnTo>
                  <a:pt x="0" y="8096884"/>
                </a:lnTo>
              </a:path>
              <a:path w="6076315" h="8098155">
                <a:moveTo>
                  <a:pt x="1905" y="8098155"/>
                </a:moveTo>
                <a:lnTo>
                  <a:pt x="1905" y="0"/>
                </a:lnTo>
              </a:path>
            </a:pathLst>
          </a:custGeom>
          <a:ln w="3175">
            <a:solidFill>
              <a:srgbClr val="E2E2E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47725" y="913764"/>
            <a:ext cx="6076950" cy="4359910"/>
          </a:xfrm>
          <a:custGeom>
            <a:avLst/>
            <a:gdLst/>
            <a:ahLst/>
            <a:cxnLst/>
            <a:rect l="l" t="t" r="r" b="b"/>
            <a:pathLst>
              <a:path w="6076950" h="4359910">
                <a:moveTo>
                  <a:pt x="6076950" y="0"/>
                </a:moveTo>
                <a:lnTo>
                  <a:pt x="0" y="0"/>
                </a:lnTo>
                <a:lnTo>
                  <a:pt x="0" y="4359909"/>
                </a:lnTo>
                <a:lnTo>
                  <a:pt x="6076950" y="4359909"/>
                </a:lnTo>
                <a:lnTo>
                  <a:pt x="6076950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47725" y="5913754"/>
            <a:ext cx="6076950" cy="3135630"/>
          </a:xfrm>
          <a:custGeom>
            <a:avLst/>
            <a:gdLst/>
            <a:ahLst/>
            <a:cxnLst/>
            <a:rect l="l" t="t" r="r" b="b"/>
            <a:pathLst>
              <a:path w="6076950" h="3135629">
                <a:moveTo>
                  <a:pt x="6076950" y="0"/>
                </a:moveTo>
                <a:lnTo>
                  <a:pt x="0" y="0"/>
                </a:lnTo>
                <a:lnTo>
                  <a:pt x="0" y="879475"/>
                </a:lnTo>
                <a:lnTo>
                  <a:pt x="0" y="880110"/>
                </a:lnTo>
                <a:lnTo>
                  <a:pt x="0" y="3135630"/>
                </a:lnTo>
                <a:lnTo>
                  <a:pt x="6076950" y="3135630"/>
                </a:lnTo>
                <a:lnTo>
                  <a:pt x="6076950" y="879475"/>
                </a:lnTo>
                <a:lnTo>
                  <a:pt x="6076950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14400" y="981709"/>
            <a:ext cx="2102485" cy="4225925"/>
          </a:xfrm>
          <a:custGeom>
            <a:avLst/>
            <a:gdLst/>
            <a:ahLst/>
            <a:cxnLst/>
            <a:rect l="l" t="t" r="r" b="b"/>
            <a:pathLst>
              <a:path w="2102485" h="4225925">
                <a:moveTo>
                  <a:pt x="1091565" y="2600960"/>
                </a:moveTo>
                <a:lnTo>
                  <a:pt x="0" y="2600960"/>
                </a:lnTo>
                <a:lnTo>
                  <a:pt x="0" y="2762885"/>
                </a:lnTo>
                <a:lnTo>
                  <a:pt x="1091565" y="2762885"/>
                </a:lnTo>
                <a:lnTo>
                  <a:pt x="1091565" y="2600960"/>
                </a:lnTo>
                <a:close/>
              </a:path>
              <a:path w="2102485" h="4225925">
                <a:moveTo>
                  <a:pt x="1175385" y="1625600"/>
                </a:moveTo>
                <a:lnTo>
                  <a:pt x="0" y="1625600"/>
                </a:lnTo>
                <a:lnTo>
                  <a:pt x="0" y="1787525"/>
                </a:lnTo>
                <a:lnTo>
                  <a:pt x="1175385" y="1787525"/>
                </a:lnTo>
                <a:lnTo>
                  <a:pt x="1175385" y="1625600"/>
                </a:lnTo>
                <a:close/>
              </a:path>
              <a:path w="2102485" h="4225925">
                <a:moveTo>
                  <a:pt x="1344295" y="1463040"/>
                </a:moveTo>
                <a:lnTo>
                  <a:pt x="0" y="1463040"/>
                </a:lnTo>
                <a:lnTo>
                  <a:pt x="0" y="1624965"/>
                </a:lnTo>
                <a:lnTo>
                  <a:pt x="1344295" y="1624965"/>
                </a:lnTo>
                <a:lnTo>
                  <a:pt x="1344295" y="1463040"/>
                </a:lnTo>
                <a:close/>
              </a:path>
              <a:path w="2102485" h="4225925">
                <a:moveTo>
                  <a:pt x="1428115" y="3576320"/>
                </a:moveTo>
                <a:lnTo>
                  <a:pt x="0" y="3576320"/>
                </a:lnTo>
                <a:lnTo>
                  <a:pt x="0" y="3738245"/>
                </a:lnTo>
                <a:lnTo>
                  <a:pt x="1428115" y="3738245"/>
                </a:lnTo>
                <a:lnTo>
                  <a:pt x="1428115" y="3576320"/>
                </a:lnTo>
                <a:close/>
              </a:path>
              <a:path w="2102485" h="4225925">
                <a:moveTo>
                  <a:pt x="1428115" y="812800"/>
                </a:moveTo>
                <a:lnTo>
                  <a:pt x="0" y="812800"/>
                </a:lnTo>
                <a:lnTo>
                  <a:pt x="0" y="974725"/>
                </a:lnTo>
                <a:lnTo>
                  <a:pt x="1428115" y="974725"/>
                </a:lnTo>
                <a:lnTo>
                  <a:pt x="1428115" y="812800"/>
                </a:lnTo>
                <a:close/>
              </a:path>
              <a:path w="2102485" h="4225925">
                <a:moveTo>
                  <a:pt x="1429385" y="2438400"/>
                </a:moveTo>
                <a:lnTo>
                  <a:pt x="0" y="2438400"/>
                </a:lnTo>
                <a:lnTo>
                  <a:pt x="0" y="2600325"/>
                </a:lnTo>
                <a:lnTo>
                  <a:pt x="1429385" y="2600325"/>
                </a:lnTo>
                <a:lnTo>
                  <a:pt x="1429385" y="2438400"/>
                </a:lnTo>
                <a:close/>
              </a:path>
              <a:path w="2102485" h="4225925">
                <a:moveTo>
                  <a:pt x="1511935" y="975360"/>
                </a:moveTo>
                <a:lnTo>
                  <a:pt x="0" y="975360"/>
                </a:lnTo>
                <a:lnTo>
                  <a:pt x="0" y="1137285"/>
                </a:lnTo>
                <a:lnTo>
                  <a:pt x="1511935" y="1137285"/>
                </a:lnTo>
                <a:lnTo>
                  <a:pt x="1511935" y="975360"/>
                </a:lnTo>
                <a:close/>
              </a:path>
              <a:path w="2102485" h="4225925">
                <a:moveTo>
                  <a:pt x="1511935" y="650240"/>
                </a:moveTo>
                <a:lnTo>
                  <a:pt x="0" y="650240"/>
                </a:lnTo>
                <a:lnTo>
                  <a:pt x="0" y="812165"/>
                </a:lnTo>
                <a:lnTo>
                  <a:pt x="1511935" y="812165"/>
                </a:lnTo>
                <a:lnTo>
                  <a:pt x="1511935" y="650240"/>
                </a:lnTo>
                <a:close/>
              </a:path>
              <a:path w="2102485" h="4225925">
                <a:moveTo>
                  <a:pt x="1511935" y="487680"/>
                </a:moveTo>
                <a:lnTo>
                  <a:pt x="0" y="487680"/>
                </a:lnTo>
                <a:lnTo>
                  <a:pt x="0" y="649605"/>
                </a:lnTo>
                <a:lnTo>
                  <a:pt x="1511935" y="649605"/>
                </a:lnTo>
                <a:lnTo>
                  <a:pt x="1511935" y="487680"/>
                </a:lnTo>
                <a:close/>
              </a:path>
              <a:path w="2102485" h="4225925">
                <a:moveTo>
                  <a:pt x="1511935" y="325120"/>
                </a:moveTo>
                <a:lnTo>
                  <a:pt x="0" y="325120"/>
                </a:lnTo>
                <a:lnTo>
                  <a:pt x="0" y="487045"/>
                </a:lnTo>
                <a:lnTo>
                  <a:pt x="1511935" y="487045"/>
                </a:lnTo>
                <a:lnTo>
                  <a:pt x="1511935" y="325120"/>
                </a:lnTo>
                <a:close/>
              </a:path>
              <a:path w="2102485" h="4225925">
                <a:moveTo>
                  <a:pt x="1513205" y="2275840"/>
                </a:moveTo>
                <a:lnTo>
                  <a:pt x="0" y="2275840"/>
                </a:lnTo>
                <a:lnTo>
                  <a:pt x="0" y="2437765"/>
                </a:lnTo>
                <a:lnTo>
                  <a:pt x="1513205" y="2437765"/>
                </a:lnTo>
                <a:lnTo>
                  <a:pt x="1513205" y="2275840"/>
                </a:lnTo>
                <a:close/>
              </a:path>
              <a:path w="2102485" h="4225925">
                <a:moveTo>
                  <a:pt x="1597025" y="1300480"/>
                </a:moveTo>
                <a:lnTo>
                  <a:pt x="0" y="1300480"/>
                </a:lnTo>
                <a:lnTo>
                  <a:pt x="0" y="1462405"/>
                </a:lnTo>
                <a:lnTo>
                  <a:pt x="1597025" y="1462405"/>
                </a:lnTo>
                <a:lnTo>
                  <a:pt x="1597025" y="1300480"/>
                </a:lnTo>
                <a:close/>
              </a:path>
              <a:path w="2102485" h="4225925">
                <a:moveTo>
                  <a:pt x="1680845" y="162560"/>
                </a:moveTo>
                <a:lnTo>
                  <a:pt x="0" y="162560"/>
                </a:lnTo>
                <a:lnTo>
                  <a:pt x="0" y="324485"/>
                </a:lnTo>
                <a:lnTo>
                  <a:pt x="1680845" y="324485"/>
                </a:lnTo>
                <a:lnTo>
                  <a:pt x="1680845" y="162560"/>
                </a:lnTo>
                <a:close/>
              </a:path>
              <a:path w="2102485" h="4225925">
                <a:moveTo>
                  <a:pt x="1764665" y="3413760"/>
                </a:moveTo>
                <a:lnTo>
                  <a:pt x="0" y="3413760"/>
                </a:lnTo>
                <a:lnTo>
                  <a:pt x="0" y="3575685"/>
                </a:lnTo>
                <a:lnTo>
                  <a:pt x="1764665" y="3575685"/>
                </a:lnTo>
                <a:lnTo>
                  <a:pt x="1764665" y="3413760"/>
                </a:lnTo>
                <a:close/>
              </a:path>
              <a:path w="2102485" h="4225925">
                <a:moveTo>
                  <a:pt x="1764665" y="1137920"/>
                </a:moveTo>
                <a:lnTo>
                  <a:pt x="0" y="1137920"/>
                </a:lnTo>
                <a:lnTo>
                  <a:pt x="0" y="1299845"/>
                </a:lnTo>
                <a:lnTo>
                  <a:pt x="1764665" y="1299845"/>
                </a:lnTo>
                <a:lnTo>
                  <a:pt x="1764665" y="1137920"/>
                </a:lnTo>
                <a:close/>
              </a:path>
              <a:path w="2102485" h="4225925">
                <a:moveTo>
                  <a:pt x="1848485" y="0"/>
                </a:moveTo>
                <a:lnTo>
                  <a:pt x="0" y="0"/>
                </a:lnTo>
                <a:lnTo>
                  <a:pt x="0" y="161925"/>
                </a:lnTo>
                <a:lnTo>
                  <a:pt x="1848485" y="161925"/>
                </a:lnTo>
                <a:lnTo>
                  <a:pt x="1848485" y="0"/>
                </a:lnTo>
                <a:close/>
              </a:path>
              <a:path w="2102485" h="4225925">
                <a:moveTo>
                  <a:pt x="1849755" y="3738880"/>
                </a:moveTo>
                <a:lnTo>
                  <a:pt x="0" y="3738880"/>
                </a:lnTo>
                <a:lnTo>
                  <a:pt x="0" y="3900805"/>
                </a:lnTo>
                <a:lnTo>
                  <a:pt x="1849755" y="3900805"/>
                </a:lnTo>
                <a:lnTo>
                  <a:pt x="1849755" y="3738880"/>
                </a:lnTo>
                <a:close/>
              </a:path>
              <a:path w="2102485" h="4225925">
                <a:moveTo>
                  <a:pt x="1849755" y="2763520"/>
                </a:moveTo>
                <a:lnTo>
                  <a:pt x="0" y="2763520"/>
                </a:lnTo>
                <a:lnTo>
                  <a:pt x="0" y="2925445"/>
                </a:lnTo>
                <a:lnTo>
                  <a:pt x="1849755" y="2925445"/>
                </a:lnTo>
                <a:lnTo>
                  <a:pt x="1849755" y="2763520"/>
                </a:lnTo>
                <a:close/>
              </a:path>
              <a:path w="2102485" h="4225925">
                <a:moveTo>
                  <a:pt x="1933575" y="3088640"/>
                </a:moveTo>
                <a:lnTo>
                  <a:pt x="0" y="3088640"/>
                </a:lnTo>
                <a:lnTo>
                  <a:pt x="0" y="3250565"/>
                </a:lnTo>
                <a:lnTo>
                  <a:pt x="1933575" y="3250565"/>
                </a:lnTo>
                <a:lnTo>
                  <a:pt x="1933575" y="3088640"/>
                </a:lnTo>
                <a:close/>
              </a:path>
              <a:path w="2102485" h="4225925">
                <a:moveTo>
                  <a:pt x="1933575" y="1788160"/>
                </a:moveTo>
                <a:lnTo>
                  <a:pt x="0" y="1788160"/>
                </a:lnTo>
                <a:lnTo>
                  <a:pt x="0" y="1950085"/>
                </a:lnTo>
                <a:lnTo>
                  <a:pt x="1933575" y="1950085"/>
                </a:lnTo>
                <a:lnTo>
                  <a:pt x="1933575" y="1788160"/>
                </a:lnTo>
                <a:close/>
              </a:path>
              <a:path w="2102485" h="4225925">
                <a:moveTo>
                  <a:pt x="2017395" y="3901440"/>
                </a:moveTo>
                <a:lnTo>
                  <a:pt x="0" y="3901440"/>
                </a:lnTo>
                <a:lnTo>
                  <a:pt x="0" y="4063365"/>
                </a:lnTo>
                <a:lnTo>
                  <a:pt x="2017395" y="4063365"/>
                </a:lnTo>
                <a:lnTo>
                  <a:pt x="2017395" y="3901440"/>
                </a:lnTo>
                <a:close/>
              </a:path>
              <a:path w="2102485" h="4225925">
                <a:moveTo>
                  <a:pt x="2017395" y="3251200"/>
                </a:moveTo>
                <a:lnTo>
                  <a:pt x="0" y="3251200"/>
                </a:lnTo>
                <a:lnTo>
                  <a:pt x="0" y="3413125"/>
                </a:lnTo>
                <a:lnTo>
                  <a:pt x="2017395" y="3413125"/>
                </a:lnTo>
                <a:lnTo>
                  <a:pt x="2017395" y="3251200"/>
                </a:lnTo>
                <a:close/>
              </a:path>
              <a:path w="2102485" h="4225925">
                <a:moveTo>
                  <a:pt x="2017395" y="2926080"/>
                </a:moveTo>
                <a:lnTo>
                  <a:pt x="0" y="2926080"/>
                </a:lnTo>
                <a:lnTo>
                  <a:pt x="0" y="3088005"/>
                </a:lnTo>
                <a:lnTo>
                  <a:pt x="2017395" y="3088005"/>
                </a:lnTo>
                <a:lnTo>
                  <a:pt x="2017395" y="2926080"/>
                </a:lnTo>
                <a:close/>
              </a:path>
              <a:path w="2102485" h="4225925">
                <a:moveTo>
                  <a:pt x="2017395" y="2113280"/>
                </a:moveTo>
                <a:lnTo>
                  <a:pt x="0" y="2113280"/>
                </a:lnTo>
                <a:lnTo>
                  <a:pt x="0" y="2275205"/>
                </a:lnTo>
                <a:lnTo>
                  <a:pt x="2017395" y="2275205"/>
                </a:lnTo>
                <a:lnTo>
                  <a:pt x="2017395" y="2113280"/>
                </a:lnTo>
                <a:close/>
              </a:path>
              <a:path w="2102485" h="4225925">
                <a:moveTo>
                  <a:pt x="2101215" y="4064000"/>
                </a:moveTo>
                <a:lnTo>
                  <a:pt x="0" y="4064000"/>
                </a:lnTo>
                <a:lnTo>
                  <a:pt x="0" y="4225925"/>
                </a:lnTo>
                <a:lnTo>
                  <a:pt x="2101215" y="4225925"/>
                </a:lnTo>
                <a:lnTo>
                  <a:pt x="2101215" y="4064000"/>
                </a:lnTo>
                <a:close/>
              </a:path>
              <a:path w="2102485" h="4225925">
                <a:moveTo>
                  <a:pt x="2102485" y="1950720"/>
                </a:moveTo>
                <a:lnTo>
                  <a:pt x="0" y="1950720"/>
                </a:lnTo>
                <a:lnTo>
                  <a:pt x="0" y="2112645"/>
                </a:lnTo>
                <a:lnTo>
                  <a:pt x="2102485" y="2112645"/>
                </a:lnTo>
                <a:lnTo>
                  <a:pt x="2102485" y="195072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50264" y="916305"/>
            <a:ext cx="6073140" cy="4356100"/>
          </a:xfrm>
          <a:prstGeom prst="rect">
            <a:avLst/>
          </a:prstGeom>
          <a:ln w="3175">
            <a:solidFill>
              <a:srgbClr val="E2E2E2"/>
            </a:solidFill>
          </a:ln>
        </p:spPr>
        <p:txBody>
          <a:bodyPr vert="horz" wrap="square" lIns="0" tIns="55244" rIns="0" bIns="0" rtlCol="0">
            <a:spAutoFit/>
          </a:bodyPr>
          <a:lstStyle/>
          <a:p>
            <a:pPr marL="316865" indent="-252095">
              <a:lnSpc>
                <a:spcPts val="1300"/>
              </a:lnSpc>
              <a:spcBef>
                <a:spcPts val="434"/>
              </a:spcBef>
              <a:buAutoNum type="arabicPeriod" startAt="2"/>
              <a:tabLst>
                <a:tab pos="316865" algn="l"/>
              </a:tabLst>
            </a:pPr>
            <a:r>
              <a:rPr sz="1100" dirty="0">
                <a:latin typeface="Courier New"/>
                <a:cs typeface="Courier New"/>
              </a:rPr>
              <a:t>"Grapevine</a:t>
            </a:r>
            <a:r>
              <a:rPr sz="1100" spc="-10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Estates"</a:t>
            </a:r>
            <a:endParaRPr sz="1100">
              <a:latin typeface="Courier New"/>
              <a:cs typeface="Courier New"/>
            </a:endParaRPr>
          </a:p>
          <a:p>
            <a:pPr marL="316865" indent="-252095">
              <a:lnSpc>
                <a:spcPts val="1280"/>
              </a:lnSpc>
              <a:buAutoNum type="arabicPeriod" startAt="2"/>
              <a:tabLst>
                <a:tab pos="316865" algn="l"/>
              </a:tabLst>
            </a:pPr>
            <a:r>
              <a:rPr sz="1100" dirty="0">
                <a:latin typeface="Courier New"/>
                <a:cs typeface="Courier New"/>
              </a:rPr>
              <a:t>"Sip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&amp;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Savor</a:t>
            </a:r>
            <a:r>
              <a:rPr sz="1100" spc="-20" dirty="0">
                <a:latin typeface="Courier New"/>
                <a:cs typeface="Courier New"/>
              </a:rPr>
              <a:t> Co."</a:t>
            </a:r>
            <a:endParaRPr sz="1100">
              <a:latin typeface="Courier New"/>
              <a:cs typeface="Courier New"/>
            </a:endParaRPr>
          </a:p>
          <a:p>
            <a:pPr marL="316865" indent="-252095">
              <a:lnSpc>
                <a:spcPts val="1280"/>
              </a:lnSpc>
              <a:buAutoNum type="arabicPeriod" startAt="2"/>
              <a:tabLst>
                <a:tab pos="316865" algn="l"/>
              </a:tabLst>
            </a:pPr>
            <a:r>
              <a:rPr sz="1100" dirty="0">
                <a:latin typeface="Courier New"/>
                <a:cs typeface="Courier New"/>
              </a:rPr>
              <a:t>"Vintage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Vines"</a:t>
            </a:r>
            <a:endParaRPr sz="1100">
              <a:latin typeface="Courier New"/>
              <a:cs typeface="Courier New"/>
            </a:endParaRPr>
          </a:p>
          <a:p>
            <a:pPr marL="316865" indent="-252095">
              <a:lnSpc>
                <a:spcPts val="1280"/>
              </a:lnSpc>
              <a:buAutoNum type="arabicPeriod" startAt="2"/>
              <a:tabLst>
                <a:tab pos="316865" algn="l"/>
              </a:tabLst>
            </a:pPr>
            <a:r>
              <a:rPr sz="1100" dirty="0">
                <a:latin typeface="Courier New"/>
                <a:cs typeface="Courier New"/>
              </a:rPr>
              <a:t>"Corks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&amp;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Casks"</a:t>
            </a:r>
            <a:endParaRPr sz="1100">
              <a:latin typeface="Courier New"/>
              <a:cs typeface="Courier New"/>
            </a:endParaRPr>
          </a:p>
          <a:p>
            <a:pPr marL="316865" indent="-252095">
              <a:lnSpc>
                <a:spcPts val="1280"/>
              </a:lnSpc>
              <a:buAutoNum type="arabicPeriod" startAt="2"/>
              <a:tabLst>
                <a:tab pos="316865" algn="l"/>
              </a:tabLst>
            </a:pPr>
            <a:r>
              <a:rPr sz="1100" dirty="0">
                <a:latin typeface="Courier New"/>
                <a:cs typeface="Courier New"/>
              </a:rPr>
              <a:t>"Harvest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Haven"</a:t>
            </a:r>
            <a:endParaRPr sz="1100">
              <a:latin typeface="Courier New"/>
              <a:cs typeface="Courier New"/>
            </a:endParaRPr>
          </a:p>
          <a:p>
            <a:pPr marL="316865" indent="-252095">
              <a:lnSpc>
                <a:spcPts val="1280"/>
              </a:lnSpc>
              <a:buAutoNum type="arabicPeriod" startAt="2"/>
              <a:tabLst>
                <a:tab pos="316865" algn="l"/>
              </a:tabLst>
            </a:pPr>
            <a:r>
              <a:rPr sz="1100" spc="-10" dirty="0">
                <a:latin typeface="Courier New"/>
                <a:cs typeface="Courier New"/>
              </a:rPr>
              <a:t>"WineCrafters"</a:t>
            </a:r>
            <a:endParaRPr sz="1100">
              <a:latin typeface="Courier New"/>
              <a:cs typeface="Courier New"/>
            </a:endParaRPr>
          </a:p>
          <a:p>
            <a:pPr marL="316865" indent="-252095">
              <a:lnSpc>
                <a:spcPts val="1280"/>
              </a:lnSpc>
              <a:buAutoNum type="arabicPeriod" startAt="2"/>
              <a:tabLst>
                <a:tab pos="316865" algn="l"/>
              </a:tabLst>
            </a:pPr>
            <a:r>
              <a:rPr sz="1100" dirty="0">
                <a:latin typeface="Courier New"/>
                <a:cs typeface="Courier New"/>
              </a:rPr>
              <a:t>"Cellar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Select"</a:t>
            </a:r>
            <a:endParaRPr sz="1100">
              <a:latin typeface="Courier New"/>
              <a:cs typeface="Courier New"/>
            </a:endParaRPr>
          </a:p>
          <a:p>
            <a:pPr marL="316865" indent="-252095">
              <a:lnSpc>
                <a:spcPts val="1280"/>
              </a:lnSpc>
              <a:buAutoNum type="arabicPeriod" startAt="2"/>
              <a:tabLst>
                <a:tab pos="316865" algn="l"/>
              </a:tabLst>
            </a:pPr>
            <a:r>
              <a:rPr sz="1100" dirty="0">
                <a:latin typeface="Courier New"/>
                <a:cs typeface="Courier New"/>
              </a:rPr>
              <a:t>"Taste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of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Terroir"</a:t>
            </a:r>
            <a:endParaRPr sz="1100">
              <a:latin typeface="Courier New"/>
              <a:cs typeface="Courier New"/>
            </a:endParaRPr>
          </a:p>
          <a:p>
            <a:pPr marL="400050" indent="-335280">
              <a:lnSpc>
                <a:spcPts val="1280"/>
              </a:lnSpc>
              <a:buAutoNum type="arabicPeriod" startAt="2"/>
              <a:tabLst>
                <a:tab pos="400050" algn="l"/>
              </a:tabLst>
            </a:pPr>
            <a:r>
              <a:rPr sz="1100" dirty="0">
                <a:latin typeface="Courier New"/>
                <a:cs typeface="Courier New"/>
              </a:rPr>
              <a:t>"Crimson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Crush"</a:t>
            </a:r>
            <a:endParaRPr sz="1100">
              <a:latin typeface="Courier New"/>
              <a:cs typeface="Courier New"/>
            </a:endParaRPr>
          </a:p>
          <a:p>
            <a:pPr marL="400050" indent="-335280">
              <a:lnSpc>
                <a:spcPts val="1280"/>
              </a:lnSpc>
              <a:buAutoNum type="arabicPeriod" startAt="2"/>
              <a:tabLst>
                <a:tab pos="400050" algn="l"/>
              </a:tabLst>
            </a:pPr>
            <a:r>
              <a:rPr sz="1100" dirty="0">
                <a:latin typeface="Courier New"/>
                <a:cs typeface="Courier New"/>
              </a:rPr>
              <a:t>"Vino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Vista"</a:t>
            </a:r>
            <a:endParaRPr sz="1100">
              <a:latin typeface="Courier New"/>
              <a:cs typeface="Courier New"/>
            </a:endParaRPr>
          </a:p>
          <a:p>
            <a:pPr marL="400050" indent="-335280">
              <a:lnSpc>
                <a:spcPts val="1280"/>
              </a:lnSpc>
              <a:buAutoNum type="arabicPeriod" startAt="2"/>
              <a:tabLst>
                <a:tab pos="400050" algn="l"/>
              </a:tabLst>
            </a:pPr>
            <a:r>
              <a:rPr sz="1100" spc="-10" dirty="0">
                <a:latin typeface="Courier New"/>
                <a:cs typeface="Courier New"/>
              </a:rPr>
              <a:t>"WineWise"</a:t>
            </a:r>
            <a:endParaRPr sz="1100">
              <a:latin typeface="Courier New"/>
              <a:cs typeface="Courier New"/>
            </a:endParaRPr>
          </a:p>
          <a:p>
            <a:pPr marL="400050" indent="-335280">
              <a:lnSpc>
                <a:spcPts val="1280"/>
              </a:lnSpc>
              <a:buAutoNum type="arabicPeriod" startAt="2"/>
              <a:tabLst>
                <a:tab pos="400050" algn="l"/>
              </a:tabLst>
            </a:pPr>
            <a:r>
              <a:rPr sz="1100" dirty="0">
                <a:latin typeface="Courier New"/>
                <a:cs typeface="Courier New"/>
              </a:rPr>
              <a:t>"Grapevine</a:t>
            </a:r>
            <a:r>
              <a:rPr sz="1100" spc="-9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Gourmet"</a:t>
            </a:r>
            <a:endParaRPr sz="1100">
              <a:latin typeface="Courier New"/>
              <a:cs typeface="Courier New"/>
            </a:endParaRPr>
          </a:p>
          <a:p>
            <a:pPr marL="400050" indent="-335280">
              <a:lnSpc>
                <a:spcPts val="1280"/>
              </a:lnSpc>
              <a:buAutoNum type="arabicPeriod" startAt="2"/>
              <a:tabLst>
                <a:tab pos="400050" algn="l"/>
              </a:tabLst>
            </a:pPr>
            <a:r>
              <a:rPr sz="1100" dirty="0">
                <a:latin typeface="Courier New"/>
                <a:cs typeface="Courier New"/>
              </a:rPr>
              <a:t>"Bottle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&amp;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Barrel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Co."</a:t>
            </a:r>
            <a:endParaRPr sz="1100">
              <a:latin typeface="Courier New"/>
              <a:cs typeface="Courier New"/>
            </a:endParaRPr>
          </a:p>
          <a:p>
            <a:pPr marL="64769" marR="3983354" indent="335280">
              <a:lnSpc>
                <a:spcPts val="1280"/>
              </a:lnSpc>
              <a:spcBef>
                <a:spcPts val="55"/>
              </a:spcBef>
              <a:buAutoNum type="arabicPeriod" startAt="2"/>
              <a:tabLst>
                <a:tab pos="400050" algn="l"/>
              </a:tabLst>
            </a:pPr>
            <a:r>
              <a:rPr sz="1100" dirty="0">
                <a:latin typeface="Courier New"/>
                <a:cs typeface="Courier New"/>
              </a:rPr>
              <a:t>"Sommelier's</a:t>
            </a:r>
            <a:r>
              <a:rPr sz="1100" spc="-11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Choice" </a:t>
            </a:r>
            <a:r>
              <a:rPr sz="1100" dirty="0">
                <a:latin typeface="Courier New"/>
                <a:cs typeface="Courier New"/>
              </a:rPr>
              <a:t>"Vine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&amp;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Vines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Co." </a:t>
            </a:r>
            <a:r>
              <a:rPr sz="1100" dirty="0">
                <a:latin typeface="Courier New"/>
                <a:cs typeface="Courier New"/>
              </a:rPr>
              <a:t>Vintage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Vines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Co.</a:t>
            </a:r>
            <a:endParaRPr sz="1100">
              <a:latin typeface="Courier New"/>
              <a:cs typeface="Courier New"/>
            </a:endParaRPr>
          </a:p>
          <a:p>
            <a:pPr marL="316865" indent="-252095">
              <a:lnSpc>
                <a:spcPts val="1225"/>
              </a:lnSpc>
              <a:buAutoNum type="arabicPeriod"/>
              <a:tabLst>
                <a:tab pos="316865" algn="l"/>
              </a:tabLst>
            </a:pPr>
            <a:r>
              <a:rPr sz="1100" spc="-10" dirty="0">
                <a:latin typeface="Courier New"/>
                <a:cs typeface="Courier New"/>
              </a:rPr>
              <a:t>"VinoVine"</a:t>
            </a:r>
            <a:endParaRPr sz="1100">
              <a:latin typeface="Courier New"/>
              <a:cs typeface="Courier New"/>
            </a:endParaRPr>
          </a:p>
          <a:p>
            <a:pPr marL="316865" indent="-252095">
              <a:lnSpc>
                <a:spcPts val="1280"/>
              </a:lnSpc>
              <a:buAutoNum type="arabicPeriod"/>
              <a:tabLst>
                <a:tab pos="316865" algn="l"/>
              </a:tabLst>
            </a:pPr>
            <a:r>
              <a:rPr sz="1100" dirty="0">
                <a:latin typeface="Courier New"/>
                <a:cs typeface="Courier New"/>
              </a:rPr>
              <a:t>"Grape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&amp;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Glass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Co."</a:t>
            </a:r>
            <a:endParaRPr sz="1100">
              <a:latin typeface="Courier New"/>
              <a:cs typeface="Courier New"/>
            </a:endParaRPr>
          </a:p>
          <a:p>
            <a:pPr marL="316865" indent="-252095">
              <a:lnSpc>
                <a:spcPts val="1280"/>
              </a:lnSpc>
              <a:buAutoNum type="arabicPeriod"/>
              <a:tabLst>
                <a:tab pos="316865" algn="l"/>
              </a:tabLst>
            </a:pPr>
            <a:r>
              <a:rPr sz="1100" dirty="0">
                <a:latin typeface="Courier New"/>
                <a:cs typeface="Courier New"/>
              </a:rPr>
              <a:t>"Cork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&amp;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Vine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Company"</a:t>
            </a:r>
            <a:endParaRPr sz="1100">
              <a:latin typeface="Courier New"/>
              <a:cs typeface="Courier New"/>
            </a:endParaRPr>
          </a:p>
          <a:p>
            <a:pPr marL="316865" indent="-252095">
              <a:lnSpc>
                <a:spcPts val="1280"/>
              </a:lnSpc>
              <a:buAutoNum type="arabicPeriod"/>
              <a:tabLst>
                <a:tab pos="316865" algn="l"/>
              </a:tabLst>
            </a:pPr>
            <a:r>
              <a:rPr sz="1100" dirty="0">
                <a:latin typeface="Courier New"/>
                <a:cs typeface="Courier New"/>
              </a:rPr>
              <a:t>"Sip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&amp;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Savour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Wines"</a:t>
            </a:r>
            <a:endParaRPr sz="1100">
              <a:latin typeface="Courier New"/>
              <a:cs typeface="Courier New"/>
            </a:endParaRPr>
          </a:p>
          <a:p>
            <a:pPr marL="316865" indent="-252095">
              <a:lnSpc>
                <a:spcPts val="1280"/>
              </a:lnSpc>
              <a:buAutoNum type="arabicPeriod"/>
              <a:tabLst>
                <a:tab pos="316865" algn="l"/>
              </a:tabLst>
            </a:pPr>
            <a:r>
              <a:rPr sz="1100" dirty="0">
                <a:latin typeface="Courier New"/>
                <a:cs typeface="Courier New"/>
              </a:rPr>
              <a:t>"Vineyard</a:t>
            </a:r>
            <a:r>
              <a:rPr sz="1100" spc="-8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Selections"</a:t>
            </a:r>
            <a:endParaRPr sz="1100">
              <a:latin typeface="Courier New"/>
              <a:cs typeface="Courier New"/>
            </a:endParaRPr>
          </a:p>
          <a:p>
            <a:pPr marL="316865" indent="-252095">
              <a:lnSpc>
                <a:spcPts val="1280"/>
              </a:lnSpc>
              <a:buAutoNum type="arabicPeriod"/>
              <a:tabLst>
                <a:tab pos="316865" algn="l"/>
              </a:tabLst>
            </a:pPr>
            <a:r>
              <a:rPr sz="1100" dirty="0">
                <a:latin typeface="Courier New"/>
                <a:cs typeface="Courier New"/>
              </a:rPr>
              <a:t>"Taste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of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Terroir"</a:t>
            </a:r>
            <a:endParaRPr sz="1100">
              <a:latin typeface="Courier New"/>
              <a:cs typeface="Courier New"/>
            </a:endParaRPr>
          </a:p>
          <a:p>
            <a:pPr marL="316865" indent="-252095">
              <a:lnSpc>
                <a:spcPts val="1280"/>
              </a:lnSpc>
              <a:buAutoNum type="arabicPeriod"/>
              <a:tabLst>
                <a:tab pos="316865" algn="l"/>
              </a:tabLst>
            </a:pPr>
            <a:r>
              <a:rPr sz="1100" spc="-10" dirty="0">
                <a:latin typeface="Courier New"/>
                <a:cs typeface="Courier New"/>
              </a:rPr>
              <a:t>"WineCrafters"</a:t>
            </a:r>
            <a:endParaRPr sz="1100">
              <a:latin typeface="Courier New"/>
              <a:cs typeface="Courier New"/>
            </a:endParaRPr>
          </a:p>
          <a:p>
            <a:pPr marL="316865" indent="-252095">
              <a:lnSpc>
                <a:spcPts val="1280"/>
              </a:lnSpc>
              <a:buAutoNum type="arabicPeriod"/>
              <a:tabLst>
                <a:tab pos="316865" algn="l"/>
              </a:tabLst>
            </a:pPr>
            <a:r>
              <a:rPr sz="1100" dirty="0">
                <a:latin typeface="Courier New"/>
                <a:cs typeface="Courier New"/>
              </a:rPr>
              <a:t>"Vintage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Vines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Co."</a:t>
            </a:r>
            <a:endParaRPr sz="1100">
              <a:latin typeface="Courier New"/>
              <a:cs typeface="Courier New"/>
            </a:endParaRPr>
          </a:p>
          <a:p>
            <a:pPr marL="316865" indent="-252095">
              <a:lnSpc>
                <a:spcPts val="1280"/>
              </a:lnSpc>
              <a:buAutoNum type="arabicPeriod"/>
              <a:tabLst>
                <a:tab pos="316865" algn="l"/>
              </a:tabLst>
            </a:pPr>
            <a:r>
              <a:rPr sz="1100" dirty="0">
                <a:latin typeface="Courier New"/>
                <a:cs typeface="Courier New"/>
              </a:rPr>
              <a:t>"The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Wine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Cellar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Co."</a:t>
            </a:r>
            <a:endParaRPr sz="1100">
              <a:latin typeface="Courier New"/>
              <a:cs typeface="Courier New"/>
            </a:endParaRPr>
          </a:p>
          <a:p>
            <a:pPr marL="400050" indent="-335280">
              <a:lnSpc>
                <a:spcPts val="1300"/>
              </a:lnSpc>
              <a:buAutoNum type="arabicPeriod"/>
              <a:tabLst>
                <a:tab pos="400050" algn="l"/>
              </a:tabLst>
            </a:pPr>
            <a:r>
              <a:rPr sz="1100" dirty="0">
                <a:latin typeface="Courier New"/>
                <a:cs typeface="Courier New"/>
              </a:rPr>
              <a:t>"Bottled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Bliss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Wines"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02969" y="5562600"/>
            <a:ext cx="130302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35" dirty="0">
                <a:latin typeface="Arial"/>
                <a:cs typeface="Arial"/>
              </a:rPr>
              <a:t>Example</a:t>
            </a:r>
            <a:r>
              <a:rPr sz="2200" spc="-114" dirty="0">
                <a:latin typeface="Arial"/>
                <a:cs typeface="Arial"/>
              </a:rPr>
              <a:t> </a:t>
            </a:r>
            <a:r>
              <a:rPr sz="2200" spc="-50" dirty="0">
                <a:latin typeface="Arial"/>
                <a:cs typeface="Arial"/>
              </a:rPr>
              <a:t>2</a:t>
            </a:r>
            <a:endParaRPr sz="22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14400" y="7211059"/>
            <a:ext cx="5889625" cy="324485"/>
          </a:xfrm>
          <a:custGeom>
            <a:avLst/>
            <a:gdLst/>
            <a:ahLst/>
            <a:cxnLst/>
            <a:rect l="l" t="t" r="r" b="b"/>
            <a:pathLst>
              <a:path w="5889625" h="324484">
                <a:moveTo>
                  <a:pt x="5213985" y="162560"/>
                </a:moveTo>
                <a:lnTo>
                  <a:pt x="0" y="162560"/>
                </a:lnTo>
                <a:lnTo>
                  <a:pt x="0" y="324485"/>
                </a:lnTo>
                <a:lnTo>
                  <a:pt x="5213985" y="324485"/>
                </a:lnTo>
                <a:lnTo>
                  <a:pt x="5213985" y="162560"/>
                </a:lnTo>
                <a:close/>
              </a:path>
              <a:path w="5889625" h="324484">
                <a:moveTo>
                  <a:pt x="5889625" y="0"/>
                </a:moveTo>
                <a:lnTo>
                  <a:pt x="0" y="0"/>
                </a:lnTo>
                <a:lnTo>
                  <a:pt x="0" y="161925"/>
                </a:lnTo>
                <a:lnTo>
                  <a:pt x="5889625" y="161925"/>
                </a:lnTo>
                <a:lnTo>
                  <a:pt x="5889625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914400" y="8242300"/>
            <a:ext cx="1693545" cy="16192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'\n\n"Spice</a:t>
            </a:r>
            <a:r>
              <a:rPr sz="1100" spc="-10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Palace"'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50264" y="5916295"/>
            <a:ext cx="6073140" cy="3131820"/>
          </a:xfrm>
          <a:prstGeom prst="rect">
            <a:avLst/>
          </a:prstGeom>
          <a:ln w="3175">
            <a:solidFill>
              <a:srgbClr val="E2E2E2"/>
            </a:solidFill>
          </a:ln>
        </p:spPr>
        <p:txBody>
          <a:bodyPr vert="horz" wrap="square" lIns="0" tIns="64769" rIns="0" bIns="0" rtlCol="0">
            <a:spAutoFit/>
          </a:bodyPr>
          <a:lstStyle/>
          <a:p>
            <a:pPr marL="401320" marR="3305810" indent="-336550">
              <a:lnSpc>
                <a:spcPts val="1280"/>
              </a:lnSpc>
              <a:spcBef>
                <a:spcPts val="509"/>
              </a:spcBef>
            </a:pP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prompt_template=PromptTemplate( input_variables=[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'cuisine'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],</a:t>
            </a:r>
            <a:endParaRPr sz="1100">
              <a:latin typeface="Courier New"/>
              <a:cs typeface="Courier New"/>
            </a:endParaRPr>
          </a:p>
          <a:p>
            <a:pPr marL="64769" marR="194945" indent="335915">
              <a:lnSpc>
                <a:spcPts val="1280"/>
              </a:lnSpc>
            </a:pPr>
            <a:r>
              <a:rPr sz="1100" dirty="0">
                <a:solidFill>
                  <a:srgbClr val="1E1B1A"/>
                </a:solidFill>
                <a:latin typeface="Courier New"/>
                <a:cs typeface="Courier New"/>
              </a:rPr>
              <a:t>template=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"i</a:t>
            </a:r>
            <a:r>
              <a:rPr sz="1100" spc="-5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want</a:t>
            </a:r>
            <a:r>
              <a:rPr sz="1100" spc="-45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to</a:t>
            </a:r>
            <a:r>
              <a:rPr sz="1100" spc="-5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open</a:t>
            </a:r>
            <a:r>
              <a:rPr sz="1100" spc="-5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a</a:t>
            </a:r>
            <a:r>
              <a:rPr sz="1100" spc="-55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restaurent</a:t>
            </a:r>
            <a:r>
              <a:rPr sz="1100" spc="-4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for</a:t>
            </a:r>
            <a:r>
              <a:rPr sz="1100" spc="-4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3CADE8"/>
                </a:solidFill>
                <a:latin typeface="Courier New"/>
                <a:cs typeface="Courier New"/>
              </a:rPr>
              <a:t>{cuisine}</a:t>
            </a:r>
            <a:r>
              <a:rPr sz="1100" spc="-40" dirty="0">
                <a:solidFill>
                  <a:srgbClr val="3CADE8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food,</a:t>
            </a:r>
            <a:r>
              <a:rPr sz="1100" spc="-35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suggest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a</a:t>
            </a:r>
            <a:r>
              <a:rPr sz="1100" spc="-4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fency</a:t>
            </a:r>
            <a:r>
              <a:rPr sz="1100" spc="-2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name</a:t>
            </a:r>
            <a:r>
              <a:rPr sz="1100" spc="-25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for</a:t>
            </a:r>
            <a:r>
              <a:rPr sz="1100" spc="-3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this"</a:t>
            </a:r>
            <a:endParaRPr sz="1100">
              <a:latin typeface="Courier New"/>
              <a:cs typeface="Courier New"/>
            </a:endParaRPr>
          </a:p>
          <a:p>
            <a:pPr marL="64769">
              <a:lnSpc>
                <a:spcPts val="1245"/>
              </a:lnSpc>
            </a:pPr>
            <a:r>
              <a:rPr sz="1100" spc="-50" dirty="0">
                <a:solidFill>
                  <a:srgbClr val="1E1B1A"/>
                </a:solidFill>
                <a:latin typeface="Courier New"/>
                <a:cs typeface="Courier New"/>
              </a:rPr>
              <a:t>)</a:t>
            </a:r>
            <a:endParaRPr sz="1100">
              <a:latin typeface="Courier New"/>
              <a:cs typeface="Courier New"/>
            </a:endParaRPr>
          </a:p>
          <a:p>
            <a:pPr marL="64769">
              <a:lnSpc>
                <a:spcPct val="100000"/>
              </a:lnSpc>
              <a:spcBef>
                <a:spcPts val="960"/>
              </a:spcBef>
            </a:pP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prompt_template</a:t>
            </a:r>
            <a:endParaRPr sz="1100">
              <a:latin typeface="Courier New"/>
              <a:cs typeface="Courier New"/>
            </a:endParaRPr>
          </a:p>
          <a:p>
            <a:pPr marL="64769" marR="113030">
              <a:lnSpc>
                <a:spcPts val="1280"/>
              </a:lnSpc>
              <a:spcBef>
                <a:spcPts val="1035"/>
              </a:spcBef>
            </a:pPr>
            <a:r>
              <a:rPr sz="1100" spc="-10" dirty="0">
                <a:latin typeface="Courier New"/>
                <a:cs typeface="Courier New"/>
              </a:rPr>
              <a:t>PromptTemplate(input_variables=['cuisine'],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template='i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want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to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open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spc="-50" dirty="0">
                <a:latin typeface="Courier New"/>
                <a:cs typeface="Courier New"/>
              </a:rPr>
              <a:t>a </a:t>
            </a:r>
            <a:r>
              <a:rPr sz="1100" dirty="0">
                <a:latin typeface="Courier New"/>
                <a:cs typeface="Courier New"/>
              </a:rPr>
              <a:t>restaurent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for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{cuisine}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food,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suggest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fency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name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for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this')</a:t>
            </a:r>
            <a:endParaRPr sz="1100">
              <a:latin typeface="Courier New"/>
              <a:cs typeface="Courier New"/>
            </a:endParaRPr>
          </a:p>
          <a:p>
            <a:pPr marL="64769" marR="1793875">
              <a:lnSpc>
                <a:spcPts val="2280"/>
              </a:lnSpc>
              <a:spcBef>
                <a:spcPts val="200"/>
              </a:spcBef>
            </a:pP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chain=LLMChain(llm=client,</a:t>
            </a:r>
            <a:r>
              <a:rPr sz="1100" spc="35" dirty="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prompt=prompt_template) chain.run(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"indian"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)</a:t>
            </a:r>
            <a:endParaRPr sz="11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00"/>
              </a:spcBef>
            </a:pPr>
            <a:endParaRPr sz="1100">
              <a:latin typeface="Courier New"/>
              <a:cs typeface="Courier New"/>
            </a:endParaRPr>
          </a:p>
          <a:p>
            <a:pPr marL="64769" marR="781050">
              <a:lnSpc>
                <a:spcPct val="172700"/>
              </a:lnSpc>
            </a:pP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chain=LLMChain(llm=client,prompt=prompt_template,verbose=</a:t>
            </a:r>
            <a:r>
              <a:rPr sz="1100" spc="-10" dirty="0">
                <a:solidFill>
                  <a:srgbClr val="A95C00"/>
                </a:solidFill>
                <a:latin typeface="Courier New"/>
                <a:cs typeface="Courier New"/>
              </a:rPr>
              <a:t>True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) chain.run(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"american"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)</a:t>
            </a:r>
            <a:endParaRPr sz="11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47725" y="913764"/>
            <a:ext cx="6076950" cy="1680210"/>
          </a:xfrm>
          <a:custGeom>
            <a:avLst/>
            <a:gdLst/>
            <a:ahLst/>
            <a:cxnLst/>
            <a:rect l="l" t="t" r="r" b="b"/>
            <a:pathLst>
              <a:path w="6076950" h="1680210">
                <a:moveTo>
                  <a:pt x="6076950" y="0"/>
                </a:moveTo>
                <a:lnTo>
                  <a:pt x="0" y="0"/>
                </a:lnTo>
                <a:lnTo>
                  <a:pt x="0" y="1323340"/>
                </a:lnTo>
                <a:lnTo>
                  <a:pt x="0" y="1680210"/>
                </a:lnTo>
                <a:lnTo>
                  <a:pt x="6076950" y="1680210"/>
                </a:lnTo>
                <a:lnTo>
                  <a:pt x="6076950" y="1323340"/>
                </a:lnTo>
                <a:lnTo>
                  <a:pt x="6076950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47725" y="3178174"/>
            <a:ext cx="6076950" cy="5883910"/>
          </a:xfrm>
          <a:custGeom>
            <a:avLst/>
            <a:gdLst/>
            <a:ahLst/>
            <a:cxnLst/>
            <a:rect l="l" t="t" r="r" b="b"/>
            <a:pathLst>
              <a:path w="6076950" h="5883909">
                <a:moveTo>
                  <a:pt x="6076950" y="0"/>
                </a:moveTo>
                <a:lnTo>
                  <a:pt x="0" y="0"/>
                </a:lnTo>
                <a:lnTo>
                  <a:pt x="0" y="878840"/>
                </a:lnTo>
                <a:lnTo>
                  <a:pt x="0" y="1168400"/>
                </a:lnTo>
                <a:lnTo>
                  <a:pt x="0" y="5883910"/>
                </a:lnTo>
                <a:lnTo>
                  <a:pt x="6076950" y="5883910"/>
                </a:lnTo>
                <a:lnTo>
                  <a:pt x="6076950" y="878840"/>
                </a:lnTo>
                <a:lnTo>
                  <a:pt x="6076950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14400" y="1277619"/>
            <a:ext cx="5635625" cy="649605"/>
          </a:xfrm>
          <a:custGeom>
            <a:avLst/>
            <a:gdLst/>
            <a:ahLst/>
            <a:cxnLst/>
            <a:rect l="l" t="t" r="r" b="b"/>
            <a:pathLst>
              <a:path w="5635625" h="649605">
                <a:moveTo>
                  <a:pt x="671195" y="487680"/>
                </a:moveTo>
                <a:lnTo>
                  <a:pt x="0" y="487680"/>
                </a:lnTo>
                <a:lnTo>
                  <a:pt x="0" y="649605"/>
                </a:lnTo>
                <a:lnTo>
                  <a:pt x="671195" y="649605"/>
                </a:lnTo>
                <a:lnTo>
                  <a:pt x="671195" y="487680"/>
                </a:lnTo>
                <a:close/>
              </a:path>
              <a:path w="5635625" h="649605">
                <a:moveTo>
                  <a:pt x="2017395" y="162560"/>
                </a:moveTo>
                <a:lnTo>
                  <a:pt x="0" y="162560"/>
                </a:lnTo>
                <a:lnTo>
                  <a:pt x="0" y="324485"/>
                </a:lnTo>
                <a:lnTo>
                  <a:pt x="2017395" y="324485"/>
                </a:lnTo>
                <a:lnTo>
                  <a:pt x="2017395" y="162560"/>
                </a:lnTo>
                <a:close/>
              </a:path>
              <a:path w="5635625" h="649605">
                <a:moveTo>
                  <a:pt x="2690495" y="0"/>
                </a:moveTo>
                <a:lnTo>
                  <a:pt x="0" y="0"/>
                </a:lnTo>
                <a:lnTo>
                  <a:pt x="0" y="161925"/>
                </a:lnTo>
                <a:lnTo>
                  <a:pt x="2690495" y="161925"/>
                </a:lnTo>
                <a:lnTo>
                  <a:pt x="2690495" y="0"/>
                </a:lnTo>
                <a:close/>
              </a:path>
              <a:path w="5635625" h="649605">
                <a:moveTo>
                  <a:pt x="5635625" y="325120"/>
                </a:moveTo>
                <a:lnTo>
                  <a:pt x="0" y="325120"/>
                </a:lnTo>
                <a:lnTo>
                  <a:pt x="0" y="487045"/>
                </a:lnTo>
                <a:lnTo>
                  <a:pt x="5635625" y="487045"/>
                </a:lnTo>
                <a:lnTo>
                  <a:pt x="5635625" y="32512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50264" y="916305"/>
            <a:ext cx="6073140" cy="1676400"/>
          </a:xfrm>
          <a:prstGeom prst="rect">
            <a:avLst/>
          </a:prstGeom>
          <a:ln w="3175">
            <a:solidFill>
              <a:srgbClr val="E2E2E2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10"/>
              </a:spcBef>
            </a:pPr>
            <a:endParaRPr sz="1100">
              <a:latin typeface="Times New Roman"/>
              <a:cs typeface="Times New Roman"/>
            </a:endParaRPr>
          </a:p>
          <a:p>
            <a:pPr marL="64769" marR="3310254" indent="167005">
              <a:lnSpc>
                <a:spcPts val="1280"/>
              </a:lnSpc>
              <a:buChar char="&gt;"/>
              <a:tabLst>
                <a:tab pos="231775" algn="l"/>
              </a:tabLst>
            </a:pPr>
            <a:r>
              <a:rPr sz="1100" dirty="0">
                <a:latin typeface="Courier New"/>
                <a:cs typeface="Courier New"/>
              </a:rPr>
              <a:t>Entering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new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LLMChain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chain... </a:t>
            </a:r>
            <a:r>
              <a:rPr sz="1100" dirty="0">
                <a:latin typeface="Courier New"/>
                <a:cs typeface="Courier New"/>
              </a:rPr>
              <a:t>Prompt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after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formatting:</a:t>
            </a:r>
            <a:endParaRPr sz="1100">
              <a:latin typeface="Courier New"/>
              <a:cs typeface="Courier New"/>
            </a:endParaRPr>
          </a:p>
          <a:p>
            <a:pPr marL="64769" marR="365125">
              <a:lnSpc>
                <a:spcPts val="1280"/>
              </a:lnSpc>
            </a:pPr>
            <a:r>
              <a:rPr sz="1100" dirty="0">
                <a:latin typeface="Courier New"/>
                <a:cs typeface="Courier New"/>
              </a:rPr>
              <a:t>i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want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to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open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restaurent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for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american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food,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suggest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fency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name </a:t>
            </a:r>
            <a:r>
              <a:rPr sz="1100" dirty="0">
                <a:latin typeface="Courier New"/>
                <a:cs typeface="Courier New"/>
              </a:rPr>
              <a:t>for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this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4400" y="2075179"/>
            <a:ext cx="1440815" cy="16192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167640" indent="-167005">
              <a:lnSpc>
                <a:spcPts val="1240"/>
              </a:lnSpc>
              <a:buChar char="&gt;"/>
              <a:tabLst>
                <a:tab pos="167640" algn="l"/>
              </a:tabLst>
            </a:pPr>
            <a:r>
              <a:rPr sz="1100" dirty="0">
                <a:latin typeface="Courier New"/>
                <a:cs typeface="Courier New"/>
              </a:rPr>
              <a:t>Finished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chain.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14400" y="2364739"/>
            <a:ext cx="2115185" cy="16192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'\n\n"Stateside</a:t>
            </a:r>
            <a:r>
              <a:rPr sz="1100" spc="-10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Bistro"</a:t>
            </a:r>
            <a:r>
              <a:rPr sz="1100" spc="-100" dirty="0">
                <a:latin typeface="Courier New"/>
                <a:cs typeface="Courier New"/>
              </a:rPr>
              <a:t> </a:t>
            </a:r>
            <a:r>
              <a:rPr sz="1100" spc="-50" dirty="0">
                <a:latin typeface="Courier New"/>
                <a:cs typeface="Courier New"/>
              </a:rPr>
              <a:t>'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02969" y="2705100"/>
            <a:ext cx="5953125" cy="35852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500" spc="60" dirty="0">
                <a:latin typeface="Arial"/>
                <a:cs typeface="Arial"/>
              </a:rPr>
              <a:t>if</a:t>
            </a:r>
            <a:r>
              <a:rPr sz="1500" spc="-3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we</a:t>
            </a:r>
            <a:r>
              <a:rPr sz="1500" spc="-3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want</a:t>
            </a:r>
            <a:r>
              <a:rPr sz="1500" spc="-20" dirty="0">
                <a:latin typeface="Arial"/>
                <a:cs typeface="Arial"/>
              </a:rPr>
              <a:t> </a:t>
            </a:r>
            <a:r>
              <a:rPr sz="1500" spc="65" dirty="0">
                <a:latin typeface="Arial"/>
                <a:cs typeface="Arial"/>
              </a:rPr>
              <a:t>to</a:t>
            </a:r>
            <a:r>
              <a:rPr sz="1500" spc="-3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combine</a:t>
            </a:r>
            <a:r>
              <a:rPr sz="1500" spc="-3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multiple</a:t>
            </a:r>
            <a:r>
              <a:rPr sz="1500" spc="-25" dirty="0">
                <a:latin typeface="Arial"/>
                <a:cs typeface="Arial"/>
              </a:rPr>
              <a:t> </a:t>
            </a:r>
            <a:r>
              <a:rPr sz="1500" spc="-20" dirty="0">
                <a:latin typeface="Arial"/>
                <a:cs typeface="Arial"/>
              </a:rPr>
              <a:t>chain</a:t>
            </a:r>
            <a:r>
              <a:rPr sz="1500" spc="-35" dirty="0">
                <a:latin typeface="Arial"/>
                <a:cs typeface="Arial"/>
              </a:rPr>
              <a:t> </a:t>
            </a:r>
            <a:r>
              <a:rPr sz="1500" spc="-25" dirty="0">
                <a:latin typeface="Arial"/>
                <a:cs typeface="Arial"/>
              </a:rPr>
              <a:t>and </a:t>
            </a:r>
            <a:r>
              <a:rPr sz="1500" dirty="0">
                <a:latin typeface="Arial"/>
                <a:cs typeface="Arial"/>
              </a:rPr>
              <a:t>set</a:t>
            </a:r>
            <a:r>
              <a:rPr sz="1500" spc="-30" dirty="0">
                <a:latin typeface="Arial"/>
                <a:cs typeface="Arial"/>
              </a:rPr>
              <a:t> </a:t>
            </a:r>
            <a:r>
              <a:rPr sz="1500" spc="-85" dirty="0">
                <a:latin typeface="Arial"/>
                <a:cs typeface="Arial"/>
              </a:rPr>
              <a:t>a</a:t>
            </a:r>
            <a:r>
              <a:rPr sz="1500" spc="-35" dirty="0">
                <a:latin typeface="Arial"/>
                <a:cs typeface="Arial"/>
              </a:rPr>
              <a:t> </a:t>
            </a:r>
            <a:r>
              <a:rPr sz="1500" spc="-40" dirty="0">
                <a:latin typeface="Arial"/>
                <a:cs typeface="Arial"/>
              </a:rPr>
              <a:t>seqence</a:t>
            </a:r>
            <a:r>
              <a:rPr sz="1500" spc="-25" dirty="0">
                <a:latin typeface="Arial"/>
                <a:cs typeface="Arial"/>
              </a:rPr>
              <a:t> </a:t>
            </a:r>
            <a:r>
              <a:rPr sz="1500" spc="50" dirty="0">
                <a:latin typeface="Arial"/>
                <a:cs typeface="Arial"/>
              </a:rPr>
              <a:t>for</a:t>
            </a:r>
            <a:r>
              <a:rPr sz="1500" spc="-25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that</a:t>
            </a:r>
            <a:r>
              <a:rPr sz="1500" spc="-30" dirty="0">
                <a:latin typeface="Arial"/>
                <a:cs typeface="Arial"/>
              </a:rPr>
              <a:t> </a:t>
            </a:r>
            <a:r>
              <a:rPr sz="1500" dirty="0">
                <a:latin typeface="Arial"/>
                <a:cs typeface="Arial"/>
              </a:rPr>
              <a:t>we</a:t>
            </a:r>
            <a:r>
              <a:rPr sz="1500" spc="-30" dirty="0">
                <a:latin typeface="Arial"/>
                <a:cs typeface="Arial"/>
              </a:rPr>
              <a:t> </a:t>
            </a:r>
            <a:r>
              <a:rPr sz="1500" spc="-25" dirty="0">
                <a:latin typeface="Arial"/>
                <a:cs typeface="Arial"/>
              </a:rPr>
              <a:t>use </a:t>
            </a:r>
            <a:r>
              <a:rPr sz="1500" dirty="0">
                <a:latin typeface="Arial"/>
                <a:cs typeface="Arial"/>
              </a:rPr>
              <a:t>simplesequential</a:t>
            </a:r>
            <a:r>
              <a:rPr sz="1500" spc="-40" dirty="0">
                <a:latin typeface="Arial"/>
                <a:cs typeface="Arial"/>
              </a:rPr>
              <a:t> </a:t>
            </a:r>
            <a:r>
              <a:rPr sz="1500" spc="-10" dirty="0">
                <a:latin typeface="Arial"/>
                <a:cs typeface="Arial"/>
              </a:rPr>
              <a:t>chain</a:t>
            </a:r>
            <a:endParaRPr sz="1500">
              <a:latin typeface="Arial"/>
              <a:cs typeface="Arial"/>
            </a:endParaRPr>
          </a:p>
          <a:p>
            <a:pPr marL="12700" marR="2904490">
              <a:lnSpc>
                <a:spcPts val="1280"/>
              </a:lnSpc>
              <a:spcBef>
                <a:spcPts val="545"/>
              </a:spcBef>
            </a:pP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prompt_template_name=PromptTemplate( input_variables=[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"startup_name"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],</a:t>
            </a:r>
            <a:endParaRPr sz="1100">
              <a:latin typeface="Courier New"/>
              <a:cs typeface="Courier New"/>
            </a:endParaRPr>
          </a:p>
          <a:p>
            <a:pPr marL="12700" marR="213360" indent="335915">
              <a:lnSpc>
                <a:spcPts val="1280"/>
              </a:lnSpc>
            </a:pPr>
            <a:r>
              <a:rPr sz="1100" dirty="0">
                <a:solidFill>
                  <a:srgbClr val="1E1B1A"/>
                </a:solidFill>
                <a:latin typeface="Courier New"/>
                <a:cs typeface="Courier New"/>
              </a:rPr>
              <a:t>template=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"I</a:t>
            </a:r>
            <a:r>
              <a:rPr sz="1100" spc="-4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want</a:t>
            </a:r>
            <a:r>
              <a:rPr sz="1100" spc="-35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to</a:t>
            </a:r>
            <a:r>
              <a:rPr sz="1100" spc="-35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start</a:t>
            </a:r>
            <a:r>
              <a:rPr sz="1100" spc="-4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a</a:t>
            </a:r>
            <a:r>
              <a:rPr sz="1100" spc="-35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startup</a:t>
            </a:r>
            <a:r>
              <a:rPr sz="1100" spc="-25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for</a:t>
            </a:r>
            <a:r>
              <a:rPr sz="1100" spc="-4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{startup-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name}</a:t>
            </a:r>
            <a:r>
              <a:rPr sz="1100" spc="-35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,</a:t>
            </a:r>
            <a:r>
              <a:rPr sz="1100" spc="-35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suggest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me</a:t>
            </a:r>
            <a:r>
              <a:rPr sz="1100" spc="-25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a</a:t>
            </a:r>
            <a:r>
              <a:rPr sz="1100" spc="-3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good</a:t>
            </a:r>
            <a:r>
              <a:rPr sz="1100" spc="-25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name</a:t>
            </a:r>
            <a:r>
              <a:rPr sz="1100" spc="-15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for</a:t>
            </a:r>
            <a:r>
              <a:rPr sz="1100" spc="-20" dirty="0">
                <a:solidFill>
                  <a:srgbClr val="007F00"/>
                </a:solidFill>
                <a:latin typeface="Courier New"/>
                <a:cs typeface="Courier New"/>
              </a:rPr>
              <a:t> this"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ts val="1245"/>
              </a:lnSpc>
            </a:pPr>
            <a:r>
              <a:rPr sz="1100" spc="-50" dirty="0">
                <a:solidFill>
                  <a:srgbClr val="1E1B1A"/>
                </a:solidFill>
                <a:latin typeface="Courier New"/>
                <a:cs typeface="Courier New"/>
              </a:rPr>
              <a:t>)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name_chain=LLMChain(llm=client,prompt=prompt_template_name)</a:t>
            </a:r>
            <a:endParaRPr sz="1100">
              <a:latin typeface="Courier New"/>
              <a:cs typeface="Courier New"/>
            </a:endParaRPr>
          </a:p>
          <a:p>
            <a:pPr marL="12700" marR="2820670">
              <a:lnSpc>
                <a:spcPts val="1280"/>
              </a:lnSpc>
              <a:spcBef>
                <a:spcPts val="1035"/>
              </a:spcBef>
            </a:pP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prompt_template_items=PromptTemplate( input_variables=[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"name"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],</a:t>
            </a:r>
            <a:endParaRPr sz="1100">
              <a:latin typeface="Courier New"/>
              <a:cs typeface="Courier New"/>
            </a:endParaRPr>
          </a:p>
          <a:p>
            <a:pPr marL="348615">
              <a:lnSpc>
                <a:spcPts val="1225"/>
              </a:lnSpc>
            </a:pPr>
            <a:r>
              <a:rPr sz="1100" dirty="0">
                <a:solidFill>
                  <a:srgbClr val="1E1B1A"/>
                </a:solidFill>
                <a:latin typeface="Courier New"/>
                <a:cs typeface="Courier New"/>
              </a:rPr>
              <a:t>template=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"suggest</a:t>
            </a:r>
            <a:r>
              <a:rPr sz="1100" spc="-7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some</a:t>
            </a:r>
            <a:r>
              <a:rPr sz="1100" spc="-8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strategies</a:t>
            </a:r>
            <a:r>
              <a:rPr sz="1100" spc="-7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for</a:t>
            </a:r>
            <a:r>
              <a:rPr sz="1100" spc="-75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3CADE8"/>
                </a:solidFill>
                <a:latin typeface="Courier New"/>
                <a:cs typeface="Courier New"/>
              </a:rPr>
              <a:t>{name}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"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ts val="1300"/>
              </a:lnSpc>
            </a:pPr>
            <a:r>
              <a:rPr sz="1100" spc="-50" dirty="0">
                <a:solidFill>
                  <a:srgbClr val="1E1B1A"/>
                </a:solidFill>
                <a:latin typeface="Courier New"/>
                <a:cs typeface="Courier New"/>
              </a:rPr>
              <a:t>)</a:t>
            </a:r>
            <a:endParaRPr sz="1100">
              <a:latin typeface="Courier New"/>
              <a:cs typeface="Courier New"/>
            </a:endParaRPr>
          </a:p>
          <a:p>
            <a:pPr marL="12700" marR="380365">
              <a:lnSpc>
                <a:spcPct val="172700"/>
              </a:lnSpc>
            </a:pP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strategies_chain=LLMChain(llm=client,prompt=prompt_template_items) </a:t>
            </a:r>
            <a:r>
              <a:rPr sz="1100" dirty="0">
                <a:solidFill>
                  <a:srgbClr val="7827A0"/>
                </a:solidFill>
                <a:latin typeface="Courier New"/>
                <a:cs typeface="Courier New"/>
              </a:rPr>
              <a:t>from</a:t>
            </a:r>
            <a:r>
              <a:rPr sz="1100" spc="-85" dirty="0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1E1B1A"/>
                </a:solidFill>
                <a:latin typeface="Courier New"/>
                <a:cs typeface="Courier New"/>
              </a:rPr>
              <a:t>langchain.chains</a:t>
            </a:r>
            <a:r>
              <a:rPr sz="1100" spc="-65" dirty="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7827A0"/>
                </a:solidFill>
                <a:latin typeface="Courier New"/>
                <a:cs typeface="Courier New"/>
              </a:rPr>
              <a:t>import</a:t>
            </a:r>
            <a:r>
              <a:rPr sz="1100" spc="-80" dirty="0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SimpleSequentialChain chain=SimpleSequentialChain(chains=[name_chain,strategies_chain]) </a:t>
            </a:r>
            <a:r>
              <a:rPr sz="1100" spc="-10" dirty="0">
                <a:solidFill>
                  <a:srgbClr val="A95C00"/>
                </a:solidFill>
                <a:latin typeface="Courier New"/>
                <a:cs typeface="Courier New"/>
              </a:rPr>
              <a:t>print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(chain.run(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"artifical</a:t>
            </a:r>
            <a:r>
              <a:rPr sz="1100" spc="35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intelligence"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))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14400" y="6720840"/>
            <a:ext cx="1091565" cy="161925"/>
          </a:xfrm>
          <a:custGeom>
            <a:avLst/>
            <a:gdLst/>
            <a:ahLst/>
            <a:cxnLst/>
            <a:rect l="l" t="t" r="r" b="b"/>
            <a:pathLst>
              <a:path w="1091564" h="161925">
                <a:moveTo>
                  <a:pt x="1091564" y="0"/>
                </a:moveTo>
                <a:lnTo>
                  <a:pt x="0" y="0"/>
                </a:lnTo>
                <a:lnTo>
                  <a:pt x="0" y="161924"/>
                </a:lnTo>
                <a:lnTo>
                  <a:pt x="1091564" y="161924"/>
                </a:lnTo>
                <a:lnTo>
                  <a:pt x="1091564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902969" y="6697980"/>
            <a:ext cx="111760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Courier New"/>
                <a:cs typeface="Courier New"/>
              </a:rPr>
              <a:t>1.</a:t>
            </a:r>
            <a:r>
              <a:rPr sz="1100" spc="-1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AI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Genius: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14400" y="6883400"/>
            <a:ext cx="580453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a.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Develop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cutting-</a:t>
            </a:r>
            <a:r>
              <a:rPr sz="1100" dirty="0">
                <a:latin typeface="Courier New"/>
                <a:cs typeface="Courier New"/>
              </a:rPr>
              <a:t>edge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AI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algorithms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technology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to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stay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ahead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of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14400" y="7045959"/>
            <a:ext cx="135699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competition.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14400" y="7208519"/>
            <a:ext cx="514286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b.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Collaborate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with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other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AI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experts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researchers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to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share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14400" y="7371080"/>
            <a:ext cx="203009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knowledge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resources.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14400" y="7533640"/>
            <a:ext cx="580453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c.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Offer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AI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training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education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programs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to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attract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top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talent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and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14400" y="7696200"/>
            <a:ext cx="236664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develop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skilled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workforce.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14400" y="7858759"/>
            <a:ext cx="529907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d.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Leverage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data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analytics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machine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learning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to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continuously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14400" y="8021319"/>
            <a:ext cx="245046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improve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refine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AI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models.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14400" y="8183880"/>
            <a:ext cx="546798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e.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Partner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with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businesses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to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provide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customized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AI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solutions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for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14400" y="8346440"/>
            <a:ext cx="1777364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their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specific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needs.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14400" y="8509000"/>
            <a:ext cx="522668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f.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Attend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present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at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AI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conferences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events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to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showcase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14400" y="8671559"/>
            <a:ext cx="3796665" cy="16192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expertise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network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with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potential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clients.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914400" y="8834119"/>
            <a:ext cx="5719445" cy="161925"/>
          </a:xfrm>
          <a:custGeom>
            <a:avLst/>
            <a:gdLst/>
            <a:ahLst/>
            <a:cxnLst/>
            <a:rect l="l" t="t" r="r" b="b"/>
            <a:pathLst>
              <a:path w="5719445" h="161925">
                <a:moveTo>
                  <a:pt x="5719445" y="0"/>
                </a:moveTo>
                <a:lnTo>
                  <a:pt x="0" y="0"/>
                </a:lnTo>
                <a:lnTo>
                  <a:pt x="0" y="161924"/>
                </a:lnTo>
                <a:lnTo>
                  <a:pt x="5719445" y="161924"/>
                </a:lnTo>
                <a:lnTo>
                  <a:pt x="5719445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902969" y="8811259"/>
            <a:ext cx="574294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Courier New"/>
                <a:cs typeface="Courier New"/>
              </a:rPr>
              <a:t>g.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Invest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research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development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to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explore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new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AI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applications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848360" y="3178810"/>
            <a:ext cx="6076315" cy="5883275"/>
          </a:xfrm>
          <a:custGeom>
            <a:avLst/>
            <a:gdLst/>
            <a:ahLst/>
            <a:cxnLst/>
            <a:rect l="l" t="t" r="r" b="b"/>
            <a:pathLst>
              <a:path w="6076315" h="5883275">
                <a:moveTo>
                  <a:pt x="0" y="1905"/>
                </a:moveTo>
                <a:lnTo>
                  <a:pt x="6076315" y="1905"/>
                </a:lnTo>
              </a:path>
              <a:path w="6076315" h="5883275">
                <a:moveTo>
                  <a:pt x="6075045" y="0"/>
                </a:moveTo>
                <a:lnTo>
                  <a:pt x="6075045" y="1005840"/>
                </a:lnTo>
              </a:path>
              <a:path w="6076315" h="5883275">
                <a:moveTo>
                  <a:pt x="1905" y="1005840"/>
                </a:moveTo>
                <a:lnTo>
                  <a:pt x="1905" y="0"/>
                </a:lnTo>
              </a:path>
              <a:path w="6076315" h="5883275">
                <a:moveTo>
                  <a:pt x="6075045" y="878840"/>
                </a:moveTo>
                <a:lnTo>
                  <a:pt x="6075045" y="1295400"/>
                </a:lnTo>
              </a:path>
              <a:path w="6076315" h="5883275">
                <a:moveTo>
                  <a:pt x="1905" y="1295400"/>
                </a:moveTo>
                <a:lnTo>
                  <a:pt x="1905" y="878840"/>
                </a:lnTo>
              </a:path>
              <a:path w="6076315" h="5883275">
                <a:moveTo>
                  <a:pt x="6075045" y="1168400"/>
                </a:moveTo>
                <a:lnTo>
                  <a:pt x="6075045" y="2072640"/>
                </a:lnTo>
              </a:path>
              <a:path w="6076315" h="5883275">
                <a:moveTo>
                  <a:pt x="1905" y="2072640"/>
                </a:moveTo>
                <a:lnTo>
                  <a:pt x="1905" y="1168400"/>
                </a:lnTo>
              </a:path>
              <a:path w="6076315" h="5883275">
                <a:moveTo>
                  <a:pt x="6075045" y="1945640"/>
                </a:moveTo>
                <a:lnTo>
                  <a:pt x="6075045" y="2362200"/>
                </a:lnTo>
              </a:path>
              <a:path w="6076315" h="5883275">
                <a:moveTo>
                  <a:pt x="1905" y="2362200"/>
                </a:moveTo>
                <a:lnTo>
                  <a:pt x="1905" y="1945640"/>
                </a:lnTo>
              </a:path>
              <a:path w="6076315" h="5883275">
                <a:moveTo>
                  <a:pt x="6075045" y="2235200"/>
                </a:moveTo>
                <a:lnTo>
                  <a:pt x="6075045" y="2651760"/>
                </a:lnTo>
              </a:path>
              <a:path w="6076315" h="5883275">
                <a:moveTo>
                  <a:pt x="1905" y="2651760"/>
                </a:moveTo>
                <a:lnTo>
                  <a:pt x="1905" y="2235200"/>
                </a:lnTo>
              </a:path>
              <a:path w="6076315" h="5883275">
                <a:moveTo>
                  <a:pt x="6075045" y="2524760"/>
                </a:moveTo>
                <a:lnTo>
                  <a:pt x="6075045" y="2941320"/>
                </a:lnTo>
              </a:path>
              <a:path w="6076315" h="5883275">
                <a:moveTo>
                  <a:pt x="1905" y="2941320"/>
                </a:moveTo>
                <a:lnTo>
                  <a:pt x="1905" y="2524760"/>
                </a:lnTo>
              </a:path>
              <a:path w="6076315" h="5883275">
                <a:moveTo>
                  <a:pt x="6075045" y="2814320"/>
                </a:moveTo>
                <a:lnTo>
                  <a:pt x="6075045" y="3230880"/>
                </a:lnTo>
              </a:path>
              <a:path w="6076315" h="5883275">
                <a:moveTo>
                  <a:pt x="1905" y="3230880"/>
                </a:moveTo>
                <a:lnTo>
                  <a:pt x="1905" y="2814320"/>
                </a:lnTo>
              </a:path>
              <a:path w="6076315" h="5883275">
                <a:moveTo>
                  <a:pt x="6075045" y="3103880"/>
                </a:moveTo>
                <a:lnTo>
                  <a:pt x="6075045" y="5883275"/>
                </a:lnTo>
              </a:path>
              <a:path w="6076315" h="5883275">
                <a:moveTo>
                  <a:pt x="6076315" y="5882005"/>
                </a:moveTo>
                <a:lnTo>
                  <a:pt x="0" y="5882005"/>
                </a:lnTo>
              </a:path>
              <a:path w="6076315" h="5883275">
                <a:moveTo>
                  <a:pt x="1905" y="5883275"/>
                </a:moveTo>
                <a:lnTo>
                  <a:pt x="1905" y="3103880"/>
                </a:lnTo>
              </a:path>
              <a:path w="6076315" h="5883275">
                <a:moveTo>
                  <a:pt x="0" y="1905"/>
                </a:moveTo>
                <a:lnTo>
                  <a:pt x="6076315" y="1905"/>
                </a:lnTo>
              </a:path>
              <a:path w="6076315" h="5883275">
                <a:moveTo>
                  <a:pt x="6075045" y="0"/>
                </a:moveTo>
                <a:lnTo>
                  <a:pt x="6075045" y="1005840"/>
                </a:lnTo>
              </a:path>
              <a:path w="6076315" h="5883275">
                <a:moveTo>
                  <a:pt x="1905" y="1005840"/>
                </a:moveTo>
                <a:lnTo>
                  <a:pt x="1905" y="0"/>
                </a:lnTo>
              </a:path>
              <a:path w="6076315" h="5883275">
                <a:moveTo>
                  <a:pt x="6075045" y="878840"/>
                </a:moveTo>
                <a:lnTo>
                  <a:pt x="6075045" y="1295400"/>
                </a:lnTo>
              </a:path>
              <a:path w="6076315" h="5883275">
                <a:moveTo>
                  <a:pt x="1905" y="1295400"/>
                </a:moveTo>
                <a:lnTo>
                  <a:pt x="1905" y="878840"/>
                </a:lnTo>
              </a:path>
              <a:path w="6076315" h="5883275">
                <a:moveTo>
                  <a:pt x="6075045" y="1168400"/>
                </a:moveTo>
                <a:lnTo>
                  <a:pt x="6075045" y="2072640"/>
                </a:lnTo>
              </a:path>
              <a:path w="6076315" h="5883275">
                <a:moveTo>
                  <a:pt x="1905" y="2072640"/>
                </a:moveTo>
                <a:lnTo>
                  <a:pt x="1905" y="1168400"/>
                </a:lnTo>
              </a:path>
              <a:path w="6076315" h="5883275">
                <a:moveTo>
                  <a:pt x="6075045" y="1945640"/>
                </a:moveTo>
                <a:lnTo>
                  <a:pt x="6075045" y="2362200"/>
                </a:lnTo>
              </a:path>
              <a:path w="6076315" h="5883275">
                <a:moveTo>
                  <a:pt x="1905" y="2362200"/>
                </a:moveTo>
                <a:lnTo>
                  <a:pt x="1905" y="1945640"/>
                </a:lnTo>
              </a:path>
              <a:path w="6076315" h="5883275">
                <a:moveTo>
                  <a:pt x="6075045" y="2235200"/>
                </a:moveTo>
                <a:lnTo>
                  <a:pt x="6075045" y="2651760"/>
                </a:lnTo>
              </a:path>
              <a:path w="6076315" h="5883275">
                <a:moveTo>
                  <a:pt x="1905" y="2651760"/>
                </a:moveTo>
                <a:lnTo>
                  <a:pt x="1905" y="2235200"/>
                </a:lnTo>
              </a:path>
              <a:path w="6076315" h="5883275">
                <a:moveTo>
                  <a:pt x="6075045" y="2524760"/>
                </a:moveTo>
                <a:lnTo>
                  <a:pt x="6075045" y="2941320"/>
                </a:lnTo>
              </a:path>
              <a:path w="6076315" h="5883275">
                <a:moveTo>
                  <a:pt x="1905" y="2941320"/>
                </a:moveTo>
                <a:lnTo>
                  <a:pt x="1905" y="2524760"/>
                </a:lnTo>
              </a:path>
              <a:path w="6076315" h="5883275">
                <a:moveTo>
                  <a:pt x="6075045" y="2814320"/>
                </a:moveTo>
                <a:lnTo>
                  <a:pt x="6075045" y="3230880"/>
                </a:lnTo>
              </a:path>
              <a:path w="6076315" h="5883275">
                <a:moveTo>
                  <a:pt x="1905" y="3230880"/>
                </a:moveTo>
                <a:lnTo>
                  <a:pt x="1905" y="2814320"/>
                </a:lnTo>
              </a:path>
              <a:path w="6076315" h="5883275">
                <a:moveTo>
                  <a:pt x="6075045" y="3103880"/>
                </a:moveTo>
                <a:lnTo>
                  <a:pt x="6075045" y="5883275"/>
                </a:lnTo>
              </a:path>
              <a:path w="6076315" h="5883275">
                <a:moveTo>
                  <a:pt x="6076315" y="5882005"/>
                </a:moveTo>
                <a:lnTo>
                  <a:pt x="0" y="5882005"/>
                </a:lnTo>
              </a:path>
              <a:path w="6076315" h="5883275">
                <a:moveTo>
                  <a:pt x="1905" y="5883275"/>
                </a:moveTo>
                <a:lnTo>
                  <a:pt x="1905" y="3103880"/>
                </a:lnTo>
              </a:path>
            </a:pathLst>
          </a:custGeom>
          <a:ln w="3175">
            <a:solidFill>
              <a:srgbClr val="E2E2E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47725" y="913764"/>
            <a:ext cx="6076950" cy="3045460"/>
          </a:xfrm>
          <a:custGeom>
            <a:avLst/>
            <a:gdLst/>
            <a:ahLst/>
            <a:cxnLst/>
            <a:rect l="l" t="t" r="r" b="b"/>
            <a:pathLst>
              <a:path w="6076950" h="3045460">
                <a:moveTo>
                  <a:pt x="6076950" y="0"/>
                </a:moveTo>
                <a:lnTo>
                  <a:pt x="0" y="0"/>
                </a:lnTo>
                <a:lnTo>
                  <a:pt x="0" y="3045459"/>
                </a:lnTo>
                <a:lnTo>
                  <a:pt x="6076950" y="3045459"/>
                </a:lnTo>
                <a:lnTo>
                  <a:pt x="6076950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47725" y="4599304"/>
            <a:ext cx="6076950" cy="4351020"/>
          </a:xfrm>
          <a:custGeom>
            <a:avLst/>
            <a:gdLst/>
            <a:ahLst/>
            <a:cxnLst/>
            <a:rect l="l" t="t" r="r" b="b"/>
            <a:pathLst>
              <a:path w="6076950" h="4351020">
                <a:moveTo>
                  <a:pt x="6076950" y="0"/>
                </a:moveTo>
                <a:lnTo>
                  <a:pt x="0" y="0"/>
                </a:lnTo>
                <a:lnTo>
                  <a:pt x="0" y="1351915"/>
                </a:lnTo>
                <a:lnTo>
                  <a:pt x="0" y="1352550"/>
                </a:lnTo>
                <a:lnTo>
                  <a:pt x="0" y="2764790"/>
                </a:lnTo>
                <a:lnTo>
                  <a:pt x="0" y="3054350"/>
                </a:lnTo>
                <a:lnTo>
                  <a:pt x="0" y="3994150"/>
                </a:lnTo>
                <a:lnTo>
                  <a:pt x="0" y="4351020"/>
                </a:lnTo>
                <a:lnTo>
                  <a:pt x="6076950" y="4351020"/>
                </a:lnTo>
                <a:lnTo>
                  <a:pt x="6076950" y="1351915"/>
                </a:lnTo>
                <a:lnTo>
                  <a:pt x="6076950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14400" y="981709"/>
            <a:ext cx="5804535" cy="1137285"/>
          </a:xfrm>
          <a:custGeom>
            <a:avLst/>
            <a:gdLst/>
            <a:ahLst/>
            <a:cxnLst/>
            <a:rect l="l" t="t" r="r" b="b"/>
            <a:pathLst>
              <a:path w="5804534" h="1137285">
                <a:moveTo>
                  <a:pt x="1428115" y="650240"/>
                </a:moveTo>
                <a:lnTo>
                  <a:pt x="0" y="650240"/>
                </a:lnTo>
                <a:lnTo>
                  <a:pt x="0" y="812165"/>
                </a:lnTo>
                <a:lnTo>
                  <a:pt x="1428115" y="812165"/>
                </a:lnTo>
                <a:lnTo>
                  <a:pt x="1428115" y="650240"/>
                </a:lnTo>
                <a:close/>
              </a:path>
              <a:path w="5804534" h="1137285">
                <a:moveTo>
                  <a:pt x="1511935" y="0"/>
                </a:moveTo>
                <a:lnTo>
                  <a:pt x="0" y="0"/>
                </a:lnTo>
                <a:lnTo>
                  <a:pt x="0" y="161925"/>
                </a:lnTo>
                <a:lnTo>
                  <a:pt x="1511935" y="161925"/>
                </a:lnTo>
                <a:lnTo>
                  <a:pt x="1511935" y="0"/>
                </a:lnTo>
                <a:close/>
              </a:path>
              <a:path w="5804534" h="1137285">
                <a:moveTo>
                  <a:pt x="2690495" y="975360"/>
                </a:moveTo>
                <a:lnTo>
                  <a:pt x="0" y="975360"/>
                </a:lnTo>
                <a:lnTo>
                  <a:pt x="0" y="1137285"/>
                </a:lnTo>
                <a:lnTo>
                  <a:pt x="2690495" y="1137285"/>
                </a:lnTo>
                <a:lnTo>
                  <a:pt x="2690495" y="975360"/>
                </a:lnTo>
                <a:close/>
              </a:path>
              <a:path w="5804534" h="1137285">
                <a:moveTo>
                  <a:pt x="3363595" y="325120"/>
                </a:moveTo>
                <a:lnTo>
                  <a:pt x="0" y="325120"/>
                </a:lnTo>
                <a:lnTo>
                  <a:pt x="0" y="487045"/>
                </a:lnTo>
                <a:lnTo>
                  <a:pt x="3363595" y="487045"/>
                </a:lnTo>
                <a:lnTo>
                  <a:pt x="3363595" y="325120"/>
                </a:lnTo>
                <a:close/>
              </a:path>
              <a:path w="5804534" h="1137285">
                <a:moveTo>
                  <a:pt x="5635625" y="812800"/>
                </a:moveTo>
                <a:lnTo>
                  <a:pt x="0" y="812800"/>
                </a:lnTo>
                <a:lnTo>
                  <a:pt x="0" y="974725"/>
                </a:lnTo>
                <a:lnTo>
                  <a:pt x="5635625" y="974725"/>
                </a:lnTo>
                <a:lnTo>
                  <a:pt x="5635625" y="812800"/>
                </a:lnTo>
                <a:close/>
              </a:path>
              <a:path w="5804534" h="1137285">
                <a:moveTo>
                  <a:pt x="5803265" y="162560"/>
                </a:moveTo>
                <a:lnTo>
                  <a:pt x="0" y="162560"/>
                </a:lnTo>
                <a:lnTo>
                  <a:pt x="0" y="324485"/>
                </a:lnTo>
                <a:lnTo>
                  <a:pt x="5803265" y="324485"/>
                </a:lnTo>
                <a:lnTo>
                  <a:pt x="5803265" y="162560"/>
                </a:lnTo>
                <a:close/>
              </a:path>
              <a:path w="5804534" h="1137285">
                <a:moveTo>
                  <a:pt x="5804535" y="487680"/>
                </a:moveTo>
                <a:lnTo>
                  <a:pt x="0" y="487680"/>
                </a:lnTo>
                <a:lnTo>
                  <a:pt x="0" y="649605"/>
                </a:lnTo>
                <a:lnTo>
                  <a:pt x="5804535" y="649605"/>
                </a:lnTo>
                <a:lnTo>
                  <a:pt x="5804535" y="48768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14400" y="2266949"/>
            <a:ext cx="5887085" cy="1624965"/>
          </a:xfrm>
          <a:custGeom>
            <a:avLst/>
            <a:gdLst/>
            <a:ahLst/>
            <a:cxnLst/>
            <a:rect l="l" t="t" r="r" b="b"/>
            <a:pathLst>
              <a:path w="5887084" h="1624964">
                <a:moveTo>
                  <a:pt x="1007745" y="0"/>
                </a:moveTo>
                <a:lnTo>
                  <a:pt x="0" y="0"/>
                </a:lnTo>
                <a:lnTo>
                  <a:pt x="0" y="161925"/>
                </a:lnTo>
                <a:lnTo>
                  <a:pt x="1007745" y="161925"/>
                </a:lnTo>
                <a:lnTo>
                  <a:pt x="1007745" y="0"/>
                </a:lnTo>
                <a:close/>
              </a:path>
              <a:path w="5887084" h="1624964">
                <a:moveTo>
                  <a:pt x="1091565" y="325120"/>
                </a:moveTo>
                <a:lnTo>
                  <a:pt x="0" y="325120"/>
                </a:lnTo>
                <a:lnTo>
                  <a:pt x="0" y="487045"/>
                </a:lnTo>
                <a:lnTo>
                  <a:pt x="1091565" y="487045"/>
                </a:lnTo>
                <a:lnTo>
                  <a:pt x="1091565" y="325120"/>
                </a:lnTo>
                <a:close/>
              </a:path>
              <a:path w="5887084" h="1624964">
                <a:moveTo>
                  <a:pt x="1933575" y="975360"/>
                </a:moveTo>
                <a:lnTo>
                  <a:pt x="0" y="975360"/>
                </a:lnTo>
                <a:lnTo>
                  <a:pt x="0" y="1137285"/>
                </a:lnTo>
                <a:lnTo>
                  <a:pt x="1933575" y="1137285"/>
                </a:lnTo>
                <a:lnTo>
                  <a:pt x="1933575" y="975360"/>
                </a:lnTo>
                <a:close/>
              </a:path>
              <a:path w="5887084" h="1624964">
                <a:moveTo>
                  <a:pt x="2185035" y="1300480"/>
                </a:moveTo>
                <a:lnTo>
                  <a:pt x="0" y="1300480"/>
                </a:lnTo>
                <a:lnTo>
                  <a:pt x="0" y="1462405"/>
                </a:lnTo>
                <a:lnTo>
                  <a:pt x="2185035" y="1462405"/>
                </a:lnTo>
                <a:lnTo>
                  <a:pt x="2185035" y="1300480"/>
                </a:lnTo>
                <a:close/>
              </a:path>
              <a:path w="5887084" h="1624964">
                <a:moveTo>
                  <a:pt x="2858135" y="650240"/>
                </a:moveTo>
                <a:lnTo>
                  <a:pt x="0" y="650240"/>
                </a:lnTo>
                <a:lnTo>
                  <a:pt x="0" y="812165"/>
                </a:lnTo>
                <a:lnTo>
                  <a:pt x="2858135" y="812165"/>
                </a:lnTo>
                <a:lnTo>
                  <a:pt x="2858135" y="650240"/>
                </a:lnTo>
                <a:close/>
              </a:path>
              <a:path w="5887084" h="1624964">
                <a:moveTo>
                  <a:pt x="3194685" y="1463040"/>
                </a:moveTo>
                <a:lnTo>
                  <a:pt x="0" y="1463040"/>
                </a:lnTo>
                <a:lnTo>
                  <a:pt x="0" y="1624965"/>
                </a:lnTo>
                <a:lnTo>
                  <a:pt x="3194685" y="1624965"/>
                </a:lnTo>
                <a:lnTo>
                  <a:pt x="3194685" y="1463040"/>
                </a:lnTo>
                <a:close/>
              </a:path>
              <a:path w="5887084" h="1624964">
                <a:moveTo>
                  <a:pt x="5130165" y="1137920"/>
                </a:moveTo>
                <a:lnTo>
                  <a:pt x="0" y="1137920"/>
                </a:lnTo>
                <a:lnTo>
                  <a:pt x="0" y="1299845"/>
                </a:lnTo>
                <a:lnTo>
                  <a:pt x="5130165" y="1299845"/>
                </a:lnTo>
                <a:lnTo>
                  <a:pt x="5130165" y="1137920"/>
                </a:lnTo>
                <a:close/>
              </a:path>
              <a:path w="5887084" h="1624964">
                <a:moveTo>
                  <a:pt x="5803265" y="812800"/>
                </a:moveTo>
                <a:lnTo>
                  <a:pt x="0" y="812800"/>
                </a:lnTo>
                <a:lnTo>
                  <a:pt x="0" y="974725"/>
                </a:lnTo>
                <a:lnTo>
                  <a:pt x="5803265" y="974725"/>
                </a:lnTo>
                <a:lnTo>
                  <a:pt x="5803265" y="812800"/>
                </a:lnTo>
                <a:close/>
              </a:path>
              <a:path w="5887084" h="1624964">
                <a:moveTo>
                  <a:pt x="5804535" y="487680"/>
                </a:moveTo>
                <a:lnTo>
                  <a:pt x="0" y="487680"/>
                </a:lnTo>
                <a:lnTo>
                  <a:pt x="0" y="649605"/>
                </a:lnTo>
                <a:lnTo>
                  <a:pt x="5804535" y="649605"/>
                </a:lnTo>
                <a:lnTo>
                  <a:pt x="5804535" y="487680"/>
                </a:lnTo>
                <a:close/>
              </a:path>
              <a:path w="5887084" h="1624964">
                <a:moveTo>
                  <a:pt x="5887085" y="162560"/>
                </a:moveTo>
                <a:lnTo>
                  <a:pt x="0" y="162560"/>
                </a:lnTo>
                <a:lnTo>
                  <a:pt x="0" y="324485"/>
                </a:lnTo>
                <a:lnTo>
                  <a:pt x="5887085" y="324485"/>
                </a:lnTo>
                <a:lnTo>
                  <a:pt x="5887085" y="16256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850264" y="916305"/>
            <a:ext cx="6073140" cy="3041650"/>
          </a:xfrm>
          <a:prstGeom prst="rect">
            <a:avLst/>
          </a:prstGeom>
          <a:ln w="3175">
            <a:solidFill>
              <a:srgbClr val="E2E2E2"/>
            </a:solidFill>
          </a:ln>
        </p:spPr>
        <p:txBody>
          <a:bodyPr vert="horz" wrap="square" lIns="0" tIns="55244" rIns="0" bIns="0" rtlCol="0">
            <a:spAutoFit/>
          </a:bodyPr>
          <a:lstStyle/>
          <a:p>
            <a:pPr marL="64769">
              <a:lnSpc>
                <a:spcPts val="1300"/>
              </a:lnSpc>
              <a:spcBef>
                <a:spcPts val="434"/>
              </a:spcBef>
            </a:pP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possibilities.</a:t>
            </a:r>
            <a:endParaRPr sz="1100">
              <a:latin typeface="Courier New"/>
              <a:cs typeface="Courier New"/>
            </a:endParaRPr>
          </a:p>
          <a:p>
            <a:pPr marL="64769" marR="197485" indent="252095">
              <a:lnSpc>
                <a:spcPts val="1280"/>
              </a:lnSpc>
              <a:spcBef>
                <a:spcPts val="55"/>
              </a:spcBef>
              <a:buAutoNum type="alphaLcPeriod" startAt="8"/>
              <a:tabLst>
                <a:tab pos="316865" algn="l"/>
              </a:tabLst>
            </a:pPr>
            <a:r>
              <a:rPr sz="1100" dirty="0">
                <a:latin typeface="Courier New"/>
                <a:cs typeface="Courier New"/>
              </a:rPr>
              <a:t>Utilize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social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media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online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platforms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to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promote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company's </a:t>
            </a:r>
            <a:r>
              <a:rPr sz="1100" dirty="0">
                <a:latin typeface="Courier New"/>
                <a:cs typeface="Courier New"/>
              </a:rPr>
              <a:t>AI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capabilities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attract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new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clients.</a:t>
            </a:r>
            <a:endParaRPr sz="1100">
              <a:latin typeface="Courier New"/>
              <a:cs typeface="Courier New"/>
            </a:endParaRPr>
          </a:p>
          <a:p>
            <a:pPr marL="64769" marR="197485" indent="252095">
              <a:lnSpc>
                <a:spcPts val="1280"/>
              </a:lnSpc>
              <a:buAutoNum type="alphaLcPeriod" startAt="8"/>
              <a:tabLst>
                <a:tab pos="316865" algn="l"/>
              </a:tabLst>
            </a:pPr>
            <a:r>
              <a:rPr sz="1100" dirty="0">
                <a:latin typeface="Courier New"/>
                <a:cs typeface="Courier New"/>
              </a:rPr>
              <a:t>Offer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competitive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pricing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flexible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packages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to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cater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to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wide </a:t>
            </a:r>
            <a:r>
              <a:rPr sz="1100" dirty="0">
                <a:latin typeface="Courier New"/>
                <a:cs typeface="Courier New"/>
              </a:rPr>
              <a:t>range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of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clients.</a:t>
            </a:r>
            <a:endParaRPr sz="1100">
              <a:latin typeface="Courier New"/>
              <a:cs typeface="Courier New"/>
            </a:endParaRPr>
          </a:p>
          <a:p>
            <a:pPr marL="64769" marR="365125" indent="252095">
              <a:lnSpc>
                <a:spcPts val="1280"/>
              </a:lnSpc>
              <a:buAutoNum type="alphaLcPeriod" startAt="8"/>
              <a:tabLst>
                <a:tab pos="316865" algn="l"/>
              </a:tabLst>
            </a:pPr>
            <a:r>
              <a:rPr sz="1100" dirty="0">
                <a:latin typeface="Courier New"/>
                <a:cs typeface="Courier New"/>
              </a:rPr>
              <a:t>Constantly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seek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feedback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reviews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from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clients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to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improve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and </a:t>
            </a:r>
            <a:r>
              <a:rPr sz="1100" dirty="0">
                <a:latin typeface="Courier New"/>
                <a:cs typeface="Courier New"/>
              </a:rPr>
              <a:t>enhance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AI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services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offered.</a:t>
            </a:r>
            <a:endParaRPr sz="1100">
              <a:latin typeface="Courier New"/>
              <a:cs typeface="Courier New"/>
            </a:endParaRPr>
          </a:p>
          <a:p>
            <a:pPr marL="316865" indent="-252095">
              <a:lnSpc>
                <a:spcPts val="1300"/>
              </a:lnSpc>
              <a:spcBef>
                <a:spcPts val="1085"/>
              </a:spcBef>
              <a:buAutoNum type="arabicPeriod" startAt="2"/>
              <a:tabLst>
                <a:tab pos="316865" algn="l"/>
              </a:tabLst>
            </a:pPr>
            <a:r>
              <a:rPr sz="1100" spc="-10" dirty="0">
                <a:latin typeface="Courier New"/>
                <a:cs typeface="Courier New"/>
              </a:rPr>
              <a:t>MindTech:</a:t>
            </a:r>
            <a:endParaRPr sz="1100">
              <a:latin typeface="Courier New"/>
              <a:cs typeface="Courier New"/>
            </a:endParaRPr>
          </a:p>
          <a:p>
            <a:pPr marL="64769" marR="114300" lvl="1" indent="252095">
              <a:lnSpc>
                <a:spcPts val="1280"/>
              </a:lnSpc>
              <a:spcBef>
                <a:spcPts val="55"/>
              </a:spcBef>
              <a:buAutoNum type="alphaLcPeriod"/>
              <a:tabLst>
                <a:tab pos="316865" algn="l"/>
              </a:tabLst>
            </a:pPr>
            <a:r>
              <a:rPr sz="1100" dirty="0">
                <a:latin typeface="Courier New"/>
                <a:cs typeface="Courier New"/>
              </a:rPr>
              <a:t>Develop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user-</a:t>
            </a:r>
            <a:r>
              <a:rPr sz="1100" dirty="0">
                <a:latin typeface="Courier New"/>
                <a:cs typeface="Courier New"/>
              </a:rPr>
              <a:t>friendly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intuitive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interface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for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all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AI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products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services.</a:t>
            </a:r>
            <a:endParaRPr sz="1100">
              <a:latin typeface="Courier New"/>
              <a:cs typeface="Courier New"/>
            </a:endParaRPr>
          </a:p>
          <a:p>
            <a:pPr marL="64769" marR="196215" lvl="1" indent="252095">
              <a:lnSpc>
                <a:spcPts val="1280"/>
              </a:lnSpc>
              <a:buAutoNum type="alphaLcPeriod"/>
              <a:tabLst>
                <a:tab pos="316865" algn="l"/>
              </a:tabLst>
            </a:pPr>
            <a:r>
              <a:rPr sz="1100" dirty="0">
                <a:latin typeface="Courier New"/>
                <a:cs typeface="Courier New"/>
              </a:rPr>
              <a:t>Utilize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customer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feedback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market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research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to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identify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areas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of </a:t>
            </a:r>
            <a:r>
              <a:rPr sz="1100" dirty="0">
                <a:latin typeface="Courier New"/>
                <a:cs typeface="Courier New"/>
              </a:rPr>
              <a:t>improvement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new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opportunities.</a:t>
            </a:r>
            <a:endParaRPr sz="1100">
              <a:latin typeface="Courier New"/>
              <a:cs typeface="Courier New"/>
            </a:endParaRPr>
          </a:p>
          <a:p>
            <a:pPr marL="64769" marR="197485" lvl="1" indent="252095">
              <a:lnSpc>
                <a:spcPts val="1280"/>
              </a:lnSpc>
              <a:buAutoNum type="alphaLcPeriod"/>
              <a:tabLst>
                <a:tab pos="316865" algn="l"/>
              </a:tabLst>
            </a:pPr>
            <a:r>
              <a:rPr sz="1100" dirty="0">
                <a:latin typeface="Courier New"/>
                <a:cs typeface="Courier New"/>
              </a:rPr>
              <a:t>Partner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with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hardware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software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companies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to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integrate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MindTech </a:t>
            </a:r>
            <a:r>
              <a:rPr sz="1100" dirty="0">
                <a:latin typeface="Courier New"/>
                <a:cs typeface="Courier New"/>
              </a:rPr>
              <a:t>AI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into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their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products.</a:t>
            </a:r>
            <a:endParaRPr sz="1100">
              <a:latin typeface="Courier New"/>
              <a:cs typeface="Courier New"/>
            </a:endParaRPr>
          </a:p>
          <a:p>
            <a:pPr marL="64769" marR="870585" lvl="1" indent="252095">
              <a:lnSpc>
                <a:spcPts val="1280"/>
              </a:lnSpc>
              <a:buAutoNum type="alphaLcPeriod"/>
              <a:tabLst>
                <a:tab pos="316865" algn="l"/>
              </a:tabLst>
            </a:pPr>
            <a:r>
              <a:rPr sz="1100" dirty="0">
                <a:latin typeface="Courier New"/>
                <a:cs typeface="Courier New"/>
              </a:rPr>
              <a:t>Offer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personalized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tailored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AI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solutions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for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different </a:t>
            </a:r>
            <a:r>
              <a:rPr sz="1100" dirty="0">
                <a:latin typeface="Courier New"/>
                <a:cs typeface="Courier New"/>
              </a:rPr>
              <a:t>industries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businesses.</a:t>
            </a:r>
            <a:endParaRPr sz="1100">
              <a:latin typeface="Courier New"/>
              <a:cs typeface="Courier New"/>
            </a:endParaRPr>
          </a:p>
          <a:p>
            <a:pPr marL="316865" lvl="1" indent="-252095">
              <a:lnSpc>
                <a:spcPts val="1245"/>
              </a:lnSpc>
              <a:buAutoNum type="alphaLcPeriod"/>
              <a:tabLst>
                <a:tab pos="316865" algn="l"/>
              </a:tabLst>
            </a:pPr>
            <a:r>
              <a:rPr sz="1100" dirty="0">
                <a:latin typeface="Courier New"/>
                <a:cs typeface="Courier New"/>
              </a:rPr>
              <a:t>Invest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marketing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advertising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02969" y="4246879"/>
            <a:ext cx="586422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70" dirty="0">
                <a:latin typeface="Arial"/>
                <a:cs typeface="Arial"/>
              </a:rPr>
              <a:t>Now</a:t>
            </a:r>
            <a:r>
              <a:rPr sz="2200" spc="-9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lets</a:t>
            </a:r>
            <a:r>
              <a:rPr sz="2200" spc="-75" dirty="0">
                <a:latin typeface="Arial"/>
                <a:cs typeface="Arial"/>
              </a:rPr>
              <a:t> </a:t>
            </a:r>
            <a:r>
              <a:rPr sz="2200" spc="65" dirty="0">
                <a:latin typeface="Arial"/>
                <a:cs typeface="Arial"/>
              </a:rPr>
              <a:t>try</a:t>
            </a:r>
            <a:r>
              <a:rPr sz="2200" spc="-70" dirty="0">
                <a:latin typeface="Arial"/>
                <a:cs typeface="Arial"/>
              </a:rPr>
              <a:t> </a:t>
            </a:r>
            <a:r>
              <a:rPr sz="2200" spc="90" dirty="0">
                <a:latin typeface="Arial"/>
                <a:cs typeface="Arial"/>
              </a:rPr>
              <a:t>to</a:t>
            </a:r>
            <a:r>
              <a:rPr sz="2200" spc="-8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understand</a:t>
            </a:r>
            <a:r>
              <a:rPr sz="2200" spc="-8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the</a:t>
            </a:r>
            <a:r>
              <a:rPr sz="2200" spc="-7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sequential</a:t>
            </a:r>
            <a:r>
              <a:rPr sz="2200" spc="-70" dirty="0">
                <a:latin typeface="Arial"/>
                <a:cs typeface="Arial"/>
              </a:rPr>
              <a:t> </a:t>
            </a:r>
            <a:r>
              <a:rPr sz="2200" spc="-10" dirty="0">
                <a:latin typeface="Arial"/>
                <a:cs typeface="Arial"/>
              </a:rPr>
              <a:t>chain</a:t>
            </a:r>
            <a:endParaRPr sz="22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02969" y="4643120"/>
            <a:ext cx="5745480" cy="424815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348615" marR="2696845" indent="-336550">
              <a:lnSpc>
                <a:spcPts val="1280"/>
              </a:lnSpc>
              <a:spcBef>
                <a:spcPts val="175"/>
              </a:spcBef>
            </a:pP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prompt_template_name=PromptTemplate( input_variables=[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"cuisine"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],</a:t>
            </a:r>
            <a:endParaRPr sz="1100">
              <a:latin typeface="Courier New"/>
              <a:cs typeface="Courier New"/>
            </a:endParaRPr>
          </a:p>
          <a:p>
            <a:pPr marL="12700" marR="170815" indent="335915">
              <a:lnSpc>
                <a:spcPts val="1280"/>
              </a:lnSpc>
            </a:pPr>
            <a:r>
              <a:rPr sz="1100" dirty="0">
                <a:solidFill>
                  <a:srgbClr val="1E1B1A"/>
                </a:solidFill>
                <a:latin typeface="Courier New"/>
                <a:cs typeface="Courier New"/>
              </a:rPr>
              <a:t>template=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"i</a:t>
            </a:r>
            <a:r>
              <a:rPr sz="1100" spc="-5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want</a:t>
            </a:r>
            <a:r>
              <a:rPr sz="1100" spc="-5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to</a:t>
            </a:r>
            <a:r>
              <a:rPr sz="1100" spc="-45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open</a:t>
            </a:r>
            <a:r>
              <a:rPr sz="1100" spc="-5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a</a:t>
            </a:r>
            <a:r>
              <a:rPr sz="1100" spc="-6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restaurant</a:t>
            </a:r>
            <a:r>
              <a:rPr sz="1100" spc="-35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for</a:t>
            </a:r>
            <a:r>
              <a:rPr sz="1100" spc="-45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3CADE8"/>
                </a:solidFill>
                <a:latin typeface="Courier New"/>
                <a:cs typeface="Courier New"/>
              </a:rPr>
              <a:t>{cuisine}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,</a:t>
            </a:r>
            <a:r>
              <a:rPr sz="1100" spc="-6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suggest</a:t>
            </a:r>
            <a:r>
              <a:rPr sz="1100" spc="-45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spc="-50" dirty="0">
                <a:solidFill>
                  <a:srgbClr val="007F00"/>
                </a:solidFill>
                <a:latin typeface="Courier New"/>
                <a:cs typeface="Courier New"/>
              </a:rPr>
              <a:t>a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fency</a:t>
            </a:r>
            <a:r>
              <a:rPr sz="1100" spc="-4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name</a:t>
            </a:r>
            <a:r>
              <a:rPr sz="1100" spc="-25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for</a:t>
            </a:r>
            <a:r>
              <a:rPr sz="1100" spc="-35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spc="-25" dirty="0">
                <a:solidFill>
                  <a:srgbClr val="007F00"/>
                </a:solidFill>
                <a:latin typeface="Courier New"/>
                <a:cs typeface="Courier New"/>
              </a:rPr>
              <a:t>it"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ts val="1245"/>
              </a:lnSpc>
            </a:pPr>
            <a:r>
              <a:rPr sz="1100" spc="-50" dirty="0">
                <a:solidFill>
                  <a:srgbClr val="1E1B1A"/>
                </a:solidFill>
                <a:latin typeface="Courier New"/>
                <a:cs typeface="Courier New"/>
              </a:rPr>
              <a:t>)</a:t>
            </a:r>
            <a:endParaRPr sz="1100">
              <a:latin typeface="Courier New"/>
              <a:cs typeface="Courier New"/>
            </a:endParaRPr>
          </a:p>
          <a:p>
            <a:pPr marL="12700" marR="927735">
              <a:lnSpc>
                <a:spcPts val="1280"/>
              </a:lnSpc>
              <a:spcBef>
                <a:spcPts val="1205"/>
              </a:spcBef>
            </a:pP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name_chain=LLMChain(llm=client, prompt=prompt_template_name,output_key=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"restaurant_name"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)</a:t>
            </a:r>
            <a:endParaRPr sz="1100">
              <a:latin typeface="Courier New"/>
              <a:cs typeface="Courier New"/>
            </a:endParaRPr>
          </a:p>
          <a:p>
            <a:pPr marL="348615" marR="2357755" indent="-336550">
              <a:lnSpc>
                <a:spcPts val="1280"/>
              </a:lnSpc>
              <a:spcBef>
                <a:spcPts val="1000"/>
              </a:spcBef>
            </a:pP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prompt_templates_items=PromptTemplate( input_variables=[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"restaurant_name"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],</a:t>
            </a:r>
            <a:endParaRPr sz="1100">
              <a:latin typeface="Courier New"/>
              <a:cs typeface="Courier New"/>
            </a:endParaRPr>
          </a:p>
          <a:p>
            <a:pPr marL="348615">
              <a:lnSpc>
                <a:spcPts val="1245"/>
              </a:lnSpc>
            </a:pPr>
            <a:r>
              <a:rPr sz="1100" dirty="0">
                <a:solidFill>
                  <a:srgbClr val="1E1B1A"/>
                </a:solidFill>
                <a:latin typeface="Courier New"/>
                <a:cs typeface="Courier New"/>
              </a:rPr>
              <a:t>template=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"suggest</a:t>
            </a:r>
            <a:r>
              <a:rPr sz="1100" spc="-55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some</a:t>
            </a:r>
            <a:r>
              <a:rPr sz="1100" spc="-6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menu</a:t>
            </a:r>
            <a:r>
              <a:rPr sz="1100" spc="-5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items</a:t>
            </a:r>
            <a:r>
              <a:rPr sz="1100" spc="-6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for</a:t>
            </a:r>
            <a:r>
              <a:rPr sz="1100" spc="-55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3CADE8"/>
                </a:solidFill>
                <a:latin typeface="Courier New"/>
                <a:cs typeface="Courier New"/>
              </a:rPr>
              <a:t>{restaurant_name}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"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240"/>
              </a:spcBef>
            </a:pPr>
            <a:r>
              <a:rPr sz="1100" spc="-50" dirty="0">
                <a:solidFill>
                  <a:srgbClr val="1E1B1A"/>
                </a:solidFill>
                <a:latin typeface="Courier New"/>
                <a:cs typeface="Courier New"/>
              </a:rPr>
              <a:t>)</a:t>
            </a:r>
            <a:endParaRPr sz="1100">
              <a:latin typeface="Courier New"/>
              <a:cs typeface="Courier New"/>
            </a:endParaRPr>
          </a:p>
          <a:p>
            <a:pPr marL="12700" marR="5080">
              <a:lnSpc>
                <a:spcPts val="1280"/>
              </a:lnSpc>
              <a:spcBef>
                <a:spcPts val="1195"/>
              </a:spcBef>
            </a:pP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food_items_chain=LLMChain(llm=client,</a:t>
            </a:r>
            <a:r>
              <a:rPr sz="1100" spc="40" dirty="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prompt=prompt_templates_items, output_key=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"menu_items"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)</a:t>
            </a:r>
            <a:endParaRPr sz="1100">
              <a:latin typeface="Courier New"/>
              <a:cs typeface="Courier New"/>
            </a:endParaRPr>
          </a:p>
          <a:p>
            <a:pPr marL="12700" marR="678180">
              <a:lnSpc>
                <a:spcPts val="2280"/>
              </a:lnSpc>
              <a:spcBef>
                <a:spcPts val="200"/>
              </a:spcBef>
            </a:pPr>
            <a:r>
              <a:rPr sz="1100" dirty="0">
                <a:solidFill>
                  <a:srgbClr val="7827A0"/>
                </a:solidFill>
                <a:latin typeface="Courier New"/>
                <a:cs typeface="Courier New"/>
              </a:rPr>
              <a:t>from</a:t>
            </a:r>
            <a:r>
              <a:rPr sz="1100" spc="-85" dirty="0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1E1B1A"/>
                </a:solidFill>
                <a:latin typeface="Courier New"/>
                <a:cs typeface="Courier New"/>
              </a:rPr>
              <a:t>langchain.chains</a:t>
            </a:r>
            <a:r>
              <a:rPr sz="1100" spc="-65" dirty="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7827A0"/>
                </a:solidFill>
                <a:latin typeface="Courier New"/>
                <a:cs typeface="Courier New"/>
              </a:rPr>
              <a:t>import</a:t>
            </a:r>
            <a:r>
              <a:rPr sz="1100" spc="-80" dirty="0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SequentialChain chain=SequentialChain(chains=[name_chain,</a:t>
            </a:r>
            <a:r>
              <a:rPr sz="1100" spc="45" dirty="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food_items_chain],</a:t>
            </a:r>
            <a:endParaRPr sz="1100">
              <a:latin typeface="Courier New"/>
              <a:cs typeface="Courier New"/>
            </a:endParaRPr>
          </a:p>
          <a:p>
            <a:pPr marL="348615">
              <a:lnSpc>
                <a:spcPts val="1025"/>
              </a:lnSpc>
            </a:pP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input_variables=[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"cuisine"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],</a:t>
            </a:r>
            <a:endParaRPr sz="1100">
              <a:latin typeface="Courier New"/>
              <a:cs typeface="Courier New"/>
            </a:endParaRPr>
          </a:p>
          <a:p>
            <a:pPr marL="348615">
              <a:lnSpc>
                <a:spcPts val="1300"/>
              </a:lnSpc>
            </a:pP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output_variables=[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"restaurant_name"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,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"menu_items"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]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240"/>
              </a:spcBef>
            </a:pPr>
            <a:r>
              <a:rPr sz="1100" spc="-50" dirty="0">
                <a:solidFill>
                  <a:srgbClr val="1E1B1A"/>
                </a:solidFill>
                <a:latin typeface="Courier New"/>
                <a:cs typeface="Courier New"/>
              </a:rPr>
              <a:t>)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chain({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"cuisine"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: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"indian"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})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848360" y="4599940"/>
            <a:ext cx="6076315" cy="4350385"/>
          </a:xfrm>
          <a:custGeom>
            <a:avLst/>
            <a:gdLst/>
            <a:ahLst/>
            <a:cxnLst/>
            <a:rect l="l" t="t" r="r" b="b"/>
            <a:pathLst>
              <a:path w="6076315" h="4350384">
                <a:moveTo>
                  <a:pt x="0" y="1905"/>
                </a:moveTo>
                <a:lnTo>
                  <a:pt x="6076315" y="1905"/>
                </a:lnTo>
              </a:path>
              <a:path w="6076315" h="4350384">
                <a:moveTo>
                  <a:pt x="6075045" y="0"/>
                </a:moveTo>
                <a:lnTo>
                  <a:pt x="6075045" y="1478914"/>
                </a:lnTo>
              </a:path>
              <a:path w="6076315" h="4350384">
                <a:moveTo>
                  <a:pt x="1905" y="1478914"/>
                </a:moveTo>
                <a:lnTo>
                  <a:pt x="1905" y="0"/>
                </a:lnTo>
              </a:path>
              <a:path w="6076315" h="4350384">
                <a:moveTo>
                  <a:pt x="6075045" y="1351914"/>
                </a:moveTo>
                <a:lnTo>
                  <a:pt x="6075045" y="2891790"/>
                </a:lnTo>
              </a:path>
              <a:path w="6076315" h="4350384">
                <a:moveTo>
                  <a:pt x="1905" y="2891790"/>
                </a:moveTo>
                <a:lnTo>
                  <a:pt x="1905" y="1351914"/>
                </a:lnTo>
              </a:path>
              <a:path w="6076315" h="4350384">
                <a:moveTo>
                  <a:pt x="6075045" y="2764790"/>
                </a:moveTo>
                <a:lnTo>
                  <a:pt x="6075045" y="3181350"/>
                </a:lnTo>
              </a:path>
              <a:path w="6076315" h="4350384">
                <a:moveTo>
                  <a:pt x="1905" y="3181350"/>
                </a:moveTo>
                <a:lnTo>
                  <a:pt x="1905" y="2764790"/>
                </a:lnTo>
              </a:path>
              <a:path w="6076315" h="4350384">
                <a:moveTo>
                  <a:pt x="6075045" y="3054350"/>
                </a:moveTo>
                <a:lnTo>
                  <a:pt x="6075045" y="4121150"/>
                </a:lnTo>
              </a:path>
              <a:path w="6076315" h="4350384">
                <a:moveTo>
                  <a:pt x="1905" y="4121150"/>
                </a:moveTo>
                <a:lnTo>
                  <a:pt x="1905" y="3054350"/>
                </a:lnTo>
              </a:path>
              <a:path w="6076315" h="4350384">
                <a:moveTo>
                  <a:pt x="6075045" y="3994150"/>
                </a:moveTo>
                <a:lnTo>
                  <a:pt x="6075045" y="4350385"/>
                </a:lnTo>
              </a:path>
              <a:path w="6076315" h="4350384">
                <a:moveTo>
                  <a:pt x="6076315" y="4349115"/>
                </a:moveTo>
                <a:lnTo>
                  <a:pt x="0" y="4349115"/>
                </a:lnTo>
              </a:path>
              <a:path w="6076315" h="4350384">
                <a:moveTo>
                  <a:pt x="1905" y="4350385"/>
                </a:moveTo>
                <a:lnTo>
                  <a:pt x="1905" y="3994150"/>
                </a:lnTo>
              </a:path>
              <a:path w="6076315" h="4350384">
                <a:moveTo>
                  <a:pt x="0" y="1905"/>
                </a:moveTo>
                <a:lnTo>
                  <a:pt x="6076315" y="1905"/>
                </a:lnTo>
              </a:path>
              <a:path w="6076315" h="4350384">
                <a:moveTo>
                  <a:pt x="6075045" y="0"/>
                </a:moveTo>
                <a:lnTo>
                  <a:pt x="6075045" y="1478914"/>
                </a:lnTo>
              </a:path>
              <a:path w="6076315" h="4350384">
                <a:moveTo>
                  <a:pt x="1905" y="1478914"/>
                </a:moveTo>
                <a:lnTo>
                  <a:pt x="1905" y="0"/>
                </a:lnTo>
              </a:path>
              <a:path w="6076315" h="4350384">
                <a:moveTo>
                  <a:pt x="6075045" y="1351914"/>
                </a:moveTo>
                <a:lnTo>
                  <a:pt x="6075045" y="2891790"/>
                </a:lnTo>
              </a:path>
              <a:path w="6076315" h="4350384">
                <a:moveTo>
                  <a:pt x="1905" y="2891790"/>
                </a:moveTo>
                <a:lnTo>
                  <a:pt x="1905" y="1351914"/>
                </a:lnTo>
              </a:path>
              <a:path w="6076315" h="4350384">
                <a:moveTo>
                  <a:pt x="6075045" y="2764790"/>
                </a:moveTo>
                <a:lnTo>
                  <a:pt x="6075045" y="3181350"/>
                </a:lnTo>
              </a:path>
              <a:path w="6076315" h="4350384">
                <a:moveTo>
                  <a:pt x="1905" y="3181350"/>
                </a:moveTo>
                <a:lnTo>
                  <a:pt x="1905" y="2764790"/>
                </a:lnTo>
              </a:path>
              <a:path w="6076315" h="4350384">
                <a:moveTo>
                  <a:pt x="6075045" y="3054350"/>
                </a:moveTo>
                <a:lnTo>
                  <a:pt x="6075045" y="4121150"/>
                </a:lnTo>
              </a:path>
              <a:path w="6076315" h="4350384">
                <a:moveTo>
                  <a:pt x="1905" y="4121150"/>
                </a:moveTo>
                <a:lnTo>
                  <a:pt x="1905" y="3054350"/>
                </a:lnTo>
              </a:path>
              <a:path w="6076315" h="4350384">
                <a:moveTo>
                  <a:pt x="6075045" y="3994150"/>
                </a:moveTo>
                <a:lnTo>
                  <a:pt x="6075045" y="4350385"/>
                </a:lnTo>
              </a:path>
              <a:path w="6076315" h="4350384">
                <a:moveTo>
                  <a:pt x="6076315" y="4349115"/>
                </a:moveTo>
                <a:lnTo>
                  <a:pt x="0" y="4349115"/>
                </a:lnTo>
              </a:path>
              <a:path w="6076315" h="4350384">
                <a:moveTo>
                  <a:pt x="1905" y="4350385"/>
                </a:moveTo>
                <a:lnTo>
                  <a:pt x="1905" y="3994150"/>
                </a:lnTo>
              </a:path>
            </a:pathLst>
          </a:custGeom>
          <a:ln w="3175">
            <a:solidFill>
              <a:srgbClr val="E2E2E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47725" y="913764"/>
            <a:ext cx="6076950" cy="2861310"/>
          </a:xfrm>
          <a:custGeom>
            <a:avLst/>
            <a:gdLst/>
            <a:ahLst/>
            <a:cxnLst/>
            <a:rect l="l" t="t" r="r" b="b"/>
            <a:pathLst>
              <a:path w="6076950" h="2861310">
                <a:moveTo>
                  <a:pt x="6076950" y="0"/>
                </a:moveTo>
                <a:lnTo>
                  <a:pt x="0" y="0"/>
                </a:lnTo>
                <a:lnTo>
                  <a:pt x="0" y="879475"/>
                </a:lnTo>
                <a:lnTo>
                  <a:pt x="0" y="880110"/>
                </a:lnTo>
                <a:lnTo>
                  <a:pt x="0" y="2861310"/>
                </a:lnTo>
                <a:lnTo>
                  <a:pt x="6076950" y="2861310"/>
                </a:lnTo>
                <a:lnTo>
                  <a:pt x="6076950" y="880110"/>
                </a:lnTo>
                <a:lnTo>
                  <a:pt x="6076950" y="879475"/>
                </a:lnTo>
                <a:lnTo>
                  <a:pt x="6076950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47725" y="4415154"/>
            <a:ext cx="6076950" cy="4634230"/>
          </a:xfrm>
          <a:custGeom>
            <a:avLst/>
            <a:gdLst/>
            <a:ahLst/>
            <a:cxnLst/>
            <a:rect l="l" t="t" r="r" b="b"/>
            <a:pathLst>
              <a:path w="6076950" h="4634230">
                <a:moveTo>
                  <a:pt x="6076950" y="0"/>
                </a:moveTo>
                <a:lnTo>
                  <a:pt x="0" y="0"/>
                </a:lnTo>
                <a:lnTo>
                  <a:pt x="0" y="229235"/>
                </a:lnTo>
                <a:lnTo>
                  <a:pt x="0" y="229870"/>
                </a:lnTo>
                <a:lnTo>
                  <a:pt x="0" y="4634230"/>
                </a:lnTo>
                <a:lnTo>
                  <a:pt x="6076950" y="4634230"/>
                </a:lnTo>
                <a:lnTo>
                  <a:pt x="6076950" y="229235"/>
                </a:lnTo>
                <a:lnTo>
                  <a:pt x="6076950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914400" y="981710"/>
            <a:ext cx="5888355" cy="812165"/>
            <a:chOff x="914400" y="981710"/>
            <a:chExt cx="5888355" cy="812165"/>
          </a:xfrm>
        </p:grpSpPr>
        <p:sp>
          <p:nvSpPr>
            <p:cNvPr id="5" name="object 5"/>
            <p:cNvSpPr/>
            <p:nvPr/>
          </p:nvSpPr>
          <p:spPr>
            <a:xfrm>
              <a:off x="914400" y="981709"/>
              <a:ext cx="5888355" cy="487045"/>
            </a:xfrm>
            <a:custGeom>
              <a:avLst/>
              <a:gdLst/>
              <a:ahLst/>
              <a:cxnLst/>
              <a:rect l="l" t="t" r="r" b="b"/>
              <a:pathLst>
                <a:path w="5888355" h="487044">
                  <a:moveTo>
                    <a:pt x="4457065" y="162560"/>
                  </a:moveTo>
                  <a:lnTo>
                    <a:pt x="0" y="162560"/>
                  </a:lnTo>
                  <a:lnTo>
                    <a:pt x="0" y="324485"/>
                  </a:lnTo>
                  <a:lnTo>
                    <a:pt x="4457065" y="324485"/>
                  </a:lnTo>
                  <a:lnTo>
                    <a:pt x="4457065" y="162560"/>
                  </a:lnTo>
                  <a:close/>
                </a:path>
                <a:path w="5888355" h="487044">
                  <a:moveTo>
                    <a:pt x="5550535" y="0"/>
                  </a:moveTo>
                  <a:lnTo>
                    <a:pt x="0" y="0"/>
                  </a:lnTo>
                  <a:lnTo>
                    <a:pt x="0" y="161925"/>
                  </a:lnTo>
                  <a:lnTo>
                    <a:pt x="5550535" y="161925"/>
                  </a:lnTo>
                  <a:lnTo>
                    <a:pt x="5550535" y="0"/>
                  </a:lnTo>
                  <a:close/>
                </a:path>
                <a:path w="5888355" h="487044">
                  <a:moveTo>
                    <a:pt x="5888355" y="325120"/>
                  </a:moveTo>
                  <a:lnTo>
                    <a:pt x="0" y="325120"/>
                  </a:lnTo>
                  <a:lnTo>
                    <a:pt x="0" y="487045"/>
                  </a:lnTo>
                  <a:lnTo>
                    <a:pt x="5888355" y="487045"/>
                  </a:lnTo>
                  <a:lnTo>
                    <a:pt x="5888355" y="325120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531245" y="1466614"/>
              <a:ext cx="672465" cy="0"/>
            </a:xfrm>
            <a:custGeom>
              <a:avLst/>
              <a:gdLst/>
              <a:ahLst/>
              <a:cxnLst/>
              <a:rect l="l" t="t" r="r" b="b"/>
              <a:pathLst>
                <a:path w="672464">
                  <a:moveTo>
                    <a:pt x="0" y="0"/>
                  </a:moveTo>
                  <a:lnTo>
                    <a:pt x="167926" y="0"/>
                  </a:lnTo>
                </a:path>
                <a:path w="672464">
                  <a:moveTo>
                    <a:pt x="504037" y="0"/>
                  </a:moveTo>
                  <a:lnTo>
                    <a:pt x="671964" y="0"/>
                  </a:lnTo>
                </a:path>
              </a:pathLst>
            </a:custGeom>
            <a:ln w="54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14400" y="1469389"/>
              <a:ext cx="5466715" cy="324485"/>
            </a:xfrm>
            <a:custGeom>
              <a:avLst/>
              <a:gdLst/>
              <a:ahLst/>
              <a:cxnLst/>
              <a:rect l="l" t="t" r="r" b="b"/>
              <a:pathLst>
                <a:path w="5466715" h="324485">
                  <a:moveTo>
                    <a:pt x="1511935" y="162560"/>
                  </a:moveTo>
                  <a:lnTo>
                    <a:pt x="0" y="162560"/>
                  </a:lnTo>
                  <a:lnTo>
                    <a:pt x="0" y="324485"/>
                  </a:lnTo>
                  <a:lnTo>
                    <a:pt x="1511935" y="324485"/>
                  </a:lnTo>
                  <a:lnTo>
                    <a:pt x="1511935" y="162560"/>
                  </a:lnTo>
                  <a:close/>
                </a:path>
                <a:path w="5466715" h="324485">
                  <a:moveTo>
                    <a:pt x="5466715" y="0"/>
                  </a:moveTo>
                  <a:lnTo>
                    <a:pt x="0" y="0"/>
                  </a:lnTo>
                  <a:lnTo>
                    <a:pt x="0" y="161925"/>
                  </a:lnTo>
                  <a:lnTo>
                    <a:pt x="5466715" y="161925"/>
                  </a:lnTo>
                  <a:lnTo>
                    <a:pt x="5466715" y="0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/>
          <p:nvPr/>
        </p:nvSpPr>
        <p:spPr>
          <a:xfrm>
            <a:off x="914400" y="1921509"/>
            <a:ext cx="5887085" cy="1787525"/>
          </a:xfrm>
          <a:custGeom>
            <a:avLst/>
            <a:gdLst/>
            <a:ahLst/>
            <a:cxnLst/>
            <a:rect l="l" t="t" r="r" b="b"/>
            <a:pathLst>
              <a:path w="5887084" h="1787525">
                <a:moveTo>
                  <a:pt x="1764665" y="0"/>
                </a:moveTo>
                <a:lnTo>
                  <a:pt x="0" y="0"/>
                </a:lnTo>
                <a:lnTo>
                  <a:pt x="0" y="161925"/>
                </a:lnTo>
                <a:lnTo>
                  <a:pt x="1764665" y="161925"/>
                </a:lnTo>
                <a:lnTo>
                  <a:pt x="1764665" y="0"/>
                </a:lnTo>
                <a:close/>
              </a:path>
              <a:path w="5887084" h="1787525">
                <a:moveTo>
                  <a:pt x="2858135" y="1625600"/>
                </a:moveTo>
                <a:lnTo>
                  <a:pt x="0" y="1625600"/>
                </a:lnTo>
                <a:lnTo>
                  <a:pt x="0" y="1787525"/>
                </a:lnTo>
                <a:lnTo>
                  <a:pt x="2858135" y="1787525"/>
                </a:lnTo>
                <a:lnTo>
                  <a:pt x="2858135" y="1625600"/>
                </a:lnTo>
                <a:close/>
              </a:path>
              <a:path w="5887084" h="1787525">
                <a:moveTo>
                  <a:pt x="3194685" y="650240"/>
                </a:moveTo>
                <a:lnTo>
                  <a:pt x="0" y="650240"/>
                </a:lnTo>
                <a:lnTo>
                  <a:pt x="0" y="812165"/>
                </a:lnTo>
                <a:lnTo>
                  <a:pt x="3194685" y="812165"/>
                </a:lnTo>
                <a:lnTo>
                  <a:pt x="3194685" y="650240"/>
                </a:lnTo>
                <a:close/>
              </a:path>
              <a:path w="5887084" h="1787525">
                <a:moveTo>
                  <a:pt x="4962525" y="1300480"/>
                </a:moveTo>
                <a:lnTo>
                  <a:pt x="0" y="1300480"/>
                </a:lnTo>
                <a:lnTo>
                  <a:pt x="0" y="1462405"/>
                </a:lnTo>
                <a:lnTo>
                  <a:pt x="4962525" y="1462405"/>
                </a:lnTo>
                <a:lnTo>
                  <a:pt x="4962525" y="1300480"/>
                </a:lnTo>
                <a:close/>
              </a:path>
              <a:path w="5887084" h="1787525">
                <a:moveTo>
                  <a:pt x="5382895" y="325120"/>
                </a:moveTo>
                <a:lnTo>
                  <a:pt x="0" y="325120"/>
                </a:lnTo>
                <a:lnTo>
                  <a:pt x="0" y="487045"/>
                </a:lnTo>
                <a:lnTo>
                  <a:pt x="5382895" y="487045"/>
                </a:lnTo>
                <a:lnTo>
                  <a:pt x="5382895" y="325120"/>
                </a:lnTo>
                <a:close/>
              </a:path>
              <a:path w="5887084" h="1787525">
                <a:moveTo>
                  <a:pt x="5551805" y="812800"/>
                </a:moveTo>
                <a:lnTo>
                  <a:pt x="0" y="812800"/>
                </a:lnTo>
                <a:lnTo>
                  <a:pt x="0" y="974725"/>
                </a:lnTo>
                <a:lnTo>
                  <a:pt x="5551805" y="974725"/>
                </a:lnTo>
                <a:lnTo>
                  <a:pt x="5551805" y="812800"/>
                </a:lnTo>
                <a:close/>
              </a:path>
              <a:path w="5887084" h="1787525">
                <a:moveTo>
                  <a:pt x="5635625" y="1463040"/>
                </a:moveTo>
                <a:lnTo>
                  <a:pt x="0" y="1463040"/>
                </a:lnTo>
                <a:lnTo>
                  <a:pt x="0" y="1624965"/>
                </a:lnTo>
                <a:lnTo>
                  <a:pt x="5635625" y="1624965"/>
                </a:lnTo>
                <a:lnTo>
                  <a:pt x="5635625" y="1463040"/>
                </a:lnTo>
                <a:close/>
              </a:path>
              <a:path w="5887084" h="1787525">
                <a:moveTo>
                  <a:pt x="5635625" y="1137920"/>
                </a:moveTo>
                <a:lnTo>
                  <a:pt x="0" y="1137920"/>
                </a:lnTo>
                <a:lnTo>
                  <a:pt x="0" y="1299845"/>
                </a:lnTo>
                <a:lnTo>
                  <a:pt x="5635625" y="1299845"/>
                </a:lnTo>
                <a:lnTo>
                  <a:pt x="5635625" y="1137920"/>
                </a:lnTo>
                <a:close/>
              </a:path>
              <a:path w="5887084" h="1787525">
                <a:moveTo>
                  <a:pt x="5803265" y="975360"/>
                </a:moveTo>
                <a:lnTo>
                  <a:pt x="0" y="975360"/>
                </a:lnTo>
                <a:lnTo>
                  <a:pt x="0" y="1137285"/>
                </a:lnTo>
                <a:lnTo>
                  <a:pt x="5803265" y="1137285"/>
                </a:lnTo>
                <a:lnTo>
                  <a:pt x="5803265" y="975360"/>
                </a:lnTo>
                <a:close/>
              </a:path>
              <a:path w="5887084" h="1787525">
                <a:moveTo>
                  <a:pt x="5803265" y="487680"/>
                </a:moveTo>
                <a:lnTo>
                  <a:pt x="0" y="487680"/>
                </a:lnTo>
                <a:lnTo>
                  <a:pt x="0" y="649605"/>
                </a:lnTo>
                <a:lnTo>
                  <a:pt x="5803265" y="649605"/>
                </a:lnTo>
                <a:lnTo>
                  <a:pt x="5803265" y="487680"/>
                </a:lnTo>
                <a:close/>
              </a:path>
              <a:path w="5887084" h="1787525">
                <a:moveTo>
                  <a:pt x="5887085" y="162560"/>
                </a:moveTo>
                <a:lnTo>
                  <a:pt x="0" y="162560"/>
                </a:lnTo>
                <a:lnTo>
                  <a:pt x="0" y="324485"/>
                </a:lnTo>
                <a:lnTo>
                  <a:pt x="5887085" y="324485"/>
                </a:lnTo>
                <a:lnTo>
                  <a:pt x="5887085" y="16256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850264" y="916305"/>
            <a:ext cx="6073140" cy="2857500"/>
          </a:xfrm>
          <a:prstGeom prst="rect">
            <a:avLst/>
          </a:prstGeom>
          <a:ln w="3175">
            <a:solidFill>
              <a:srgbClr val="E2E2E2"/>
            </a:solidFill>
          </a:ln>
        </p:spPr>
        <p:txBody>
          <a:bodyPr vert="horz" wrap="square" lIns="0" tIns="64769" rIns="0" bIns="0" rtlCol="0">
            <a:spAutoFit/>
          </a:bodyPr>
          <a:lstStyle/>
          <a:p>
            <a:pPr marL="64769" marR="112395">
              <a:lnSpc>
                <a:spcPts val="1280"/>
              </a:lnSpc>
              <a:spcBef>
                <a:spcPts val="509"/>
              </a:spcBef>
              <a:tabLst>
                <a:tab pos="3848100" algn="l"/>
                <a:tab pos="4352290" algn="l"/>
              </a:tabLst>
            </a:pPr>
            <a:r>
              <a:rPr sz="1100" spc="-10" dirty="0">
                <a:latin typeface="Courier New"/>
                <a:cs typeface="Courier New"/>
              </a:rPr>
              <a:t>/Users/mayankchugh/opt/anaconda3/envs/genaifisrtprj/lib/python3.8/ site-packages/langchain_core/_api/deprecation.py:117: LangChainDeprecationWarning:</a:t>
            </a:r>
            <a:r>
              <a:rPr sz="1100" spc="-2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function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spc="-50" dirty="0">
                <a:latin typeface="Courier New"/>
                <a:cs typeface="Courier New"/>
              </a:rPr>
              <a:t>`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0" dirty="0">
                <a:latin typeface="Courier New"/>
                <a:cs typeface="Courier New"/>
              </a:rPr>
              <a:t>call</a:t>
            </a:r>
            <a:r>
              <a:rPr sz="1100" dirty="0">
                <a:latin typeface="Courier New"/>
                <a:cs typeface="Courier New"/>
              </a:rPr>
              <a:t>	`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was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deprecated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in </a:t>
            </a:r>
            <a:r>
              <a:rPr sz="1100" dirty="0">
                <a:latin typeface="Courier New"/>
                <a:cs typeface="Courier New"/>
              </a:rPr>
              <a:t>LangChain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0.1.0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will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be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removed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0.2.0.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Use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invoke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instead.</a:t>
            </a:r>
            <a:endParaRPr sz="1100">
              <a:latin typeface="Courier New"/>
              <a:cs typeface="Courier New"/>
            </a:endParaRPr>
          </a:p>
          <a:p>
            <a:pPr marL="233045">
              <a:lnSpc>
                <a:spcPts val="1245"/>
              </a:lnSpc>
            </a:pPr>
            <a:r>
              <a:rPr sz="1100" spc="-10" dirty="0">
                <a:latin typeface="Courier New"/>
                <a:cs typeface="Courier New"/>
              </a:rPr>
              <a:t>warn_deprecated(</a:t>
            </a:r>
            <a:endParaRPr sz="1100">
              <a:latin typeface="Courier New"/>
              <a:cs typeface="Courier New"/>
            </a:endParaRPr>
          </a:p>
          <a:p>
            <a:pPr marL="64769">
              <a:lnSpc>
                <a:spcPts val="1300"/>
              </a:lnSpc>
              <a:spcBef>
                <a:spcPts val="960"/>
              </a:spcBef>
            </a:pPr>
            <a:r>
              <a:rPr sz="1100" dirty="0">
                <a:latin typeface="Courier New"/>
                <a:cs typeface="Courier New"/>
              </a:rPr>
              <a:t>{'cuisine':</a:t>
            </a:r>
            <a:r>
              <a:rPr sz="1100" spc="-10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'indian',</a:t>
            </a:r>
            <a:endParaRPr sz="1100">
              <a:latin typeface="Courier New"/>
              <a:cs typeface="Courier New"/>
            </a:endParaRPr>
          </a:p>
          <a:p>
            <a:pPr marL="64769" marR="113664" indent="83820">
              <a:lnSpc>
                <a:spcPts val="1280"/>
              </a:lnSpc>
              <a:spcBef>
                <a:spcPts val="55"/>
              </a:spcBef>
            </a:pPr>
            <a:r>
              <a:rPr sz="1100" dirty="0">
                <a:latin typeface="Courier New"/>
                <a:cs typeface="Courier New"/>
              </a:rPr>
              <a:t>'restaurant_name':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'\n\n1.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"Saffron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Spice"\n2.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"Taj</a:t>
            </a:r>
            <a:r>
              <a:rPr sz="1100" spc="-8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Mahal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Bistro"\n3. </a:t>
            </a:r>
            <a:r>
              <a:rPr sz="1100" dirty="0">
                <a:latin typeface="Courier New"/>
                <a:cs typeface="Courier New"/>
              </a:rPr>
              <a:t>"Curry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Couture"\n4.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"Naan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&amp;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Nectar"\n5.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"Garam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Masala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Grill"\n6. </a:t>
            </a:r>
            <a:r>
              <a:rPr sz="1100" dirty="0">
                <a:latin typeface="Courier New"/>
                <a:cs typeface="Courier New"/>
              </a:rPr>
              <a:t>"Chutney</a:t>
            </a:r>
            <a:r>
              <a:rPr sz="1100" spc="-8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Charm"\n7.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"Bollywood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Bites"\n8.</a:t>
            </a:r>
            <a:r>
              <a:rPr sz="1100" spc="-8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"The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Maharaja\'s</a:t>
            </a:r>
            <a:r>
              <a:rPr sz="1100" spc="-8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Table"\n9. </a:t>
            </a:r>
            <a:r>
              <a:rPr sz="1100" dirty="0">
                <a:latin typeface="Courier New"/>
                <a:cs typeface="Courier New"/>
              </a:rPr>
              <a:t>"Masala</a:t>
            </a:r>
            <a:r>
              <a:rPr sz="1100" spc="-8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Mansion"\n10.</a:t>
            </a:r>
            <a:r>
              <a:rPr sz="1100" spc="-9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"Namaste</a:t>
            </a:r>
            <a:r>
              <a:rPr sz="1100" spc="-8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Nosh"',</a:t>
            </a:r>
            <a:endParaRPr sz="1100">
              <a:latin typeface="Courier New"/>
              <a:cs typeface="Courier New"/>
            </a:endParaRPr>
          </a:p>
          <a:p>
            <a:pPr marL="64769" marR="197485" indent="83820">
              <a:lnSpc>
                <a:spcPts val="1280"/>
              </a:lnSpc>
            </a:pPr>
            <a:r>
              <a:rPr sz="1100" dirty="0">
                <a:latin typeface="Courier New"/>
                <a:cs typeface="Courier New"/>
              </a:rPr>
              <a:t>'menu_items':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'\n\n1.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"Saffron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Chicken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Tikka"\n2.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"Taj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Mahal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Lamb </a:t>
            </a:r>
            <a:r>
              <a:rPr sz="1100" dirty="0">
                <a:latin typeface="Courier New"/>
                <a:cs typeface="Courier New"/>
              </a:rPr>
              <a:t>Curry"\n3.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"Curry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Couture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Vegetable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Samosas"\n4.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"Naan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&amp;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Nectar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Mango </a:t>
            </a:r>
            <a:r>
              <a:rPr sz="1100" dirty="0">
                <a:latin typeface="Courier New"/>
                <a:cs typeface="Courier New"/>
              </a:rPr>
              <a:t>Lassi"\n5.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"Garam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Masala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Tandoori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Shrimp"\n6.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"Chutney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Charm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Paneer </a:t>
            </a:r>
            <a:r>
              <a:rPr sz="1100" dirty="0">
                <a:latin typeface="Courier New"/>
                <a:cs typeface="Courier New"/>
              </a:rPr>
              <a:t>Tikka</a:t>
            </a:r>
            <a:r>
              <a:rPr sz="1100" spc="-8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Masala"\n7.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"Bollywood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Bites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Butter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Chicken"\n8.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"The </a:t>
            </a:r>
            <a:r>
              <a:rPr sz="1100" dirty="0">
                <a:latin typeface="Courier New"/>
                <a:cs typeface="Courier New"/>
              </a:rPr>
              <a:t>Maharaja\'s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Table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Biryani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Rice"\n9.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"Masala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Mansion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Lamb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Vindaloo"\ </a:t>
            </a:r>
            <a:r>
              <a:rPr sz="1100" dirty="0">
                <a:latin typeface="Courier New"/>
                <a:cs typeface="Courier New"/>
              </a:rPr>
              <a:t>n10.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"Namaste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Nosh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Palak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Paneer"'}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02969" y="4064000"/>
            <a:ext cx="212090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dirty="0">
                <a:latin typeface="Arial"/>
                <a:cs typeface="Arial"/>
              </a:rPr>
              <a:t>document</a:t>
            </a:r>
            <a:r>
              <a:rPr sz="2200" spc="45" dirty="0">
                <a:latin typeface="Arial"/>
                <a:cs typeface="Arial"/>
              </a:rPr>
              <a:t> </a:t>
            </a:r>
            <a:r>
              <a:rPr sz="2200" spc="-10" dirty="0">
                <a:latin typeface="Arial"/>
                <a:cs typeface="Arial"/>
              </a:rPr>
              <a:t>loders</a:t>
            </a:r>
            <a:endParaRPr sz="22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14400" y="5514339"/>
            <a:ext cx="4711065" cy="324485"/>
          </a:xfrm>
          <a:custGeom>
            <a:avLst/>
            <a:gdLst/>
            <a:ahLst/>
            <a:cxnLst/>
            <a:rect l="l" t="t" r="r" b="b"/>
            <a:pathLst>
              <a:path w="4711065" h="324485">
                <a:moveTo>
                  <a:pt x="1260475" y="162560"/>
                </a:moveTo>
                <a:lnTo>
                  <a:pt x="0" y="162560"/>
                </a:lnTo>
                <a:lnTo>
                  <a:pt x="0" y="324485"/>
                </a:lnTo>
                <a:lnTo>
                  <a:pt x="1260475" y="324485"/>
                </a:lnTo>
                <a:lnTo>
                  <a:pt x="1260475" y="162560"/>
                </a:lnTo>
                <a:close/>
              </a:path>
              <a:path w="4711065" h="324485">
                <a:moveTo>
                  <a:pt x="4711065" y="0"/>
                </a:moveTo>
                <a:lnTo>
                  <a:pt x="0" y="0"/>
                </a:lnTo>
                <a:lnTo>
                  <a:pt x="0" y="161925"/>
                </a:lnTo>
                <a:lnTo>
                  <a:pt x="4711065" y="161925"/>
                </a:lnTo>
                <a:lnTo>
                  <a:pt x="4711065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902969" y="4460240"/>
            <a:ext cx="5661660" cy="1386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7827A0"/>
                </a:solidFill>
                <a:latin typeface="Courier New"/>
                <a:cs typeface="Courier New"/>
              </a:rPr>
              <a:t>from</a:t>
            </a:r>
            <a:r>
              <a:rPr sz="1100" spc="-30" dirty="0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langchain.document_loaders </a:t>
            </a:r>
            <a:r>
              <a:rPr sz="1100" dirty="0">
                <a:solidFill>
                  <a:srgbClr val="7827A0"/>
                </a:solidFill>
                <a:latin typeface="Courier New"/>
                <a:cs typeface="Courier New"/>
              </a:rPr>
              <a:t>import</a:t>
            </a:r>
            <a:r>
              <a:rPr sz="1100" spc="-15" dirty="0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PyPDFLoader</a:t>
            </a:r>
            <a:endParaRPr sz="1100">
              <a:latin typeface="Courier New"/>
              <a:cs typeface="Courier New"/>
            </a:endParaRPr>
          </a:p>
          <a:p>
            <a:pPr marL="12700" marR="5080">
              <a:lnSpc>
                <a:spcPts val="1280"/>
              </a:lnSpc>
              <a:spcBef>
                <a:spcPts val="1035"/>
              </a:spcBef>
            </a:pPr>
            <a:r>
              <a:rPr sz="1100" dirty="0">
                <a:solidFill>
                  <a:srgbClr val="1E1B1A"/>
                </a:solidFill>
                <a:latin typeface="Courier New"/>
                <a:cs typeface="Courier New"/>
              </a:rPr>
              <a:t>loader</a:t>
            </a:r>
            <a:r>
              <a:rPr sz="1100" spc="5" dirty="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1E1B1A"/>
                </a:solidFill>
                <a:latin typeface="Courier New"/>
                <a:cs typeface="Courier New"/>
              </a:rPr>
              <a:t>=</a:t>
            </a:r>
            <a:r>
              <a:rPr sz="1100" spc="-5" dirty="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PyPDFLoader(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r"/Users/mayankchugh/Documents/CV/Mayank's</a:t>
            </a:r>
            <a:r>
              <a:rPr sz="1100" spc="5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spc="-25" dirty="0">
                <a:solidFill>
                  <a:srgbClr val="007F00"/>
                </a:solidFill>
                <a:latin typeface="Courier New"/>
                <a:cs typeface="Courier New"/>
              </a:rPr>
              <a:t>Feb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2024</a:t>
            </a:r>
            <a:r>
              <a:rPr sz="1100" spc="-2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-</a:t>
            </a:r>
            <a:r>
              <a:rPr sz="1100" spc="-2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CV.pdf"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)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loader</a:t>
            </a:r>
            <a:endParaRPr sz="1100">
              <a:latin typeface="Courier New"/>
              <a:cs typeface="Courier New"/>
            </a:endParaRPr>
          </a:p>
          <a:p>
            <a:pPr marL="12700" marR="932180">
              <a:lnSpc>
                <a:spcPts val="1280"/>
              </a:lnSpc>
              <a:spcBef>
                <a:spcPts val="1035"/>
              </a:spcBef>
            </a:pPr>
            <a:r>
              <a:rPr sz="1100" spc="-10" dirty="0">
                <a:latin typeface="Courier New"/>
                <a:cs typeface="Courier New"/>
              </a:rPr>
              <a:t>&lt;langchain_community.document_loaders.pdf.PyPDFLoader</a:t>
            </a:r>
            <a:r>
              <a:rPr sz="1100" spc="40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at </a:t>
            </a:r>
            <a:r>
              <a:rPr sz="1100" spc="-10" dirty="0">
                <a:latin typeface="Courier New"/>
                <a:cs typeface="Courier New"/>
              </a:rPr>
              <a:t>0x7faa286018e0&gt;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914400" y="6545580"/>
            <a:ext cx="5046345" cy="161925"/>
          </a:xfrm>
          <a:custGeom>
            <a:avLst/>
            <a:gdLst/>
            <a:ahLst/>
            <a:cxnLst/>
            <a:rect l="l" t="t" r="r" b="b"/>
            <a:pathLst>
              <a:path w="5046345" h="161925">
                <a:moveTo>
                  <a:pt x="5046345" y="0"/>
                </a:moveTo>
                <a:lnTo>
                  <a:pt x="0" y="0"/>
                </a:lnTo>
                <a:lnTo>
                  <a:pt x="0" y="161925"/>
                </a:lnTo>
                <a:lnTo>
                  <a:pt x="5046345" y="161925"/>
                </a:lnTo>
                <a:lnTo>
                  <a:pt x="5046345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902969" y="5943600"/>
            <a:ext cx="4145915" cy="772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1E1B1A"/>
                </a:solidFill>
                <a:latin typeface="Courier New"/>
                <a:cs typeface="Courier New"/>
              </a:rPr>
              <a:t>pages</a:t>
            </a:r>
            <a:r>
              <a:rPr sz="1100" spc="-20" dirty="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1E1B1A"/>
                </a:solidFill>
                <a:latin typeface="Courier New"/>
                <a:cs typeface="Courier New"/>
              </a:rPr>
              <a:t>=</a:t>
            </a:r>
            <a:r>
              <a:rPr sz="1100" spc="-30" dirty="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loader.load_and_split()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pages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  <a:tabLst>
                <a:tab pos="3123565" algn="l"/>
              </a:tabLst>
            </a:pPr>
            <a:r>
              <a:rPr sz="1100" spc="-10" dirty="0">
                <a:latin typeface="Courier New"/>
                <a:cs typeface="Courier New"/>
              </a:rPr>
              <a:t>[Document(page_content='Page</a:t>
            </a:r>
            <a:r>
              <a:rPr sz="1100" spc="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1 of</a:t>
            </a:r>
            <a:r>
              <a:rPr sz="1100" spc="-10" dirty="0">
                <a:latin typeface="Courier New"/>
                <a:cs typeface="Courier New"/>
              </a:rPr>
              <a:t> </a:t>
            </a:r>
            <a:r>
              <a:rPr sz="1100" spc="-50" dirty="0">
                <a:latin typeface="Courier New"/>
                <a:cs typeface="Courier New"/>
              </a:rPr>
              <a:t>3</a:t>
            </a:r>
            <a:r>
              <a:rPr sz="1100" dirty="0">
                <a:latin typeface="Courier New"/>
                <a:cs typeface="Courier New"/>
              </a:rPr>
              <a:t>	Mayank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Chugh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192598" y="6522719"/>
            <a:ext cx="78041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latin typeface="Courier New"/>
                <a:cs typeface="Courier New"/>
              </a:rPr>
              <a:t>Visionary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14400" y="6708140"/>
            <a:ext cx="5887720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Enterprise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Architect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|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Driving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Strategic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Innovation,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Cloud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Governance,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14400" y="6870700"/>
            <a:ext cx="573214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  <a:tabLst>
                <a:tab pos="5131435" algn="l"/>
              </a:tabLst>
            </a:pPr>
            <a:r>
              <a:rPr sz="1100" dirty="0">
                <a:latin typeface="Courier New"/>
                <a:cs typeface="Courier New"/>
              </a:rPr>
              <a:t>Integration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&amp;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Digital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Transformation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for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Global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Enterprises</a:t>
            </a:r>
            <a:r>
              <a:rPr sz="1100" dirty="0">
                <a:latin typeface="Courier New"/>
                <a:cs typeface="Courier New"/>
              </a:rPr>
              <a:t>	A</a:t>
            </a:r>
            <a:r>
              <a:rPr sz="1100" spc="-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tech-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14400" y="7033259"/>
            <a:ext cx="5887720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savvy,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self-</a:t>
            </a:r>
            <a:r>
              <a:rPr sz="1100" dirty="0">
                <a:latin typeface="Courier New"/>
                <a:cs typeface="Courier New"/>
              </a:rPr>
              <a:t>motivated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competent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professional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with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over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two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decades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14400" y="7195819"/>
            <a:ext cx="547941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of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pioneering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experience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strategic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IT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(Information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Technology)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14400" y="7358380"/>
            <a:ext cx="539686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leadership,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cloud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migration/integration,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solution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architecture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spc="-50" dirty="0">
                <a:latin typeface="Courier New"/>
                <a:cs typeface="Courier New"/>
              </a:rPr>
              <a:t>&amp;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14400" y="7520940"/>
            <a:ext cx="496252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development,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technical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project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management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within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global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14400" y="7683500"/>
            <a:ext cx="563562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enterprises,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aiming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to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leverage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expertise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driving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transformative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14400" y="7846059"/>
            <a:ext cx="580453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initiatives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8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fostering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innovation.</a:t>
            </a:r>
            <a:r>
              <a:rPr sz="1100" spc="-8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Seeking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career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advancement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with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914400" y="8008517"/>
            <a:ext cx="5804535" cy="16319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an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esteemed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organization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to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leverage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my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expertise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IT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arena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for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14400" y="8171180"/>
            <a:ext cx="496252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steering</a:t>
            </a:r>
            <a:r>
              <a:rPr sz="1100" spc="-10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transformative</a:t>
            </a:r>
            <a:r>
              <a:rPr sz="1100" spc="-10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initiatives,</a:t>
            </a:r>
            <a:r>
              <a:rPr sz="1100" spc="-9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performance-optimizing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914400" y="8333740"/>
            <a:ext cx="531177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operational</a:t>
            </a:r>
            <a:r>
              <a:rPr sz="1100" spc="-8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efficiency,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8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aligning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technology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frameworks</a:t>
            </a:r>
            <a:r>
              <a:rPr sz="1100" spc="-80" dirty="0">
                <a:latin typeface="Courier New"/>
                <a:cs typeface="Courier New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with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914400" y="8496300"/>
            <a:ext cx="5900420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business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objectives,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thereby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contributing</a:t>
            </a:r>
            <a:r>
              <a:rPr sz="1100" spc="-8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to</a:t>
            </a:r>
            <a:r>
              <a:rPr sz="1100" spc="-8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organizational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growth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and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914400" y="8658859"/>
            <a:ext cx="5887085" cy="324485"/>
          </a:xfrm>
          <a:custGeom>
            <a:avLst/>
            <a:gdLst/>
            <a:ahLst/>
            <a:cxnLst/>
            <a:rect l="l" t="t" r="r" b="b"/>
            <a:pathLst>
              <a:path w="5887084" h="324484">
                <a:moveTo>
                  <a:pt x="5551805" y="0"/>
                </a:moveTo>
                <a:lnTo>
                  <a:pt x="0" y="0"/>
                </a:lnTo>
                <a:lnTo>
                  <a:pt x="0" y="161925"/>
                </a:lnTo>
                <a:lnTo>
                  <a:pt x="5551805" y="161925"/>
                </a:lnTo>
                <a:lnTo>
                  <a:pt x="5551805" y="0"/>
                </a:lnTo>
                <a:close/>
              </a:path>
              <a:path w="5887084" h="324484">
                <a:moveTo>
                  <a:pt x="5887085" y="162560"/>
                </a:moveTo>
                <a:lnTo>
                  <a:pt x="0" y="162560"/>
                </a:lnTo>
                <a:lnTo>
                  <a:pt x="0" y="324485"/>
                </a:lnTo>
                <a:lnTo>
                  <a:pt x="5887085" y="324485"/>
                </a:lnTo>
                <a:lnTo>
                  <a:pt x="5887085" y="16256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902969" y="8636000"/>
            <a:ext cx="5911850" cy="35560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 marR="5080">
              <a:lnSpc>
                <a:spcPts val="1280"/>
              </a:lnSpc>
              <a:spcBef>
                <a:spcPts val="175"/>
              </a:spcBef>
              <a:tabLst>
                <a:tab pos="852805" algn="l"/>
                <a:tab pos="2283460" algn="l"/>
              </a:tabLst>
            </a:pPr>
            <a:r>
              <a:rPr sz="1100" spc="-10" dirty="0">
                <a:latin typeface="Courier New"/>
                <a:cs typeface="Courier New"/>
              </a:rPr>
              <a:t>success.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SKILLS</a:t>
            </a:r>
            <a:r>
              <a:rPr sz="1100" dirty="0">
                <a:latin typeface="Courier New"/>
                <a:cs typeface="Courier New"/>
              </a:rPr>
              <a:t>	Business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Analysis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Quality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Standards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and </a:t>
            </a:r>
            <a:r>
              <a:rPr sz="1100" dirty="0">
                <a:latin typeface="Courier New"/>
                <a:cs typeface="Courier New"/>
              </a:rPr>
              <a:t>Continue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Improvement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Plan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SDLC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Technical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Documentation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Team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Management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848360" y="4415790"/>
            <a:ext cx="6076315" cy="4633595"/>
          </a:xfrm>
          <a:custGeom>
            <a:avLst/>
            <a:gdLst/>
            <a:ahLst/>
            <a:cxnLst/>
            <a:rect l="l" t="t" r="r" b="b"/>
            <a:pathLst>
              <a:path w="6076315" h="4633595">
                <a:moveTo>
                  <a:pt x="0" y="1905"/>
                </a:moveTo>
                <a:lnTo>
                  <a:pt x="6076315" y="1905"/>
                </a:lnTo>
              </a:path>
              <a:path w="6076315" h="4633595">
                <a:moveTo>
                  <a:pt x="6075045" y="0"/>
                </a:moveTo>
                <a:lnTo>
                  <a:pt x="6075045" y="356235"/>
                </a:lnTo>
              </a:path>
              <a:path w="6076315" h="4633595">
                <a:moveTo>
                  <a:pt x="1905" y="356235"/>
                </a:moveTo>
                <a:lnTo>
                  <a:pt x="1905" y="0"/>
                </a:lnTo>
              </a:path>
              <a:path w="6076315" h="4633595">
                <a:moveTo>
                  <a:pt x="6075045" y="229235"/>
                </a:moveTo>
                <a:lnTo>
                  <a:pt x="6075045" y="808355"/>
                </a:lnTo>
              </a:path>
              <a:path w="6076315" h="4633595">
                <a:moveTo>
                  <a:pt x="1905" y="808355"/>
                </a:moveTo>
                <a:lnTo>
                  <a:pt x="1905" y="229235"/>
                </a:lnTo>
              </a:path>
              <a:path w="6076315" h="4633595">
                <a:moveTo>
                  <a:pt x="6075045" y="681355"/>
                </a:moveTo>
                <a:lnTo>
                  <a:pt x="6075045" y="1097914"/>
                </a:lnTo>
              </a:path>
              <a:path w="6076315" h="4633595">
                <a:moveTo>
                  <a:pt x="1905" y="1097914"/>
                </a:moveTo>
                <a:lnTo>
                  <a:pt x="1905" y="681355"/>
                </a:lnTo>
              </a:path>
              <a:path w="6076315" h="4633595">
                <a:moveTo>
                  <a:pt x="6075045" y="970914"/>
                </a:moveTo>
                <a:lnTo>
                  <a:pt x="6075045" y="1550035"/>
                </a:lnTo>
              </a:path>
              <a:path w="6076315" h="4633595">
                <a:moveTo>
                  <a:pt x="1905" y="1550035"/>
                </a:moveTo>
                <a:lnTo>
                  <a:pt x="1905" y="970914"/>
                </a:lnTo>
              </a:path>
              <a:path w="6076315" h="4633595">
                <a:moveTo>
                  <a:pt x="6075045" y="1423035"/>
                </a:moveTo>
                <a:lnTo>
                  <a:pt x="6075045" y="1839595"/>
                </a:lnTo>
              </a:path>
              <a:path w="6076315" h="4633595">
                <a:moveTo>
                  <a:pt x="1905" y="1839595"/>
                </a:moveTo>
                <a:lnTo>
                  <a:pt x="1905" y="1423035"/>
                </a:lnTo>
              </a:path>
              <a:path w="6076315" h="4633595">
                <a:moveTo>
                  <a:pt x="6075045" y="1712595"/>
                </a:moveTo>
                <a:lnTo>
                  <a:pt x="6075045" y="2129155"/>
                </a:lnTo>
              </a:path>
              <a:path w="6076315" h="4633595">
                <a:moveTo>
                  <a:pt x="1905" y="2129155"/>
                </a:moveTo>
                <a:lnTo>
                  <a:pt x="1905" y="1712595"/>
                </a:lnTo>
              </a:path>
              <a:path w="6076315" h="4633595">
                <a:moveTo>
                  <a:pt x="6075045" y="2002155"/>
                </a:moveTo>
                <a:lnTo>
                  <a:pt x="6075045" y="4633595"/>
                </a:lnTo>
              </a:path>
              <a:path w="6076315" h="4633595">
                <a:moveTo>
                  <a:pt x="6076315" y="4632325"/>
                </a:moveTo>
                <a:lnTo>
                  <a:pt x="0" y="4632325"/>
                </a:lnTo>
              </a:path>
              <a:path w="6076315" h="4633595">
                <a:moveTo>
                  <a:pt x="1905" y="4633595"/>
                </a:moveTo>
                <a:lnTo>
                  <a:pt x="1905" y="2002155"/>
                </a:lnTo>
              </a:path>
              <a:path w="6076315" h="4633595">
                <a:moveTo>
                  <a:pt x="0" y="1905"/>
                </a:moveTo>
                <a:lnTo>
                  <a:pt x="6076315" y="1905"/>
                </a:lnTo>
              </a:path>
              <a:path w="6076315" h="4633595">
                <a:moveTo>
                  <a:pt x="6075045" y="0"/>
                </a:moveTo>
                <a:lnTo>
                  <a:pt x="6075045" y="356235"/>
                </a:lnTo>
              </a:path>
              <a:path w="6076315" h="4633595">
                <a:moveTo>
                  <a:pt x="1905" y="356235"/>
                </a:moveTo>
                <a:lnTo>
                  <a:pt x="1905" y="0"/>
                </a:lnTo>
              </a:path>
              <a:path w="6076315" h="4633595">
                <a:moveTo>
                  <a:pt x="6075045" y="229235"/>
                </a:moveTo>
                <a:lnTo>
                  <a:pt x="6075045" y="808355"/>
                </a:lnTo>
              </a:path>
              <a:path w="6076315" h="4633595">
                <a:moveTo>
                  <a:pt x="1905" y="808355"/>
                </a:moveTo>
                <a:lnTo>
                  <a:pt x="1905" y="229235"/>
                </a:lnTo>
              </a:path>
              <a:path w="6076315" h="4633595">
                <a:moveTo>
                  <a:pt x="6075045" y="681355"/>
                </a:moveTo>
                <a:lnTo>
                  <a:pt x="6075045" y="1097914"/>
                </a:lnTo>
              </a:path>
              <a:path w="6076315" h="4633595">
                <a:moveTo>
                  <a:pt x="1905" y="1097914"/>
                </a:moveTo>
                <a:lnTo>
                  <a:pt x="1905" y="681355"/>
                </a:lnTo>
              </a:path>
              <a:path w="6076315" h="4633595">
                <a:moveTo>
                  <a:pt x="6075045" y="970914"/>
                </a:moveTo>
                <a:lnTo>
                  <a:pt x="6075045" y="1550035"/>
                </a:lnTo>
              </a:path>
              <a:path w="6076315" h="4633595">
                <a:moveTo>
                  <a:pt x="1905" y="1550035"/>
                </a:moveTo>
                <a:lnTo>
                  <a:pt x="1905" y="970914"/>
                </a:lnTo>
              </a:path>
              <a:path w="6076315" h="4633595">
                <a:moveTo>
                  <a:pt x="6075045" y="1423035"/>
                </a:moveTo>
                <a:lnTo>
                  <a:pt x="6075045" y="1839595"/>
                </a:lnTo>
              </a:path>
              <a:path w="6076315" h="4633595">
                <a:moveTo>
                  <a:pt x="1905" y="1839595"/>
                </a:moveTo>
                <a:lnTo>
                  <a:pt x="1905" y="1423035"/>
                </a:lnTo>
              </a:path>
              <a:path w="6076315" h="4633595">
                <a:moveTo>
                  <a:pt x="6075045" y="1712595"/>
                </a:moveTo>
                <a:lnTo>
                  <a:pt x="6075045" y="2129155"/>
                </a:lnTo>
              </a:path>
              <a:path w="6076315" h="4633595">
                <a:moveTo>
                  <a:pt x="1905" y="2129155"/>
                </a:moveTo>
                <a:lnTo>
                  <a:pt x="1905" y="1712595"/>
                </a:lnTo>
              </a:path>
              <a:path w="6076315" h="4633595">
                <a:moveTo>
                  <a:pt x="6075045" y="2002155"/>
                </a:moveTo>
                <a:lnTo>
                  <a:pt x="6075045" y="4633595"/>
                </a:lnTo>
              </a:path>
              <a:path w="6076315" h="4633595">
                <a:moveTo>
                  <a:pt x="6076315" y="4632325"/>
                </a:moveTo>
                <a:lnTo>
                  <a:pt x="0" y="4632325"/>
                </a:lnTo>
              </a:path>
              <a:path w="6076315" h="4633595">
                <a:moveTo>
                  <a:pt x="1905" y="4633595"/>
                </a:moveTo>
                <a:lnTo>
                  <a:pt x="1905" y="2002155"/>
                </a:lnTo>
              </a:path>
            </a:pathLst>
          </a:custGeom>
          <a:ln w="3175">
            <a:solidFill>
              <a:srgbClr val="E2E2E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47725" y="913764"/>
            <a:ext cx="6076950" cy="8098790"/>
            <a:chOff x="847725" y="913764"/>
            <a:chExt cx="6076950" cy="8098790"/>
          </a:xfrm>
        </p:grpSpPr>
        <p:sp>
          <p:nvSpPr>
            <p:cNvPr id="3" name="object 3"/>
            <p:cNvSpPr/>
            <p:nvPr/>
          </p:nvSpPr>
          <p:spPr>
            <a:xfrm>
              <a:off x="847725" y="913764"/>
              <a:ext cx="6076950" cy="8098790"/>
            </a:xfrm>
            <a:custGeom>
              <a:avLst/>
              <a:gdLst/>
              <a:ahLst/>
              <a:cxnLst/>
              <a:rect l="l" t="t" r="r" b="b"/>
              <a:pathLst>
                <a:path w="6076950" h="8098790">
                  <a:moveTo>
                    <a:pt x="6076950" y="0"/>
                  </a:moveTo>
                  <a:lnTo>
                    <a:pt x="0" y="0"/>
                  </a:lnTo>
                  <a:lnTo>
                    <a:pt x="0" y="8098789"/>
                  </a:lnTo>
                  <a:lnTo>
                    <a:pt x="6076950" y="8098789"/>
                  </a:lnTo>
                  <a:lnTo>
                    <a:pt x="6076950" y="0"/>
                  </a:lnTo>
                  <a:close/>
                </a:path>
              </a:pathLst>
            </a:custGeom>
            <a:solidFill>
              <a:srgbClr val="F4F4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14400" y="981709"/>
              <a:ext cx="5887085" cy="7964805"/>
            </a:xfrm>
            <a:custGeom>
              <a:avLst/>
              <a:gdLst/>
              <a:ahLst/>
              <a:cxnLst/>
              <a:rect l="l" t="t" r="r" b="b"/>
              <a:pathLst>
                <a:path w="5887084" h="7964805">
                  <a:moveTo>
                    <a:pt x="4121785" y="7477760"/>
                  </a:moveTo>
                  <a:lnTo>
                    <a:pt x="0" y="7477760"/>
                  </a:lnTo>
                  <a:lnTo>
                    <a:pt x="0" y="7639685"/>
                  </a:lnTo>
                  <a:lnTo>
                    <a:pt x="4121785" y="7639685"/>
                  </a:lnTo>
                  <a:lnTo>
                    <a:pt x="4121785" y="7477760"/>
                  </a:lnTo>
                  <a:close/>
                </a:path>
                <a:path w="5887084" h="7964805">
                  <a:moveTo>
                    <a:pt x="4793615" y="7152640"/>
                  </a:moveTo>
                  <a:lnTo>
                    <a:pt x="0" y="7152640"/>
                  </a:lnTo>
                  <a:lnTo>
                    <a:pt x="0" y="7314565"/>
                  </a:lnTo>
                  <a:lnTo>
                    <a:pt x="4793615" y="7314565"/>
                  </a:lnTo>
                  <a:lnTo>
                    <a:pt x="4793615" y="7152640"/>
                  </a:lnTo>
                  <a:close/>
                </a:path>
                <a:path w="5887084" h="7964805">
                  <a:moveTo>
                    <a:pt x="4877435" y="2763520"/>
                  </a:moveTo>
                  <a:lnTo>
                    <a:pt x="0" y="2763520"/>
                  </a:lnTo>
                  <a:lnTo>
                    <a:pt x="0" y="2925445"/>
                  </a:lnTo>
                  <a:lnTo>
                    <a:pt x="4877435" y="2925445"/>
                  </a:lnTo>
                  <a:lnTo>
                    <a:pt x="4877435" y="2763520"/>
                  </a:lnTo>
                  <a:close/>
                </a:path>
                <a:path w="5887084" h="7964805">
                  <a:moveTo>
                    <a:pt x="5046345" y="3576320"/>
                  </a:moveTo>
                  <a:lnTo>
                    <a:pt x="0" y="3576320"/>
                  </a:lnTo>
                  <a:lnTo>
                    <a:pt x="0" y="3738245"/>
                  </a:lnTo>
                  <a:lnTo>
                    <a:pt x="5046345" y="3738245"/>
                  </a:lnTo>
                  <a:lnTo>
                    <a:pt x="5046345" y="3576320"/>
                  </a:lnTo>
                  <a:close/>
                </a:path>
                <a:path w="5887084" h="7964805">
                  <a:moveTo>
                    <a:pt x="5046345" y="1788160"/>
                  </a:moveTo>
                  <a:lnTo>
                    <a:pt x="0" y="1788160"/>
                  </a:lnTo>
                  <a:lnTo>
                    <a:pt x="0" y="1950085"/>
                  </a:lnTo>
                  <a:lnTo>
                    <a:pt x="5046345" y="1950085"/>
                  </a:lnTo>
                  <a:lnTo>
                    <a:pt x="5046345" y="1788160"/>
                  </a:lnTo>
                  <a:close/>
                </a:path>
                <a:path w="5887084" h="7964805">
                  <a:moveTo>
                    <a:pt x="5213985" y="7802880"/>
                  </a:moveTo>
                  <a:lnTo>
                    <a:pt x="0" y="7802880"/>
                  </a:lnTo>
                  <a:lnTo>
                    <a:pt x="0" y="7964805"/>
                  </a:lnTo>
                  <a:lnTo>
                    <a:pt x="5213985" y="7964805"/>
                  </a:lnTo>
                  <a:lnTo>
                    <a:pt x="5213985" y="7802880"/>
                  </a:lnTo>
                  <a:close/>
                </a:path>
                <a:path w="5887084" h="7964805">
                  <a:moveTo>
                    <a:pt x="5213985" y="6664960"/>
                  </a:moveTo>
                  <a:lnTo>
                    <a:pt x="0" y="6664960"/>
                  </a:lnTo>
                  <a:lnTo>
                    <a:pt x="0" y="6826885"/>
                  </a:lnTo>
                  <a:lnTo>
                    <a:pt x="5213985" y="6826885"/>
                  </a:lnTo>
                  <a:lnTo>
                    <a:pt x="5213985" y="6664960"/>
                  </a:lnTo>
                  <a:close/>
                </a:path>
                <a:path w="5887084" h="7964805">
                  <a:moveTo>
                    <a:pt x="5215255" y="6990080"/>
                  </a:moveTo>
                  <a:lnTo>
                    <a:pt x="0" y="6990080"/>
                  </a:lnTo>
                  <a:lnTo>
                    <a:pt x="0" y="7152005"/>
                  </a:lnTo>
                  <a:lnTo>
                    <a:pt x="5215255" y="7152005"/>
                  </a:lnTo>
                  <a:lnTo>
                    <a:pt x="5215255" y="6990080"/>
                  </a:lnTo>
                  <a:close/>
                </a:path>
                <a:path w="5887084" h="7964805">
                  <a:moveTo>
                    <a:pt x="5299075" y="6339840"/>
                  </a:moveTo>
                  <a:lnTo>
                    <a:pt x="0" y="6339840"/>
                  </a:lnTo>
                  <a:lnTo>
                    <a:pt x="0" y="6501765"/>
                  </a:lnTo>
                  <a:lnTo>
                    <a:pt x="5299075" y="6501765"/>
                  </a:lnTo>
                  <a:lnTo>
                    <a:pt x="5299075" y="6339840"/>
                  </a:lnTo>
                  <a:close/>
                </a:path>
                <a:path w="5887084" h="7964805">
                  <a:moveTo>
                    <a:pt x="5299075" y="4714240"/>
                  </a:moveTo>
                  <a:lnTo>
                    <a:pt x="0" y="4714240"/>
                  </a:lnTo>
                  <a:lnTo>
                    <a:pt x="0" y="4876165"/>
                  </a:lnTo>
                  <a:lnTo>
                    <a:pt x="5299075" y="4876165"/>
                  </a:lnTo>
                  <a:lnTo>
                    <a:pt x="5299075" y="4714240"/>
                  </a:lnTo>
                  <a:close/>
                </a:path>
                <a:path w="5887084" h="7964805">
                  <a:moveTo>
                    <a:pt x="5299075" y="4551680"/>
                  </a:moveTo>
                  <a:lnTo>
                    <a:pt x="0" y="4551680"/>
                  </a:lnTo>
                  <a:lnTo>
                    <a:pt x="0" y="4713605"/>
                  </a:lnTo>
                  <a:lnTo>
                    <a:pt x="5299075" y="4713605"/>
                  </a:lnTo>
                  <a:lnTo>
                    <a:pt x="5299075" y="4551680"/>
                  </a:lnTo>
                  <a:close/>
                </a:path>
                <a:path w="5887084" h="7964805">
                  <a:moveTo>
                    <a:pt x="5382895" y="6827520"/>
                  </a:moveTo>
                  <a:lnTo>
                    <a:pt x="0" y="6827520"/>
                  </a:lnTo>
                  <a:lnTo>
                    <a:pt x="0" y="6989445"/>
                  </a:lnTo>
                  <a:lnTo>
                    <a:pt x="5382895" y="6989445"/>
                  </a:lnTo>
                  <a:lnTo>
                    <a:pt x="5382895" y="6827520"/>
                  </a:lnTo>
                  <a:close/>
                </a:path>
                <a:path w="5887084" h="7964805">
                  <a:moveTo>
                    <a:pt x="5382895" y="5689600"/>
                  </a:moveTo>
                  <a:lnTo>
                    <a:pt x="0" y="5689600"/>
                  </a:lnTo>
                  <a:lnTo>
                    <a:pt x="0" y="5851525"/>
                  </a:lnTo>
                  <a:lnTo>
                    <a:pt x="5382895" y="5851525"/>
                  </a:lnTo>
                  <a:lnTo>
                    <a:pt x="5382895" y="5689600"/>
                  </a:lnTo>
                  <a:close/>
                </a:path>
                <a:path w="5887084" h="7964805">
                  <a:moveTo>
                    <a:pt x="5382895" y="3738880"/>
                  </a:moveTo>
                  <a:lnTo>
                    <a:pt x="0" y="3738880"/>
                  </a:lnTo>
                  <a:lnTo>
                    <a:pt x="0" y="3900805"/>
                  </a:lnTo>
                  <a:lnTo>
                    <a:pt x="5382895" y="3900805"/>
                  </a:lnTo>
                  <a:lnTo>
                    <a:pt x="5382895" y="3738880"/>
                  </a:lnTo>
                  <a:close/>
                </a:path>
                <a:path w="5887084" h="7964805">
                  <a:moveTo>
                    <a:pt x="5466715" y="5852160"/>
                  </a:moveTo>
                  <a:lnTo>
                    <a:pt x="0" y="5852160"/>
                  </a:lnTo>
                  <a:lnTo>
                    <a:pt x="0" y="6014085"/>
                  </a:lnTo>
                  <a:lnTo>
                    <a:pt x="5466715" y="6014085"/>
                  </a:lnTo>
                  <a:lnTo>
                    <a:pt x="5466715" y="5852160"/>
                  </a:lnTo>
                  <a:close/>
                </a:path>
                <a:path w="5887084" h="7964805">
                  <a:moveTo>
                    <a:pt x="5466715" y="1950720"/>
                  </a:moveTo>
                  <a:lnTo>
                    <a:pt x="0" y="1950720"/>
                  </a:lnTo>
                  <a:lnTo>
                    <a:pt x="0" y="2112645"/>
                  </a:lnTo>
                  <a:lnTo>
                    <a:pt x="5466715" y="2112645"/>
                  </a:lnTo>
                  <a:lnTo>
                    <a:pt x="5466715" y="1950720"/>
                  </a:lnTo>
                  <a:close/>
                </a:path>
                <a:path w="5887084" h="7964805">
                  <a:moveTo>
                    <a:pt x="5467985" y="2113280"/>
                  </a:moveTo>
                  <a:lnTo>
                    <a:pt x="0" y="2113280"/>
                  </a:lnTo>
                  <a:lnTo>
                    <a:pt x="0" y="2275205"/>
                  </a:lnTo>
                  <a:lnTo>
                    <a:pt x="5467985" y="2275205"/>
                  </a:lnTo>
                  <a:lnTo>
                    <a:pt x="5467985" y="2113280"/>
                  </a:lnTo>
                  <a:close/>
                </a:path>
                <a:path w="5887084" h="7964805">
                  <a:moveTo>
                    <a:pt x="5550535" y="6014720"/>
                  </a:moveTo>
                  <a:lnTo>
                    <a:pt x="0" y="6014720"/>
                  </a:lnTo>
                  <a:lnTo>
                    <a:pt x="0" y="6176645"/>
                  </a:lnTo>
                  <a:lnTo>
                    <a:pt x="5550535" y="6176645"/>
                  </a:lnTo>
                  <a:lnTo>
                    <a:pt x="5550535" y="6014720"/>
                  </a:lnTo>
                  <a:close/>
                </a:path>
                <a:path w="5887084" h="7964805">
                  <a:moveTo>
                    <a:pt x="5551805" y="4876800"/>
                  </a:moveTo>
                  <a:lnTo>
                    <a:pt x="0" y="4876800"/>
                  </a:lnTo>
                  <a:lnTo>
                    <a:pt x="0" y="5038725"/>
                  </a:lnTo>
                  <a:lnTo>
                    <a:pt x="5551805" y="5038725"/>
                  </a:lnTo>
                  <a:lnTo>
                    <a:pt x="5551805" y="4876800"/>
                  </a:lnTo>
                  <a:close/>
                </a:path>
                <a:path w="5887084" h="7964805">
                  <a:moveTo>
                    <a:pt x="5635625" y="4226560"/>
                  </a:moveTo>
                  <a:lnTo>
                    <a:pt x="0" y="4226560"/>
                  </a:lnTo>
                  <a:lnTo>
                    <a:pt x="0" y="4388485"/>
                  </a:lnTo>
                  <a:lnTo>
                    <a:pt x="5635625" y="4388485"/>
                  </a:lnTo>
                  <a:lnTo>
                    <a:pt x="5635625" y="4226560"/>
                  </a:lnTo>
                  <a:close/>
                </a:path>
                <a:path w="5887084" h="7964805">
                  <a:moveTo>
                    <a:pt x="5635625" y="3413760"/>
                  </a:moveTo>
                  <a:lnTo>
                    <a:pt x="0" y="3413760"/>
                  </a:lnTo>
                  <a:lnTo>
                    <a:pt x="0" y="3575685"/>
                  </a:lnTo>
                  <a:lnTo>
                    <a:pt x="5635625" y="3575685"/>
                  </a:lnTo>
                  <a:lnTo>
                    <a:pt x="5635625" y="3413760"/>
                  </a:lnTo>
                  <a:close/>
                </a:path>
                <a:path w="5887084" h="7964805">
                  <a:moveTo>
                    <a:pt x="5635625" y="1625600"/>
                  </a:moveTo>
                  <a:lnTo>
                    <a:pt x="0" y="1625600"/>
                  </a:lnTo>
                  <a:lnTo>
                    <a:pt x="0" y="1787525"/>
                  </a:lnTo>
                  <a:lnTo>
                    <a:pt x="5635625" y="1787525"/>
                  </a:lnTo>
                  <a:lnTo>
                    <a:pt x="5635625" y="1625600"/>
                  </a:lnTo>
                  <a:close/>
                </a:path>
                <a:path w="5887084" h="7964805">
                  <a:moveTo>
                    <a:pt x="5635625" y="1463040"/>
                  </a:moveTo>
                  <a:lnTo>
                    <a:pt x="0" y="1463040"/>
                  </a:lnTo>
                  <a:lnTo>
                    <a:pt x="0" y="1624965"/>
                  </a:lnTo>
                  <a:lnTo>
                    <a:pt x="5635625" y="1624965"/>
                  </a:lnTo>
                  <a:lnTo>
                    <a:pt x="5635625" y="1463040"/>
                  </a:lnTo>
                  <a:close/>
                </a:path>
                <a:path w="5887084" h="7964805">
                  <a:moveTo>
                    <a:pt x="5635625" y="1137920"/>
                  </a:moveTo>
                  <a:lnTo>
                    <a:pt x="0" y="1137920"/>
                  </a:lnTo>
                  <a:lnTo>
                    <a:pt x="0" y="1299845"/>
                  </a:lnTo>
                  <a:lnTo>
                    <a:pt x="5635625" y="1299845"/>
                  </a:lnTo>
                  <a:lnTo>
                    <a:pt x="5635625" y="1137920"/>
                  </a:lnTo>
                  <a:close/>
                </a:path>
                <a:path w="5887084" h="7964805">
                  <a:moveTo>
                    <a:pt x="5635625" y="650240"/>
                  </a:moveTo>
                  <a:lnTo>
                    <a:pt x="0" y="650240"/>
                  </a:lnTo>
                  <a:lnTo>
                    <a:pt x="0" y="812165"/>
                  </a:lnTo>
                  <a:lnTo>
                    <a:pt x="5635625" y="812165"/>
                  </a:lnTo>
                  <a:lnTo>
                    <a:pt x="5635625" y="650240"/>
                  </a:lnTo>
                  <a:close/>
                </a:path>
                <a:path w="5887084" h="7964805">
                  <a:moveTo>
                    <a:pt x="5635625" y="325120"/>
                  </a:moveTo>
                  <a:lnTo>
                    <a:pt x="0" y="325120"/>
                  </a:lnTo>
                  <a:lnTo>
                    <a:pt x="0" y="487045"/>
                  </a:lnTo>
                  <a:lnTo>
                    <a:pt x="5635625" y="487045"/>
                  </a:lnTo>
                  <a:lnTo>
                    <a:pt x="5635625" y="325120"/>
                  </a:lnTo>
                  <a:close/>
                </a:path>
                <a:path w="5887084" h="7964805">
                  <a:moveTo>
                    <a:pt x="5635625" y="0"/>
                  </a:moveTo>
                  <a:lnTo>
                    <a:pt x="0" y="0"/>
                  </a:lnTo>
                  <a:lnTo>
                    <a:pt x="0" y="161925"/>
                  </a:lnTo>
                  <a:lnTo>
                    <a:pt x="5635625" y="161925"/>
                  </a:lnTo>
                  <a:lnTo>
                    <a:pt x="5635625" y="0"/>
                  </a:lnTo>
                  <a:close/>
                </a:path>
                <a:path w="5887084" h="7964805">
                  <a:moveTo>
                    <a:pt x="5636895" y="2275840"/>
                  </a:moveTo>
                  <a:lnTo>
                    <a:pt x="0" y="2275840"/>
                  </a:lnTo>
                  <a:lnTo>
                    <a:pt x="0" y="2437765"/>
                  </a:lnTo>
                  <a:lnTo>
                    <a:pt x="5636895" y="2437765"/>
                  </a:lnTo>
                  <a:lnTo>
                    <a:pt x="5636895" y="2275840"/>
                  </a:lnTo>
                  <a:close/>
                </a:path>
                <a:path w="5887084" h="7964805">
                  <a:moveTo>
                    <a:pt x="5719445" y="7640320"/>
                  </a:moveTo>
                  <a:lnTo>
                    <a:pt x="0" y="7640320"/>
                  </a:lnTo>
                  <a:lnTo>
                    <a:pt x="0" y="7802245"/>
                  </a:lnTo>
                  <a:lnTo>
                    <a:pt x="5719445" y="7802245"/>
                  </a:lnTo>
                  <a:lnTo>
                    <a:pt x="5719445" y="7640320"/>
                  </a:lnTo>
                  <a:close/>
                </a:path>
                <a:path w="5887084" h="7964805">
                  <a:moveTo>
                    <a:pt x="5719445" y="5527040"/>
                  </a:moveTo>
                  <a:lnTo>
                    <a:pt x="0" y="5527040"/>
                  </a:lnTo>
                  <a:lnTo>
                    <a:pt x="0" y="5688965"/>
                  </a:lnTo>
                  <a:lnTo>
                    <a:pt x="5719445" y="5688965"/>
                  </a:lnTo>
                  <a:lnTo>
                    <a:pt x="5719445" y="5527040"/>
                  </a:lnTo>
                  <a:close/>
                </a:path>
                <a:path w="5887084" h="7964805">
                  <a:moveTo>
                    <a:pt x="5719445" y="4389120"/>
                  </a:moveTo>
                  <a:lnTo>
                    <a:pt x="0" y="4389120"/>
                  </a:lnTo>
                  <a:lnTo>
                    <a:pt x="0" y="4551045"/>
                  </a:lnTo>
                  <a:lnTo>
                    <a:pt x="5719445" y="4551045"/>
                  </a:lnTo>
                  <a:lnTo>
                    <a:pt x="5719445" y="4389120"/>
                  </a:lnTo>
                  <a:close/>
                </a:path>
                <a:path w="5887084" h="7964805">
                  <a:moveTo>
                    <a:pt x="5719445" y="4064000"/>
                  </a:moveTo>
                  <a:lnTo>
                    <a:pt x="0" y="4064000"/>
                  </a:lnTo>
                  <a:lnTo>
                    <a:pt x="0" y="4225925"/>
                  </a:lnTo>
                  <a:lnTo>
                    <a:pt x="5719445" y="4225925"/>
                  </a:lnTo>
                  <a:lnTo>
                    <a:pt x="5719445" y="4064000"/>
                  </a:lnTo>
                  <a:close/>
                </a:path>
                <a:path w="5887084" h="7964805">
                  <a:moveTo>
                    <a:pt x="5719445" y="3901440"/>
                  </a:moveTo>
                  <a:lnTo>
                    <a:pt x="0" y="3901440"/>
                  </a:lnTo>
                  <a:lnTo>
                    <a:pt x="0" y="4063365"/>
                  </a:lnTo>
                  <a:lnTo>
                    <a:pt x="5719445" y="4063365"/>
                  </a:lnTo>
                  <a:lnTo>
                    <a:pt x="5719445" y="3901440"/>
                  </a:lnTo>
                  <a:close/>
                </a:path>
                <a:path w="5887084" h="7964805">
                  <a:moveTo>
                    <a:pt x="5719445" y="3251200"/>
                  </a:moveTo>
                  <a:lnTo>
                    <a:pt x="0" y="3251200"/>
                  </a:lnTo>
                  <a:lnTo>
                    <a:pt x="0" y="3413125"/>
                  </a:lnTo>
                  <a:lnTo>
                    <a:pt x="5719445" y="3413125"/>
                  </a:lnTo>
                  <a:lnTo>
                    <a:pt x="5719445" y="3251200"/>
                  </a:lnTo>
                  <a:close/>
                </a:path>
                <a:path w="5887084" h="7964805">
                  <a:moveTo>
                    <a:pt x="5719445" y="2600960"/>
                  </a:moveTo>
                  <a:lnTo>
                    <a:pt x="0" y="2600960"/>
                  </a:lnTo>
                  <a:lnTo>
                    <a:pt x="0" y="2762885"/>
                  </a:lnTo>
                  <a:lnTo>
                    <a:pt x="5719445" y="2762885"/>
                  </a:lnTo>
                  <a:lnTo>
                    <a:pt x="5719445" y="2600960"/>
                  </a:lnTo>
                  <a:close/>
                </a:path>
                <a:path w="5887084" h="7964805">
                  <a:moveTo>
                    <a:pt x="5719445" y="1300480"/>
                  </a:moveTo>
                  <a:lnTo>
                    <a:pt x="0" y="1300480"/>
                  </a:lnTo>
                  <a:lnTo>
                    <a:pt x="0" y="1462405"/>
                  </a:lnTo>
                  <a:lnTo>
                    <a:pt x="5719445" y="1462405"/>
                  </a:lnTo>
                  <a:lnTo>
                    <a:pt x="5719445" y="1300480"/>
                  </a:lnTo>
                  <a:close/>
                </a:path>
                <a:path w="5887084" h="7964805">
                  <a:moveTo>
                    <a:pt x="5719445" y="487680"/>
                  </a:moveTo>
                  <a:lnTo>
                    <a:pt x="0" y="487680"/>
                  </a:lnTo>
                  <a:lnTo>
                    <a:pt x="0" y="649605"/>
                  </a:lnTo>
                  <a:lnTo>
                    <a:pt x="5719445" y="649605"/>
                  </a:lnTo>
                  <a:lnTo>
                    <a:pt x="5719445" y="487680"/>
                  </a:lnTo>
                  <a:close/>
                </a:path>
                <a:path w="5887084" h="7964805">
                  <a:moveTo>
                    <a:pt x="5720715" y="6502400"/>
                  </a:moveTo>
                  <a:lnTo>
                    <a:pt x="0" y="6502400"/>
                  </a:lnTo>
                  <a:lnTo>
                    <a:pt x="0" y="6664325"/>
                  </a:lnTo>
                  <a:lnTo>
                    <a:pt x="5720715" y="6664325"/>
                  </a:lnTo>
                  <a:lnTo>
                    <a:pt x="5720715" y="6502400"/>
                  </a:lnTo>
                  <a:close/>
                </a:path>
                <a:path w="5887084" h="7964805">
                  <a:moveTo>
                    <a:pt x="5720715" y="2926080"/>
                  </a:moveTo>
                  <a:lnTo>
                    <a:pt x="0" y="2926080"/>
                  </a:lnTo>
                  <a:lnTo>
                    <a:pt x="0" y="3088005"/>
                  </a:lnTo>
                  <a:lnTo>
                    <a:pt x="5720715" y="3088005"/>
                  </a:lnTo>
                  <a:lnTo>
                    <a:pt x="5720715" y="2926080"/>
                  </a:lnTo>
                  <a:close/>
                </a:path>
                <a:path w="5887084" h="7964805">
                  <a:moveTo>
                    <a:pt x="5803265" y="7315200"/>
                  </a:moveTo>
                  <a:lnTo>
                    <a:pt x="0" y="7315200"/>
                  </a:lnTo>
                  <a:lnTo>
                    <a:pt x="0" y="7477125"/>
                  </a:lnTo>
                  <a:lnTo>
                    <a:pt x="5803265" y="7477125"/>
                  </a:lnTo>
                  <a:lnTo>
                    <a:pt x="5803265" y="7315200"/>
                  </a:lnTo>
                  <a:close/>
                </a:path>
                <a:path w="5887084" h="7964805">
                  <a:moveTo>
                    <a:pt x="5803265" y="975360"/>
                  </a:moveTo>
                  <a:lnTo>
                    <a:pt x="0" y="975360"/>
                  </a:lnTo>
                  <a:lnTo>
                    <a:pt x="0" y="1137285"/>
                  </a:lnTo>
                  <a:lnTo>
                    <a:pt x="5803265" y="1137285"/>
                  </a:lnTo>
                  <a:lnTo>
                    <a:pt x="5803265" y="975360"/>
                  </a:lnTo>
                  <a:close/>
                </a:path>
                <a:path w="5887084" h="7964805">
                  <a:moveTo>
                    <a:pt x="5803265" y="812800"/>
                  </a:moveTo>
                  <a:lnTo>
                    <a:pt x="0" y="812800"/>
                  </a:lnTo>
                  <a:lnTo>
                    <a:pt x="0" y="974725"/>
                  </a:lnTo>
                  <a:lnTo>
                    <a:pt x="5803265" y="974725"/>
                  </a:lnTo>
                  <a:lnTo>
                    <a:pt x="5803265" y="812800"/>
                  </a:lnTo>
                  <a:close/>
                </a:path>
                <a:path w="5887084" h="7964805">
                  <a:moveTo>
                    <a:pt x="5804535" y="6177280"/>
                  </a:moveTo>
                  <a:lnTo>
                    <a:pt x="0" y="6177280"/>
                  </a:lnTo>
                  <a:lnTo>
                    <a:pt x="0" y="6339205"/>
                  </a:lnTo>
                  <a:lnTo>
                    <a:pt x="5804535" y="6339205"/>
                  </a:lnTo>
                  <a:lnTo>
                    <a:pt x="5804535" y="6177280"/>
                  </a:lnTo>
                  <a:close/>
                </a:path>
                <a:path w="5887084" h="7964805">
                  <a:moveTo>
                    <a:pt x="5804535" y="5364480"/>
                  </a:moveTo>
                  <a:lnTo>
                    <a:pt x="0" y="5364480"/>
                  </a:lnTo>
                  <a:lnTo>
                    <a:pt x="0" y="5526405"/>
                  </a:lnTo>
                  <a:lnTo>
                    <a:pt x="5804535" y="5526405"/>
                  </a:lnTo>
                  <a:lnTo>
                    <a:pt x="5804535" y="5364480"/>
                  </a:lnTo>
                  <a:close/>
                </a:path>
                <a:path w="5887084" h="7964805">
                  <a:moveTo>
                    <a:pt x="5804535" y="5039360"/>
                  </a:moveTo>
                  <a:lnTo>
                    <a:pt x="0" y="5039360"/>
                  </a:lnTo>
                  <a:lnTo>
                    <a:pt x="0" y="5201285"/>
                  </a:lnTo>
                  <a:lnTo>
                    <a:pt x="5804535" y="5201285"/>
                  </a:lnTo>
                  <a:lnTo>
                    <a:pt x="5804535" y="5039360"/>
                  </a:lnTo>
                  <a:close/>
                </a:path>
                <a:path w="5887084" h="7964805">
                  <a:moveTo>
                    <a:pt x="5804535" y="2438400"/>
                  </a:moveTo>
                  <a:lnTo>
                    <a:pt x="0" y="2438400"/>
                  </a:lnTo>
                  <a:lnTo>
                    <a:pt x="0" y="2600325"/>
                  </a:lnTo>
                  <a:lnTo>
                    <a:pt x="5804535" y="2600325"/>
                  </a:lnTo>
                  <a:lnTo>
                    <a:pt x="5804535" y="2438400"/>
                  </a:lnTo>
                  <a:close/>
                </a:path>
                <a:path w="5887084" h="7964805">
                  <a:moveTo>
                    <a:pt x="5887085" y="5201920"/>
                  </a:moveTo>
                  <a:lnTo>
                    <a:pt x="0" y="5201920"/>
                  </a:lnTo>
                  <a:lnTo>
                    <a:pt x="0" y="5363845"/>
                  </a:lnTo>
                  <a:lnTo>
                    <a:pt x="5887085" y="5363845"/>
                  </a:lnTo>
                  <a:lnTo>
                    <a:pt x="5887085" y="5201920"/>
                  </a:lnTo>
                  <a:close/>
                </a:path>
                <a:path w="5887084" h="7964805">
                  <a:moveTo>
                    <a:pt x="5887085" y="3088640"/>
                  </a:moveTo>
                  <a:lnTo>
                    <a:pt x="0" y="3088640"/>
                  </a:lnTo>
                  <a:lnTo>
                    <a:pt x="0" y="3250565"/>
                  </a:lnTo>
                  <a:lnTo>
                    <a:pt x="5887085" y="3250565"/>
                  </a:lnTo>
                  <a:lnTo>
                    <a:pt x="5887085" y="3088640"/>
                  </a:lnTo>
                  <a:close/>
                </a:path>
                <a:path w="5887084" h="7964805">
                  <a:moveTo>
                    <a:pt x="5887085" y="162560"/>
                  </a:moveTo>
                  <a:lnTo>
                    <a:pt x="0" y="162560"/>
                  </a:lnTo>
                  <a:lnTo>
                    <a:pt x="0" y="324485"/>
                  </a:lnTo>
                  <a:lnTo>
                    <a:pt x="5887085" y="324485"/>
                  </a:lnTo>
                  <a:lnTo>
                    <a:pt x="5887085" y="162560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902969" y="958850"/>
            <a:ext cx="5911850" cy="799592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 marR="5080">
              <a:lnSpc>
                <a:spcPts val="1280"/>
              </a:lnSpc>
              <a:spcBef>
                <a:spcPts val="175"/>
              </a:spcBef>
              <a:tabLst>
                <a:tab pos="937894" algn="l"/>
                <a:tab pos="1021715" algn="l"/>
                <a:tab pos="1525905" algn="l"/>
                <a:tab pos="2367280" algn="l"/>
                <a:tab pos="2534920" algn="l"/>
                <a:tab pos="3040380" algn="l"/>
                <a:tab pos="3965575" algn="l"/>
                <a:tab pos="4133215" algn="l"/>
                <a:tab pos="4385310" algn="l"/>
                <a:tab pos="4553585" algn="l"/>
                <a:tab pos="5394960" algn="l"/>
              </a:tabLst>
            </a:pPr>
            <a:r>
              <a:rPr sz="1100" dirty="0">
                <a:latin typeface="Courier New"/>
                <a:cs typeface="Courier New"/>
              </a:rPr>
              <a:t>TECHNICAL</a:t>
            </a:r>
            <a:r>
              <a:rPr sz="1100" spc="-8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SKILLS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Languages:</a:t>
            </a:r>
            <a:r>
              <a:rPr sz="1100" dirty="0">
                <a:latin typeface="Courier New"/>
                <a:cs typeface="Courier New"/>
              </a:rPr>
              <a:t>		Java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/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J2EE,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Python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EJB,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Spring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Boot, </a:t>
            </a:r>
            <a:r>
              <a:rPr sz="1100" dirty="0">
                <a:latin typeface="Courier New"/>
                <a:cs typeface="Courier New"/>
              </a:rPr>
              <a:t>JavaScript,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Struts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1.x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MVC,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PL/SQL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Databases:</a:t>
            </a:r>
            <a:r>
              <a:rPr sz="1100" dirty="0">
                <a:latin typeface="Courier New"/>
                <a:cs typeface="Courier New"/>
              </a:rPr>
              <a:t>	Oracle,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MySQL,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Postgres Reporting:</a:t>
            </a:r>
            <a:r>
              <a:rPr sz="1100" dirty="0">
                <a:latin typeface="Courier New"/>
                <a:cs typeface="Courier New"/>
              </a:rPr>
              <a:t>		iReport,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Jasper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Report</a:t>
            </a:r>
            <a:r>
              <a:rPr sz="1100" dirty="0">
                <a:latin typeface="Courier New"/>
                <a:cs typeface="Courier New"/>
              </a:rPr>
              <a:t>	Version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Control:</a:t>
            </a:r>
            <a:r>
              <a:rPr sz="1100" dirty="0">
                <a:latin typeface="Courier New"/>
                <a:cs typeface="Courier New"/>
              </a:rPr>
              <a:t>		GIT,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SVN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5" dirty="0">
                <a:latin typeface="Courier New"/>
                <a:cs typeface="Courier New"/>
              </a:rPr>
              <a:t>Web </a:t>
            </a:r>
            <a:r>
              <a:rPr sz="1100" spc="-10" dirty="0">
                <a:latin typeface="Courier New"/>
                <a:cs typeface="Courier New"/>
              </a:rPr>
              <a:t>Services:</a:t>
            </a:r>
            <a:r>
              <a:rPr sz="1100" dirty="0">
                <a:latin typeface="Courier New"/>
                <a:cs typeface="Courier New"/>
              </a:rPr>
              <a:t>	Soap,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Rest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API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Development,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Swagger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API</a:t>
            </a:r>
            <a:r>
              <a:rPr sz="1100" dirty="0">
                <a:latin typeface="Courier New"/>
                <a:cs typeface="Courier New"/>
              </a:rPr>
              <a:t>	Management</a:t>
            </a:r>
            <a:r>
              <a:rPr sz="1100" spc="-9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Tool: </a:t>
            </a:r>
            <a:r>
              <a:rPr sz="1100" dirty="0">
                <a:latin typeface="Courier New"/>
                <a:cs typeface="Courier New"/>
              </a:rPr>
              <a:t>Confluence,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Service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Now,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Jira,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Maximo,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Bugzilla</a:t>
            </a:r>
            <a:r>
              <a:rPr sz="1100" dirty="0">
                <a:latin typeface="Courier New"/>
                <a:cs typeface="Courier New"/>
              </a:rPr>
              <a:t>		Operating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Systems: </a:t>
            </a:r>
            <a:r>
              <a:rPr sz="1100" dirty="0">
                <a:latin typeface="Courier New"/>
                <a:cs typeface="Courier New"/>
              </a:rPr>
              <a:t>Windows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(XP,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10),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Linux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Ubuntu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Methodologies:</a:t>
            </a:r>
            <a:r>
              <a:rPr sz="1100" dirty="0">
                <a:latin typeface="Courier New"/>
                <a:cs typeface="Courier New"/>
              </a:rPr>
              <a:t>	Iterative,</a:t>
            </a:r>
            <a:r>
              <a:rPr sz="1100" spc="-9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Agile, Waterfall</a:t>
            </a:r>
            <a:r>
              <a:rPr sz="1100" dirty="0">
                <a:latin typeface="Courier New"/>
                <a:cs typeface="Courier New"/>
              </a:rPr>
              <a:t>	Cloud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Services:</a:t>
            </a:r>
            <a:r>
              <a:rPr sz="1100" dirty="0">
                <a:latin typeface="Courier New"/>
                <a:cs typeface="Courier New"/>
              </a:rPr>
              <a:t>	Azure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VM,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Azure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DB,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Azure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Functions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Azure </a:t>
            </a:r>
            <a:r>
              <a:rPr sz="1100" dirty="0">
                <a:latin typeface="Courier New"/>
                <a:cs typeface="Courier New"/>
              </a:rPr>
              <a:t>Storage,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AWS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EC2,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ELB,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EBS,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S3,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VPC,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SQS,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SES,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SNS,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IAM,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RDS,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Cloud</a:t>
            </a:r>
            <a:endParaRPr sz="1100">
              <a:latin typeface="Courier New"/>
              <a:cs typeface="Courier New"/>
            </a:endParaRPr>
          </a:p>
          <a:p>
            <a:pPr marL="12700" marR="88900">
              <a:lnSpc>
                <a:spcPts val="1280"/>
              </a:lnSpc>
              <a:tabLst>
                <a:tab pos="1021715" algn="l"/>
                <a:tab pos="1105535" algn="l"/>
                <a:tab pos="3124200" algn="l"/>
                <a:tab pos="3880485" algn="l"/>
                <a:tab pos="4638040" algn="l"/>
                <a:tab pos="4722495" algn="l"/>
                <a:tab pos="5226050" algn="l"/>
              </a:tabLst>
            </a:pPr>
            <a:r>
              <a:rPr sz="1100" dirty="0">
                <a:latin typeface="Courier New"/>
                <a:cs typeface="Courier New"/>
              </a:rPr>
              <a:t>Watch,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Cloud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Front,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CLI,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IOT,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MQTT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(pub/sub)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DevOps:</a:t>
            </a:r>
            <a:r>
              <a:rPr sz="1100" dirty="0">
                <a:latin typeface="Courier New"/>
                <a:cs typeface="Courier New"/>
              </a:rPr>
              <a:t>	GIT,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Jenkins, </a:t>
            </a:r>
            <a:r>
              <a:rPr sz="1100" dirty="0">
                <a:latin typeface="Courier New"/>
                <a:cs typeface="Courier New"/>
              </a:rPr>
              <a:t>Azure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DevOps,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AWS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CI/CD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pipeline,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dockers,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Ansible,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AWS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ECS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EKS </a:t>
            </a:r>
            <a:r>
              <a:rPr sz="1100" dirty="0">
                <a:latin typeface="Courier New"/>
                <a:cs typeface="Courier New"/>
              </a:rPr>
              <a:t>cluster,</a:t>
            </a:r>
            <a:r>
              <a:rPr sz="1100" spc="-11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Kubernetes(K8S),</a:t>
            </a:r>
            <a:r>
              <a:rPr sz="1100" spc="-11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Terraform</a:t>
            </a:r>
            <a:r>
              <a:rPr sz="1100" dirty="0">
                <a:latin typeface="Courier New"/>
                <a:cs typeface="Courier New"/>
              </a:rPr>
              <a:t>	Machine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Learning:</a:t>
            </a:r>
            <a:r>
              <a:rPr sz="1100" dirty="0">
                <a:latin typeface="Courier New"/>
                <a:cs typeface="Courier New"/>
              </a:rPr>
              <a:t>		</a:t>
            </a:r>
            <a:r>
              <a:rPr sz="1100" spc="-10" dirty="0">
                <a:latin typeface="Courier New"/>
                <a:cs typeface="Courier New"/>
              </a:rPr>
              <a:t>Supervised, Un-</a:t>
            </a:r>
            <a:r>
              <a:rPr sz="1100" dirty="0">
                <a:latin typeface="Courier New"/>
                <a:cs typeface="Courier New"/>
              </a:rPr>
              <a:t>Supervised,</a:t>
            </a:r>
            <a:r>
              <a:rPr sz="1100" spc="-8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Reinforcement</a:t>
            </a:r>
            <a:r>
              <a:rPr sz="1100" spc="-8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Learning,</a:t>
            </a:r>
            <a:r>
              <a:rPr sz="1100" spc="-8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Generative</a:t>
            </a:r>
            <a:r>
              <a:rPr sz="1100" spc="-8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AI,</a:t>
            </a:r>
            <a:r>
              <a:rPr sz="1100" spc="-8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Prompt Engineering</a:t>
            </a:r>
            <a:r>
              <a:rPr sz="1100" dirty="0">
                <a:latin typeface="Courier New"/>
                <a:cs typeface="Courier New"/>
              </a:rPr>
              <a:t>		Productivity</a:t>
            </a:r>
            <a:r>
              <a:rPr sz="1100" spc="-8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tools: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SharePoint,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Office,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Word,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Excel, PowerPoint</a:t>
            </a:r>
            <a:r>
              <a:rPr sz="1100" dirty="0">
                <a:latin typeface="Courier New"/>
                <a:cs typeface="Courier New"/>
              </a:rPr>
              <a:t>	IDE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Eclipse,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IntelliJ,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Notepad++,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Visual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Studio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25" dirty="0">
                <a:latin typeface="Courier New"/>
                <a:cs typeface="Courier New"/>
              </a:rPr>
              <a:t>KEY </a:t>
            </a:r>
            <a:r>
              <a:rPr sz="1100" dirty="0">
                <a:latin typeface="Courier New"/>
                <a:cs typeface="Courier New"/>
              </a:rPr>
              <a:t>STRENGTHS</a:t>
            </a:r>
            <a:r>
              <a:rPr sz="1100" spc="-9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Strategic</a:t>
            </a:r>
            <a:r>
              <a:rPr sz="1100" spc="-8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Architectural</a:t>
            </a:r>
            <a:r>
              <a:rPr sz="1100" spc="-9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Vision:</a:t>
            </a:r>
            <a:r>
              <a:rPr sz="1100" spc="-9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Demonstrated</a:t>
            </a:r>
            <a:r>
              <a:rPr sz="1100" spc="-8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expertise</a:t>
            </a:r>
            <a:r>
              <a:rPr sz="1100" spc="-85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in </a:t>
            </a:r>
            <a:r>
              <a:rPr sz="1100" dirty="0">
                <a:latin typeface="Courier New"/>
                <a:cs typeface="Courier New"/>
              </a:rPr>
              <a:t>devising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executing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strategy/strategic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architectural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direction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for </a:t>
            </a:r>
            <a:r>
              <a:rPr sz="1100" dirty="0">
                <a:latin typeface="Courier New"/>
                <a:cs typeface="Courier New"/>
              </a:rPr>
              <a:t>initiatives,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ensuring</a:t>
            </a:r>
            <a:r>
              <a:rPr sz="1100" spc="-8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alignment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with</a:t>
            </a:r>
            <a:r>
              <a:rPr sz="1100" spc="-8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business</a:t>
            </a:r>
            <a:r>
              <a:rPr sz="1100" spc="-8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objectives.</a:t>
            </a:r>
            <a:r>
              <a:rPr sz="1100" spc="-8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Proficient </a:t>
            </a:r>
            <a:r>
              <a:rPr sz="1100" dirty="0">
                <a:latin typeface="Courier New"/>
                <a:cs typeface="Courier New"/>
              </a:rPr>
              <a:t>in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developing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maintaining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enterprise-</a:t>
            </a:r>
            <a:r>
              <a:rPr sz="1100" dirty="0">
                <a:latin typeface="Courier New"/>
                <a:cs typeface="Courier New"/>
              </a:rPr>
              <a:t>wide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architecture </a:t>
            </a:r>
            <a:r>
              <a:rPr sz="1100" dirty="0">
                <a:latin typeface="Courier New"/>
                <a:cs typeface="Courier New"/>
              </a:rPr>
              <a:t>repositories,</a:t>
            </a:r>
            <a:r>
              <a:rPr sz="1100" spc="-8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making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informed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decisions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that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optimise</a:t>
            </a:r>
            <a:r>
              <a:rPr sz="1100" spc="-8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operations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and</a:t>
            </a:r>
            <a:endParaRPr sz="1100">
              <a:latin typeface="Courier New"/>
              <a:cs typeface="Courier New"/>
            </a:endParaRPr>
          </a:p>
          <a:p>
            <a:pPr marL="12700" marR="5080">
              <a:lnSpc>
                <a:spcPts val="1280"/>
              </a:lnSpc>
            </a:pPr>
            <a:r>
              <a:rPr sz="1100" dirty="0">
                <a:latin typeface="Courier New"/>
                <a:cs typeface="Courier New"/>
              </a:rPr>
              <a:t>drive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business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growth.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Technical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Expertise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Continuous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Improvement: </a:t>
            </a:r>
            <a:r>
              <a:rPr sz="1100" dirty="0">
                <a:latin typeface="Courier New"/>
                <a:cs typeface="Courier New"/>
              </a:rPr>
              <a:t>Possesses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broad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spectrum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of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technical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skills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encompassing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software </a:t>
            </a:r>
            <a:r>
              <a:rPr sz="1100" dirty="0">
                <a:latin typeface="Courier New"/>
                <a:cs typeface="Courier New"/>
              </a:rPr>
              <a:t>development,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database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design,</a:t>
            </a:r>
            <a:r>
              <a:rPr sz="1100" spc="-8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cloud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governance,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cloud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services,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and </a:t>
            </a:r>
            <a:r>
              <a:rPr sz="1100" dirty="0">
                <a:latin typeface="Courier New"/>
                <a:cs typeface="Courier New"/>
              </a:rPr>
              <a:t>DevOps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methodologies.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Strongly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committed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to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ensuring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quality</a:t>
            </a:r>
            <a:r>
              <a:rPr sz="1100" spc="50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standards,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leveraging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advanced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tools,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continuously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improving </a:t>
            </a:r>
            <a:r>
              <a:rPr sz="1100" dirty="0">
                <a:latin typeface="Courier New"/>
                <a:cs typeface="Courier New"/>
              </a:rPr>
              <a:t>architectural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processes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to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drive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efficiency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innovation.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Identify </a:t>
            </a:r>
            <a:r>
              <a:rPr sz="1100" dirty="0">
                <a:latin typeface="Courier New"/>
                <a:cs typeface="Courier New"/>
              </a:rPr>
              <a:t>opportunities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for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process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improvement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recommend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solutions.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Cloud </a:t>
            </a:r>
            <a:r>
              <a:rPr sz="1100" dirty="0">
                <a:latin typeface="Courier New"/>
                <a:cs typeface="Courier New"/>
              </a:rPr>
              <a:t>Migration</a:t>
            </a:r>
            <a:r>
              <a:rPr sz="1100" spc="-8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Solution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Design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Proficiency: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Extensive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experience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and </a:t>
            </a:r>
            <a:r>
              <a:rPr sz="1100" dirty="0">
                <a:latin typeface="Courier New"/>
                <a:cs typeface="Courier New"/>
              </a:rPr>
              <a:t>subject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matter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expertise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cloud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migration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strategies,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contributing </a:t>
            </a:r>
            <a:r>
              <a:rPr sz="1100" dirty="0">
                <a:latin typeface="Courier New"/>
                <a:cs typeface="Courier New"/>
              </a:rPr>
              <a:t>significantly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to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successful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migrations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cloud-</a:t>
            </a:r>
            <a:r>
              <a:rPr sz="1100" dirty="0">
                <a:latin typeface="Courier New"/>
                <a:cs typeface="Courier New"/>
              </a:rPr>
              <a:t>based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solution </a:t>
            </a:r>
            <a:r>
              <a:rPr sz="1100" dirty="0">
                <a:latin typeface="Courier New"/>
                <a:cs typeface="Courier New"/>
              </a:rPr>
              <a:t>architectures.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Proven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track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record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as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cloud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migration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expert, </a:t>
            </a:r>
            <a:r>
              <a:rPr sz="1100" dirty="0">
                <a:latin typeface="Courier New"/>
                <a:cs typeface="Courier New"/>
              </a:rPr>
              <a:t>contributing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to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successful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migrations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to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AWS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Azure.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Skilled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in </a:t>
            </a:r>
            <a:r>
              <a:rPr sz="1100" dirty="0">
                <a:latin typeface="Courier New"/>
                <a:cs typeface="Courier New"/>
              </a:rPr>
              <a:t>designing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scalable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frameworks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integrating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diverse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systems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to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meet </a:t>
            </a:r>
            <a:r>
              <a:rPr sz="1100" dirty="0">
                <a:latin typeface="Courier New"/>
                <a:cs typeface="Courier New"/>
              </a:rPr>
              <a:t>evolving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business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needs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effectively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as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per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market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standards.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Effective </a:t>
            </a:r>
            <a:r>
              <a:rPr sz="1100" dirty="0">
                <a:latin typeface="Courier New"/>
                <a:cs typeface="Courier New"/>
              </a:rPr>
              <a:t>Leadership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Collaboration: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Proven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ability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to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collaborate,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lead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and </a:t>
            </a:r>
            <a:r>
              <a:rPr sz="1100" dirty="0">
                <a:latin typeface="Courier New"/>
                <a:cs typeface="Courier New"/>
              </a:rPr>
              <a:t>motivate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cross-</a:t>
            </a:r>
            <a:r>
              <a:rPr sz="1100" dirty="0">
                <a:latin typeface="Courier New"/>
                <a:cs typeface="Courier New"/>
              </a:rPr>
              <a:t>functional</a:t>
            </a:r>
            <a:r>
              <a:rPr sz="1100" spc="-8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teams,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fostering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collaboration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synergy</a:t>
            </a:r>
            <a:r>
              <a:rPr sz="1100" spc="50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to</a:t>
            </a:r>
            <a:r>
              <a:rPr sz="1100" spc="-8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achieve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architectural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objectives.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Strong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communication</a:t>
            </a:r>
            <a:r>
              <a:rPr sz="1100" spc="-8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skills </a:t>
            </a:r>
            <a:r>
              <a:rPr sz="1100" dirty="0">
                <a:latin typeface="Courier New"/>
                <a:cs typeface="Courier New"/>
              </a:rPr>
              <a:t>provide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clear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guidance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to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stakeholders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team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members,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ensuring </a:t>
            </a:r>
            <a:r>
              <a:rPr sz="1100" dirty="0">
                <a:latin typeface="Courier New"/>
                <a:cs typeface="Courier New"/>
              </a:rPr>
              <a:t>seamless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project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execution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achievement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of</a:t>
            </a:r>
            <a:r>
              <a:rPr sz="1100" spc="-8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architectural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goals.</a:t>
            </a:r>
            <a:endParaRPr sz="1100">
              <a:latin typeface="Courier New"/>
              <a:cs typeface="Courier New"/>
            </a:endParaRPr>
          </a:p>
          <a:p>
            <a:pPr marL="12700" marR="88265">
              <a:lnSpc>
                <a:spcPts val="1280"/>
              </a:lnSpc>
            </a:pPr>
            <a:r>
              <a:rPr sz="1100" dirty="0">
                <a:latin typeface="Courier New"/>
                <a:cs typeface="Courier New"/>
              </a:rPr>
              <a:t>Solution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Design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Development: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Strong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capabilities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designing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and </a:t>
            </a:r>
            <a:r>
              <a:rPr sz="1100" dirty="0">
                <a:latin typeface="Courier New"/>
                <a:cs typeface="Courier New"/>
              </a:rPr>
              <a:t>implementing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scalable</a:t>
            </a:r>
            <a:r>
              <a:rPr sz="1100" spc="-8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architecture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frameworks.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Adept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at</a:t>
            </a:r>
            <a:r>
              <a:rPr sz="1100" spc="-8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leading </a:t>
            </a:r>
            <a:r>
              <a:rPr sz="1100" dirty="0">
                <a:latin typeface="Courier New"/>
                <a:cs typeface="Courier New"/>
              </a:rPr>
              <a:t>transformations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offering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cost-</a:t>
            </a:r>
            <a:r>
              <a:rPr sz="1100" dirty="0">
                <a:latin typeface="Courier New"/>
                <a:cs typeface="Courier New"/>
              </a:rPr>
              <a:t>effective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solutions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for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mobile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app </a:t>
            </a:r>
            <a:r>
              <a:rPr sz="1100" dirty="0">
                <a:latin typeface="Courier New"/>
                <a:cs typeface="Courier New"/>
              </a:rPr>
              <a:t>development,</a:t>
            </a:r>
            <a:r>
              <a:rPr sz="1100" spc="-8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ensuring</a:t>
            </a:r>
            <a:r>
              <a:rPr sz="1100" spc="-8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efficient</a:t>
            </a:r>
            <a:r>
              <a:rPr sz="1100" spc="-8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infrastructure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8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application </a:t>
            </a:r>
            <a:r>
              <a:rPr sz="1100" dirty="0">
                <a:latin typeface="Courier New"/>
                <a:cs typeface="Courier New"/>
              </a:rPr>
              <a:t>designs.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Project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Management/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Service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Delivery</a:t>
            </a:r>
            <a:r>
              <a:rPr sz="1100" spc="-8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Excellence:</a:t>
            </a:r>
            <a:r>
              <a:rPr sz="1100" spc="-8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Strong </a:t>
            </a:r>
            <a:r>
              <a:rPr sz="1100" dirty="0">
                <a:latin typeface="Courier New"/>
                <a:cs typeface="Courier New"/>
              </a:rPr>
              <a:t>project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management/Service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Delivery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skills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with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emphasis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on </a:t>
            </a:r>
            <a:r>
              <a:rPr sz="1100" dirty="0">
                <a:latin typeface="Courier New"/>
                <a:cs typeface="Courier New"/>
              </a:rPr>
              <a:t>delivering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projects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within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scope,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timeline,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budget.', metadata={'source':</a:t>
            </a:r>
            <a:r>
              <a:rPr sz="1100" spc="2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"/Users/mayankchugh/Documents/CVs/2024/CV</a:t>
            </a:r>
            <a:r>
              <a:rPr sz="1100" spc="1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&amp;</a:t>
            </a:r>
            <a:r>
              <a:rPr sz="1100" spc="1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Cover </a:t>
            </a:r>
            <a:r>
              <a:rPr sz="1100" dirty="0">
                <a:latin typeface="Courier New"/>
                <a:cs typeface="Courier New"/>
              </a:rPr>
              <a:t>letters/Mayank's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Feb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2024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-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CV.pdf",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'page':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0}),</a:t>
            </a:r>
            <a:endParaRPr sz="1100">
              <a:latin typeface="Courier New"/>
              <a:cs typeface="Courier New"/>
            </a:endParaRPr>
          </a:p>
          <a:p>
            <a:pPr marL="12700" marR="173355" indent="83820">
              <a:lnSpc>
                <a:spcPts val="1280"/>
              </a:lnSpc>
            </a:pPr>
            <a:r>
              <a:rPr sz="1100" spc="-10" dirty="0">
                <a:latin typeface="Courier New"/>
                <a:cs typeface="Courier New"/>
              </a:rPr>
              <a:t>Document(page_content='and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application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designs.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Project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Management/ </a:t>
            </a:r>
            <a:r>
              <a:rPr sz="1100" dirty="0">
                <a:latin typeface="Courier New"/>
                <a:cs typeface="Courier New"/>
              </a:rPr>
              <a:t>Service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Delivery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Excellence: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Strong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project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management/Service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48360" y="914400"/>
            <a:ext cx="6076315" cy="8098155"/>
          </a:xfrm>
          <a:custGeom>
            <a:avLst/>
            <a:gdLst/>
            <a:ahLst/>
            <a:cxnLst/>
            <a:rect l="l" t="t" r="r" b="b"/>
            <a:pathLst>
              <a:path w="6076315" h="8098155">
                <a:moveTo>
                  <a:pt x="0" y="1904"/>
                </a:moveTo>
                <a:lnTo>
                  <a:pt x="6076315" y="1904"/>
                </a:lnTo>
              </a:path>
              <a:path w="6076315" h="8098155">
                <a:moveTo>
                  <a:pt x="6075045" y="0"/>
                </a:moveTo>
                <a:lnTo>
                  <a:pt x="6075045" y="8098155"/>
                </a:lnTo>
              </a:path>
              <a:path w="6076315" h="8098155">
                <a:moveTo>
                  <a:pt x="6076315" y="8096884"/>
                </a:moveTo>
                <a:lnTo>
                  <a:pt x="0" y="8096884"/>
                </a:lnTo>
              </a:path>
              <a:path w="6076315" h="8098155">
                <a:moveTo>
                  <a:pt x="1905" y="8098155"/>
                </a:moveTo>
                <a:lnTo>
                  <a:pt x="1905" y="0"/>
                </a:lnTo>
              </a:path>
              <a:path w="6076315" h="8098155">
                <a:moveTo>
                  <a:pt x="0" y="1904"/>
                </a:moveTo>
                <a:lnTo>
                  <a:pt x="6076315" y="1904"/>
                </a:lnTo>
              </a:path>
              <a:path w="6076315" h="8098155">
                <a:moveTo>
                  <a:pt x="6075045" y="0"/>
                </a:moveTo>
                <a:lnTo>
                  <a:pt x="6075045" y="8098155"/>
                </a:lnTo>
              </a:path>
              <a:path w="6076315" h="8098155">
                <a:moveTo>
                  <a:pt x="6076315" y="8096884"/>
                </a:moveTo>
                <a:lnTo>
                  <a:pt x="0" y="8096884"/>
                </a:lnTo>
              </a:path>
              <a:path w="6076315" h="8098155">
                <a:moveTo>
                  <a:pt x="1905" y="8098155"/>
                </a:moveTo>
                <a:lnTo>
                  <a:pt x="1905" y="0"/>
                </a:lnTo>
              </a:path>
            </a:pathLst>
          </a:custGeom>
          <a:ln w="3175">
            <a:solidFill>
              <a:srgbClr val="E2E2E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47725" y="913764"/>
            <a:ext cx="6076950" cy="8098790"/>
            <a:chOff x="847725" y="913764"/>
            <a:chExt cx="6076950" cy="8098790"/>
          </a:xfrm>
        </p:grpSpPr>
        <p:sp>
          <p:nvSpPr>
            <p:cNvPr id="3" name="object 3"/>
            <p:cNvSpPr/>
            <p:nvPr/>
          </p:nvSpPr>
          <p:spPr>
            <a:xfrm>
              <a:off x="847725" y="913764"/>
              <a:ext cx="6076950" cy="8098790"/>
            </a:xfrm>
            <a:custGeom>
              <a:avLst/>
              <a:gdLst/>
              <a:ahLst/>
              <a:cxnLst/>
              <a:rect l="l" t="t" r="r" b="b"/>
              <a:pathLst>
                <a:path w="6076950" h="8098790">
                  <a:moveTo>
                    <a:pt x="6076950" y="0"/>
                  </a:moveTo>
                  <a:lnTo>
                    <a:pt x="0" y="0"/>
                  </a:lnTo>
                  <a:lnTo>
                    <a:pt x="0" y="8098789"/>
                  </a:lnTo>
                  <a:lnTo>
                    <a:pt x="6076950" y="8098789"/>
                  </a:lnTo>
                  <a:lnTo>
                    <a:pt x="6076950" y="0"/>
                  </a:lnTo>
                  <a:close/>
                </a:path>
              </a:pathLst>
            </a:custGeom>
            <a:solidFill>
              <a:srgbClr val="F4F4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14400" y="981709"/>
              <a:ext cx="5888355" cy="7964805"/>
            </a:xfrm>
            <a:custGeom>
              <a:avLst/>
              <a:gdLst/>
              <a:ahLst/>
              <a:cxnLst/>
              <a:rect l="l" t="t" r="r" b="b"/>
              <a:pathLst>
                <a:path w="5888355" h="7964805">
                  <a:moveTo>
                    <a:pt x="2353945" y="3413760"/>
                  </a:moveTo>
                  <a:lnTo>
                    <a:pt x="0" y="3413760"/>
                  </a:lnTo>
                  <a:lnTo>
                    <a:pt x="0" y="3575685"/>
                  </a:lnTo>
                  <a:lnTo>
                    <a:pt x="2353945" y="3575685"/>
                  </a:lnTo>
                  <a:lnTo>
                    <a:pt x="2353945" y="3413760"/>
                  </a:lnTo>
                  <a:close/>
                </a:path>
                <a:path w="5888355" h="7964805">
                  <a:moveTo>
                    <a:pt x="2353945" y="1300480"/>
                  </a:moveTo>
                  <a:lnTo>
                    <a:pt x="0" y="1300480"/>
                  </a:lnTo>
                  <a:lnTo>
                    <a:pt x="0" y="1462405"/>
                  </a:lnTo>
                  <a:lnTo>
                    <a:pt x="2353945" y="1462405"/>
                  </a:lnTo>
                  <a:lnTo>
                    <a:pt x="2353945" y="1300480"/>
                  </a:lnTo>
                  <a:close/>
                </a:path>
                <a:path w="5888355" h="7964805">
                  <a:moveTo>
                    <a:pt x="3363595" y="975360"/>
                  </a:moveTo>
                  <a:lnTo>
                    <a:pt x="0" y="975360"/>
                  </a:lnTo>
                  <a:lnTo>
                    <a:pt x="0" y="1137285"/>
                  </a:lnTo>
                  <a:lnTo>
                    <a:pt x="3363595" y="1137285"/>
                  </a:lnTo>
                  <a:lnTo>
                    <a:pt x="3363595" y="975360"/>
                  </a:lnTo>
                  <a:close/>
                </a:path>
                <a:path w="5888355" h="7964805">
                  <a:moveTo>
                    <a:pt x="4709795" y="7802880"/>
                  </a:moveTo>
                  <a:lnTo>
                    <a:pt x="0" y="7802880"/>
                  </a:lnTo>
                  <a:lnTo>
                    <a:pt x="0" y="7964805"/>
                  </a:lnTo>
                  <a:lnTo>
                    <a:pt x="4709795" y="7964805"/>
                  </a:lnTo>
                  <a:lnTo>
                    <a:pt x="4709795" y="7802880"/>
                  </a:lnTo>
                  <a:close/>
                </a:path>
                <a:path w="5888355" h="7964805">
                  <a:moveTo>
                    <a:pt x="5046345" y="6339840"/>
                  </a:moveTo>
                  <a:lnTo>
                    <a:pt x="0" y="6339840"/>
                  </a:lnTo>
                  <a:lnTo>
                    <a:pt x="0" y="6501765"/>
                  </a:lnTo>
                  <a:lnTo>
                    <a:pt x="5046345" y="6501765"/>
                  </a:lnTo>
                  <a:lnTo>
                    <a:pt x="5046345" y="6339840"/>
                  </a:lnTo>
                  <a:close/>
                </a:path>
                <a:path w="5888355" h="7964805">
                  <a:moveTo>
                    <a:pt x="5046345" y="5364480"/>
                  </a:moveTo>
                  <a:lnTo>
                    <a:pt x="0" y="5364480"/>
                  </a:lnTo>
                  <a:lnTo>
                    <a:pt x="0" y="5526405"/>
                  </a:lnTo>
                  <a:lnTo>
                    <a:pt x="5046345" y="5526405"/>
                  </a:lnTo>
                  <a:lnTo>
                    <a:pt x="5046345" y="5364480"/>
                  </a:lnTo>
                  <a:close/>
                </a:path>
                <a:path w="5888355" h="7964805">
                  <a:moveTo>
                    <a:pt x="5047615" y="1625600"/>
                  </a:moveTo>
                  <a:lnTo>
                    <a:pt x="0" y="1625600"/>
                  </a:lnTo>
                  <a:lnTo>
                    <a:pt x="0" y="1787525"/>
                  </a:lnTo>
                  <a:lnTo>
                    <a:pt x="5047615" y="1787525"/>
                  </a:lnTo>
                  <a:lnTo>
                    <a:pt x="5047615" y="1625600"/>
                  </a:lnTo>
                  <a:close/>
                </a:path>
                <a:path w="5888355" h="7964805">
                  <a:moveTo>
                    <a:pt x="5130165" y="2926080"/>
                  </a:moveTo>
                  <a:lnTo>
                    <a:pt x="0" y="2926080"/>
                  </a:lnTo>
                  <a:lnTo>
                    <a:pt x="0" y="3088005"/>
                  </a:lnTo>
                  <a:lnTo>
                    <a:pt x="5130165" y="3088005"/>
                  </a:lnTo>
                  <a:lnTo>
                    <a:pt x="5130165" y="2926080"/>
                  </a:lnTo>
                  <a:close/>
                </a:path>
                <a:path w="5888355" h="7964805">
                  <a:moveTo>
                    <a:pt x="5130165" y="2113280"/>
                  </a:moveTo>
                  <a:lnTo>
                    <a:pt x="0" y="2113280"/>
                  </a:lnTo>
                  <a:lnTo>
                    <a:pt x="0" y="2275205"/>
                  </a:lnTo>
                  <a:lnTo>
                    <a:pt x="5130165" y="2275205"/>
                  </a:lnTo>
                  <a:lnTo>
                    <a:pt x="5130165" y="2113280"/>
                  </a:lnTo>
                  <a:close/>
                </a:path>
                <a:path w="5888355" h="7964805">
                  <a:moveTo>
                    <a:pt x="5131435" y="5852160"/>
                  </a:moveTo>
                  <a:lnTo>
                    <a:pt x="0" y="5852160"/>
                  </a:lnTo>
                  <a:lnTo>
                    <a:pt x="0" y="6014085"/>
                  </a:lnTo>
                  <a:lnTo>
                    <a:pt x="5131435" y="6014085"/>
                  </a:lnTo>
                  <a:lnTo>
                    <a:pt x="5131435" y="5852160"/>
                  </a:lnTo>
                  <a:close/>
                </a:path>
                <a:path w="5888355" h="7964805">
                  <a:moveTo>
                    <a:pt x="5131435" y="3738880"/>
                  </a:moveTo>
                  <a:lnTo>
                    <a:pt x="0" y="3738880"/>
                  </a:lnTo>
                  <a:lnTo>
                    <a:pt x="0" y="3900805"/>
                  </a:lnTo>
                  <a:lnTo>
                    <a:pt x="5131435" y="3900805"/>
                  </a:lnTo>
                  <a:lnTo>
                    <a:pt x="5131435" y="3738880"/>
                  </a:lnTo>
                  <a:close/>
                </a:path>
                <a:path w="5888355" h="7964805">
                  <a:moveTo>
                    <a:pt x="5213985" y="4064000"/>
                  </a:moveTo>
                  <a:lnTo>
                    <a:pt x="0" y="4064000"/>
                  </a:lnTo>
                  <a:lnTo>
                    <a:pt x="0" y="4225925"/>
                  </a:lnTo>
                  <a:lnTo>
                    <a:pt x="5213985" y="4225925"/>
                  </a:lnTo>
                  <a:lnTo>
                    <a:pt x="5213985" y="4064000"/>
                  </a:lnTo>
                  <a:close/>
                </a:path>
                <a:path w="5888355" h="7964805">
                  <a:moveTo>
                    <a:pt x="5213985" y="3576320"/>
                  </a:moveTo>
                  <a:lnTo>
                    <a:pt x="0" y="3576320"/>
                  </a:lnTo>
                  <a:lnTo>
                    <a:pt x="0" y="3738245"/>
                  </a:lnTo>
                  <a:lnTo>
                    <a:pt x="5213985" y="3738245"/>
                  </a:lnTo>
                  <a:lnTo>
                    <a:pt x="5213985" y="3576320"/>
                  </a:lnTo>
                  <a:close/>
                </a:path>
                <a:path w="5888355" h="7964805">
                  <a:moveTo>
                    <a:pt x="5215255" y="6177280"/>
                  </a:moveTo>
                  <a:lnTo>
                    <a:pt x="0" y="6177280"/>
                  </a:lnTo>
                  <a:lnTo>
                    <a:pt x="0" y="6339205"/>
                  </a:lnTo>
                  <a:lnTo>
                    <a:pt x="5215255" y="6339205"/>
                  </a:lnTo>
                  <a:lnTo>
                    <a:pt x="5215255" y="6177280"/>
                  </a:lnTo>
                  <a:close/>
                </a:path>
                <a:path w="5888355" h="7964805">
                  <a:moveTo>
                    <a:pt x="5215255" y="3901440"/>
                  </a:moveTo>
                  <a:lnTo>
                    <a:pt x="0" y="3901440"/>
                  </a:lnTo>
                  <a:lnTo>
                    <a:pt x="0" y="4063365"/>
                  </a:lnTo>
                  <a:lnTo>
                    <a:pt x="5215255" y="4063365"/>
                  </a:lnTo>
                  <a:lnTo>
                    <a:pt x="5215255" y="3901440"/>
                  </a:lnTo>
                  <a:close/>
                </a:path>
                <a:path w="5888355" h="7964805">
                  <a:moveTo>
                    <a:pt x="5299075" y="7152640"/>
                  </a:moveTo>
                  <a:lnTo>
                    <a:pt x="0" y="7152640"/>
                  </a:lnTo>
                  <a:lnTo>
                    <a:pt x="0" y="7314565"/>
                  </a:lnTo>
                  <a:lnTo>
                    <a:pt x="5299075" y="7314565"/>
                  </a:lnTo>
                  <a:lnTo>
                    <a:pt x="5299075" y="7152640"/>
                  </a:lnTo>
                  <a:close/>
                </a:path>
                <a:path w="5888355" h="7964805">
                  <a:moveTo>
                    <a:pt x="5299075" y="4714240"/>
                  </a:moveTo>
                  <a:lnTo>
                    <a:pt x="0" y="4714240"/>
                  </a:lnTo>
                  <a:lnTo>
                    <a:pt x="0" y="4876165"/>
                  </a:lnTo>
                  <a:lnTo>
                    <a:pt x="5299075" y="4876165"/>
                  </a:lnTo>
                  <a:lnTo>
                    <a:pt x="5299075" y="4714240"/>
                  </a:lnTo>
                  <a:close/>
                </a:path>
                <a:path w="5888355" h="7964805">
                  <a:moveTo>
                    <a:pt x="5299075" y="812800"/>
                  </a:moveTo>
                  <a:lnTo>
                    <a:pt x="0" y="812800"/>
                  </a:lnTo>
                  <a:lnTo>
                    <a:pt x="0" y="974725"/>
                  </a:lnTo>
                  <a:lnTo>
                    <a:pt x="5299075" y="974725"/>
                  </a:lnTo>
                  <a:lnTo>
                    <a:pt x="5299075" y="812800"/>
                  </a:lnTo>
                  <a:close/>
                </a:path>
                <a:path w="5888355" h="7964805">
                  <a:moveTo>
                    <a:pt x="5299075" y="650240"/>
                  </a:moveTo>
                  <a:lnTo>
                    <a:pt x="0" y="650240"/>
                  </a:lnTo>
                  <a:lnTo>
                    <a:pt x="0" y="812165"/>
                  </a:lnTo>
                  <a:lnTo>
                    <a:pt x="5299075" y="812165"/>
                  </a:lnTo>
                  <a:lnTo>
                    <a:pt x="5299075" y="650240"/>
                  </a:lnTo>
                  <a:close/>
                </a:path>
                <a:path w="5888355" h="7964805">
                  <a:moveTo>
                    <a:pt x="5382895" y="5689600"/>
                  </a:moveTo>
                  <a:lnTo>
                    <a:pt x="0" y="5689600"/>
                  </a:lnTo>
                  <a:lnTo>
                    <a:pt x="0" y="5851525"/>
                  </a:lnTo>
                  <a:lnTo>
                    <a:pt x="5382895" y="5851525"/>
                  </a:lnTo>
                  <a:lnTo>
                    <a:pt x="5382895" y="5689600"/>
                  </a:lnTo>
                  <a:close/>
                </a:path>
                <a:path w="5888355" h="7964805">
                  <a:moveTo>
                    <a:pt x="5382895" y="5039360"/>
                  </a:moveTo>
                  <a:lnTo>
                    <a:pt x="0" y="5039360"/>
                  </a:lnTo>
                  <a:lnTo>
                    <a:pt x="0" y="5201285"/>
                  </a:lnTo>
                  <a:lnTo>
                    <a:pt x="5382895" y="5201285"/>
                  </a:lnTo>
                  <a:lnTo>
                    <a:pt x="5382895" y="5039360"/>
                  </a:lnTo>
                  <a:close/>
                </a:path>
                <a:path w="5888355" h="7964805">
                  <a:moveTo>
                    <a:pt x="5382895" y="4876800"/>
                  </a:moveTo>
                  <a:lnTo>
                    <a:pt x="0" y="4876800"/>
                  </a:lnTo>
                  <a:lnTo>
                    <a:pt x="0" y="5038725"/>
                  </a:lnTo>
                  <a:lnTo>
                    <a:pt x="5382895" y="5038725"/>
                  </a:lnTo>
                  <a:lnTo>
                    <a:pt x="5382895" y="4876800"/>
                  </a:lnTo>
                  <a:close/>
                </a:path>
                <a:path w="5888355" h="7964805">
                  <a:moveTo>
                    <a:pt x="5382895" y="4551680"/>
                  </a:moveTo>
                  <a:lnTo>
                    <a:pt x="0" y="4551680"/>
                  </a:lnTo>
                  <a:lnTo>
                    <a:pt x="0" y="4713605"/>
                  </a:lnTo>
                  <a:lnTo>
                    <a:pt x="5382895" y="4713605"/>
                  </a:lnTo>
                  <a:lnTo>
                    <a:pt x="5382895" y="4551680"/>
                  </a:lnTo>
                  <a:close/>
                </a:path>
                <a:path w="5888355" h="7964805">
                  <a:moveTo>
                    <a:pt x="5382895" y="325120"/>
                  </a:moveTo>
                  <a:lnTo>
                    <a:pt x="0" y="325120"/>
                  </a:lnTo>
                  <a:lnTo>
                    <a:pt x="0" y="487045"/>
                  </a:lnTo>
                  <a:lnTo>
                    <a:pt x="5382895" y="487045"/>
                  </a:lnTo>
                  <a:lnTo>
                    <a:pt x="5382895" y="325120"/>
                  </a:lnTo>
                  <a:close/>
                </a:path>
                <a:path w="5888355" h="7964805">
                  <a:moveTo>
                    <a:pt x="5384165" y="2600960"/>
                  </a:moveTo>
                  <a:lnTo>
                    <a:pt x="0" y="2600960"/>
                  </a:lnTo>
                  <a:lnTo>
                    <a:pt x="0" y="2762885"/>
                  </a:lnTo>
                  <a:lnTo>
                    <a:pt x="5384165" y="2762885"/>
                  </a:lnTo>
                  <a:lnTo>
                    <a:pt x="5384165" y="2600960"/>
                  </a:lnTo>
                  <a:close/>
                </a:path>
                <a:path w="5888355" h="7964805">
                  <a:moveTo>
                    <a:pt x="5466715" y="6664960"/>
                  </a:moveTo>
                  <a:lnTo>
                    <a:pt x="0" y="6664960"/>
                  </a:lnTo>
                  <a:lnTo>
                    <a:pt x="0" y="6826885"/>
                  </a:lnTo>
                  <a:lnTo>
                    <a:pt x="5466715" y="6826885"/>
                  </a:lnTo>
                  <a:lnTo>
                    <a:pt x="5466715" y="6664960"/>
                  </a:lnTo>
                  <a:close/>
                </a:path>
                <a:path w="5888355" h="7964805">
                  <a:moveTo>
                    <a:pt x="5466715" y="2275840"/>
                  </a:moveTo>
                  <a:lnTo>
                    <a:pt x="0" y="2275840"/>
                  </a:lnTo>
                  <a:lnTo>
                    <a:pt x="0" y="2437765"/>
                  </a:lnTo>
                  <a:lnTo>
                    <a:pt x="5466715" y="2437765"/>
                  </a:lnTo>
                  <a:lnTo>
                    <a:pt x="5466715" y="2275840"/>
                  </a:lnTo>
                  <a:close/>
                </a:path>
                <a:path w="5888355" h="7964805">
                  <a:moveTo>
                    <a:pt x="5466715" y="1788160"/>
                  </a:moveTo>
                  <a:lnTo>
                    <a:pt x="0" y="1788160"/>
                  </a:lnTo>
                  <a:lnTo>
                    <a:pt x="0" y="1950085"/>
                  </a:lnTo>
                  <a:lnTo>
                    <a:pt x="5466715" y="1950085"/>
                  </a:lnTo>
                  <a:lnTo>
                    <a:pt x="5466715" y="1788160"/>
                  </a:lnTo>
                  <a:close/>
                </a:path>
                <a:path w="5888355" h="7964805">
                  <a:moveTo>
                    <a:pt x="5550535" y="5527040"/>
                  </a:moveTo>
                  <a:lnTo>
                    <a:pt x="0" y="5527040"/>
                  </a:lnTo>
                  <a:lnTo>
                    <a:pt x="0" y="5688965"/>
                  </a:lnTo>
                  <a:lnTo>
                    <a:pt x="5550535" y="5688965"/>
                  </a:lnTo>
                  <a:lnTo>
                    <a:pt x="5550535" y="5527040"/>
                  </a:lnTo>
                  <a:close/>
                </a:path>
                <a:path w="5888355" h="7964805">
                  <a:moveTo>
                    <a:pt x="5551805" y="5201920"/>
                  </a:moveTo>
                  <a:lnTo>
                    <a:pt x="0" y="5201920"/>
                  </a:lnTo>
                  <a:lnTo>
                    <a:pt x="0" y="5363845"/>
                  </a:lnTo>
                  <a:lnTo>
                    <a:pt x="5551805" y="5363845"/>
                  </a:lnTo>
                  <a:lnTo>
                    <a:pt x="5551805" y="5201920"/>
                  </a:lnTo>
                  <a:close/>
                </a:path>
                <a:path w="5888355" h="7964805">
                  <a:moveTo>
                    <a:pt x="5553075" y="1463040"/>
                  </a:moveTo>
                  <a:lnTo>
                    <a:pt x="0" y="1463040"/>
                  </a:lnTo>
                  <a:lnTo>
                    <a:pt x="0" y="1624965"/>
                  </a:lnTo>
                  <a:lnTo>
                    <a:pt x="5553075" y="1624965"/>
                  </a:lnTo>
                  <a:lnTo>
                    <a:pt x="5553075" y="1463040"/>
                  </a:lnTo>
                  <a:close/>
                </a:path>
                <a:path w="5888355" h="7964805">
                  <a:moveTo>
                    <a:pt x="5635625" y="6827520"/>
                  </a:moveTo>
                  <a:lnTo>
                    <a:pt x="0" y="6827520"/>
                  </a:lnTo>
                  <a:lnTo>
                    <a:pt x="0" y="6989445"/>
                  </a:lnTo>
                  <a:lnTo>
                    <a:pt x="5635625" y="6989445"/>
                  </a:lnTo>
                  <a:lnTo>
                    <a:pt x="5635625" y="6827520"/>
                  </a:lnTo>
                  <a:close/>
                </a:path>
                <a:path w="5888355" h="7964805">
                  <a:moveTo>
                    <a:pt x="5635625" y="6502400"/>
                  </a:moveTo>
                  <a:lnTo>
                    <a:pt x="0" y="6502400"/>
                  </a:lnTo>
                  <a:lnTo>
                    <a:pt x="0" y="6664325"/>
                  </a:lnTo>
                  <a:lnTo>
                    <a:pt x="5635625" y="6664325"/>
                  </a:lnTo>
                  <a:lnTo>
                    <a:pt x="5635625" y="6502400"/>
                  </a:lnTo>
                  <a:close/>
                </a:path>
                <a:path w="5888355" h="7964805">
                  <a:moveTo>
                    <a:pt x="5635625" y="4389120"/>
                  </a:moveTo>
                  <a:lnTo>
                    <a:pt x="0" y="4389120"/>
                  </a:lnTo>
                  <a:lnTo>
                    <a:pt x="0" y="4551045"/>
                  </a:lnTo>
                  <a:lnTo>
                    <a:pt x="5635625" y="4551045"/>
                  </a:lnTo>
                  <a:lnTo>
                    <a:pt x="5635625" y="4389120"/>
                  </a:lnTo>
                  <a:close/>
                </a:path>
                <a:path w="5888355" h="7964805">
                  <a:moveTo>
                    <a:pt x="5635625" y="3088640"/>
                  </a:moveTo>
                  <a:lnTo>
                    <a:pt x="0" y="3088640"/>
                  </a:lnTo>
                  <a:lnTo>
                    <a:pt x="0" y="3250565"/>
                  </a:lnTo>
                  <a:lnTo>
                    <a:pt x="5635625" y="3250565"/>
                  </a:lnTo>
                  <a:lnTo>
                    <a:pt x="5635625" y="3088640"/>
                  </a:lnTo>
                  <a:close/>
                </a:path>
                <a:path w="5888355" h="7964805">
                  <a:moveTo>
                    <a:pt x="5635625" y="2763520"/>
                  </a:moveTo>
                  <a:lnTo>
                    <a:pt x="0" y="2763520"/>
                  </a:lnTo>
                  <a:lnTo>
                    <a:pt x="0" y="2925445"/>
                  </a:lnTo>
                  <a:lnTo>
                    <a:pt x="5635625" y="2925445"/>
                  </a:lnTo>
                  <a:lnTo>
                    <a:pt x="5635625" y="2763520"/>
                  </a:lnTo>
                  <a:close/>
                </a:path>
                <a:path w="5888355" h="7964805">
                  <a:moveTo>
                    <a:pt x="5635625" y="2438400"/>
                  </a:moveTo>
                  <a:lnTo>
                    <a:pt x="0" y="2438400"/>
                  </a:lnTo>
                  <a:lnTo>
                    <a:pt x="0" y="2600325"/>
                  </a:lnTo>
                  <a:lnTo>
                    <a:pt x="5635625" y="2600325"/>
                  </a:lnTo>
                  <a:lnTo>
                    <a:pt x="5635625" y="2438400"/>
                  </a:lnTo>
                  <a:close/>
                </a:path>
                <a:path w="5888355" h="7964805">
                  <a:moveTo>
                    <a:pt x="5720715" y="7640320"/>
                  </a:moveTo>
                  <a:lnTo>
                    <a:pt x="0" y="7640320"/>
                  </a:lnTo>
                  <a:lnTo>
                    <a:pt x="0" y="7802245"/>
                  </a:lnTo>
                  <a:lnTo>
                    <a:pt x="5720715" y="7802245"/>
                  </a:lnTo>
                  <a:lnTo>
                    <a:pt x="5720715" y="7640320"/>
                  </a:lnTo>
                  <a:close/>
                </a:path>
                <a:path w="5888355" h="7964805">
                  <a:moveTo>
                    <a:pt x="5720715" y="6990080"/>
                  </a:moveTo>
                  <a:lnTo>
                    <a:pt x="0" y="6990080"/>
                  </a:lnTo>
                  <a:lnTo>
                    <a:pt x="0" y="7152005"/>
                  </a:lnTo>
                  <a:lnTo>
                    <a:pt x="5720715" y="7152005"/>
                  </a:lnTo>
                  <a:lnTo>
                    <a:pt x="5720715" y="6990080"/>
                  </a:lnTo>
                  <a:close/>
                </a:path>
                <a:path w="5888355" h="7964805">
                  <a:moveTo>
                    <a:pt x="5803265" y="7477760"/>
                  </a:moveTo>
                  <a:lnTo>
                    <a:pt x="0" y="7477760"/>
                  </a:lnTo>
                  <a:lnTo>
                    <a:pt x="0" y="7639685"/>
                  </a:lnTo>
                  <a:lnTo>
                    <a:pt x="5803265" y="7639685"/>
                  </a:lnTo>
                  <a:lnTo>
                    <a:pt x="5803265" y="7477760"/>
                  </a:lnTo>
                  <a:close/>
                </a:path>
                <a:path w="5888355" h="7964805">
                  <a:moveTo>
                    <a:pt x="5803265" y="7315200"/>
                  </a:moveTo>
                  <a:lnTo>
                    <a:pt x="0" y="7315200"/>
                  </a:lnTo>
                  <a:lnTo>
                    <a:pt x="0" y="7477125"/>
                  </a:lnTo>
                  <a:lnTo>
                    <a:pt x="5803265" y="7477125"/>
                  </a:lnTo>
                  <a:lnTo>
                    <a:pt x="5803265" y="7315200"/>
                  </a:lnTo>
                  <a:close/>
                </a:path>
                <a:path w="5888355" h="7964805">
                  <a:moveTo>
                    <a:pt x="5803265" y="1950720"/>
                  </a:moveTo>
                  <a:lnTo>
                    <a:pt x="0" y="1950720"/>
                  </a:lnTo>
                  <a:lnTo>
                    <a:pt x="0" y="2112645"/>
                  </a:lnTo>
                  <a:lnTo>
                    <a:pt x="5803265" y="2112645"/>
                  </a:lnTo>
                  <a:lnTo>
                    <a:pt x="5803265" y="1950720"/>
                  </a:lnTo>
                  <a:close/>
                </a:path>
                <a:path w="5888355" h="7964805">
                  <a:moveTo>
                    <a:pt x="5803265" y="162560"/>
                  </a:moveTo>
                  <a:lnTo>
                    <a:pt x="0" y="162560"/>
                  </a:lnTo>
                  <a:lnTo>
                    <a:pt x="0" y="324485"/>
                  </a:lnTo>
                  <a:lnTo>
                    <a:pt x="5803265" y="324485"/>
                  </a:lnTo>
                  <a:lnTo>
                    <a:pt x="5803265" y="162560"/>
                  </a:lnTo>
                  <a:close/>
                </a:path>
                <a:path w="5888355" h="7964805">
                  <a:moveTo>
                    <a:pt x="5803265" y="0"/>
                  </a:moveTo>
                  <a:lnTo>
                    <a:pt x="0" y="0"/>
                  </a:lnTo>
                  <a:lnTo>
                    <a:pt x="0" y="161925"/>
                  </a:lnTo>
                  <a:lnTo>
                    <a:pt x="5803265" y="161925"/>
                  </a:lnTo>
                  <a:lnTo>
                    <a:pt x="5803265" y="0"/>
                  </a:lnTo>
                  <a:close/>
                </a:path>
                <a:path w="5888355" h="7964805">
                  <a:moveTo>
                    <a:pt x="5804535" y="6014720"/>
                  </a:moveTo>
                  <a:lnTo>
                    <a:pt x="0" y="6014720"/>
                  </a:lnTo>
                  <a:lnTo>
                    <a:pt x="0" y="6176645"/>
                  </a:lnTo>
                  <a:lnTo>
                    <a:pt x="5804535" y="6176645"/>
                  </a:lnTo>
                  <a:lnTo>
                    <a:pt x="5804535" y="6014720"/>
                  </a:lnTo>
                  <a:close/>
                </a:path>
                <a:path w="5888355" h="7964805">
                  <a:moveTo>
                    <a:pt x="5887085" y="4226560"/>
                  </a:moveTo>
                  <a:lnTo>
                    <a:pt x="0" y="4226560"/>
                  </a:lnTo>
                  <a:lnTo>
                    <a:pt x="0" y="4388485"/>
                  </a:lnTo>
                  <a:lnTo>
                    <a:pt x="5887085" y="4388485"/>
                  </a:lnTo>
                  <a:lnTo>
                    <a:pt x="5887085" y="4226560"/>
                  </a:lnTo>
                  <a:close/>
                </a:path>
                <a:path w="5888355" h="7964805">
                  <a:moveTo>
                    <a:pt x="5887085" y="487680"/>
                  </a:moveTo>
                  <a:lnTo>
                    <a:pt x="0" y="487680"/>
                  </a:lnTo>
                  <a:lnTo>
                    <a:pt x="0" y="649605"/>
                  </a:lnTo>
                  <a:lnTo>
                    <a:pt x="5887085" y="649605"/>
                  </a:lnTo>
                  <a:lnTo>
                    <a:pt x="5887085" y="487680"/>
                  </a:lnTo>
                  <a:close/>
                </a:path>
                <a:path w="5888355" h="7964805">
                  <a:moveTo>
                    <a:pt x="5888355" y="3251200"/>
                  </a:moveTo>
                  <a:lnTo>
                    <a:pt x="0" y="3251200"/>
                  </a:lnTo>
                  <a:lnTo>
                    <a:pt x="0" y="3413125"/>
                  </a:lnTo>
                  <a:lnTo>
                    <a:pt x="5888355" y="3413125"/>
                  </a:lnTo>
                  <a:lnTo>
                    <a:pt x="5888355" y="3251200"/>
                  </a:lnTo>
                  <a:close/>
                </a:path>
                <a:path w="5888355" h="7964805">
                  <a:moveTo>
                    <a:pt x="5888355" y="1137920"/>
                  </a:moveTo>
                  <a:lnTo>
                    <a:pt x="0" y="1137920"/>
                  </a:lnTo>
                  <a:lnTo>
                    <a:pt x="0" y="1299845"/>
                  </a:lnTo>
                  <a:lnTo>
                    <a:pt x="5888355" y="1299845"/>
                  </a:lnTo>
                  <a:lnTo>
                    <a:pt x="5888355" y="1137920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902969" y="958850"/>
            <a:ext cx="5912485" cy="799592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 marR="5080">
              <a:lnSpc>
                <a:spcPts val="1280"/>
              </a:lnSpc>
              <a:spcBef>
                <a:spcPts val="175"/>
              </a:spcBef>
              <a:tabLst>
                <a:tab pos="3629025" algn="l"/>
                <a:tab pos="4049395" algn="l"/>
                <a:tab pos="5226050" algn="l"/>
              </a:tabLst>
            </a:pPr>
            <a:r>
              <a:rPr sz="1100" dirty="0">
                <a:latin typeface="Courier New"/>
                <a:cs typeface="Courier New"/>
              </a:rPr>
              <a:t>Delivery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skills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with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emphasis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on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delivering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projects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within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scope, </a:t>
            </a:r>
            <a:r>
              <a:rPr sz="1100" dirty="0">
                <a:latin typeface="Courier New"/>
                <a:cs typeface="Courier New"/>
              </a:rPr>
              <a:t>timeline,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budget.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Proficient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executing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project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plans,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leading end-to-</a:t>
            </a:r>
            <a:r>
              <a:rPr sz="1100" dirty="0">
                <a:latin typeface="Courier New"/>
                <a:cs typeface="Courier New"/>
              </a:rPr>
              <a:t>end</a:t>
            </a:r>
            <a:r>
              <a:rPr sz="1100" spc="-8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digital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transformations,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managing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multimillion-dollar </a:t>
            </a:r>
            <a:r>
              <a:rPr sz="1100" dirty="0">
                <a:latin typeface="Courier New"/>
                <a:cs typeface="Courier New"/>
              </a:rPr>
              <a:t>accounts,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challenging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status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quo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overseeing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release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management </a:t>
            </a:r>
            <a:r>
              <a:rPr sz="1100" dirty="0">
                <a:latin typeface="Courier New"/>
                <a:cs typeface="Courier New"/>
              </a:rPr>
              <a:t>throughout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8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software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development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lifecycle.</a:t>
            </a:r>
            <a:r>
              <a:rPr sz="1100" dirty="0">
                <a:latin typeface="Courier New"/>
                <a:cs typeface="Courier New"/>
              </a:rPr>
              <a:t>	WORK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EXPERIENCE </a:t>
            </a:r>
            <a:r>
              <a:rPr sz="1100" dirty="0">
                <a:latin typeface="Courier New"/>
                <a:cs typeface="Courier New"/>
              </a:rPr>
              <a:t>Enterprise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Architect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|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Solution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Architect</a:t>
            </a:r>
            <a:r>
              <a:rPr sz="1100" dirty="0">
                <a:latin typeface="Courier New"/>
                <a:cs typeface="Courier New"/>
              </a:rPr>
              <a:t>	Capgemini,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Hong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Kong </a:t>
            </a:r>
            <a:r>
              <a:rPr sz="1100" dirty="0">
                <a:latin typeface="Courier New"/>
                <a:cs typeface="Courier New"/>
              </a:rPr>
              <a:t>10/2021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-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12/2023,',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metadata={'source': "/Users/mayankchugh/Documents/CVs/2024/CV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&amp;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Cover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letters/Mayank's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Feb </a:t>
            </a:r>
            <a:r>
              <a:rPr sz="1100" dirty="0">
                <a:latin typeface="Courier New"/>
                <a:cs typeface="Courier New"/>
              </a:rPr>
              <a:t>2024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-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CV.pdf",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'page':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0}),</a:t>
            </a:r>
            <a:endParaRPr sz="1100">
              <a:latin typeface="Courier New"/>
              <a:cs typeface="Courier New"/>
            </a:endParaRPr>
          </a:p>
          <a:p>
            <a:pPr marL="12700" marR="89535" indent="83820">
              <a:lnSpc>
                <a:spcPts val="1280"/>
              </a:lnSpc>
              <a:tabLst>
                <a:tab pos="852805" algn="l"/>
                <a:tab pos="1610360" algn="l"/>
                <a:tab pos="1946910" algn="l"/>
                <a:tab pos="2030730" algn="l"/>
                <a:tab pos="2198370" algn="l"/>
                <a:tab pos="2283460" algn="l"/>
                <a:tab pos="2367280" algn="l"/>
                <a:tab pos="2534920" algn="l"/>
                <a:tab pos="2703830" algn="l"/>
                <a:tab pos="2787650" algn="l"/>
                <a:tab pos="3376295" algn="l"/>
                <a:tab pos="3460115" algn="l"/>
                <a:tab pos="3629025" algn="l"/>
                <a:tab pos="3712845" algn="l"/>
                <a:tab pos="4385945" algn="l"/>
                <a:tab pos="4638040" algn="l"/>
                <a:tab pos="4805680" algn="l"/>
                <a:tab pos="4974590" algn="l"/>
                <a:tab pos="5058410" algn="l"/>
              </a:tabLst>
            </a:pPr>
            <a:r>
              <a:rPr sz="1100" spc="-10" dirty="0">
                <a:latin typeface="Courier New"/>
                <a:cs typeface="Courier New"/>
                <a:hlinkClick r:id="rId2"/>
              </a:rPr>
              <a:t>Document(page_content='mayankchugh.jobathk@gmail.com</a:t>
            </a:r>
            <a:r>
              <a:rPr sz="1100" dirty="0">
                <a:latin typeface="Courier New"/>
                <a:cs typeface="Courier New"/>
              </a:rPr>
              <a:t>	\n+852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\n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spc="-50" dirty="0">
                <a:latin typeface="Courier New"/>
                <a:cs typeface="Courier New"/>
              </a:rPr>
              <a:t>– </a:t>
            </a:r>
            <a:r>
              <a:rPr sz="1100" spc="-10" dirty="0">
                <a:latin typeface="Courier New"/>
                <a:cs typeface="Courier New"/>
              </a:rPr>
              <a:t>84812040</a:t>
            </a:r>
            <a:r>
              <a:rPr sz="1100" dirty="0">
                <a:latin typeface="Courier New"/>
                <a:cs typeface="Courier New"/>
              </a:rPr>
              <a:t>	\nHong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Kong,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SAR</a:t>
            </a:r>
            <a:r>
              <a:rPr sz="1100" dirty="0">
                <a:latin typeface="Courier New"/>
                <a:cs typeface="Courier New"/>
              </a:rPr>
              <a:t>		</a:t>
            </a:r>
            <a:r>
              <a:rPr sz="1100" spc="-10" dirty="0">
                <a:latin typeface="Courier New"/>
                <a:cs typeface="Courier New"/>
              </a:rPr>
              <a:t>\nlinkedin.com/in/mchugh77</a:t>
            </a:r>
            <a:r>
              <a:rPr sz="1100" spc="25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\n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50" dirty="0">
                <a:latin typeface="Courier New"/>
                <a:cs typeface="Courier New"/>
              </a:rPr>
              <a:t>\ </a:t>
            </a:r>
            <a:r>
              <a:rPr sz="1100" spc="-10" dirty="0">
                <a:latin typeface="Courier New"/>
                <a:cs typeface="Courier New"/>
              </a:rPr>
              <a:t>ngithub.com/mayankchugh1977</a:t>
            </a:r>
            <a:r>
              <a:rPr sz="1100" spc="25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\n</a:t>
            </a:r>
            <a:r>
              <a:rPr sz="1100" dirty="0">
                <a:latin typeface="Courier New"/>
                <a:cs typeface="Courier New"/>
              </a:rPr>
              <a:t>	Enterprise</a:t>
            </a:r>
            <a:r>
              <a:rPr sz="1100" spc="-9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Architecture</a:t>
            </a:r>
            <a:r>
              <a:rPr sz="1100" dirty="0">
                <a:latin typeface="Courier New"/>
                <a:cs typeface="Courier New"/>
              </a:rPr>
              <a:t>		</a:t>
            </a:r>
            <a:r>
              <a:rPr sz="1100" spc="-10" dirty="0">
                <a:latin typeface="Courier New"/>
                <a:cs typeface="Courier New"/>
              </a:rPr>
              <a:t>Solution </a:t>
            </a:r>
            <a:r>
              <a:rPr sz="1100" dirty="0">
                <a:latin typeface="Courier New"/>
                <a:cs typeface="Courier New"/>
              </a:rPr>
              <a:t>Architecture</a:t>
            </a:r>
            <a:r>
              <a:rPr sz="1100" spc="-11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(API+Cloud)</a:t>
            </a:r>
            <a:r>
              <a:rPr sz="1100" dirty="0">
                <a:latin typeface="Courier New"/>
                <a:cs typeface="Courier New"/>
              </a:rPr>
              <a:t>		Service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Delivery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Management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Custom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Software </a:t>
            </a:r>
            <a:r>
              <a:rPr sz="1100" dirty="0">
                <a:latin typeface="Courier New"/>
                <a:cs typeface="Courier New"/>
              </a:rPr>
              <a:t>Engineering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Database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Design</a:t>
            </a:r>
            <a:r>
              <a:rPr sz="1100" dirty="0">
                <a:latin typeface="Courier New"/>
                <a:cs typeface="Courier New"/>
              </a:rPr>
              <a:t>		Project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Lifecycle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Management </a:t>
            </a:r>
            <a:r>
              <a:rPr sz="1100" dirty="0">
                <a:latin typeface="Courier New"/>
                <a:cs typeface="Courier New"/>
              </a:rPr>
              <a:t>Internal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&amp;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External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Stakeholder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Management</a:t>
            </a:r>
            <a:r>
              <a:rPr sz="1100" dirty="0">
                <a:latin typeface="Courier New"/>
                <a:cs typeface="Courier New"/>
              </a:rPr>
              <a:t>		Requirements</a:t>
            </a:r>
            <a:r>
              <a:rPr sz="1100" spc="-11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Analysis </a:t>
            </a:r>
            <a:r>
              <a:rPr sz="1100" dirty="0">
                <a:latin typeface="Courier New"/>
                <a:cs typeface="Courier New"/>
              </a:rPr>
              <a:t>Vendor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Management</a:t>
            </a:r>
            <a:r>
              <a:rPr sz="1100" dirty="0">
                <a:latin typeface="Courier New"/>
                <a:cs typeface="Courier New"/>
              </a:rPr>
              <a:t>	Product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Development</a:t>
            </a:r>
            <a:r>
              <a:rPr sz="1100" dirty="0">
                <a:latin typeface="Courier New"/>
                <a:cs typeface="Courier New"/>
              </a:rPr>
              <a:t>	Release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Management</a:t>
            </a:r>
            <a:r>
              <a:rPr sz="1100" dirty="0">
                <a:latin typeface="Courier New"/>
                <a:cs typeface="Courier New"/>
              </a:rPr>
              <a:t>		</a:t>
            </a:r>
            <a:r>
              <a:rPr sz="1100" spc="-10" dirty="0">
                <a:latin typeface="Courier New"/>
                <a:cs typeface="Courier New"/>
              </a:rPr>
              <a:t>Project </a:t>
            </a:r>
            <a:r>
              <a:rPr sz="1100" dirty="0">
                <a:latin typeface="Courier New"/>
                <a:cs typeface="Courier New"/>
              </a:rPr>
              <a:t>Scheduling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&amp;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Budgeting</a:t>
            </a:r>
            <a:r>
              <a:rPr sz="1100" dirty="0">
                <a:latin typeface="Courier New"/>
                <a:cs typeface="Courier New"/>
              </a:rPr>
              <a:t>		Business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Analysis</a:t>
            </a:r>
            <a:r>
              <a:rPr sz="1100" dirty="0">
                <a:latin typeface="Courier New"/>
                <a:cs typeface="Courier New"/>
              </a:rPr>
              <a:t>		Quality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Standards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and </a:t>
            </a:r>
            <a:r>
              <a:rPr sz="1100" dirty="0">
                <a:latin typeface="Courier New"/>
                <a:cs typeface="Courier New"/>
              </a:rPr>
              <a:t>Continue</a:t>
            </a:r>
            <a:r>
              <a:rPr sz="1100" spc="-9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Improvement</a:t>
            </a:r>
            <a:r>
              <a:rPr sz="1100" spc="-85" dirty="0">
                <a:latin typeface="Courier New"/>
                <a:cs typeface="Courier New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Plan</a:t>
            </a:r>
            <a:r>
              <a:rPr sz="1100" dirty="0">
                <a:latin typeface="Courier New"/>
                <a:cs typeface="Courier New"/>
              </a:rPr>
              <a:t>		Technical</a:t>
            </a:r>
            <a:r>
              <a:rPr sz="1100" spc="-8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Documentation</a:t>
            </a:r>
            <a:r>
              <a:rPr sz="1100" dirty="0">
                <a:latin typeface="Courier New"/>
                <a:cs typeface="Courier New"/>
              </a:rPr>
              <a:t>	Team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Management </a:t>
            </a:r>
            <a:r>
              <a:rPr sz="1100" dirty="0">
                <a:latin typeface="Courier New"/>
                <a:cs typeface="Courier New"/>
              </a:rPr>
              <a:t>Technical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Project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Management</a:t>
            </a:r>
            <a:r>
              <a:rPr sz="1100" dirty="0">
                <a:latin typeface="Courier New"/>
                <a:cs typeface="Courier New"/>
              </a:rPr>
              <a:t>		</a:t>
            </a:r>
            <a:r>
              <a:rPr sz="1100" spc="-10" dirty="0">
                <a:latin typeface="Courier New"/>
                <a:cs typeface="Courier New"/>
              </a:rPr>
              <a:t>On-</a:t>
            </a:r>
            <a:r>
              <a:rPr sz="1100" dirty="0">
                <a:latin typeface="Courier New"/>
                <a:cs typeface="Courier New"/>
              </a:rPr>
              <a:t>premise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Data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Centre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to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Cloud Migration/Integration</a:t>
            </a:r>
            <a:r>
              <a:rPr sz="1100" dirty="0">
                <a:latin typeface="Courier New"/>
                <a:cs typeface="Courier New"/>
              </a:rPr>
              <a:t>	Cloud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Governance</a:t>
            </a:r>
            <a:r>
              <a:rPr sz="1100" dirty="0">
                <a:latin typeface="Courier New"/>
                <a:cs typeface="Courier New"/>
              </a:rPr>
              <a:t>		SDLC',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metadata={'source':</a:t>
            </a:r>
            <a:endParaRPr sz="1100">
              <a:latin typeface="Courier New"/>
              <a:cs typeface="Courier New"/>
            </a:endParaRPr>
          </a:p>
          <a:p>
            <a:pPr marL="12700" marR="5080">
              <a:lnSpc>
                <a:spcPts val="1280"/>
              </a:lnSpc>
            </a:pPr>
            <a:r>
              <a:rPr sz="1100" spc="-10" dirty="0">
                <a:latin typeface="Courier New"/>
                <a:cs typeface="Courier New"/>
              </a:rPr>
              <a:t>"/Users/mayankchugh/Documents/CVs/2024/CV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&amp;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Cover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letters/Mayank's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Feb </a:t>
            </a:r>
            <a:r>
              <a:rPr sz="1100" dirty="0">
                <a:latin typeface="Courier New"/>
                <a:cs typeface="Courier New"/>
              </a:rPr>
              <a:t>2024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-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CV.pdf",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'page':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0}),</a:t>
            </a:r>
            <a:endParaRPr sz="1100">
              <a:latin typeface="Courier New"/>
              <a:cs typeface="Courier New"/>
            </a:endParaRPr>
          </a:p>
          <a:p>
            <a:pPr marL="12700" marR="5715" indent="83820">
              <a:lnSpc>
                <a:spcPts val="1280"/>
              </a:lnSpc>
              <a:tabLst>
                <a:tab pos="3123565" algn="l"/>
              </a:tabLst>
            </a:pPr>
            <a:r>
              <a:rPr sz="1100" spc="-10" dirty="0">
                <a:latin typeface="Courier New"/>
                <a:cs typeface="Courier New"/>
              </a:rPr>
              <a:t>Document(page_content='Page</a:t>
            </a:r>
            <a:r>
              <a:rPr sz="1100" spc="1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2 of</a:t>
            </a:r>
            <a:r>
              <a:rPr sz="1100" spc="-10" dirty="0">
                <a:latin typeface="Courier New"/>
                <a:cs typeface="Courier New"/>
              </a:rPr>
              <a:t> </a:t>
            </a:r>
            <a:r>
              <a:rPr sz="1100" spc="-50" dirty="0">
                <a:latin typeface="Courier New"/>
                <a:cs typeface="Courier New"/>
              </a:rPr>
              <a:t>3</a:t>
            </a:r>
            <a:r>
              <a:rPr sz="1100" dirty="0">
                <a:latin typeface="Courier New"/>
                <a:cs typeface="Courier New"/>
              </a:rPr>
              <a:t>	-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Transformed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Operational </a:t>
            </a:r>
            <a:r>
              <a:rPr sz="1100" dirty="0">
                <a:latin typeface="Courier New"/>
                <a:cs typeface="Courier New"/>
              </a:rPr>
              <a:t>Excellence: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Revolutionized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8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spearheaded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8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evaluation</a:t>
            </a:r>
            <a:r>
              <a:rPr sz="1100" spc="-80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and </a:t>
            </a:r>
            <a:r>
              <a:rPr sz="1100" dirty="0">
                <a:latin typeface="Courier New"/>
                <a:cs typeface="Courier New"/>
              </a:rPr>
              <a:t>enhancement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of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internal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functions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business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development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and </a:t>
            </a:r>
            <a:r>
              <a:rPr sz="1100" dirty="0">
                <a:latin typeface="Courier New"/>
                <a:cs typeface="Courier New"/>
              </a:rPr>
              <a:t>deployment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strategies,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leveraging</a:t>
            </a:r>
            <a:r>
              <a:rPr sz="1100" spc="-8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visionary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insights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to</a:t>
            </a:r>
            <a:r>
              <a:rPr sz="1100" spc="-8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propel</a:t>
            </a:r>
            <a:r>
              <a:rPr sz="1100" spc="500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e</a:t>
            </a:r>
            <a:r>
              <a:rPr sz="1100" spc="-25" dirty="0">
                <a:latin typeface="Calibri"/>
                <a:cs typeface="Calibri"/>
              </a:rPr>
              <a:t>ﬃ</a:t>
            </a:r>
            <a:r>
              <a:rPr sz="1100" spc="-25" dirty="0">
                <a:latin typeface="Courier New"/>
                <a:cs typeface="Courier New"/>
              </a:rPr>
              <a:t>ciency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improvements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optimize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operational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processes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at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Capgemini.</a:t>
            </a:r>
            <a:endParaRPr sz="1100">
              <a:latin typeface="Courier New"/>
              <a:cs typeface="Courier New"/>
            </a:endParaRPr>
          </a:p>
          <a:p>
            <a:pPr marL="12700" marR="258445">
              <a:lnSpc>
                <a:spcPts val="1280"/>
              </a:lnSpc>
            </a:pPr>
            <a:r>
              <a:rPr sz="1100" dirty="0">
                <a:latin typeface="Courier New"/>
                <a:cs typeface="Courier New"/>
              </a:rPr>
              <a:t>-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Governance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Architecture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Review: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Led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Architecture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Review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Board </a:t>
            </a:r>
            <a:r>
              <a:rPr sz="1100" dirty="0">
                <a:latin typeface="Courier New"/>
                <a:cs typeface="Courier New"/>
              </a:rPr>
              <a:t>(ARB)</a:t>
            </a:r>
            <a:r>
              <a:rPr sz="1100" spc="-8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meetings,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ensuring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alignment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with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architectural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standards.</a:t>
            </a:r>
            <a:endParaRPr sz="1100">
              <a:latin typeface="Courier New"/>
              <a:cs typeface="Courier New"/>
            </a:endParaRPr>
          </a:p>
          <a:p>
            <a:pPr marL="12700" marR="89535">
              <a:lnSpc>
                <a:spcPts val="1280"/>
              </a:lnSpc>
              <a:tabLst>
                <a:tab pos="1104900" algn="l"/>
                <a:tab pos="2787650" algn="l"/>
                <a:tab pos="2955925" algn="l"/>
                <a:tab pos="3124200" algn="l"/>
                <a:tab pos="4721860" algn="l"/>
              </a:tabLst>
            </a:pPr>
            <a:r>
              <a:rPr sz="1100" dirty="0">
                <a:latin typeface="Courier New"/>
                <a:cs typeface="Courier New"/>
              </a:rPr>
              <a:t>Maintained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Enterprise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Architecture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repository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with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detailed </a:t>
            </a:r>
            <a:r>
              <a:rPr sz="1100" dirty="0">
                <a:latin typeface="Courier New"/>
                <a:cs typeface="Courier New"/>
              </a:rPr>
              <a:t>records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actively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participated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Change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Advisory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Board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(CAB) </a:t>
            </a:r>
            <a:r>
              <a:rPr sz="1100" dirty="0">
                <a:latin typeface="Courier New"/>
                <a:cs typeface="Courier New"/>
              </a:rPr>
              <a:t>sessions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for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compliance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assessment.</a:t>
            </a:r>
            <a:r>
              <a:rPr sz="1100" dirty="0">
                <a:latin typeface="Courier New"/>
                <a:cs typeface="Courier New"/>
              </a:rPr>
              <a:t>		-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Strategic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Implementation: </a:t>
            </a:r>
            <a:r>
              <a:rPr sz="1100" dirty="0">
                <a:latin typeface="Courier New"/>
                <a:cs typeface="Courier New"/>
              </a:rPr>
              <a:t>Participated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roadmap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strategy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development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for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long-</a:t>
            </a:r>
            <a:r>
              <a:rPr sz="1100" spc="-20" dirty="0">
                <a:latin typeface="Courier New"/>
                <a:cs typeface="Courier New"/>
              </a:rPr>
              <a:t>term </a:t>
            </a:r>
            <a:r>
              <a:rPr sz="1100" dirty="0">
                <a:latin typeface="Courier New"/>
                <a:cs typeface="Courier New"/>
              </a:rPr>
              <a:t>business</a:t>
            </a:r>
            <a:r>
              <a:rPr sz="1100" spc="-9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goals.</a:t>
            </a:r>
            <a:r>
              <a:rPr sz="1100" spc="-8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Implemented</a:t>
            </a:r>
            <a:r>
              <a:rPr sz="1100" spc="-8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architectural</a:t>
            </a:r>
            <a:r>
              <a:rPr sz="1100" spc="-9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enhancements</a:t>
            </a:r>
            <a:r>
              <a:rPr sz="1100" spc="-9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using </a:t>
            </a:r>
            <a:r>
              <a:rPr sz="1100" dirty="0">
                <a:latin typeface="Courier New"/>
                <a:cs typeface="Courier New"/>
              </a:rPr>
              <a:t>technical,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analytical,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8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project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management</a:t>
            </a:r>
            <a:r>
              <a:rPr sz="1100" spc="-8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expertise,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fostering cross-</a:t>
            </a:r>
            <a:r>
              <a:rPr sz="1100" dirty="0">
                <a:latin typeface="Courier New"/>
                <a:cs typeface="Courier New"/>
              </a:rPr>
              <a:t>functional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teamwork</a:t>
            </a:r>
            <a:r>
              <a:rPr sz="1100" spc="-8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to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accomplish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architectural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objectives e</a:t>
            </a:r>
            <a:r>
              <a:rPr sz="1100" spc="-10" dirty="0">
                <a:latin typeface="Calibri"/>
                <a:cs typeface="Calibri"/>
              </a:rPr>
              <a:t>ﬀ</a:t>
            </a:r>
            <a:r>
              <a:rPr sz="1100" spc="-10" dirty="0">
                <a:latin typeface="Courier New"/>
                <a:cs typeface="Courier New"/>
              </a:rPr>
              <a:t>ectively.</a:t>
            </a:r>
            <a:r>
              <a:rPr sz="1100" dirty="0">
                <a:latin typeface="Courier New"/>
                <a:cs typeface="Courier New"/>
              </a:rPr>
              <a:t>	-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IT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Integration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Synergy: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Contributed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to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the </a:t>
            </a:r>
            <a:r>
              <a:rPr sz="1100" dirty="0">
                <a:latin typeface="Courier New"/>
                <a:cs typeface="Courier New"/>
              </a:rPr>
              <a:t>development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execution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of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IT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integration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strategies,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enhancing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the </a:t>
            </a:r>
            <a:r>
              <a:rPr sz="1100" dirty="0">
                <a:latin typeface="Courier New"/>
                <a:cs typeface="Courier New"/>
              </a:rPr>
              <a:t>existing</a:t>
            </a:r>
            <a:r>
              <a:rPr sz="1100" spc="-10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infrastructure</a:t>
            </a:r>
            <a:r>
              <a:rPr sz="1100" spc="-9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through</a:t>
            </a:r>
            <a:r>
              <a:rPr sz="1100" spc="-9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synergistic</a:t>
            </a:r>
            <a:r>
              <a:rPr sz="1100" spc="-9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collaborations</a:t>
            </a:r>
            <a:r>
              <a:rPr sz="1100" spc="-95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and e</a:t>
            </a:r>
            <a:r>
              <a:rPr sz="1100" spc="-25" dirty="0">
                <a:latin typeface="Calibri"/>
                <a:cs typeface="Calibri"/>
              </a:rPr>
              <a:t>ﬃ</a:t>
            </a:r>
            <a:r>
              <a:rPr sz="1100" spc="-25" dirty="0">
                <a:latin typeface="Courier New"/>
                <a:cs typeface="Courier New"/>
              </a:rPr>
              <a:t>ciently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managing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Scrum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teams.</a:t>
            </a:r>
            <a:r>
              <a:rPr sz="1100" dirty="0">
                <a:latin typeface="Courier New"/>
                <a:cs typeface="Courier New"/>
              </a:rPr>
              <a:t>	-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Data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Migration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Expertise: </a:t>
            </a:r>
            <a:r>
              <a:rPr sz="1100" dirty="0">
                <a:latin typeface="Courier New"/>
                <a:cs typeface="Courier New"/>
              </a:rPr>
              <a:t>Orchestrated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seamless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Qlik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Replicate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data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migration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from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on-premise </a:t>
            </a:r>
            <a:r>
              <a:rPr sz="1100" dirty="0">
                <a:latin typeface="Courier New"/>
                <a:cs typeface="Courier New"/>
              </a:rPr>
              <a:t>data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centre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infrastructure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D365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to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Azure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DB,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enabling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streamlined </a:t>
            </a:r>
            <a:r>
              <a:rPr sz="1100" dirty="0">
                <a:latin typeface="Courier New"/>
                <a:cs typeface="Courier New"/>
              </a:rPr>
              <a:t>Power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BI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integration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for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comprehensive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data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reporting.</a:t>
            </a:r>
            <a:r>
              <a:rPr sz="1100" dirty="0">
                <a:latin typeface="Courier New"/>
                <a:cs typeface="Courier New"/>
              </a:rPr>
              <a:t>	-</a:t>
            </a:r>
            <a:r>
              <a:rPr sz="1100" spc="-1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Modelling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8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Documentation</a:t>
            </a:r>
            <a:r>
              <a:rPr sz="1100" spc="-8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Mastery: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Proﬁciently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utilized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model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techniques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and </a:t>
            </a:r>
            <a:r>
              <a:rPr sz="1100" dirty="0">
                <a:latin typeface="Courier New"/>
                <a:cs typeface="Courier New"/>
              </a:rPr>
              <a:t>graphical</a:t>
            </a:r>
            <a:r>
              <a:rPr sz="1100" spc="-9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representations</a:t>
            </a:r>
            <a:r>
              <a:rPr sz="1100" spc="-9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to</a:t>
            </a:r>
            <a:r>
              <a:rPr sz="1100" spc="-9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communicate</a:t>
            </a:r>
            <a:r>
              <a:rPr sz="1100" spc="-8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architectural</a:t>
            </a:r>
            <a:r>
              <a:rPr sz="1100" spc="-8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concepts </a:t>
            </a:r>
            <a:r>
              <a:rPr sz="1100" dirty="0">
                <a:latin typeface="Courier New"/>
                <a:cs typeface="Courier New"/>
              </a:rPr>
              <a:t>e</a:t>
            </a:r>
            <a:r>
              <a:rPr sz="1100" dirty="0">
                <a:latin typeface="Calibri"/>
                <a:cs typeface="Calibri"/>
              </a:rPr>
              <a:t>ﬀ</a:t>
            </a:r>
            <a:r>
              <a:rPr sz="1100" dirty="0">
                <a:latin typeface="Courier New"/>
                <a:cs typeface="Courier New"/>
              </a:rPr>
              <a:t>ectively</a:t>
            </a:r>
            <a:r>
              <a:rPr sz="1100" spc="-9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through</a:t>
            </a:r>
            <a:r>
              <a:rPr sz="1100" spc="-9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compelling</a:t>
            </a:r>
            <a:r>
              <a:rPr sz="1100" spc="-8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presentations,</a:t>
            </a:r>
            <a:r>
              <a:rPr sz="1100" spc="-8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Conﬂuence</a:t>
            </a:r>
            <a:r>
              <a:rPr sz="1100" spc="-9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documentation,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graphical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tools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like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Draw.io.</a:t>
            </a:r>
            <a:r>
              <a:rPr sz="1100" dirty="0">
                <a:latin typeface="Courier New"/>
                <a:cs typeface="Courier New"/>
              </a:rPr>
              <a:t>		-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Solution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Architect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Contribution: </a:t>
            </a:r>
            <a:r>
              <a:rPr sz="1100" dirty="0">
                <a:latin typeface="Courier New"/>
                <a:cs typeface="Courier New"/>
              </a:rPr>
              <a:t>Proactively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led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development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of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Robo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Digital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Advisory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for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iOS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and </a:t>
            </a:r>
            <a:r>
              <a:rPr sz="1100" dirty="0">
                <a:latin typeface="Courier New"/>
                <a:cs typeface="Courier New"/>
              </a:rPr>
              <a:t>Android,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capturing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project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requirements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architecting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48360" y="914400"/>
            <a:ext cx="6076315" cy="8098155"/>
          </a:xfrm>
          <a:custGeom>
            <a:avLst/>
            <a:gdLst/>
            <a:ahLst/>
            <a:cxnLst/>
            <a:rect l="l" t="t" r="r" b="b"/>
            <a:pathLst>
              <a:path w="6076315" h="8098155">
                <a:moveTo>
                  <a:pt x="0" y="1904"/>
                </a:moveTo>
                <a:lnTo>
                  <a:pt x="6076315" y="1904"/>
                </a:lnTo>
              </a:path>
              <a:path w="6076315" h="8098155">
                <a:moveTo>
                  <a:pt x="6075045" y="0"/>
                </a:moveTo>
                <a:lnTo>
                  <a:pt x="6075045" y="8098155"/>
                </a:lnTo>
              </a:path>
              <a:path w="6076315" h="8098155">
                <a:moveTo>
                  <a:pt x="6076315" y="8096884"/>
                </a:moveTo>
                <a:lnTo>
                  <a:pt x="0" y="8096884"/>
                </a:lnTo>
              </a:path>
              <a:path w="6076315" h="8098155">
                <a:moveTo>
                  <a:pt x="1905" y="8098155"/>
                </a:moveTo>
                <a:lnTo>
                  <a:pt x="1905" y="0"/>
                </a:lnTo>
              </a:path>
              <a:path w="6076315" h="8098155">
                <a:moveTo>
                  <a:pt x="0" y="1904"/>
                </a:moveTo>
                <a:lnTo>
                  <a:pt x="6076315" y="1904"/>
                </a:lnTo>
              </a:path>
              <a:path w="6076315" h="8098155">
                <a:moveTo>
                  <a:pt x="6075045" y="0"/>
                </a:moveTo>
                <a:lnTo>
                  <a:pt x="6075045" y="8098155"/>
                </a:lnTo>
              </a:path>
              <a:path w="6076315" h="8098155">
                <a:moveTo>
                  <a:pt x="6076315" y="8096884"/>
                </a:moveTo>
                <a:lnTo>
                  <a:pt x="0" y="8096884"/>
                </a:lnTo>
              </a:path>
              <a:path w="6076315" h="8098155">
                <a:moveTo>
                  <a:pt x="1905" y="8098155"/>
                </a:moveTo>
                <a:lnTo>
                  <a:pt x="1905" y="0"/>
                </a:lnTo>
              </a:path>
            </a:pathLst>
          </a:custGeom>
          <a:ln w="3175">
            <a:solidFill>
              <a:srgbClr val="E2E2E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47725" y="913764"/>
            <a:ext cx="6076950" cy="8098790"/>
            <a:chOff x="847725" y="913764"/>
            <a:chExt cx="6076950" cy="8098790"/>
          </a:xfrm>
        </p:grpSpPr>
        <p:sp>
          <p:nvSpPr>
            <p:cNvPr id="3" name="object 3"/>
            <p:cNvSpPr/>
            <p:nvPr/>
          </p:nvSpPr>
          <p:spPr>
            <a:xfrm>
              <a:off x="847725" y="913764"/>
              <a:ext cx="6076950" cy="8098790"/>
            </a:xfrm>
            <a:custGeom>
              <a:avLst/>
              <a:gdLst/>
              <a:ahLst/>
              <a:cxnLst/>
              <a:rect l="l" t="t" r="r" b="b"/>
              <a:pathLst>
                <a:path w="6076950" h="8098790">
                  <a:moveTo>
                    <a:pt x="6076950" y="0"/>
                  </a:moveTo>
                  <a:lnTo>
                    <a:pt x="0" y="0"/>
                  </a:lnTo>
                  <a:lnTo>
                    <a:pt x="0" y="8098789"/>
                  </a:lnTo>
                  <a:lnTo>
                    <a:pt x="6076950" y="8098789"/>
                  </a:lnTo>
                  <a:lnTo>
                    <a:pt x="6076950" y="0"/>
                  </a:lnTo>
                  <a:close/>
                </a:path>
              </a:pathLst>
            </a:custGeom>
            <a:solidFill>
              <a:srgbClr val="F4F4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14400" y="981709"/>
              <a:ext cx="5888355" cy="7964805"/>
            </a:xfrm>
            <a:custGeom>
              <a:avLst/>
              <a:gdLst/>
              <a:ahLst/>
              <a:cxnLst/>
              <a:rect l="l" t="t" r="r" b="b"/>
              <a:pathLst>
                <a:path w="5888355" h="7964805">
                  <a:moveTo>
                    <a:pt x="2353945" y="5689600"/>
                  </a:moveTo>
                  <a:lnTo>
                    <a:pt x="0" y="5689600"/>
                  </a:lnTo>
                  <a:lnTo>
                    <a:pt x="0" y="5851525"/>
                  </a:lnTo>
                  <a:lnTo>
                    <a:pt x="2353945" y="5851525"/>
                  </a:lnTo>
                  <a:lnTo>
                    <a:pt x="2353945" y="5689600"/>
                  </a:lnTo>
                  <a:close/>
                </a:path>
                <a:path w="5888355" h="7964805">
                  <a:moveTo>
                    <a:pt x="4709795" y="5364480"/>
                  </a:moveTo>
                  <a:lnTo>
                    <a:pt x="0" y="5364480"/>
                  </a:lnTo>
                  <a:lnTo>
                    <a:pt x="0" y="5526405"/>
                  </a:lnTo>
                  <a:lnTo>
                    <a:pt x="4709795" y="5526405"/>
                  </a:lnTo>
                  <a:lnTo>
                    <a:pt x="4709795" y="5364480"/>
                  </a:lnTo>
                  <a:close/>
                </a:path>
                <a:path w="5888355" h="7964805">
                  <a:moveTo>
                    <a:pt x="5046345" y="7802880"/>
                  </a:moveTo>
                  <a:lnTo>
                    <a:pt x="0" y="7802880"/>
                  </a:lnTo>
                  <a:lnTo>
                    <a:pt x="0" y="7964805"/>
                  </a:lnTo>
                  <a:lnTo>
                    <a:pt x="5046345" y="7964805"/>
                  </a:lnTo>
                  <a:lnTo>
                    <a:pt x="5046345" y="7802880"/>
                  </a:lnTo>
                  <a:close/>
                </a:path>
                <a:path w="5888355" h="7964805">
                  <a:moveTo>
                    <a:pt x="5130165" y="4064000"/>
                  </a:moveTo>
                  <a:lnTo>
                    <a:pt x="0" y="4064000"/>
                  </a:lnTo>
                  <a:lnTo>
                    <a:pt x="0" y="4225925"/>
                  </a:lnTo>
                  <a:lnTo>
                    <a:pt x="5130165" y="4225925"/>
                  </a:lnTo>
                  <a:lnTo>
                    <a:pt x="5130165" y="4064000"/>
                  </a:lnTo>
                  <a:close/>
                </a:path>
                <a:path w="5888355" h="7964805">
                  <a:moveTo>
                    <a:pt x="5130165" y="3901440"/>
                  </a:moveTo>
                  <a:lnTo>
                    <a:pt x="0" y="3901440"/>
                  </a:lnTo>
                  <a:lnTo>
                    <a:pt x="0" y="4063365"/>
                  </a:lnTo>
                  <a:lnTo>
                    <a:pt x="5130165" y="4063365"/>
                  </a:lnTo>
                  <a:lnTo>
                    <a:pt x="5130165" y="3901440"/>
                  </a:lnTo>
                  <a:close/>
                </a:path>
                <a:path w="5888355" h="7964805">
                  <a:moveTo>
                    <a:pt x="5130165" y="2600960"/>
                  </a:moveTo>
                  <a:lnTo>
                    <a:pt x="0" y="2600960"/>
                  </a:lnTo>
                  <a:lnTo>
                    <a:pt x="0" y="2762885"/>
                  </a:lnTo>
                  <a:lnTo>
                    <a:pt x="5130165" y="2762885"/>
                  </a:lnTo>
                  <a:lnTo>
                    <a:pt x="5130165" y="2600960"/>
                  </a:lnTo>
                  <a:close/>
                </a:path>
                <a:path w="5888355" h="7964805">
                  <a:moveTo>
                    <a:pt x="5131435" y="2763520"/>
                  </a:moveTo>
                  <a:lnTo>
                    <a:pt x="0" y="2763520"/>
                  </a:lnTo>
                  <a:lnTo>
                    <a:pt x="0" y="2925445"/>
                  </a:lnTo>
                  <a:lnTo>
                    <a:pt x="5131435" y="2925445"/>
                  </a:lnTo>
                  <a:lnTo>
                    <a:pt x="5131435" y="2763520"/>
                  </a:lnTo>
                  <a:close/>
                </a:path>
                <a:path w="5888355" h="7964805">
                  <a:moveTo>
                    <a:pt x="5213985" y="7477760"/>
                  </a:moveTo>
                  <a:lnTo>
                    <a:pt x="0" y="7477760"/>
                  </a:lnTo>
                  <a:lnTo>
                    <a:pt x="0" y="7639685"/>
                  </a:lnTo>
                  <a:lnTo>
                    <a:pt x="5213985" y="7639685"/>
                  </a:lnTo>
                  <a:lnTo>
                    <a:pt x="5213985" y="7477760"/>
                  </a:lnTo>
                  <a:close/>
                </a:path>
                <a:path w="5888355" h="7964805">
                  <a:moveTo>
                    <a:pt x="5215255" y="1625600"/>
                  </a:moveTo>
                  <a:lnTo>
                    <a:pt x="0" y="1625600"/>
                  </a:lnTo>
                  <a:lnTo>
                    <a:pt x="0" y="1787525"/>
                  </a:lnTo>
                  <a:lnTo>
                    <a:pt x="5215255" y="1787525"/>
                  </a:lnTo>
                  <a:lnTo>
                    <a:pt x="5215255" y="1625600"/>
                  </a:lnTo>
                  <a:close/>
                </a:path>
                <a:path w="5888355" h="7964805">
                  <a:moveTo>
                    <a:pt x="5297805" y="975360"/>
                  </a:moveTo>
                  <a:lnTo>
                    <a:pt x="0" y="975360"/>
                  </a:lnTo>
                  <a:lnTo>
                    <a:pt x="0" y="1137285"/>
                  </a:lnTo>
                  <a:lnTo>
                    <a:pt x="5297805" y="1137285"/>
                  </a:lnTo>
                  <a:lnTo>
                    <a:pt x="5297805" y="975360"/>
                  </a:lnTo>
                  <a:close/>
                </a:path>
                <a:path w="5888355" h="7964805">
                  <a:moveTo>
                    <a:pt x="5299075" y="6990080"/>
                  </a:moveTo>
                  <a:lnTo>
                    <a:pt x="0" y="6990080"/>
                  </a:lnTo>
                  <a:lnTo>
                    <a:pt x="0" y="7152005"/>
                  </a:lnTo>
                  <a:lnTo>
                    <a:pt x="5299075" y="7152005"/>
                  </a:lnTo>
                  <a:lnTo>
                    <a:pt x="5299075" y="6990080"/>
                  </a:lnTo>
                  <a:close/>
                </a:path>
                <a:path w="5888355" h="7964805">
                  <a:moveTo>
                    <a:pt x="5299075" y="6827520"/>
                  </a:moveTo>
                  <a:lnTo>
                    <a:pt x="0" y="6827520"/>
                  </a:lnTo>
                  <a:lnTo>
                    <a:pt x="0" y="6989445"/>
                  </a:lnTo>
                  <a:lnTo>
                    <a:pt x="5299075" y="6989445"/>
                  </a:lnTo>
                  <a:lnTo>
                    <a:pt x="5299075" y="6827520"/>
                  </a:lnTo>
                  <a:close/>
                </a:path>
                <a:path w="5888355" h="7964805">
                  <a:moveTo>
                    <a:pt x="5299075" y="3088640"/>
                  </a:moveTo>
                  <a:lnTo>
                    <a:pt x="0" y="3088640"/>
                  </a:lnTo>
                  <a:lnTo>
                    <a:pt x="0" y="3250565"/>
                  </a:lnTo>
                  <a:lnTo>
                    <a:pt x="5299075" y="3250565"/>
                  </a:lnTo>
                  <a:lnTo>
                    <a:pt x="5299075" y="3088640"/>
                  </a:lnTo>
                  <a:close/>
                </a:path>
                <a:path w="5888355" h="7964805">
                  <a:moveTo>
                    <a:pt x="5466715" y="3251200"/>
                  </a:moveTo>
                  <a:lnTo>
                    <a:pt x="0" y="3251200"/>
                  </a:lnTo>
                  <a:lnTo>
                    <a:pt x="0" y="3413125"/>
                  </a:lnTo>
                  <a:lnTo>
                    <a:pt x="5466715" y="3413125"/>
                  </a:lnTo>
                  <a:lnTo>
                    <a:pt x="5466715" y="3251200"/>
                  </a:lnTo>
                  <a:close/>
                </a:path>
                <a:path w="5888355" h="7964805">
                  <a:moveTo>
                    <a:pt x="5466715" y="2926080"/>
                  </a:moveTo>
                  <a:lnTo>
                    <a:pt x="0" y="2926080"/>
                  </a:lnTo>
                  <a:lnTo>
                    <a:pt x="0" y="3088005"/>
                  </a:lnTo>
                  <a:lnTo>
                    <a:pt x="5466715" y="3088005"/>
                  </a:lnTo>
                  <a:lnTo>
                    <a:pt x="5466715" y="2926080"/>
                  </a:lnTo>
                  <a:close/>
                </a:path>
                <a:path w="5888355" h="7964805">
                  <a:moveTo>
                    <a:pt x="5466715" y="1950720"/>
                  </a:moveTo>
                  <a:lnTo>
                    <a:pt x="0" y="1950720"/>
                  </a:lnTo>
                  <a:lnTo>
                    <a:pt x="0" y="2112645"/>
                  </a:lnTo>
                  <a:lnTo>
                    <a:pt x="5466715" y="2112645"/>
                  </a:lnTo>
                  <a:lnTo>
                    <a:pt x="5466715" y="1950720"/>
                  </a:lnTo>
                  <a:close/>
                </a:path>
                <a:path w="5888355" h="7964805">
                  <a:moveTo>
                    <a:pt x="5466715" y="325120"/>
                  </a:moveTo>
                  <a:lnTo>
                    <a:pt x="0" y="325120"/>
                  </a:lnTo>
                  <a:lnTo>
                    <a:pt x="0" y="487045"/>
                  </a:lnTo>
                  <a:lnTo>
                    <a:pt x="5466715" y="487045"/>
                  </a:lnTo>
                  <a:lnTo>
                    <a:pt x="5466715" y="325120"/>
                  </a:lnTo>
                  <a:close/>
                </a:path>
                <a:path w="5888355" h="7964805">
                  <a:moveTo>
                    <a:pt x="5467985" y="6339840"/>
                  </a:moveTo>
                  <a:lnTo>
                    <a:pt x="0" y="6339840"/>
                  </a:lnTo>
                  <a:lnTo>
                    <a:pt x="0" y="6501765"/>
                  </a:lnTo>
                  <a:lnTo>
                    <a:pt x="5467985" y="6501765"/>
                  </a:lnTo>
                  <a:lnTo>
                    <a:pt x="5467985" y="6339840"/>
                  </a:lnTo>
                  <a:close/>
                </a:path>
                <a:path w="5888355" h="7964805">
                  <a:moveTo>
                    <a:pt x="5467985" y="1300480"/>
                  </a:moveTo>
                  <a:lnTo>
                    <a:pt x="0" y="1300480"/>
                  </a:lnTo>
                  <a:lnTo>
                    <a:pt x="0" y="1462405"/>
                  </a:lnTo>
                  <a:lnTo>
                    <a:pt x="5467985" y="1462405"/>
                  </a:lnTo>
                  <a:lnTo>
                    <a:pt x="5467985" y="1300480"/>
                  </a:lnTo>
                  <a:close/>
                </a:path>
                <a:path w="5888355" h="7964805">
                  <a:moveTo>
                    <a:pt x="5550535" y="7315200"/>
                  </a:moveTo>
                  <a:lnTo>
                    <a:pt x="0" y="7315200"/>
                  </a:lnTo>
                  <a:lnTo>
                    <a:pt x="0" y="7477125"/>
                  </a:lnTo>
                  <a:lnTo>
                    <a:pt x="5550535" y="7477125"/>
                  </a:lnTo>
                  <a:lnTo>
                    <a:pt x="5550535" y="7315200"/>
                  </a:lnTo>
                  <a:close/>
                </a:path>
                <a:path w="5888355" h="7964805">
                  <a:moveTo>
                    <a:pt x="5550535" y="3576320"/>
                  </a:moveTo>
                  <a:lnTo>
                    <a:pt x="0" y="3576320"/>
                  </a:lnTo>
                  <a:lnTo>
                    <a:pt x="0" y="3738245"/>
                  </a:lnTo>
                  <a:lnTo>
                    <a:pt x="5550535" y="3738245"/>
                  </a:lnTo>
                  <a:lnTo>
                    <a:pt x="5550535" y="3576320"/>
                  </a:lnTo>
                  <a:close/>
                </a:path>
                <a:path w="5888355" h="7964805">
                  <a:moveTo>
                    <a:pt x="5550535" y="2275840"/>
                  </a:moveTo>
                  <a:lnTo>
                    <a:pt x="0" y="2275840"/>
                  </a:lnTo>
                  <a:lnTo>
                    <a:pt x="0" y="2437765"/>
                  </a:lnTo>
                  <a:lnTo>
                    <a:pt x="5550535" y="2437765"/>
                  </a:lnTo>
                  <a:lnTo>
                    <a:pt x="5550535" y="2275840"/>
                  </a:lnTo>
                  <a:close/>
                </a:path>
                <a:path w="5888355" h="7964805">
                  <a:moveTo>
                    <a:pt x="5550535" y="1788160"/>
                  </a:moveTo>
                  <a:lnTo>
                    <a:pt x="0" y="1788160"/>
                  </a:lnTo>
                  <a:lnTo>
                    <a:pt x="0" y="1950085"/>
                  </a:lnTo>
                  <a:lnTo>
                    <a:pt x="5550535" y="1950085"/>
                  </a:lnTo>
                  <a:lnTo>
                    <a:pt x="5550535" y="1788160"/>
                  </a:lnTo>
                  <a:close/>
                </a:path>
                <a:path w="5888355" h="7964805">
                  <a:moveTo>
                    <a:pt x="5550535" y="162560"/>
                  </a:moveTo>
                  <a:lnTo>
                    <a:pt x="0" y="162560"/>
                  </a:lnTo>
                  <a:lnTo>
                    <a:pt x="0" y="324485"/>
                  </a:lnTo>
                  <a:lnTo>
                    <a:pt x="5550535" y="324485"/>
                  </a:lnTo>
                  <a:lnTo>
                    <a:pt x="5550535" y="162560"/>
                  </a:lnTo>
                  <a:close/>
                </a:path>
                <a:path w="5888355" h="7964805">
                  <a:moveTo>
                    <a:pt x="5550535" y="0"/>
                  </a:moveTo>
                  <a:lnTo>
                    <a:pt x="0" y="0"/>
                  </a:lnTo>
                  <a:lnTo>
                    <a:pt x="0" y="161925"/>
                  </a:lnTo>
                  <a:lnTo>
                    <a:pt x="5550535" y="161925"/>
                  </a:lnTo>
                  <a:lnTo>
                    <a:pt x="5550535" y="0"/>
                  </a:lnTo>
                  <a:close/>
                </a:path>
                <a:path w="5888355" h="7964805">
                  <a:moveTo>
                    <a:pt x="5551805" y="5852160"/>
                  </a:moveTo>
                  <a:lnTo>
                    <a:pt x="0" y="5852160"/>
                  </a:lnTo>
                  <a:lnTo>
                    <a:pt x="0" y="6014085"/>
                  </a:lnTo>
                  <a:lnTo>
                    <a:pt x="5551805" y="6014085"/>
                  </a:lnTo>
                  <a:lnTo>
                    <a:pt x="5551805" y="5852160"/>
                  </a:lnTo>
                  <a:close/>
                </a:path>
                <a:path w="5888355" h="7964805">
                  <a:moveTo>
                    <a:pt x="5551805" y="5039360"/>
                  </a:moveTo>
                  <a:lnTo>
                    <a:pt x="0" y="5039360"/>
                  </a:lnTo>
                  <a:lnTo>
                    <a:pt x="0" y="5201285"/>
                  </a:lnTo>
                  <a:lnTo>
                    <a:pt x="5551805" y="5201285"/>
                  </a:lnTo>
                  <a:lnTo>
                    <a:pt x="5551805" y="5039360"/>
                  </a:lnTo>
                  <a:close/>
                </a:path>
                <a:path w="5888355" h="7964805">
                  <a:moveTo>
                    <a:pt x="5551805" y="1137920"/>
                  </a:moveTo>
                  <a:lnTo>
                    <a:pt x="0" y="1137920"/>
                  </a:lnTo>
                  <a:lnTo>
                    <a:pt x="0" y="1299845"/>
                  </a:lnTo>
                  <a:lnTo>
                    <a:pt x="5551805" y="1299845"/>
                  </a:lnTo>
                  <a:lnTo>
                    <a:pt x="5551805" y="1137920"/>
                  </a:lnTo>
                  <a:close/>
                </a:path>
                <a:path w="5888355" h="7964805">
                  <a:moveTo>
                    <a:pt x="5635625" y="7640320"/>
                  </a:moveTo>
                  <a:lnTo>
                    <a:pt x="0" y="7640320"/>
                  </a:lnTo>
                  <a:lnTo>
                    <a:pt x="0" y="7802245"/>
                  </a:lnTo>
                  <a:lnTo>
                    <a:pt x="5635625" y="7802245"/>
                  </a:lnTo>
                  <a:lnTo>
                    <a:pt x="5635625" y="7640320"/>
                  </a:lnTo>
                  <a:close/>
                </a:path>
                <a:path w="5888355" h="7964805">
                  <a:moveTo>
                    <a:pt x="5635625" y="6664960"/>
                  </a:moveTo>
                  <a:lnTo>
                    <a:pt x="0" y="6664960"/>
                  </a:lnTo>
                  <a:lnTo>
                    <a:pt x="0" y="6826885"/>
                  </a:lnTo>
                  <a:lnTo>
                    <a:pt x="5635625" y="6826885"/>
                  </a:lnTo>
                  <a:lnTo>
                    <a:pt x="5635625" y="6664960"/>
                  </a:lnTo>
                  <a:close/>
                </a:path>
                <a:path w="5888355" h="7964805">
                  <a:moveTo>
                    <a:pt x="5635625" y="6014720"/>
                  </a:moveTo>
                  <a:lnTo>
                    <a:pt x="0" y="6014720"/>
                  </a:lnTo>
                  <a:lnTo>
                    <a:pt x="0" y="6176645"/>
                  </a:lnTo>
                  <a:lnTo>
                    <a:pt x="5635625" y="6176645"/>
                  </a:lnTo>
                  <a:lnTo>
                    <a:pt x="5635625" y="6014720"/>
                  </a:lnTo>
                  <a:close/>
                </a:path>
                <a:path w="5888355" h="7964805">
                  <a:moveTo>
                    <a:pt x="5635625" y="4876800"/>
                  </a:moveTo>
                  <a:lnTo>
                    <a:pt x="0" y="4876800"/>
                  </a:lnTo>
                  <a:lnTo>
                    <a:pt x="0" y="5038725"/>
                  </a:lnTo>
                  <a:lnTo>
                    <a:pt x="5635625" y="5038725"/>
                  </a:lnTo>
                  <a:lnTo>
                    <a:pt x="5635625" y="4876800"/>
                  </a:lnTo>
                  <a:close/>
                </a:path>
                <a:path w="5888355" h="7964805">
                  <a:moveTo>
                    <a:pt x="5635625" y="650240"/>
                  </a:moveTo>
                  <a:lnTo>
                    <a:pt x="0" y="650240"/>
                  </a:lnTo>
                  <a:lnTo>
                    <a:pt x="0" y="812165"/>
                  </a:lnTo>
                  <a:lnTo>
                    <a:pt x="5635625" y="812165"/>
                  </a:lnTo>
                  <a:lnTo>
                    <a:pt x="5635625" y="650240"/>
                  </a:lnTo>
                  <a:close/>
                </a:path>
                <a:path w="5888355" h="7964805">
                  <a:moveTo>
                    <a:pt x="5636895" y="2113280"/>
                  </a:moveTo>
                  <a:lnTo>
                    <a:pt x="0" y="2113280"/>
                  </a:lnTo>
                  <a:lnTo>
                    <a:pt x="0" y="2275205"/>
                  </a:lnTo>
                  <a:lnTo>
                    <a:pt x="5636895" y="2275205"/>
                  </a:lnTo>
                  <a:lnTo>
                    <a:pt x="5636895" y="2113280"/>
                  </a:lnTo>
                  <a:close/>
                </a:path>
                <a:path w="5888355" h="7964805">
                  <a:moveTo>
                    <a:pt x="5719445" y="7152640"/>
                  </a:moveTo>
                  <a:lnTo>
                    <a:pt x="0" y="7152640"/>
                  </a:lnTo>
                  <a:lnTo>
                    <a:pt x="0" y="7314565"/>
                  </a:lnTo>
                  <a:lnTo>
                    <a:pt x="5719445" y="7314565"/>
                  </a:lnTo>
                  <a:lnTo>
                    <a:pt x="5719445" y="7152640"/>
                  </a:lnTo>
                  <a:close/>
                </a:path>
                <a:path w="5888355" h="7964805">
                  <a:moveTo>
                    <a:pt x="5719445" y="6177280"/>
                  </a:moveTo>
                  <a:lnTo>
                    <a:pt x="0" y="6177280"/>
                  </a:lnTo>
                  <a:lnTo>
                    <a:pt x="0" y="6339205"/>
                  </a:lnTo>
                  <a:lnTo>
                    <a:pt x="5719445" y="6339205"/>
                  </a:lnTo>
                  <a:lnTo>
                    <a:pt x="5719445" y="6177280"/>
                  </a:lnTo>
                  <a:close/>
                </a:path>
                <a:path w="5888355" h="7964805">
                  <a:moveTo>
                    <a:pt x="5719445" y="5201920"/>
                  </a:moveTo>
                  <a:lnTo>
                    <a:pt x="0" y="5201920"/>
                  </a:lnTo>
                  <a:lnTo>
                    <a:pt x="0" y="5363845"/>
                  </a:lnTo>
                  <a:lnTo>
                    <a:pt x="5719445" y="5363845"/>
                  </a:lnTo>
                  <a:lnTo>
                    <a:pt x="5719445" y="5201920"/>
                  </a:lnTo>
                  <a:close/>
                </a:path>
                <a:path w="5888355" h="7964805">
                  <a:moveTo>
                    <a:pt x="5720715" y="4551680"/>
                  </a:moveTo>
                  <a:lnTo>
                    <a:pt x="0" y="4551680"/>
                  </a:lnTo>
                  <a:lnTo>
                    <a:pt x="0" y="4713605"/>
                  </a:lnTo>
                  <a:lnTo>
                    <a:pt x="5720715" y="4713605"/>
                  </a:lnTo>
                  <a:lnTo>
                    <a:pt x="5720715" y="4551680"/>
                  </a:lnTo>
                  <a:close/>
                </a:path>
                <a:path w="5888355" h="7964805">
                  <a:moveTo>
                    <a:pt x="5720715" y="3738880"/>
                  </a:moveTo>
                  <a:lnTo>
                    <a:pt x="0" y="3738880"/>
                  </a:lnTo>
                  <a:lnTo>
                    <a:pt x="0" y="3900805"/>
                  </a:lnTo>
                  <a:lnTo>
                    <a:pt x="5720715" y="3900805"/>
                  </a:lnTo>
                  <a:lnTo>
                    <a:pt x="5720715" y="3738880"/>
                  </a:lnTo>
                  <a:close/>
                </a:path>
                <a:path w="5888355" h="7964805">
                  <a:moveTo>
                    <a:pt x="5804535" y="4389120"/>
                  </a:moveTo>
                  <a:lnTo>
                    <a:pt x="0" y="4389120"/>
                  </a:lnTo>
                  <a:lnTo>
                    <a:pt x="0" y="4551045"/>
                  </a:lnTo>
                  <a:lnTo>
                    <a:pt x="5804535" y="4551045"/>
                  </a:lnTo>
                  <a:lnTo>
                    <a:pt x="5804535" y="4389120"/>
                  </a:lnTo>
                  <a:close/>
                </a:path>
                <a:path w="5888355" h="7964805">
                  <a:moveTo>
                    <a:pt x="5887085" y="6502400"/>
                  </a:moveTo>
                  <a:lnTo>
                    <a:pt x="0" y="6502400"/>
                  </a:lnTo>
                  <a:lnTo>
                    <a:pt x="0" y="6664325"/>
                  </a:lnTo>
                  <a:lnTo>
                    <a:pt x="5887085" y="6664325"/>
                  </a:lnTo>
                  <a:lnTo>
                    <a:pt x="5887085" y="6502400"/>
                  </a:lnTo>
                  <a:close/>
                </a:path>
                <a:path w="5888355" h="7964805">
                  <a:moveTo>
                    <a:pt x="5887085" y="4226560"/>
                  </a:moveTo>
                  <a:lnTo>
                    <a:pt x="0" y="4226560"/>
                  </a:lnTo>
                  <a:lnTo>
                    <a:pt x="0" y="4388485"/>
                  </a:lnTo>
                  <a:lnTo>
                    <a:pt x="5887085" y="4388485"/>
                  </a:lnTo>
                  <a:lnTo>
                    <a:pt x="5887085" y="4226560"/>
                  </a:lnTo>
                  <a:close/>
                </a:path>
                <a:path w="5888355" h="7964805">
                  <a:moveTo>
                    <a:pt x="5887085" y="3413760"/>
                  </a:moveTo>
                  <a:lnTo>
                    <a:pt x="0" y="3413760"/>
                  </a:lnTo>
                  <a:lnTo>
                    <a:pt x="0" y="3575685"/>
                  </a:lnTo>
                  <a:lnTo>
                    <a:pt x="5887085" y="3575685"/>
                  </a:lnTo>
                  <a:lnTo>
                    <a:pt x="5887085" y="3413760"/>
                  </a:lnTo>
                  <a:close/>
                </a:path>
                <a:path w="5888355" h="7964805">
                  <a:moveTo>
                    <a:pt x="5887085" y="2438400"/>
                  </a:moveTo>
                  <a:lnTo>
                    <a:pt x="0" y="2438400"/>
                  </a:lnTo>
                  <a:lnTo>
                    <a:pt x="0" y="2600325"/>
                  </a:lnTo>
                  <a:lnTo>
                    <a:pt x="5887085" y="2600325"/>
                  </a:lnTo>
                  <a:lnTo>
                    <a:pt x="5887085" y="2438400"/>
                  </a:lnTo>
                  <a:close/>
                </a:path>
                <a:path w="5888355" h="7964805">
                  <a:moveTo>
                    <a:pt x="5887085" y="812800"/>
                  </a:moveTo>
                  <a:lnTo>
                    <a:pt x="0" y="812800"/>
                  </a:lnTo>
                  <a:lnTo>
                    <a:pt x="0" y="974725"/>
                  </a:lnTo>
                  <a:lnTo>
                    <a:pt x="5887085" y="974725"/>
                  </a:lnTo>
                  <a:lnTo>
                    <a:pt x="5887085" y="812800"/>
                  </a:lnTo>
                  <a:close/>
                </a:path>
                <a:path w="5888355" h="7964805">
                  <a:moveTo>
                    <a:pt x="5887085" y="487680"/>
                  </a:moveTo>
                  <a:lnTo>
                    <a:pt x="0" y="487680"/>
                  </a:lnTo>
                  <a:lnTo>
                    <a:pt x="0" y="649605"/>
                  </a:lnTo>
                  <a:lnTo>
                    <a:pt x="5887085" y="649605"/>
                  </a:lnTo>
                  <a:lnTo>
                    <a:pt x="5887085" y="487680"/>
                  </a:lnTo>
                  <a:close/>
                </a:path>
                <a:path w="5888355" h="7964805">
                  <a:moveTo>
                    <a:pt x="5888355" y="5527040"/>
                  </a:moveTo>
                  <a:lnTo>
                    <a:pt x="0" y="5527040"/>
                  </a:lnTo>
                  <a:lnTo>
                    <a:pt x="0" y="5688965"/>
                  </a:lnTo>
                  <a:lnTo>
                    <a:pt x="5888355" y="5688965"/>
                  </a:lnTo>
                  <a:lnTo>
                    <a:pt x="5888355" y="5527040"/>
                  </a:lnTo>
                  <a:close/>
                </a:path>
                <a:path w="5888355" h="7964805">
                  <a:moveTo>
                    <a:pt x="5888355" y="4714240"/>
                  </a:moveTo>
                  <a:lnTo>
                    <a:pt x="0" y="4714240"/>
                  </a:lnTo>
                  <a:lnTo>
                    <a:pt x="0" y="4876165"/>
                  </a:lnTo>
                  <a:lnTo>
                    <a:pt x="5888355" y="4876165"/>
                  </a:lnTo>
                  <a:lnTo>
                    <a:pt x="5888355" y="4714240"/>
                  </a:lnTo>
                  <a:close/>
                </a:path>
                <a:path w="5888355" h="7964805">
                  <a:moveTo>
                    <a:pt x="5888355" y="1463040"/>
                  </a:moveTo>
                  <a:lnTo>
                    <a:pt x="0" y="1463040"/>
                  </a:lnTo>
                  <a:lnTo>
                    <a:pt x="0" y="1624965"/>
                  </a:lnTo>
                  <a:lnTo>
                    <a:pt x="5888355" y="1624965"/>
                  </a:lnTo>
                  <a:lnTo>
                    <a:pt x="5888355" y="1463040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902969" y="958850"/>
            <a:ext cx="5912485" cy="799592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 marR="5715">
              <a:lnSpc>
                <a:spcPts val="1280"/>
              </a:lnSpc>
              <a:spcBef>
                <a:spcPts val="175"/>
              </a:spcBef>
              <a:tabLst>
                <a:tab pos="852805" algn="l"/>
                <a:tab pos="3965575" algn="l"/>
                <a:tab pos="5311140" algn="l"/>
              </a:tabLst>
            </a:pPr>
            <a:r>
              <a:rPr sz="1100" dirty="0">
                <a:latin typeface="Courier New"/>
                <a:cs typeface="Courier New"/>
              </a:rPr>
              <a:t>infrastructure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application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designs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Conﬂuence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while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engaging</a:t>
            </a:r>
            <a:r>
              <a:rPr sz="1100" spc="50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with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business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leaders,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users,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architects.</a:t>
            </a:r>
            <a:r>
              <a:rPr sz="1100" dirty="0">
                <a:latin typeface="Courier New"/>
                <a:cs typeface="Courier New"/>
              </a:rPr>
              <a:t>	-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Scalable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Solution </a:t>
            </a:r>
            <a:r>
              <a:rPr sz="1100" dirty="0">
                <a:latin typeface="Courier New"/>
                <a:cs typeface="Courier New"/>
              </a:rPr>
              <a:t>Architecture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Design: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Spearheaded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implementation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of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scalable </a:t>
            </a:r>
            <a:r>
              <a:rPr sz="1100" dirty="0">
                <a:latin typeface="Courier New"/>
                <a:cs typeface="Courier New"/>
              </a:rPr>
              <a:t>architecture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framework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aligning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business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capabilities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with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IT</a:t>
            </a:r>
            <a:r>
              <a:rPr sz="1100" spc="-8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systems, </a:t>
            </a:r>
            <a:r>
              <a:rPr sz="1100" dirty="0">
                <a:latin typeface="Courier New"/>
                <a:cs typeface="Courier New"/>
              </a:rPr>
              <a:t>notably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enhancing</a:t>
            </a:r>
            <a:r>
              <a:rPr sz="1100" spc="-8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data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analytics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visualization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capabilities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and </a:t>
            </a:r>
            <a:r>
              <a:rPr sz="1100" dirty="0">
                <a:latin typeface="Courier New"/>
                <a:cs typeface="Courier New"/>
              </a:rPr>
              <a:t>delivering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cloud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application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integration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layer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for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global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ﬁnancial project.</a:t>
            </a:r>
            <a:r>
              <a:rPr sz="1100" dirty="0">
                <a:latin typeface="Courier New"/>
                <a:cs typeface="Courier New"/>
              </a:rPr>
              <a:t>	-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E</a:t>
            </a:r>
            <a:r>
              <a:rPr sz="1100" dirty="0">
                <a:latin typeface="Calibri"/>
                <a:cs typeface="Calibri"/>
              </a:rPr>
              <a:t>ﬀ</a:t>
            </a:r>
            <a:r>
              <a:rPr sz="1100" dirty="0">
                <a:latin typeface="Courier New"/>
                <a:cs typeface="Courier New"/>
              </a:rPr>
              <a:t>ective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Communication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Leadership: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Demonstrated </a:t>
            </a:r>
            <a:r>
              <a:rPr sz="1100" dirty="0">
                <a:latin typeface="Courier New"/>
                <a:cs typeface="Courier New"/>
              </a:rPr>
              <a:t>interpersonal</a:t>
            </a:r>
            <a:r>
              <a:rPr sz="1100" spc="-8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skills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adept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communication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with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stakeholders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and</a:t>
            </a:r>
            <a:r>
              <a:rPr sz="1100" spc="50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team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members,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</a:t>
            </a:r>
            <a:r>
              <a:rPr sz="1100" dirty="0">
                <a:latin typeface="Calibri"/>
                <a:cs typeface="Calibri"/>
              </a:rPr>
              <a:t>ﬀ</a:t>
            </a:r>
            <a:r>
              <a:rPr sz="1100" dirty="0">
                <a:latin typeface="Courier New"/>
                <a:cs typeface="Courier New"/>
              </a:rPr>
              <a:t>ering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clear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guidance,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inspiring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team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members,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and </a:t>
            </a:r>
            <a:r>
              <a:rPr sz="1100" dirty="0">
                <a:latin typeface="Courier New"/>
                <a:cs typeface="Courier New"/>
              </a:rPr>
              <a:t>establishing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best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practices,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SOPs,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monitoring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techniques.</a:t>
            </a:r>
            <a:r>
              <a:rPr sz="1100" dirty="0">
                <a:latin typeface="Courier New"/>
                <a:cs typeface="Courier New"/>
              </a:rPr>
              <a:t>	-</a:t>
            </a:r>
            <a:r>
              <a:rPr sz="1100" spc="-1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Cloud </a:t>
            </a:r>
            <a:r>
              <a:rPr sz="1100" dirty="0">
                <a:latin typeface="Courier New"/>
                <a:cs typeface="Courier New"/>
              </a:rPr>
              <a:t>Migration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Expertise: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Acted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as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subject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matter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expert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cloud </a:t>
            </a:r>
            <a:r>
              <a:rPr sz="1100" dirty="0">
                <a:latin typeface="Courier New"/>
                <a:cs typeface="Courier New"/>
              </a:rPr>
              <a:t>migration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from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on-</a:t>
            </a:r>
            <a:r>
              <a:rPr sz="1100" dirty="0">
                <a:latin typeface="Courier New"/>
                <a:cs typeface="Courier New"/>
              </a:rPr>
              <a:t>premise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data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centre,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contributing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to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multiple</a:t>
            </a:r>
            <a:endParaRPr sz="1100">
              <a:latin typeface="Courier New"/>
              <a:cs typeface="Courier New"/>
            </a:endParaRPr>
          </a:p>
          <a:p>
            <a:pPr marL="12700" marR="5080">
              <a:lnSpc>
                <a:spcPts val="1280"/>
              </a:lnSpc>
              <a:tabLst>
                <a:tab pos="937894" algn="l"/>
                <a:tab pos="1610360" algn="l"/>
                <a:tab pos="2703830" algn="l"/>
                <a:tab pos="3292475" algn="l"/>
                <a:tab pos="3376295" algn="l"/>
                <a:tab pos="4469765" algn="l"/>
              </a:tabLst>
            </a:pPr>
            <a:r>
              <a:rPr sz="1100" spc="-10" dirty="0">
                <a:latin typeface="Courier New"/>
                <a:cs typeface="Courier New"/>
              </a:rPr>
              <a:t>pre-</a:t>
            </a:r>
            <a:r>
              <a:rPr sz="1100" dirty="0">
                <a:latin typeface="Courier New"/>
                <a:cs typeface="Courier New"/>
              </a:rPr>
              <a:t>sales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assignments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by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</a:t>
            </a:r>
            <a:r>
              <a:rPr sz="1100" dirty="0">
                <a:latin typeface="Calibri"/>
                <a:cs typeface="Calibri"/>
              </a:rPr>
              <a:t>ﬀ</a:t>
            </a:r>
            <a:r>
              <a:rPr sz="1100" dirty="0">
                <a:latin typeface="Courier New"/>
                <a:cs typeface="Courier New"/>
              </a:rPr>
              <a:t>ering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approaches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for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highly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available, fault-</a:t>
            </a:r>
            <a:r>
              <a:rPr sz="1100" dirty="0">
                <a:latin typeface="Courier New"/>
                <a:cs typeface="Courier New"/>
              </a:rPr>
              <a:t>tolerant,</a:t>
            </a:r>
            <a:r>
              <a:rPr sz="1100" spc="-8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8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resilient</a:t>
            </a:r>
            <a:r>
              <a:rPr sz="1100" spc="-8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applications.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Successfully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migrated</a:t>
            </a:r>
            <a:r>
              <a:rPr sz="1100" spc="-85" dirty="0">
                <a:latin typeface="Courier New"/>
                <a:cs typeface="Courier New"/>
              </a:rPr>
              <a:t> </a:t>
            </a:r>
            <a:r>
              <a:rPr sz="1100" spc="-50" dirty="0">
                <a:latin typeface="Courier New"/>
                <a:cs typeface="Courier New"/>
              </a:rPr>
              <a:t>a </a:t>
            </a:r>
            <a:r>
              <a:rPr sz="1100" dirty="0">
                <a:latin typeface="Courier New"/>
                <a:cs typeface="Courier New"/>
              </a:rPr>
              <a:t>Lift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Shift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Monolithic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application,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including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VM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RDS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server </a:t>
            </a:r>
            <a:r>
              <a:rPr sz="1100" dirty="0">
                <a:latin typeface="Courier New"/>
                <a:cs typeface="Courier New"/>
              </a:rPr>
              <a:t>migration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to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AWS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for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Java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+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Oracle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RDS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application,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deﬁning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disaster </a:t>
            </a:r>
            <a:r>
              <a:rPr sz="1100" dirty="0">
                <a:latin typeface="Courier New"/>
                <a:cs typeface="Courier New"/>
              </a:rPr>
              <a:t>recovery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RTO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RPOs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for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client.</a:t>
            </a:r>
            <a:r>
              <a:rPr sz="1100" dirty="0">
                <a:latin typeface="Courier New"/>
                <a:cs typeface="Courier New"/>
              </a:rPr>
              <a:t>	-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Azure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Cloud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Services </a:t>
            </a:r>
            <a:r>
              <a:rPr sz="1100" dirty="0">
                <a:latin typeface="Courier New"/>
                <a:cs typeface="Courier New"/>
              </a:rPr>
              <a:t>Proﬁciency: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Extensive</a:t>
            </a:r>
            <a:r>
              <a:rPr sz="1100" spc="-8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experience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</a:t>
            </a:r>
            <a:r>
              <a:rPr sz="1100" spc="-8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software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development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with</a:t>
            </a:r>
            <a:r>
              <a:rPr sz="1100" spc="50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expertise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Java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cloud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technologies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such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as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Azure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Functions,</a:t>
            </a:r>
            <a:r>
              <a:rPr sz="1100" spc="50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Azure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Blob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Storage,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DB.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Successfully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delivered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scalable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and</a:t>
            </a:r>
            <a:r>
              <a:rPr sz="1100" spc="500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e</a:t>
            </a:r>
            <a:r>
              <a:rPr sz="1100" spc="-25" dirty="0">
                <a:latin typeface="Calibri"/>
                <a:cs typeface="Calibri"/>
              </a:rPr>
              <a:t>ﬃ</a:t>
            </a:r>
            <a:r>
              <a:rPr sz="1100" spc="-25" dirty="0">
                <a:latin typeface="Courier New"/>
                <a:cs typeface="Courier New"/>
              </a:rPr>
              <a:t>cient</a:t>
            </a:r>
            <a:r>
              <a:rPr sz="1100" spc="-8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solutions,</a:t>
            </a:r>
            <a:r>
              <a:rPr sz="1100" spc="-8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leveraging</a:t>
            </a:r>
            <a:r>
              <a:rPr sz="1100" spc="-8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Azure</a:t>
            </a:r>
            <a:r>
              <a:rPr sz="1100" spc="-8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Virtual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Machines,</a:t>
            </a:r>
            <a:r>
              <a:rPr sz="1100" spc="-8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Networking, </a:t>
            </a:r>
            <a:r>
              <a:rPr sz="1100" dirty="0">
                <a:latin typeface="Courier New"/>
                <a:cs typeface="Courier New"/>
              </a:rPr>
              <a:t>VPCDB,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Azure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App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Service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while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collaborating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with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cross-functional </a:t>
            </a:r>
            <a:r>
              <a:rPr sz="1100" dirty="0">
                <a:latin typeface="Courier New"/>
                <a:cs typeface="Courier New"/>
              </a:rPr>
              <a:t>teams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following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agile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methodologies.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Cloud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Application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Manager Architect</a:t>
            </a:r>
            <a:r>
              <a:rPr sz="1100" dirty="0">
                <a:latin typeface="Courier New"/>
                <a:cs typeface="Courier New"/>
              </a:rPr>
              <a:t>	Deloitte,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Hong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Kong</a:t>
            </a:r>
            <a:r>
              <a:rPr sz="1100" dirty="0">
                <a:latin typeface="Courier New"/>
                <a:cs typeface="Courier New"/>
              </a:rPr>
              <a:t>	03/2022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-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08/2022,</a:t>
            </a:r>
            <a:r>
              <a:rPr sz="1100" dirty="0">
                <a:latin typeface="Courier New"/>
                <a:cs typeface="Courier New"/>
              </a:rPr>
              <a:t>	-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Engagement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in </a:t>
            </a:r>
            <a:r>
              <a:rPr sz="1100" spc="-10" dirty="0">
                <a:latin typeface="Courier New"/>
                <a:cs typeface="Courier New"/>
              </a:rPr>
              <a:t>Pre-</a:t>
            </a:r>
            <a:r>
              <a:rPr sz="1100" dirty="0">
                <a:latin typeface="Courier New"/>
                <a:cs typeface="Courier New"/>
              </a:rPr>
              <a:t>sales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Activity: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Engaged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actively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pre-</a:t>
            </a:r>
            <a:r>
              <a:rPr sz="1100" dirty="0">
                <a:latin typeface="Courier New"/>
                <a:cs typeface="Courier New"/>
              </a:rPr>
              <a:t>sales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activities, </a:t>
            </a:r>
            <a:r>
              <a:rPr sz="1100" dirty="0">
                <a:latin typeface="Courier New"/>
                <a:cs typeface="Courier New"/>
              </a:rPr>
              <a:t>collaborating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with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clients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to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provide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them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with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comprehensive </a:t>
            </a:r>
            <a:r>
              <a:rPr sz="1100" dirty="0">
                <a:latin typeface="Courier New"/>
                <a:cs typeface="Courier New"/>
              </a:rPr>
              <a:t>solutions,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speciﬁcally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focusing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on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high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availability,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fault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tolerance,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resilience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for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their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applications.</a:t>
            </a:r>
            <a:r>
              <a:rPr sz="1100" dirty="0">
                <a:latin typeface="Courier New"/>
                <a:cs typeface="Courier New"/>
              </a:rPr>
              <a:t>		-</a:t>
            </a:r>
            <a:r>
              <a:rPr sz="1100" spc="-8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Specialized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Contribution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as </a:t>
            </a:r>
            <a:r>
              <a:rPr sz="1100" dirty="0">
                <a:latin typeface="Courier New"/>
                <a:cs typeface="Courier New"/>
              </a:rPr>
              <a:t>Azure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Cloud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SME: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Specialized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providing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cloud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governance,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hence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as </a:t>
            </a:r>
            <a:r>
              <a:rPr sz="1100" dirty="0">
                <a:latin typeface="Courier New"/>
                <a:cs typeface="Courier New"/>
              </a:rPr>
              <a:t>subject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matter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expertise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of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Azure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Cloud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team,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with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primary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focus </a:t>
            </a:r>
            <a:r>
              <a:rPr sz="1100" dirty="0">
                <a:latin typeface="Courier New"/>
                <a:cs typeface="Courier New"/>
              </a:rPr>
              <a:t>on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application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implementation.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Deﬁned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implemented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robust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DevOps </a:t>
            </a:r>
            <a:r>
              <a:rPr sz="1100" dirty="0">
                <a:latin typeface="Courier New"/>
                <a:cs typeface="Courier New"/>
              </a:rPr>
              <a:t>strategies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while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meticulously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accepting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aligning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Service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Level </a:t>
            </a:r>
            <a:r>
              <a:rPr sz="1100" dirty="0">
                <a:latin typeface="Courier New"/>
                <a:cs typeface="Courier New"/>
              </a:rPr>
              <a:t>Agreements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(SLA),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Recovery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Point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Objectives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(RPO),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Recovery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Time </a:t>
            </a:r>
            <a:r>
              <a:rPr sz="1100" dirty="0">
                <a:latin typeface="Courier New"/>
                <a:cs typeface="Courier New"/>
              </a:rPr>
              <a:t>Objectives</a:t>
            </a:r>
            <a:r>
              <a:rPr sz="1100" spc="-9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(RTO).</a:t>
            </a:r>
            <a:r>
              <a:rPr sz="1100" dirty="0">
                <a:latin typeface="Courier New"/>
                <a:cs typeface="Courier New"/>
              </a:rPr>
              <a:t>	-</a:t>
            </a:r>
            <a:r>
              <a:rPr sz="1100" spc="-8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Architectural',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metadata={'source': "/Users/mayankchugh/Documents/CVs/2024/CV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&amp;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Cover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letters/Mayank's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Feb </a:t>
            </a:r>
            <a:r>
              <a:rPr sz="1100" dirty="0">
                <a:latin typeface="Courier New"/>
                <a:cs typeface="Courier New"/>
              </a:rPr>
              <a:t>2024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-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CV.pdf",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'page':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1}),</a:t>
            </a:r>
            <a:endParaRPr sz="1100">
              <a:latin typeface="Courier New"/>
              <a:cs typeface="Courier New"/>
            </a:endParaRPr>
          </a:p>
          <a:p>
            <a:pPr marL="12700" marR="174625" indent="83820">
              <a:lnSpc>
                <a:spcPts val="1280"/>
              </a:lnSpc>
            </a:pPr>
            <a:r>
              <a:rPr sz="1100" spc="-10" dirty="0">
                <a:latin typeface="Courier New"/>
                <a:cs typeface="Courier New"/>
              </a:rPr>
              <a:t>Document(page_content='implemented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robust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DevOps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strategies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while </a:t>
            </a:r>
            <a:r>
              <a:rPr sz="1100" dirty="0">
                <a:latin typeface="Courier New"/>
                <a:cs typeface="Courier New"/>
              </a:rPr>
              <a:t>meticulously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accepting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aligning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Service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Level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Agreements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(SLA), </a:t>
            </a:r>
            <a:r>
              <a:rPr sz="1100" dirty="0">
                <a:latin typeface="Courier New"/>
                <a:cs typeface="Courier New"/>
              </a:rPr>
              <a:t>Recovery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Point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Objectives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(RPO),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Recovery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Time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Objectives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(RTO).</a:t>
            </a:r>
            <a:endParaRPr sz="1100">
              <a:latin typeface="Courier New"/>
              <a:cs typeface="Courier New"/>
            </a:endParaRPr>
          </a:p>
          <a:p>
            <a:pPr marL="12700" marR="5715">
              <a:lnSpc>
                <a:spcPts val="1280"/>
              </a:lnSpc>
            </a:pPr>
            <a:r>
              <a:rPr sz="1100" dirty="0">
                <a:latin typeface="Courier New"/>
                <a:cs typeface="Courier New"/>
              </a:rPr>
              <a:t>-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Architectural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Solution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Development: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Took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holistic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approach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to </a:t>
            </a:r>
            <a:r>
              <a:rPr sz="1100" dirty="0">
                <a:latin typeface="Courier New"/>
                <a:cs typeface="Courier New"/>
              </a:rPr>
              <a:t>architectural</a:t>
            </a:r>
            <a:r>
              <a:rPr sz="1100" spc="-9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solution</a:t>
            </a:r>
            <a:r>
              <a:rPr sz="1100" spc="-8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development,</a:t>
            </a:r>
            <a:r>
              <a:rPr sz="1100" spc="-8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actively</a:t>
            </a:r>
            <a:r>
              <a:rPr sz="1100" spc="-8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collaborating</a:t>
            </a:r>
            <a:r>
              <a:rPr sz="1100" spc="-8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with</a:t>
            </a:r>
            <a:r>
              <a:rPr sz="1100" spc="-9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cross- </a:t>
            </a:r>
            <a:r>
              <a:rPr sz="1100" dirty="0">
                <a:latin typeface="Courier New"/>
                <a:cs typeface="Courier New"/>
              </a:rPr>
              <a:t>functional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teams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to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design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implement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cloud-</a:t>
            </a:r>
            <a:r>
              <a:rPr sz="1100" dirty="0">
                <a:latin typeface="Courier New"/>
                <a:cs typeface="Courier New"/>
              </a:rPr>
              <a:t>based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solutions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that</a:t>
            </a:r>
            <a:r>
              <a:rPr sz="1100" spc="50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met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client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requirements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adhered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to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industry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best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practices.</a:t>
            </a:r>
            <a:endParaRPr sz="1100">
              <a:latin typeface="Courier New"/>
              <a:cs typeface="Courier New"/>
            </a:endParaRPr>
          </a:p>
          <a:p>
            <a:pPr marL="12700" marR="174625">
              <a:lnSpc>
                <a:spcPts val="1280"/>
              </a:lnSpc>
              <a:tabLst>
                <a:tab pos="1778000" algn="l"/>
                <a:tab pos="3797300" algn="l"/>
                <a:tab pos="4133215" algn="l"/>
              </a:tabLst>
            </a:pPr>
            <a:r>
              <a:rPr sz="1100" dirty="0">
                <a:latin typeface="Courier New"/>
                <a:cs typeface="Courier New"/>
              </a:rPr>
              <a:t>Senior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Technical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Architect/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Project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Manager</a:t>
            </a:r>
            <a:r>
              <a:rPr sz="1100" dirty="0">
                <a:latin typeface="Courier New"/>
                <a:cs typeface="Courier New"/>
              </a:rPr>
              <a:t>	Coforge,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Hong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Kong </a:t>
            </a:r>
            <a:r>
              <a:rPr sz="1100" dirty="0">
                <a:latin typeface="Courier New"/>
                <a:cs typeface="Courier New"/>
              </a:rPr>
              <a:t>05/2004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-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10/2021,</a:t>
            </a:r>
            <a:r>
              <a:rPr sz="1100" dirty="0">
                <a:latin typeface="Courier New"/>
                <a:cs typeface="Courier New"/>
              </a:rPr>
              <a:t>	-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Requirements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Gathering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Design: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Interacted </a:t>
            </a:r>
            <a:r>
              <a:rPr sz="1100" dirty="0">
                <a:latin typeface="Courier New"/>
                <a:cs typeface="Courier New"/>
              </a:rPr>
              <a:t>extensively,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conducting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meetings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walkthroughs</a:t>
            </a:r>
            <a:r>
              <a:rPr sz="1100" spc="-8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with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application </a:t>
            </a:r>
            <a:r>
              <a:rPr sz="1100" dirty="0">
                <a:latin typeface="Courier New"/>
                <a:cs typeface="Courier New"/>
              </a:rPr>
              <a:t>users,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gathering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designing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project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requirements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&amp;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feedback </a:t>
            </a:r>
            <a:r>
              <a:rPr sz="1100" dirty="0">
                <a:latin typeface="Courier New"/>
                <a:cs typeface="Courier New"/>
              </a:rPr>
              <a:t>speciﬁcations,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creating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BRD,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FRD,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user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stories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mock-</a:t>
            </a:r>
            <a:r>
              <a:rPr sz="1100" dirty="0">
                <a:latin typeface="Courier New"/>
                <a:cs typeface="Courier New"/>
              </a:rPr>
              <a:t>ups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for </a:t>
            </a:r>
            <a:r>
              <a:rPr sz="1100" dirty="0">
                <a:latin typeface="Courier New"/>
                <a:cs typeface="Courier New"/>
              </a:rPr>
              <a:t>customer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needs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to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enhance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operational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e</a:t>
            </a:r>
            <a:r>
              <a:rPr sz="1100" spc="-10" dirty="0">
                <a:latin typeface="Calibri"/>
                <a:cs typeface="Calibri"/>
              </a:rPr>
              <a:t>ﬃ</a:t>
            </a:r>
            <a:r>
              <a:rPr sz="1100" spc="-10" dirty="0">
                <a:latin typeface="Courier New"/>
                <a:cs typeface="Courier New"/>
              </a:rPr>
              <a:t>ciency.</a:t>
            </a:r>
            <a:r>
              <a:rPr sz="1100" dirty="0">
                <a:latin typeface="Courier New"/>
                <a:cs typeface="Courier New"/>
              </a:rPr>
              <a:t>	-</a:t>
            </a:r>
            <a:r>
              <a:rPr sz="1100" spc="-1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Technical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48360" y="914400"/>
            <a:ext cx="6076315" cy="8098155"/>
          </a:xfrm>
          <a:custGeom>
            <a:avLst/>
            <a:gdLst/>
            <a:ahLst/>
            <a:cxnLst/>
            <a:rect l="l" t="t" r="r" b="b"/>
            <a:pathLst>
              <a:path w="6076315" h="8098155">
                <a:moveTo>
                  <a:pt x="0" y="1904"/>
                </a:moveTo>
                <a:lnTo>
                  <a:pt x="6076315" y="1904"/>
                </a:lnTo>
              </a:path>
              <a:path w="6076315" h="8098155">
                <a:moveTo>
                  <a:pt x="6075045" y="0"/>
                </a:moveTo>
                <a:lnTo>
                  <a:pt x="6075045" y="8098155"/>
                </a:lnTo>
              </a:path>
              <a:path w="6076315" h="8098155">
                <a:moveTo>
                  <a:pt x="6076315" y="8096884"/>
                </a:moveTo>
                <a:lnTo>
                  <a:pt x="0" y="8096884"/>
                </a:lnTo>
              </a:path>
              <a:path w="6076315" h="8098155">
                <a:moveTo>
                  <a:pt x="1905" y="8098155"/>
                </a:moveTo>
                <a:lnTo>
                  <a:pt x="1905" y="0"/>
                </a:lnTo>
              </a:path>
              <a:path w="6076315" h="8098155">
                <a:moveTo>
                  <a:pt x="0" y="1904"/>
                </a:moveTo>
                <a:lnTo>
                  <a:pt x="6076315" y="1904"/>
                </a:lnTo>
              </a:path>
              <a:path w="6076315" h="8098155">
                <a:moveTo>
                  <a:pt x="6075045" y="0"/>
                </a:moveTo>
                <a:lnTo>
                  <a:pt x="6075045" y="8098155"/>
                </a:lnTo>
              </a:path>
              <a:path w="6076315" h="8098155">
                <a:moveTo>
                  <a:pt x="6076315" y="8096884"/>
                </a:moveTo>
                <a:lnTo>
                  <a:pt x="0" y="8096884"/>
                </a:lnTo>
              </a:path>
              <a:path w="6076315" h="8098155">
                <a:moveTo>
                  <a:pt x="1905" y="8098155"/>
                </a:moveTo>
                <a:lnTo>
                  <a:pt x="1905" y="0"/>
                </a:lnTo>
              </a:path>
            </a:pathLst>
          </a:custGeom>
          <a:ln w="3175">
            <a:solidFill>
              <a:srgbClr val="E2E2E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47725" y="913764"/>
            <a:ext cx="6076950" cy="8098790"/>
            <a:chOff x="847725" y="913764"/>
            <a:chExt cx="6076950" cy="8098790"/>
          </a:xfrm>
        </p:grpSpPr>
        <p:sp>
          <p:nvSpPr>
            <p:cNvPr id="3" name="object 3"/>
            <p:cNvSpPr/>
            <p:nvPr/>
          </p:nvSpPr>
          <p:spPr>
            <a:xfrm>
              <a:off x="847725" y="913764"/>
              <a:ext cx="6076950" cy="8098790"/>
            </a:xfrm>
            <a:custGeom>
              <a:avLst/>
              <a:gdLst/>
              <a:ahLst/>
              <a:cxnLst/>
              <a:rect l="l" t="t" r="r" b="b"/>
              <a:pathLst>
                <a:path w="6076950" h="8098790">
                  <a:moveTo>
                    <a:pt x="6076950" y="0"/>
                  </a:moveTo>
                  <a:lnTo>
                    <a:pt x="0" y="0"/>
                  </a:lnTo>
                  <a:lnTo>
                    <a:pt x="0" y="8098789"/>
                  </a:lnTo>
                  <a:lnTo>
                    <a:pt x="6076950" y="8098789"/>
                  </a:lnTo>
                  <a:lnTo>
                    <a:pt x="6076950" y="0"/>
                  </a:lnTo>
                  <a:close/>
                </a:path>
              </a:pathLst>
            </a:custGeom>
            <a:solidFill>
              <a:srgbClr val="F4F4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14400" y="981709"/>
              <a:ext cx="5888355" cy="7964805"/>
            </a:xfrm>
            <a:custGeom>
              <a:avLst/>
              <a:gdLst/>
              <a:ahLst/>
              <a:cxnLst/>
              <a:rect l="l" t="t" r="r" b="b"/>
              <a:pathLst>
                <a:path w="5888355" h="7964805">
                  <a:moveTo>
                    <a:pt x="2606675" y="7640320"/>
                  </a:moveTo>
                  <a:lnTo>
                    <a:pt x="0" y="7640320"/>
                  </a:lnTo>
                  <a:lnTo>
                    <a:pt x="0" y="7802245"/>
                  </a:lnTo>
                  <a:lnTo>
                    <a:pt x="2606675" y="7802245"/>
                  </a:lnTo>
                  <a:lnTo>
                    <a:pt x="2606675" y="7640320"/>
                  </a:lnTo>
                  <a:close/>
                </a:path>
                <a:path w="5888355" h="7964805">
                  <a:moveTo>
                    <a:pt x="4794885" y="3251200"/>
                  </a:moveTo>
                  <a:lnTo>
                    <a:pt x="0" y="3251200"/>
                  </a:lnTo>
                  <a:lnTo>
                    <a:pt x="0" y="3413125"/>
                  </a:lnTo>
                  <a:lnTo>
                    <a:pt x="4794885" y="3413125"/>
                  </a:lnTo>
                  <a:lnTo>
                    <a:pt x="4794885" y="3251200"/>
                  </a:lnTo>
                  <a:close/>
                </a:path>
                <a:path w="5888355" h="7964805">
                  <a:moveTo>
                    <a:pt x="5046345" y="1137920"/>
                  </a:moveTo>
                  <a:lnTo>
                    <a:pt x="0" y="1137920"/>
                  </a:lnTo>
                  <a:lnTo>
                    <a:pt x="0" y="1299845"/>
                  </a:lnTo>
                  <a:lnTo>
                    <a:pt x="5046345" y="1299845"/>
                  </a:lnTo>
                  <a:lnTo>
                    <a:pt x="5046345" y="1137920"/>
                  </a:lnTo>
                  <a:close/>
                </a:path>
                <a:path w="5888355" h="7964805">
                  <a:moveTo>
                    <a:pt x="5130165" y="6664960"/>
                  </a:moveTo>
                  <a:lnTo>
                    <a:pt x="0" y="6664960"/>
                  </a:lnTo>
                  <a:lnTo>
                    <a:pt x="0" y="6826885"/>
                  </a:lnTo>
                  <a:lnTo>
                    <a:pt x="5130165" y="6826885"/>
                  </a:lnTo>
                  <a:lnTo>
                    <a:pt x="5130165" y="6664960"/>
                  </a:lnTo>
                  <a:close/>
                </a:path>
                <a:path w="5888355" h="7964805">
                  <a:moveTo>
                    <a:pt x="5130165" y="6014720"/>
                  </a:moveTo>
                  <a:lnTo>
                    <a:pt x="0" y="6014720"/>
                  </a:lnTo>
                  <a:lnTo>
                    <a:pt x="0" y="6176645"/>
                  </a:lnTo>
                  <a:lnTo>
                    <a:pt x="5130165" y="6176645"/>
                  </a:lnTo>
                  <a:lnTo>
                    <a:pt x="5130165" y="6014720"/>
                  </a:lnTo>
                  <a:close/>
                </a:path>
                <a:path w="5888355" h="7964805">
                  <a:moveTo>
                    <a:pt x="5130165" y="650240"/>
                  </a:moveTo>
                  <a:lnTo>
                    <a:pt x="0" y="650240"/>
                  </a:lnTo>
                  <a:lnTo>
                    <a:pt x="0" y="812165"/>
                  </a:lnTo>
                  <a:lnTo>
                    <a:pt x="5130165" y="812165"/>
                  </a:lnTo>
                  <a:lnTo>
                    <a:pt x="5130165" y="650240"/>
                  </a:lnTo>
                  <a:close/>
                </a:path>
                <a:path w="5888355" h="7964805">
                  <a:moveTo>
                    <a:pt x="5131435" y="325120"/>
                  </a:moveTo>
                  <a:lnTo>
                    <a:pt x="0" y="325120"/>
                  </a:lnTo>
                  <a:lnTo>
                    <a:pt x="0" y="487045"/>
                  </a:lnTo>
                  <a:lnTo>
                    <a:pt x="5131435" y="487045"/>
                  </a:lnTo>
                  <a:lnTo>
                    <a:pt x="5131435" y="325120"/>
                  </a:lnTo>
                  <a:close/>
                </a:path>
                <a:path w="5888355" h="7964805">
                  <a:moveTo>
                    <a:pt x="5213985" y="5364480"/>
                  </a:moveTo>
                  <a:lnTo>
                    <a:pt x="0" y="5364480"/>
                  </a:lnTo>
                  <a:lnTo>
                    <a:pt x="0" y="5526405"/>
                  </a:lnTo>
                  <a:lnTo>
                    <a:pt x="5213985" y="5526405"/>
                  </a:lnTo>
                  <a:lnTo>
                    <a:pt x="5213985" y="5364480"/>
                  </a:lnTo>
                  <a:close/>
                </a:path>
                <a:path w="5888355" h="7964805">
                  <a:moveTo>
                    <a:pt x="5213985" y="4714240"/>
                  </a:moveTo>
                  <a:lnTo>
                    <a:pt x="0" y="4714240"/>
                  </a:lnTo>
                  <a:lnTo>
                    <a:pt x="0" y="4876165"/>
                  </a:lnTo>
                  <a:lnTo>
                    <a:pt x="5213985" y="4876165"/>
                  </a:lnTo>
                  <a:lnTo>
                    <a:pt x="5213985" y="4714240"/>
                  </a:lnTo>
                  <a:close/>
                </a:path>
                <a:path w="5888355" h="7964805">
                  <a:moveTo>
                    <a:pt x="5215255" y="6177280"/>
                  </a:moveTo>
                  <a:lnTo>
                    <a:pt x="0" y="6177280"/>
                  </a:lnTo>
                  <a:lnTo>
                    <a:pt x="0" y="6339205"/>
                  </a:lnTo>
                  <a:lnTo>
                    <a:pt x="5215255" y="6339205"/>
                  </a:lnTo>
                  <a:lnTo>
                    <a:pt x="5215255" y="6177280"/>
                  </a:lnTo>
                  <a:close/>
                </a:path>
                <a:path w="5888355" h="7964805">
                  <a:moveTo>
                    <a:pt x="5299075" y="6339840"/>
                  </a:moveTo>
                  <a:lnTo>
                    <a:pt x="0" y="6339840"/>
                  </a:lnTo>
                  <a:lnTo>
                    <a:pt x="0" y="6501765"/>
                  </a:lnTo>
                  <a:lnTo>
                    <a:pt x="5299075" y="6501765"/>
                  </a:lnTo>
                  <a:lnTo>
                    <a:pt x="5299075" y="6339840"/>
                  </a:lnTo>
                  <a:close/>
                </a:path>
                <a:path w="5888355" h="7964805">
                  <a:moveTo>
                    <a:pt x="5299075" y="4876800"/>
                  </a:moveTo>
                  <a:lnTo>
                    <a:pt x="0" y="4876800"/>
                  </a:lnTo>
                  <a:lnTo>
                    <a:pt x="0" y="5038725"/>
                  </a:lnTo>
                  <a:lnTo>
                    <a:pt x="5299075" y="5038725"/>
                  </a:lnTo>
                  <a:lnTo>
                    <a:pt x="5299075" y="4876800"/>
                  </a:lnTo>
                  <a:close/>
                </a:path>
                <a:path w="5888355" h="7964805">
                  <a:moveTo>
                    <a:pt x="5382895" y="5039360"/>
                  </a:moveTo>
                  <a:lnTo>
                    <a:pt x="0" y="5039360"/>
                  </a:lnTo>
                  <a:lnTo>
                    <a:pt x="0" y="5201285"/>
                  </a:lnTo>
                  <a:lnTo>
                    <a:pt x="5382895" y="5201285"/>
                  </a:lnTo>
                  <a:lnTo>
                    <a:pt x="5382895" y="5039360"/>
                  </a:lnTo>
                  <a:close/>
                </a:path>
                <a:path w="5888355" h="7964805">
                  <a:moveTo>
                    <a:pt x="5382895" y="4551680"/>
                  </a:moveTo>
                  <a:lnTo>
                    <a:pt x="0" y="4551680"/>
                  </a:lnTo>
                  <a:lnTo>
                    <a:pt x="0" y="4713605"/>
                  </a:lnTo>
                  <a:lnTo>
                    <a:pt x="5382895" y="4713605"/>
                  </a:lnTo>
                  <a:lnTo>
                    <a:pt x="5382895" y="4551680"/>
                  </a:lnTo>
                  <a:close/>
                </a:path>
                <a:path w="5888355" h="7964805">
                  <a:moveTo>
                    <a:pt x="5382895" y="4226560"/>
                  </a:moveTo>
                  <a:lnTo>
                    <a:pt x="0" y="4226560"/>
                  </a:lnTo>
                  <a:lnTo>
                    <a:pt x="0" y="4388485"/>
                  </a:lnTo>
                  <a:lnTo>
                    <a:pt x="5382895" y="4388485"/>
                  </a:lnTo>
                  <a:lnTo>
                    <a:pt x="5382895" y="4226560"/>
                  </a:lnTo>
                  <a:close/>
                </a:path>
                <a:path w="5888355" h="7964805">
                  <a:moveTo>
                    <a:pt x="5384165" y="7152640"/>
                  </a:moveTo>
                  <a:lnTo>
                    <a:pt x="0" y="7152640"/>
                  </a:lnTo>
                  <a:lnTo>
                    <a:pt x="0" y="7314565"/>
                  </a:lnTo>
                  <a:lnTo>
                    <a:pt x="5384165" y="7314565"/>
                  </a:lnTo>
                  <a:lnTo>
                    <a:pt x="5384165" y="7152640"/>
                  </a:lnTo>
                  <a:close/>
                </a:path>
                <a:path w="5888355" h="7964805">
                  <a:moveTo>
                    <a:pt x="5384165" y="3738880"/>
                  </a:moveTo>
                  <a:lnTo>
                    <a:pt x="0" y="3738880"/>
                  </a:lnTo>
                  <a:lnTo>
                    <a:pt x="0" y="3900805"/>
                  </a:lnTo>
                  <a:lnTo>
                    <a:pt x="5384165" y="3900805"/>
                  </a:lnTo>
                  <a:lnTo>
                    <a:pt x="5384165" y="3738880"/>
                  </a:lnTo>
                  <a:close/>
                </a:path>
                <a:path w="5888355" h="7964805">
                  <a:moveTo>
                    <a:pt x="5466715" y="3088640"/>
                  </a:moveTo>
                  <a:lnTo>
                    <a:pt x="0" y="3088640"/>
                  </a:lnTo>
                  <a:lnTo>
                    <a:pt x="0" y="3250565"/>
                  </a:lnTo>
                  <a:lnTo>
                    <a:pt x="5466715" y="3250565"/>
                  </a:lnTo>
                  <a:lnTo>
                    <a:pt x="5466715" y="3088640"/>
                  </a:lnTo>
                  <a:close/>
                </a:path>
                <a:path w="5888355" h="7964805">
                  <a:moveTo>
                    <a:pt x="5466715" y="2438400"/>
                  </a:moveTo>
                  <a:lnTo>
                    <a:pt x="0" y="2438400"/>
                  </a:lnTo>
                  <a:lnTo>
                    <a:pt x="0" y="2600325"/>
                  </a:lnTo>
                  <a:lnTo>
                    <a:pt x="5466715" y="2600325"/>
                  </a:lnTo>
                  <a:lnTo>
                    <a:pt x="5466715" y="2438400"/>
                  </a:lnTo>
                  <a:close/>
                </a:path>
                <a:path w="5888355" h="7964805">
                  <a:moveTo>
                    <a:pt x="5466715" y="1788160"/>
                  </a:moveTo>
                  <a:lnTo>
                    <a:pt x="0" y="1788160"/>
                  </a:lnTo>
                  <a:lnTo>
                    <a:pt x="0" y="1950085"/>
                  </a:lnTo>
                  <a:lnTo>
                    <a:pt x="5466715" y="1950085"/>
                  </a:lnTo>
                  <a:lnTo>
                    <a:pt x="5466715" y="1788160"/>
                  </a:lnTo>
                  <a:close/>
                </a:path>
                <a:path w="5888355" h="7964805">
                  <a:moveTo>
                    <a:pt x="5467985" y="812800"/>
                  </a:moveTo>
                  <a:lnTo>
                    <a:pt x="0" y="812800"/>
                  </a:lnTo>
                  <a:lnTo>
                    <a:pt x="0" y="974725"/>
                  </a:lnTo>
                  <a:lnTo>
                    <a:pt x="5467985" y="974725"/>
                  </a:lnTo>
                  <a:lnTo>
                    <a:pt x="5467985" y="812800"/>
                  </a:lnTo>
                  <a:close/>
                </a:path>
                <a:path w="5888355" h="7964805">
                  <a:moveTo>
                    <a:pt x="5550535" y="6990080"/>
                  </a:moveTo>
                  <a:lnTo>
                    <a:pt x="0" y="6990080"/>
                  </a:lnTo>
                  <a:lnTo>
                    <a:pt x="0" y="7152005"/>
                  </a:lnTo>
                  <a:lnTo>
                    <a:pt x="5550535" y="7152005"/>
                  </a:lnTo>
                  <a:lnTo>
                    <a:pt x="5550535" y="6990080"/>
                  </a:lnTo>
                  <a:close/>
                </a:path>
                <a:path w="5888355" h="7964805">
                  <a:moveTo>
                    <a:pt x="5550535" y="6502400"/>
                  </a:moveTo>
                  <a:lnTo>
                    <a:pt x="0" y="6502400"/>
                  </a:lnTo>
                  <a:lnTo>
                    <a:pt x="0" y="6664325"/>
                  </a:lnTo>
                  <a:lnTo>
                    <a:pt x="5550535" y="6664325"/>
                  </a:lnTo>
                  <a:lnTo>
                    <a:pt x="5550535" y="6502400"/>
                  </a:lnTo>
                  <a:close/>
                </a:path>
                <a:path w="5888355" h="7964805">
                  <a:moveTo>
                    <a:pt x="5550535" y="2113280"/>
                  </a:moveTo>
                  <a:lnTo>
                    <a:pt x="0" y="2113280"/>
                  </a:lnTo>
                  <a:lnTo>
                    <a:pt x="0" y="2275205"/>
                  </a:lnTo>
                  <a:lnTo>
                    <a:pt x="5550535" y="2275205"/>
                  </a:lnTo>
                  <a:lnTo>
                    <a:pt x="5550535" y="2113280"/>
                  </a:lnTo>
                  <a:close/>
                </a:path>
                <a:path w="5888355" h="7964805">
                  <a:moveTo>
                    <a:pt x="5550535" y="1950720"/>
                  </a:moveTo>
                  <a:lnTo>
                    <a:pt x="0" y="1950720"/>
                  </a:lnTo>
                  <a:lnTo>
                    <a:pt x="0" y="2112645"/>
                  </a:lnTo>
                  <a:lnTo>
                    <a:pt x="5550535" y="2112645"/>
                  </a:lnTo>
                  <a:lnTo>
                    <a:pt x="5550535" y="1950720"/>
                  </a:lnTo>
                  <a:close/>
                </a:path>
                <a:path w="5888355" h="7964805">
                  <a:moveTo>
                    <a:pt x="5550535" y="1625600"/>
                  </a:moveTo>
                  <a:lnTo>
                    <a:pt x="0" y="1625600"/>
                  </a:lnTo>
                  <a:lnTo>
                    <a:pt x="0" y="1787525"/>
                  </a:lnTo>
                  <a:lnTo>
                    <a:pt x="5550535" y="1787525"/>
                  </a:lnTo>
                  <a:lnTo>
                    <a:pt x="5550535" y="1625600"/>
                  </a:lnTo>
                  <a:close/>
                </a:path>
                <a:path w="5888355" h="7964805">
                  <a:moveTo>
                    <a:pt x="5550535" y="1300480"/>
                  </a:moveTo>
                  <a:lnTo>
                    <a:pt x="0" y="1300480"/>
                  </a:lnTo>
                  <a:lnTo>
                    <a:pt x="0" y="1462405"/>
                  </a:lnTo>
                  <a:lnTo>
                    <a:pt x="5550535" y="1462405"/>
                  </a:lnTo>
                  <a:lnTo>
                    <a:pt x="5550535" y="1300480"/>
                  </a:lnTo>
                  <a:close/>
                </a:path>
                <a:path w="5888355" h="7964805">
                  <a:moveTo>
                    <a:pt x="5550535" y="0"/>
                  </a:moveTo>
                  <a:lnTo>
                    <a:pt x="0" y="0"/>
                  </a:lnTo>
                  <a:lnTo>
                    <a:pt x="0" y="161925"/>
                  </a:lnTo>
                  <a:lnTo>
                    <a:pt x="5550535" y="161925"/>
                  </a:lnTo>
                  <a:lnTo>
                    <a:pt x="5550535" y="0"/>
                  </a:lnTo>
                  <a:close/>
                </a:path>
                <a:path w="5888355" h="7964805">
                  <a:moveTo>
                    <a:pt x="5551805" y="7477760"/>
                  </a:moveTo>
                  <a:lnTo>
                    <a:pt x="0" y="7477760"/>
                  </a:lnTo>
                  <a:lnTo>
                    <a:pt x="0" y="7639685"/>
                  </a:lnTo>
                  <a:lnTo>
                    <a:pt x="5551805" y="7639685"/>
                  </a:lnTo>
                  <a:lnTo>
                    <a:pt x="5551805" y="7477760"/>
                  </a:lnTo>
                  <a:close/>
                </a:path>
                <a:path w="5888355" h="7964805">
                  <a:moveTo>
                    <a:pt x="5553075" y="6827520"/>
                  </a:moveTo>
                  <a:lnTo>
                    <a:pt x="0" y="6827520"/>
                  </a:lnTo>
                  <a:lnTo>
                    <a:pt x="0" y="6989445"/>
                  </a:lnTo>
                  <a:lnTo>
                    <a:pt x="5553075" y="6989445"/>
                  </a:lnTo>
                  <a:lnTo>
                    <a:pt x="5553075" y="6827520"/>
                  </a:lnTo>
                  <a:close/>
                </a:path>
                <a:path w="5888355" h="7964805">
                  <a:moveTo>
                    <a:pt x="5553075" y="3413760"/>
                  </a:moveTo>
                  <a:lnTo>
                    <a:pt x="0" y="3413760"/>
                  </a:lnTo>
                  <a:lnTo>
                    <a:pt x="0" y="3575685"/>
                  </a:lnTo>
                  <a:lnTo>
                    <a:pt x="5553075" y="3575685"/>
                  </a:lnTo>
                  <a:lnTo>
                    <a:pt x="5553075" y="3413760"/>
                  </a:lnTo>
                  <a:close/>
                </a:path>
                <a:path w="5888355" h="7964805">
                  <a:moveTo>
                    <a:pt x="5635625" y="5527040"/>
                  </a:moveTo>
                  <a:lnTo>
                    <a:pt x="0" y="5527040"/>
                  </a:lnTo>
                  <a:lnTo>
                    <a:pt x="0" y="5688965"/>
                  </a:lnTo>
                  <a:lnTo>
                    <a:pt x="5635625" y="5688965"/>
                  </a:lnTo>
                  <a:lnTo>
                    <a:pt x="5635625" y="5527040"/>
                  </a:lnTo>
                  <a:close/>
                </a:path>
                <a:path w="5888355" h="7964805">
                  <a:moveTo>
                    <a:pt x="5635625" y="4064000"/>
                  </a:moveTo>
                  <a:lnTo>
                    <a:pt x="0" y="4064000"/>
                  </a:lnTo>
                  <a:lnTo>
                    <a:pt x="0" y="4225925"/>
                  </a:lnTo>
                  <a:lnTo>
                    <a:pt x="5635625" y="4225925"/>
                  </a:lnTo>
                  <a:lnTo>
                    <a:pt x="5635625" y="4064000"/>
                  </a:lnTo>
                  <a:close/>
                </a:path>
                <a:path w="5888355" h="7964805">
                  <a:moveTo>
                    <a:pt x="5719445" y="2275840"/>
                  </a:moveTo>
                  <a:lnTo>
                    <a:pt x="0" y="2275840"/>
                  </a:lnTo>
                  <a:lnTo>
                    <a:pt x="0" y="2437765"/>
                  </a:lnTo>
                  <a:lnTo>
                    <a:pt x="5719445" y="2437765"/>
                  </a:lnTo>
                  <a:lnTo>
                    <a:pt x="5719445" y="2275840"/>
                  </a:lnTo>
                  <a:close/>
                </a:path>
                <a:path w="5888355" h="7964805">
                  <a:moveTo>
                    <a:pt x="5720715" y="7315200"/>
                  </a:moveTo>
                  <a:lnTo>
                    <a:pt x="0" y="7315200"/>
                  </a:lnTo>
                  <a:lnTo>
                    <a:pt x="0" y="7477125"/>
                  </a:lnTo>
                  <a:lnTo>
                    <a:pt x="5720715" y="7477125"/>
                  </a:lnTo>
                  <a:lnTo>
                    <a:pt x="5720715" y="7315200"/>
                  </a:lnTo>
                  <a:close/>
                </a:path>
                <a:path w="5888355" h="7964805">
                  <a:moveTo>
                    <a:pt x="5720715" y="5201920"/>
                  </a:moveTo>
                  <a:lnTo>
                    <a:pt x="0" y="5201920"/>
                  </a:lnTo>
                  <a:lnTo>
                    <a:pt x="0" y="5363845"/>
                  </a:lnTo>
                  <a:lnTo>
                    <a:pt x="5720715" y="5363845"/>
                  </a:lnTo>
                  <a:lnTo>
                    <a:pt x="5720715" y="5201920"/>
                  </a:lnTo>
                  <a:close/>
                </a:path>
                <a:path w="5888355" h="7964805">
                  <a:moveTo>
                    <a:pt x="5720715" y="1463040"/>
                  </a:moveTo>
                  <a:lnTo>
                    <a:pt x="0" y="1463040"/>
                  </a:lnTo>
                  <a:lnTo>
                    <a:pt x="0" y="1624965"/>
                  </a:lnTo>
                  <a:lnTo>
                    <a:pt x="5720715" y="1624965"/>
                  </a:lnTo>
                  <a:lnTo>
                    <a:pt x="5720715" y="1463040"/>
                  </a:lnTo>
                  <a:close/>
                </a:path>
                <a:path w="5888355" h="7964805">
                  <a:moveTo>
                    <a:pt x="5720715" y="162560"/>
                  </a:moveTo>
                  <a:lnTo>
                    <a:pt x="0" y="162560"/>
                  </a:lnTo>
                  <a:lnTo>
                    <a:pt x="0" y="324485"/>
                  </a:lnTo>
                  <a:lnTo>
                    <a:pt x="5720715" y="324485"/>
                  </a:lnTo>
                  <a:lnTo>
                    <a:pt x="5720715" y="162560"/>
                  </a:lnTo>
                  <a:close/>
                </a:path>
                <a:path w="5888355" h="7964805">
                  <a:moveTo>
                    <a:pt x="5803265" y="5852160"/>
                  </a:moveTo>
                  <a:lnTo>
                    <a:pt x="0" y="5852160"/>
                  </a:lnTo>
                  <a:lnTo>
                    <a:pt x="0" y="6014085"/>
                  </a:lnTo>
                  <a:lnTo>
                    <a:pt x="5803265" y="6014085"/>
                  </a:lnTo>
                  <a:lnTo>
                    <a:pt x="5803265" y="5852160"/>
                  </a:lnTo>
                  <a:close/>
                </a:path>
                <a:path w="5888355" h="7964805">
                  <a:moveTo>
                    <a:pt x="5803265" y="2926080"/>
                  </a:moveTo>
                  <a:lnTo>
                    <a:pt x="0" y="2926080"/>
                  </a:lnTo>
                  <a:lnTo>
                    <a:pt x="0" y="3088005"/>
                  </a:lnTo>
                  <a:lnTo>
                    <a:pt x="5803265" y="3088005"/>
                  </a:lnTo>
                  <a:lnTo>
                    <a:pt x="5803265" y="2926080"/>
                  </a:lnTo>
                  <a:close/>
                </a:path>
                <a:path w="5888355" h="7964805">
                  <a:moveTo>
                    <a:pt x="5803265" y="975360"/>
                  </a:moveTo>
                  <a:lnTo>
                    <a:pt x="0" y="975360"/>
                  </a:lnTo>
                  <a:lnTo>
                    <a:pt x="0" y="1137285"/>
                  </a:lnTo>
                  <a:lnTo>
                    <a:pt x="5803265" y="1137285"/>
                  </a:lnTo>
                  <a:lnTo>
                    <a:pt x="5803265" y="975360"/>
                  </a:lnTo>
                  <a:close/>
                </a:path>
                <a:path w="5888355" h="7964805">
                  <a:moveTo>
                    <a:pt x="5804535" y="487680"/>
                  </a:moveTo>
                  <a:lnTo>
                    <a:pt x="0" y="487680"/>
                  </a:lnTo>
                  <a:lnTo>
                    <a:pt x="0" y="649605"/>
                  </a:lnTo>
                  <a:lnTo>
                    <a:pt x="5804535" y="649605"/>
                  </a:lnTo>
                  <a:lnTo>
                    <a:pt x="5804535" y="487680"/>
                  </a:lnTo>
                  <a:close/>
                </a:path>
                <a:path w="5888355" h="7964805">
                  <a:moveTo>
                    <a:pt x="5887085" y="5689600"/>
                  </a:moveTo>
                  <a:lnTo>
                    <a:pt x="0" y="5689600"/>
                  </a:lnTo>
                  <a:lnTo>
                    <a:pt x="0" y="5851525"/>
                  </a:lnTo>
                  <a:lnTo>
                    <a:pt x="5887085" y="5851525"/>
                  </a:lnTo>
                  <a:lnTo>
                    <a:pt x="5887085" y="5689600"/>
                  </a:lnTo>
                  <a:close/>
                </a:path>
                <a:path w="5888355" h="7964805">
                  <a:moveTo>
                    <a:pt x="5887085" y="3576320"/>
                  </a:moveTo>
                  <a:lnTo>
                    <a:pt x="0" y="3576320"/>
                  </a:lnTo>
                  <a:lnTo>
                    <a:pt x="0" y="3738245"/>
                  </a:lnTo>
                  <a:lnTo>
                    <a:pt x="5887085" y="3738245"/>
                  </a:lnTo>
                  <a:lnTo>
                    <a:pt x="5887085" y="3576320"/>
                  </a:lnTo>
                  <a:close/>
                </a:path>
                <a:path w="5888355" h="7964805">
                  <a:moveTo>
                    <a:pt x="5887085" y="2763520"/>
                  </a:moveTo>
                  <a:lnTo>
                    <a:pt x="0" y="2763520"/>
                  </a:lnTo>
                  <a:lnTo>
                    <a:pt x="0" y="2925445"/>
                  </a:lnTo>
                  <a:lnTo>
                    <a:pt x="5887085" y="2925445"/>
                  </a:lnTo>
                  <a:lnTo>
                    <a:pt x="5887085" y="2763520"/>
                  </a:lnTo>
                  <a:close/>
                </a:path>
                <a:path w="5888355" h="7964805">
                  <a:moveTo>
                    <a:pt x="5888355" y="7802880"/>
                  </a:moveTo>
                  <a:lnTo>
                    <a:pt x="0" y="7802880"/>
                  </a:lnTo>
                  <a:lnTo>
                    <a:pt x="0" y="7964805"/>
                  </a:lnTo>
                  <a:lnTo>
                    <a:pt x="5888355" y="7964805"/>
                  </a:lnTo>
                  <a:lnTo>
                    <a:pt x="5888355" y="7802880"/>
                  </a:lnTo>
                  <a:close/>
                </a:path>
                <a:path w="5888355" h="7964805">
                  <a:moveTo>
                    <a:pt x="5888355" y="4389120"/>
                  </a:moveTo>
                  <a:lnTo>
                    <a:pt x="0" y="4389120"/>
                  </a:lnTo>
                  <a:lnTo>
                    <a:pt x="0" y="4551045"/>
                  </a:lnTo>
                  <a:lnTo>
                    <a:pt x="5888355" y="4551045"/>
                  </a:lnTo>
                  <a:lnTo>
                    <a:pt x="5888355" y="4389120"/>
                  </a:lnTo>
                  <a:close/>
                </a:path>
                <a:path w="5888355" h="7964805">
                  <a:moveTo>
                    <a:pt x="5888355" y="3901440"/>
                  </a:moveTo>
                  <a:lnTo>
                    <a:pt x="0" y="3901440"/>
                  </a:lnTo>
                  <a:lnTo>
                    <a:pt x="0" y="4063365"/>
                  </a:lnTo>
                  <a:lnTo>
                    <a:pt x="5888355" y="4063365"/>
                  </a:lnTo>
                  <a:lnTo>
                    <a:pt x="5888355" y="3901440"/>
                  </a:lnTo>
                  <a:close/>
                </a:path>
                <a:path w="5888355" h="7964805">
                  <a:moveTo>
                    <a:pt x="5888355" y="2600960"/>
                  </a:moveTo>
                  <a:lnTo>
                    <a:pt x="0" y="2600960"/>
                  </a:lnTo>
                  <a:lnTo>
                    <a:pt x="0" y="2762885"/>
                  </a:lnTo>
                  <a:lnTo>
                    <a:pt x="5888355" y="2762885"/>
                  </a:lnTo>
                  <a:lnTo>
                    <a:pt x="5888355" y="2600960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902969" y="958850"/>
            <a:ext cx="5913120" cy="799592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 marR="5080">
              <a:lnSpc>
                <a:spcPts val="1280"/>
              </a:lnSpc>
              <a:spcBef>
                <a:spcPts val="175"/>
              </a:spcBef>
              <a:tabLst>
                <a:tab pos="2367280" algn="l"/>
                <a:tab pos="3796665" algn="l"/>
                <a:tab pos="4553585" algn="l"/>
              </a:tabLst>
            </a:pPr>
            <a:r>
              <a:rPr sz="1100" dirty="0">
                <a:latin typeface="Courier New"/>
                <a:cs typeface="Courier New"/>
              </a:rPr>
              <a:t>Documentation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Response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Management: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Developed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over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55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technical </a:t>
            </a:r>
            <a:r>
              <a:rPr sz="1100" dirty="0">
                <a:latin typeface="Courier New"/>
                <a:cs typeface="Courier New"/>
              </a:rPr>
              <a:t>responses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to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Requests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for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Quotations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(RFQs),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showcasing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expertise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in </a:t>
            </a:r>
            <a:r>
              <a:rPr sz="1100" dirty="0">
                <a:latin typeface="Courier New"/>
                <a:cs typeface="Courier New"/>
              </a:rPr>
              <a:t>technical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documentation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proposal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management.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am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open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to </a:t>
            </a:r>
            <a:r>
              <a:rPr sz="1100" dirty="0">
                <a:latin typeface="Courier New"/>
                <a:cs typeface="Courier New"/>
              </a:rPr>
              <a:t>recommendations,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changes,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new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business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processes.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-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Management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of </a:t>
            </a:r>
            <a:r>
              <a:rPr sz="1100" dirty="0">
                <a:latin typeface="Courier New"/>
                <a:cs typeface="Courier New"/>
              </a:rPr>
              <a:t>Cloud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On-</a:t>
            </a:r>
            <a:r>
              <a:rPr sz="1100" dirty="0">
                <a:latin typeface="Courier New"/>
                <a:cs typeface="Courier New"/>
              </a:rPr>
              <a:t>Premises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Activities: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Managed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diverse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activities, </a:t>
            </a:r>
            <a:r>
              <a:rPr sz="1100" dirty="0">
                <a:latin typeface="Courier New"/>
                <a:cs typeface="Courier New"/>
              </a:rPr>
              <a:t>management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reports,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conducted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evaluations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provided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timely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and </a:t>
            </a:r>
            <a:r>
              <a:rPr sz="1100" dirty="0">
                <a:latin typeface="Courier New"/>
                <a:cs typeface="Courier New"/>
              </a:rPr>
              <a:t>accurate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tracking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of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KPIs/SLAs,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including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Release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Management,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Backlog </a:t>
            </a:r>
            <a:r>
              <a:rPr sz="1100" dirty="0">
                <a:latin typeface="Courier New"/>
                <a:cs typeface="Courier New"/>
              </a:rPr>
              <a:t>grooming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session,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Sprint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Planning,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Issues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/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Incident/problem </a:t>
            </a:r>
            <a:r>
              <a:rPr sz="1100" dirty="0">
                <a:latin typeface="Courier New"/>
                <a:cs typeface="Courier New"/>
              </a:rPr>
              <a:t>report/service</a:t>
            </a:r>
            <a:r>
              <a:rPr sz="1100" spc="-12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Management,</a:t>
            </a:r>
            <a:r>
              <a:rPr sz="1100" dirty="0">
                <a:latin typeface="Courier New"/>
                <a:cs typeface="Courier New"/>
              </a:rPr>
              <a:t>	Change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Management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troubleshooting, </a:t>
            </a:r>
            <a:r>
              <a:rPr sz="1100" dirty="0">
                <a:latin typeface="Courier New"/>
                <a:cs typeface="Courier New"/>
              </a:rPr>
              <a:t>Service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Delivery,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Quality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Assurance/Testing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for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multiple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web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and </a:t>
            </a:r>
            <a:r>
              <a:rPr sz="1100" dirty="0">
                <a:latin typeface="Courier New"/>
                <a:cs typeface="Courier New"/>
              </a:rPr>
              <a:t>mobile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applications,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providing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2nd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3rd-</a:t>
            </a:r>
            <a:r>
              <a:rPr sz="1100" dirty="0">
                <a:latin typeface="Courier New"/>
                <a:cs typeface="Courier New"/>
              </a:rPr>
              <a:t>level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technical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support </a:t>
            </a:r>
            <a:r>
              <a:rPr sz="1100" dirty="0">
                <a:latin typeface="Courier New"/>
                <a:cs typeface="Courier New"/>
              </a:rPr>
              <a:t>while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overseeing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both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on-</a:t>
            </a:r>
            <a:r>
              <a:rPr sz="1100" dirty="0">
                <a:latin typeface="Courier New"/>
                <a:cs typeface="Courier New"/>
              </a:rPr>
              <a:t>site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</a:t>
            </a:r>
            <a:r>
              <a:rPr sz="1100" dirty="0">
                <a:latin typeface="Calibri"/>
                <a:cs typeface="Calibri"/>
              </a:rPr>
              <a:t>ﬀ</a:t>
            </a:r>
            <a:r>
              <a:rPr sz="1100" dirty="0">
                <a:latin typeface="Courier New"/>
                <a:cs typeface="Courier New"/>
              </a:rPr>
              <a:t>shore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resources.</a:t>
            </a:r>
            <a:r>
              <a:rPr sz="1100" dirty="0">
                <a:latin typeface="Courier New"/>
                <a:cs typeface="Courier New"/>
              </a:rPr>
              <a:t>	-</a:t>
            </a:r>
            <a:r>
              <a:rPr sz="1100" spc="-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Strategic </a:t>
            </a:r>
            <a:r>
              <a:rPr sz="1100" dirty="0">
                <a:latin typeface="Courier New"/>
                <a:cs typeface="Courier New"/>
              </a:rPr>
              <a:t>Project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Management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Prioritization: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Managed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project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priorities, </a:t>
            </a:r>
            <a:r>
              <a:rPr sz="1100" dirty="0">
                <a:latin typeface="Courier New"/>
                <a:cs typeface="Courier New"/>
              </a:rPr>
              <a:t>deadlines,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deliverables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across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regions,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optimizing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operational </a:t>
            </a:r>
            <a:r>
              <a:rPr sz="1100" spc="-25" dirty="0">
                <a:latin typeface="Courier New"/>
                <a:cs typeface="Courier New"/>
              </a:rPr>
              <a:t>e</a:t>
            </a:r>
            <a:r>
              <a:rPr sz="1100" spc="-25" dirty="0">
                <a:latin typeface="Calibri"/>
                <a:cs typeface="Calibri"/>
              </a:rPr>
              <a:t>ﬃ</a:t>
            </a:r>
            <a:r>
              <a:rPr sz="1100" spc="-25" dirty="0">
                <a:latin typeface="Courier New"/>
                <a:cs typeface="Courier New"/>
              </a:rPr>
              <a:t>ciency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ensuring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alignment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with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business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objectives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with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team</a:t>
            </a:r>
            <a:r>
              <a:rPr sz="1100" spc="50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of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four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on-</a:t>
            </a:r>
            <a:r>
              <a:rPr sz="1100" dirty="0">
                <a:latin typeface="Courier New"/>
                <a:cs typeface="Courier New"/>
              </a:rPr>
              <a:t>site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four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</a:t>
            </a:r>
            <a:r>
              <a:rPr sz="1100" dirty="0">
                <a:latin typeface="Calibri"/>
                <a:cs typeface="Calibri"/>
              </a:rPr>
              <a:t>ﬀ</a:t>
            </a:r>
            <a:r>
              <a:rPr sz="1100" dirty="0">
                <a:latin typeface="Courier New"/>
                <a:cs typeface="Courier New"/>
              </a:rPr>
              <a:t>shore</a:t>
            </a:r>
            <a:r>
              <a:rPr sz="1100" spc="-2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resources.</a:t>
            </a:r>
            <a:r>
              <a:rPr sz="1100" dirty="0">
                <a:latin typeface="Courier New"/>
                <a:cs typeface="Courier New"/>
              </a:rPr>
              <a:t>	-</a:t>
            </a:r>
            <a:r>
              <a:rPr sz="1100" spc="-2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End-to-</a:t>
            </a:r>
            <a:r>
              <a:rPr sz="1100" dirty="0">
                <a:latin typeface="Courier New"/>
                <a:cs typeface="Courier New"/>
              </a:rPr>
              <a:t>End</a:t>
            </a:r>
            <a:r>
              <a:rPr sz="1100" spc="-10" dirty="0">
                <a:latin typeface="Courier New"/>
                <a:cs typeface="Courier New"/>
              </a:rPr>
              <a:t> Digital </a:t>
            </a:r>
            <a:r>
              <a:rPr sz="1100" dirty="0">
                <a:latin typeface="Courier New"/>
                <a:cs typeface="Courier New"/>
              </a:rPr>
              <a:t>Transformations: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Led</a:t>
            </a:r>
            <a:r>
              <a:rPr sz="1100" spc="-8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comprehensive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digital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transformations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for</a:t>
            </a:r>
            <a:r>
              <a:rPr sz="1100" spc="-8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iOS</a:t>
            </a:r>
            <a:r>
              <a:rPr sz="1100" spc="-80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and </a:t>
            </a:r>
            <a:r>
              <a:rPr sz="1100" dirty="0">
                <a:latin typeface="Courier New"/>
                <a:cs typeface="Courier New"/>
              </a:rPr>
              <a:t>Android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mobile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app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development,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providing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cost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optimization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solutions, </a:t>
            </a:r>
            <a:r>
              <a:rPr sz="1100" dirty="0">
                <a:latin typeface="Courier New"/>
                <a:cs typeface="Courier New"/>
              </a:rPr>
              <a:t>infrastructure</a:t>
            </a:r>
            <a:r>
              <a:rPr sz="1100" spc="-8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9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application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architecture,</a:t>
            </a:r>
            <a:r>
              <a:rPr sz="1100" spc="-8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9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maintenance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support.</a:t>
            </a:r>
            <a:endParaRPr sz="1100">
              <a:latin typeface="Courier New"/>
              <a:cs typeface="Courier New"/>
            </a:endParaRPr>
          </a:p>
          <a:p>
            <a:pPr marL="12700" marR="6350" indent="167005">
              <a:lnSpc>
                <a:spcPts val="1280"/>
              </a:lnSpc>
              <a:buChar char="-"/>
              <a:tabLst>
                <a:tab pos="179705" algn="l"/>
                <a:tab pos="5478780" algn="l"/>
              </a:tabLst>
            </a:pPr>
            <a:r>
              <a:rPr sz="1100" dirty="0">
                <a:latin typeface="Courier New"/>
                <a:cs typeface="Courier New"/>
              </a:rPr>
              <a:t>Enterprise</a:t>
            </a:r>
            <a:r>
              <a:rPr sz="1100" spc="-9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Architecture</a:t>
            </a:r>
            <a:r>
              <a:rPr sz="1100" spc="-9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Governance:</a:t>
            </a:r>
            <a:r>
              <a:rPr sz="1100" spc="-9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Conducted</a:t>
            </a:r>
            <a:r>
              <a:rPr sz="1100" spc="-9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governance</a:t>
            </a:r>
            <a:r>
              <a:rPr sz="1100" spc="-8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review </a:t>
            </a:r>
            <a:r>
              <a:rPr sz="1100" dirty="0">
                <a:latin typeface="Courier New"/>
                <a:cs typeface="Courier New"/>
              </a:rPr>
              <a:t>meetings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with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Cathay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Management,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ensuring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compliance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with</a:t>
            </a:r>
            <a:r>
              <a:rPr sz="1100" spc="50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architectural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standards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alignment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with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business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objectives.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50" dirty="0">
                <a:latin typeface="Courier New"/>
                <a:cs typeface="Courier New"/>
              </a:rPr>
              <a:t>- </a:t>
            </a:r>
            <a:r>
              <a:rPr sz="1100" spc="-10" dirty="0">
                <a:latin typeface="Courier New"/>
                <a:cs typeface="Courier New"/>
              </a:rPr>
              <a:t>Pre-</a:t>
            </a:r>
            <a:r>
              <a:rPr sz="1100" dirty="0">
                <a:latin typeface="Courier New"/>
                <a:cs typeface="Courier New"/>
              </a:rPr>
              <a:t>Sales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Solution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Implementation: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Contributed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to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pre-</a:t>
            </a:r>
            <a:r>
              <a:rPr sz="1100" dirty="0">
                <a:latin typeface="Courier New"/>
                <a:cs typeface="Courier New"/>
              </a:rPr>
              <a:t>sales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e</a:t>
            </a:r>
            <a:r>
              <a:rPr sz="1100" spc="-10" dirty="0">
                <a:latin typeface="Calibri"/>
                <a:cs typeface="Calibri"/>
              </a:rPr>
              <a:t>ﬀ</a:t>
            </a:r>
            <a:r>
              <a:rPr sz="1100" spc="-10" dirty="0">
                <a:latin typeface="Courier New"/>
                <a:cs typeface="Courier New"/>
              </a:rPr>
              <a:t>orts </a:t>
            </a:r>
            <a:r>
              <a:rPr sz="1100" dirty="0">
                <a:latin typeface="Courier New"/>
                <a:cs typeface="Courier New"/>
              </a:rPr>
              <a:t>by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providing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winning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solutions,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responding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to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RFPs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RFIs,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and</a:t>
            </a:r>
            <a:endParaRPr sz="1100">
              <a:latin typeface="Courier New"/>
              <a:cs typeface="Courier New"/>
            </a:endParaRPr>
          </a:p>
          <a:p>
            <a:pPr marL="12700" marR="5080">
              <a:lnSpc>
                <a:spcPts val="1280"/>
              </a:lnSpc>
              <a:tabLst>
                <a:tab pos="4806315" algn="l"/>
              </a:tabLst>
            </a:pPr>
            <a:r>
              <a:rPr sz="1100" dirty="0">
                <a:latin typeface="Courier New"/>
                <a:cs typeface="Courier New"/>
              </a:rPr>
              <a:t>overseeing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technical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realization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by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delivery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teams,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including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Proof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of </a:t>
            </a:r>
            <a:r>
              <a:rPr sz="1100" dirty="0">
                <a:latin typeface="Courier New"/>
                <a:cs typeface="Courier New"/>
              </a:rPr>
              <a:t>Concepts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(POCs)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for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monolithic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migrations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to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cloud.</a:t>
            </a:r>
            <a:r>
              <a:rPr sz="1100" dirty="0">
                <a:latin typeface="Courier New"/>
                <a:cs typeface="Courier New"/>
              </a:rPr>
              <a:t>	-</a:t>
            </a:r>
            <a:r>
              <a:rPr sz="1100" spc="-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Software </a:t>
            </a:r>
            <a:r>
              <a:rPr sz="1100" dirty="0">
                <a:latin typeface="Courier New"/>
                <a:cs typeface="Courier New"/>
              </a:rPr>
              <a:t>Product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Design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Engineering: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Designed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engineered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software </a:t>
            </a:r>
            <a:r>
              <a:rPr sz="1100" dirty="0">
                <a:latin typeface="Courier New"/>
                <a:cs typeface="Courier New"/>
              </a:rPr>
              <a:t>products,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such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as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migration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to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AWS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S3,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implementing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OCR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using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Azure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AI</a:t>
            </a:r>
            <a:endParaRPr sz="1100">
              <a:latin typeface="Courier New"/>
              <a:cs typeface="Courier New"/>
            </a:endParaRPr>
          </a:p>
          <a:p>
            <a:pPr marL="12700" marR="5715" indent="167005">
              <a:lnSpc>
                <a:spcPts val="1280"/>
              </a:lnSpc>
              <a:buChar char="-"/>
              <a:tabLst>
                <a:tab pos="179705" algn="l"/>
                <a:tab pos="1273810" algn="l"/>
                <a:tab pos="1442085" algn="l"/>
                <a:tab pos="5142865" algn="l"/>
              </a:tabLst>
            </a:pPr>
            <a:r>
              <a:rPr sz="1100" dirty="0">
                <a:latin typeface="Courier New"/>
                <a:cs typeface="Courier New"/>
              </a:rPr>
              <a:t>Computer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Vision,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incorporating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AWS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IoT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for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warehouse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cargo applications.</a:t>
            </a:r>
            <a:r>
              <a:rPr sz="1100" dirty="0">
                <a:latin typeface="Courier New"/>
                <a:cs typeface="Courier New"/>
              </a:rPr>
              <a:t>	-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Data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Warehouse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Infrastructure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Implementation: </a:t>
            </a:r>
            <a:r>
              <a:rPr sz="1100" dirty="0">
                <a:latin typeface="Courier New"/>
                <a:cs typeface="Courier New"/>
              </a:rPr>
              <a:t>Implemented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</a:t>
            </a:r>
            <a:r>
              <a:rPr sz="1100" spc="-8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robust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data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warehouse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infrastructure,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integrating </a:t>
            </a:r>
            <a:r>
              <a:rPr sz="1100" dirty="0">
                <a:latin typeface="Courier New"/>
                <a:cs typeface="Courier New"/>
              </a:rPr>
              <a:t>multiple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data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sources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leveraging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ETL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processes,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facilitating </a:t>
            </a:r>
            <a:r>
              <a:rPr sz="1100" dirty="0">
                <a:latin typeface="Courier New"/>
                <a:cs typeface="Courier New"/>
              </a:rPr>
              <a:t>advanced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analytics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reporting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for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data-</a:t>
            </a:r>
            <a:r>
              <a:rPr sz="1100" dirty="0">
                <a:latin typeface="Courier New"/>
                <a:cs typeface="Courier New"/>
              </a:rPr>
              <a:t>driven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decision-</a:t>
            </a:r>
            <a:r>
              <a:rPr sz="1100" dirty="0">
                <a:latin typeface="Courier New"/>
                <a:cs typeface="Courier New"/>
              </a:rPr>
              <a:t>making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and </a:t>
            </a:r>
            <a:r>
              <a:rPr sz="1100" dirty="0">
                <a:latin typeface="Courier New"/>
                <a:cs typeface="Courier New"/>
              </a:rPr>
              <a:t>risk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reduction.</a:t>
            </a:r>
            <a:r>
              <a:rPr sz="1100" dirty="0">
                <a:latin typeface="Courier New"/>
                <a:cs typeface="Courier New"/>
              </a:rPr>
              <a:t>		-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Management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of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Revenue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Accounts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Software </a:t>
            </a:r>
            <a:r>
              <a:rPr sz="1100" dirty="0">
                <a:latin typeface="Courier New"/>
                <a:cs typeface="Courier New"/>
              </a:rPr>
              <a:t>Development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Lifecycle: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Managed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multimillion-</a:t>
            </a:r>
            <a:r>
              <a:rPr sz="1100" dirty="0">
                <a:latin typeface="Courier New"/>
                <a:cs typeface="Courier New"/>
              </a:rPr>
              <a:t>dollar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revenue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accounts</a:t>
            </a:r>
            <a:r>
              <a:rPr sz="1100" spc="50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releases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throughout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software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development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lifecycle,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conducted </a:t>
            </a:r>
            <a:r>
              <a:rPr sz="1100" dirty="0">
                <a:latin typeface="Courier New"/>
                <a:cs typeface="Courier New"/>
              </a:rPr>
              <a:t>QA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UAT,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collaborated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communicated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closely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with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customers, </a:t>
            </a:r>
            <a:r>
              <a:rPr sz="1100" dirty="0">
                <a:latin typeface="Courier New"/>
                <a:cs typeface="Courier New"/>
              </a:rPr>
              <a:t>internal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sta</a:t>
            </a:r>
            <a:r>
              <a:rPr sz="1100" dirty="0">
                <a:latin typeface="Calibri"/>
                <a:cs typeface="Calibri"/>
              </a:rPr>
              <a:t>ﬀ</a:t>
            </a:r>
            <a:r>
              <a:rPr sz="1100" dirty="0">
                <a:latin typeface="Courier New"/>
                <a:cs typeface="Courier New"/>
              </a:rPr>
              <a:t>,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stakeholders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for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system-</a:t>
            </a:r>
            <a:r>
              <a:rPr sz="1100" dirty="0">
                <a:latin typeface="Courier New"/>
                <a:cs typeface="Courier New"/>
              </a:rPr>
              <a:t>oriented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projects.</a:t>
            </a:r>
            <a:endParaRPr sz="1100">
              <a:latin typeface="Courier New"/>
              <a:cs typeface="Courier New"/>
            </a:endParaRPr>
          </a:p>
          <a:p>
            <a:pPr marL="12700" marR="5715">
              <a:lnSpc>
                <a:spcPts val="1280"/>
              </a:lnSpc>
              <a:tabLst>
                <a:tab pos="937894" algn="l"/>
                <a:tab pos="1273810" algn="l"/>
                <a:tab pos="3040380" algn="l"/>
                <a:tab pos="3712845" algn="l"/>
                <a:tab pos="4469765" algn="l"/>
                <a:tab pos="5478780" algn="l"/>
              </a:tabLst>
            </a:pPr>
            <a:r>
              <a:rPr sz="1100" dirty="0">
                <a:latin typeface="Courier New"/>
                <a:cs typeface="Courier New"/>
              </a:rPr>
              <a:t>Developed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RESTful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APIs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for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interface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integration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with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HKIA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and </a:t>
            </a:r>
            <a:r>
              <a:rPr sz="1100" dirty="0">
                <a:latin typeface="Courier New"/>
                <a:cs typeface="Courier New"/>
              </a:rPr>
              <a:t>spearheaded</a:t>
            </a:r>
            <a:r>
              <a:rPr sz="1100" spc="-10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infrastructure,</a:t>
            </a:r>
            <a:r>
              <a:rPr sz="1100" spc="-10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application,</a:t>
            </a:r>
            <a:r>
              <a:rPr sz="1100" spc="-10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release,</a:t>
            </a:r>
            <a:r>
              <a:rPr sz="1100" spc="-11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conﬁguration, </a:t>
            </a:r>
            <a:r>
              <a:rPr sz="1100" dirty="0">
                <a:latin typeface="Courier New"/>
                <a:cs typeface="Courier New"/>
              </a:rPr>
              <a:t>migration,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identity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access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with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Outh-</a:t>
            </a:r>
            <a:r>
              <a:rPr sz="1100" dirty="0">
                <a:latin typeface="Courier New"/>
                <a:cs typeface="Courier New"/>
              </a:rPr>
              <a:t>2,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process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management </a:t>
            </a:r>
            <a:r>
              <a:rPr sz="1100" dirty="0">
                <a:latin typeface="Courier New"/>
                <a:cs typeface="Courier New"/>
              </a:rPr>
              <a:t>aligned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with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release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calendar.</a:t>
            </a:r>
            <a:r>
              <a:rPr sz="1100" dirty="0">
                <a:latin typeface="Courier New"/>
                <a:cs typeface="Courier New"/>
              </a:rPr>
              <a:t>	WORK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EXPERIENCE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Software Developer</a:t>
            </a:r>
            <a:r>
              <a:rPr sz="1100" dirty="0">
                <a:latin typeface="Courier New"/>
                <a:cs typeface="Courier New"/>
              </a:rPr>
              <a:t>	Layer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3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Technologies,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New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Delhi</a:t>
            </a:r>
            <a:r>
              <a:rPr sz="1100" dirty="0">
                <a:latin typeface="Courier New"/>
                <a:cs typeface="Courier New"/>
              </a:rPr>
              <a:t>	08/2003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-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04/2004,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50" dirty="0">
                <a:latin typeface="Courier New"/>
                <a:cs typeface="Courier New"/>
              </a:rPr>
              <a:t>- </a:t>
            </a:r>
            <a:r>
              <a:rPr sz="1100" dirty="0">
                <a:latin typeface="Courier New"/>
                <a:cs typeface="Courier New"/>
              </a:rPr>
              <a:t>Production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Support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8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Enhancements: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Delivered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production</a:t>
            </a:r>
            <a:r>
              <a:rPr sz="1100" spc="-8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support, </a:t>
            </a:r>
            <a:r>
              <a:rPr sz="1100" dirty="0">
                <a:latin typeface="Courier New"/>
                <a:cs typeface="Courier New"/>
              </a:rPr>
              <a:t>major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minor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enhancements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(20+),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bug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ﬁxes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(500+)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as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key </a:t>
            </a:r>
            <a:r>
              <a:rPr sz="1100" dirty="0">
                <a:latin typeface="Courier New"/>
                <a:cs typeface="Courier New"/>
              </a:rPr>
              <a:t>contributor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to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Software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Development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Life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Cycle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(SDLC)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at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Layer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spc="-50" dirty="0">
                <a:latin typeface="Courier New"/>
                <a:cs typeface="Courier New"/>
              </a:rPr>
              <a:t>3 </a:t>
            </a:r>
            <a:r>
              <a:rPr sz="1100" spc="-10" dirty="0">
                <a:latin typeface="Courier New"/>
                <a:cs typeface="Courier New"/>
              </a:rPr>
              <a:t>Technologies.</a:t>
            </a:r>
            <a:r>
              <a:rPr sz="1100" dirty="0">
                <a:latin typeface="Courier New"/>
                <a:cs typeface="Courier New"/>
              </a:rPr>
              <a:t>	-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System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Design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for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User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Productivity: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Designed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and </a:t>
            </a:r>
            <a:r>
              <a:rPr sz="1100" dirty="0">
                <a:latin typeface="Courier New"/>
                <a:cs typeface="Courier New"/>
              </a:rPr>
              <a:t>developed',</a:t>
            </a:r>
            <a:r>
              <a:rPr sz="1100" spc="-10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metadata={'source': "/Users/mayankchugh/Documents/CVs/2024/CV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&amp;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Cover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letters/Mayank's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Feb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48360" y="914400"/>
            <a:ext cx="6076315" cy="8098155"/>
          </a:xfrm>
          <a:custGeom>
            <a:avLst/>
            <a:gdLst/>
            <a:ahLst/>
            <a:cxnLst/>
            <a:rect l="l" t="t" r="r" b="b"/>
            <a:pathLst>
              <a:path w="6076315" h="8098155">
                <a:moveTo>
                  <a:pt x="0" y="1904"/>
                </a:moveTo>
                <a:lnTo>
                  <a:pt x="6076315" y="1904"/>
                </a:lnTo>
              </a:path>
              <a:path w="6076315" h="8098155">
                <a:moveTo>
                  <a:pt x="6075045" y="0"/>
                </a:moveTo>
                <a:lnTo>
                  <a:pt x="6075045" y="8098155"/>
                </a:lnTo>
              </a:path>
              <a:path w="6076315" h="8098155">
                <a:moveTo>
                  <a:pt x="6076315" y="8096884"/>
                </a:moveTo>
                <a:lnTo>
                  <a:pt x="0" y="8096884"/>
                </a:lnTo>
              </a:path>
              <a:path w="6076315" h="8098155">
                <a:moveTo>
                  <a:pt x="1905" y="8098155"/>
                </a:moveTo>
                <a:lnTo>
                  <a:pt x="1905" y="0"/>
                </a:lnTo>
              </a:path>
              <a:path w="6076315" h="8098155">
                <a:moveTo>
                  <a:pt x="0" y="1904"/>
                </a:moveTo>
                <a:lnTo>
                  <a:pt x="6076315" y="1904"/>
                </a:lnTo>
              </a:path>
              <a:path w="6076315" h="8098155">
                <a:moveTo>
                  <a:pt x="6075045" y="0"/>
                </a:moveTo>
                <a:lnTo>
                  <a:pt x="6075045" y="8098155"/>
                </a:lnTo>
              </a:path>
              <a:path w="6076315" h="8098155">
                <a:moveTo>
                  <a:pt x="6076315" y="8096884"/>
                </a:moveTo>
                <a:lnTo>
                  <a:pt x="0" y="8096884"/>
                </a:lnTo>
              </a:path>
              <a:path w="6076315" h="8098155">
                <a:moveTo>
                  <a:pt x="1905" y="8098155"/>
                </a:moveTo>
                <a:lnTo>
                  <a:pt x="1905" y="0"/>
                </a:lnTo>
              </a:path>
            </a:pathLst>
          </a:custGeom>
          <a:ln w="3175">
            <a:solidFill>
              <a:srgbClr val="E2E2E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47725" y="913764"/>
            <a:ext cx="6076950" cy="8098790"/>
            <a:chOff x="847725" y="913764"/>
            <a:chExt cx="6076950" cy="8098790"/>
          </a:xfrm>
        </p:grpSpPr>
        <p:sp>
          <p:nvSpPr>
            <p:cNvPr id="3" name="object 3"/>
            <p:cNvSpPr/>
            <p:nvPr/>
          </p:nvSpPr>
          <p:spPr>
            <a:xfrm>
              <a:off x="847725" y="913764"/>
              <a:ext cx="6076950" cy="8098790"/>
            </a:xfrm>
            <a:custGeom>
              <a:avLst/>
              <a:gdLst/>
              <a:ahLst/>
              <a:cxnLst/>
              <a:rect l="l" t="t" r="r" b="b"/>
              <a:pathLst>
                <a:path w="6076950" h="8098790">
                  <a:moveTo>
                    <a:pt x="6076950" y="0"/>
                  </a:moveTo>
                  <a:lnTo>
                    <a:pt x="0" y="0"/>
                  </a:lnTo>
                  <a:lnTo>
                    <a:pt x="0" y="8098789"/>
                  </a:lnTo>
                  <a:lnTo>
                    <a:pt x="6076950" y="8098789"/>
                  </a:lnTo>
                  <a:lnTo>
                    <a:pt x="6076950" y="0"/>
                  </a:lnTo>
                  <a:close/>
                </a:path>
              </a:pathLst>
            </a:custGeom>
            <a:solidFill>
              <a:srgbClr val="F4F4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14400" y="981709"/>
              <a:ext cx="5889625" cy="7964805"/>
            </a:xfrm>
            <a:custGeom>
              <a:avLst/>
              <a:gdLst/>
              <a:ahLst/>
              <a:cxnLst/>
              <a:rect l="l" t="t" r="r" b="b"/>
              <a:pathLst>
                <a:path w="5889625" h="7964805">
                  <a:moveTo>
                    <a:pt x="2353945" y="0"/>
                  </a:moveTo>
                  <a:lnTo>
                    <a:pt x="0" y="0"/>
                  </a:lnTo>
                  <a:lnTo>
                    <a:pt x="0" y="161925"/>
                  </a:lnTo>
                  <a:lnTo>
                    <a:pt x="2353945" y="161925"/>
                  </a:lnTo>
                  <a:lnTo>
                    <a:pt x="2353945" y="0"/>
                  </a:lnTo>
                  <a:close/>
                </a:path>
                <a:path w="5889625" h="7964805">
                  <a:moveTo>
                    <a:pt x="4121785" y="1625600"/>
                  </a:moveTo>
                  <a:lnTo>
                    <a:pt x="0" y="1625600"/>
                  </a:lnTo>
                  <a:lnTo>
                    <a:pt x="0" y="1787525"/>
                  </a:lnTo>
                  <a:lnTo>
                    <a:pt x="4121785" y="1787525"/>
                  </a:lnTo>
                  <a:lnTo>
                    <a:pt x="4121785" y="1625600"/>
                  </a:lnTo>
                  <a:close/>
                </a:path>
                <a:path w="5889625" h="7964805">
                  <a:moveTo>
                    <a:pt x="5130165" y="7152640"/>
                  </a:moveTo>
                  <a:lnTo>
                    <a:pt x="0" y="7152640"/>
                  </a:lnTo>
                  <a:lnTo>
                    <a:pt x="0" y="7314565"/>
                  </a:lnTo>
                  <a:lnTo>
                    <a:pt x="5130165" y="7314565"/>
                  </a:lnTo>
                  <a:lnTo>
                    <a:pt x="5130165" y="7152640"/>
                  </a:lnTo>
                  <a:close/>
                </a:path>
                <a:path w="5889625" h="7964805">
                  <a:moveTo>
                    <a:pt x="5130165" y="2763520"/>
                  </a:moveTo>
                  <a:lnTo>
                    <a:pt x="0" y="2763520"/>
                  </a:lnTo>
                  <a:lnTo>
                    <a:pt x="0" y="2925445"/>
                  </a:lnTo>
                  <a:lnTo>
                    <a:pt x="5130165" y="2925445"/>
                  </a:lnTo>
                  <a:lnTo>
                    <a:pt x="5130165" y="2763520"/>
                  </a:lnTo>
                  <a:close/>
                </a:path>
                <a:path w="5889625" h="7964805">
                  <a:moveTo>
                    <a:pt x="5213985" y="5201920"/>
                  </a:moveTo>
                  <a:lnTo>
                    <a:pt x="0" y="5201920"/>
                  </a:lnTo>
                  <a:lnTo>
                    <a:pt x="0" y="5363845"/>
                  </a:lnTo>
                  <a:lnTo>
                    <a:pt x="5213985" y="5363845"/>
                  </a:lnTo>
                  <a:lnTo>
                    <a:pt x="5213985" y="5201920"/>
                  </a:lnTo>
                  <a:close/>
                </a:path>
                <a:path w="5889625" h="7964805">
                  <a:moveTo>
                    <a:pt x="5299075" y="812800"/>
                  </a:moveTo>
                  <a:lnTo>
                    <a:pt x="0" y="812800"/>
                  </a:lnTo>
                  <a:lnTo>
                    <a:pt x="0" y="974725"/>
                  </a:lnTo>
                  <a:lnTo>
                    <a:pt x="5299075" y="974725"/>
                  </a:lnTo>
                  <a:lnTo>
                    <a:pt x="5299075" y="812800"/>
                  </a:lnTo>
                  <a:close/>
                </a:path>
                <a:path w="5889625" h="7964805">
                  <a:moveTo>
                    <a:pt x="5299075" y="650240"/>
                  </a:moveTo>
                  <a:lnTo>
                    <a:pt x="0" y="650240"/>
                  </a:lnTo>
                  <a:lnTo>
                    <a:pt x="0" y="812165"/>
                  </a:lnTo>
                  <a:lnTo>
                    <a:pt x="5299075" y="812165"/>
                  </a:lnTo>
                  <a:lnTo>
                    <a:pt x="5299075" y="650240"/>
                  </a:lnTo>
                  <a:close/>
                </a:path>
                <a:path w="5889625" h="7964805">
                  <a:moveTo>
                    <a:pt x="5382895" y="7477760"/>
                  </a:moveTo>
                  <a:lnTo>
                    <a:pt x="0" y="7477760"/>
                  </a:lnTo>
                  <a:lnTo>
                    <a:pt x="0" y="7639685"/>
                  </a:lnTo>
                  <a:lnTo>
                    <a:pt x="5382895" y="7639685"/>
                  </a:lnTo>
                  <a:lnTo>
                    <a:pt x="5382895" y="7477760"/>
                  </a:lnTo>
                  <a:close/>
                </a:path>
                <a:path w="5889625" h="7964805">
                  <a:moveTo>
                    <a:pt x="5382895" y="5852160"/>
                  </a:moveTo>
                  <a:lnTo>
                    <a:pt x="0" y="5852160"/>
                  </a:lnTo>
                  <a:lnTo>
                    <a:pt x="0" y="6014085"/>
                  </a:lnTo>
                  <a:lnTo>
                    <a:pt x="5382895" y="6014085"/>
                  </a:lnTo>
                  <a:lnTo>
                    <a:pt x="5382895" y="5852160"/>
                  </a:lnTo>
                  <a:close/>
                </a:path>
                <a:path w="5889625" h="7964805">
                  <a:moveTo>
                    <a:pt x="5382895" y="5689600"/>
                  </a:moveTo>
                  <a:lnTo>
                    <a:pt x="0" y="5689600"/>
                  </a:lnTo>
                  <a:lnTo>
                    <a:pt x="0" y="5851525"/>
                  </a:lnTo>
                  <a:lnTo>
                    <a:pt x="5382895" y="5851525"/>
                  </a:lnTo>
                  <a:lnTo>
                    <a:pt x="5382895" y="5689600"/>
                  </a:lnTo>
                  <a:close/>
                </a:path>
                <a:path w="5889625" h="7964805">
                  <a:moveTo>
                    <a:pt x="5382895" y="4226560"/>
                  </a:moveTo>
                  <a:lnTo>
                    <a:pt x="0" y="4226560"/>
                  </a:lnTo>
                  <a:lnTo>
                    <a:pt x="0" y="4388485"/>
                  </a:lnTo>
                  <a:lnTo>
                    <a:pt x="5382895" y="4388485"/>
                  </a:lnTo>
                  <a:lnTo>
                    <a:pt x="5382895" y="4226560"/>
                  </a:lnTo>
                  <a:close/>
                </a:path>
                <a:path w="5889625" h="7964805">
                  <a:moveTo>
                    <a:pt x="5382895" y="3738880"/>
                  </a:moveTo>
                  <a:lnTo>
                    <a:pt x="0" y="3738880"/>
                  </a:lnTo>
                  <a:lnTo>
                    <a:pt x="0" y="3900805"/>
                  </a:lnTo>
                  <a:lnTo>
                    <a:pt x="5382895" y="3900805"/>
                  </a:lnTo>
                  <a:lnTo>
                    <a:pt x="5382895" y="3738880"/>
                  </a:lnTo>
                  <a:close/>
                </a:path>
                <a:path w="5889625" h="7964805">
                  <a:moveTo>
                    <a:pt x="5382895" y="3413760"/>
                  </a:moveTo>
                  <a:lnTo>
                    <a:pt x="0" y="3413760"/>
                  </a:lnTo>
                  <a:lnTo>
                    <a:pt x="0" y="3575685"/>
                  </a:lnTo>
                  <a:lnTo>
                    <a:pt x="5382895" y="3575685"/>
                  </a:lnTo>
                  <a:lnTo>
                    <a:pt x="5382895" y="3413760"/>
                  </a:lnTo>
                  <a:close/>
                </a:path>
                <a:path w="5889625" h="7964805">
                  <a:moveTo>
                    <a:pt x="5466715" y="7315200"/>
                  </a:moveTo>
                  <a:lnTo>
                    <a:pt x="0" y="7315200"/>
                  </a:lnTo>
                  <a:lnTo>
                    <a:pt x="0" y="7477125"/>
                  </a:lnTo>
                  <a:lnTo>
                    <a:pt x="5466715" y="7477125"/>
                  </a:lnTo>
                  <a:lnTo>
                    <a:pt x="5466715" y="7315200"/>
                  </a:lnTo>
                  <a:close/>
                </a:path>
                <a:path w="5889625" h="7964805">
                  <a:moveTo>
                    <a:pt x="5466715" y="4876800"/>
                  </a:moveTo>
                  <a:lnTo>
                    <a:pt x="0" y="4876800"/>
                  </a:lnTo>
                  <a:lnTo>
                    <a:pt x="0" y="5038725"/>
                  </a:lnTo>
                  <a:lnTo>
                    <a:pt x="5466715" y="5038725"/>
                  </a:lnTo>
                  <a:lnTo>
                    <a:pt x="5466715" y="4876800"/>
                  </a:lnTo>
                  <a:close/>
                </a:path>
                <a:path w="5889625" h="7964805">
                  <a:moveTo>
                    <a:pt x="5466715" y="3088640"/>
                  </a:moveTo>
                  <a:lnTo>
                    <a:pt x="0" y="3088640"/>
                  </a:lnTo>
                  <a:lnTo>
                    <a:pt x="0" y="3250565"/>
                  </a:lnTo>
                  <a:lnTo>
                    <a:pt x="5466715" y="3250565"/>
                  </a:lnTo>
                  <a:lnTo>
                    <a:pt x="5466715" y="3088640"/>
                  </a:lnTo>
                  <a:close/>
                </a:path>
                <a:path w="5889625" h="7964805">
                  <a:moveTo>
                    <a:pt x="5466715" y="2275840"/>
                  </a:moveTo>
                  <a:lnTo>
                    <a:pt x="0" y="2275840"/>
                  </a:lnTo>
                  <a:lnTo>
                    <a:pt x="0" y="2437765"/>
                  </a:lnTo>
                  <a:lnTo>
                    <a:pt x="5466715" y="2437765"/>
                  </a:lnTo>
                  <a:lnTo>
                    <a:pt x="5466715" y="2275840"/>
                  </a:lnTo>
                  <a:close/>
                </a:path>
                <a:path w="5889625" h="7964805">
                  <a:moveTo>
                    <a:pt x="5466715" y="1137920"/>
                  </a:moveTo>
                  <a:lnTo>
                    <a:pt x="0" y="1137920"/>
                  </a:lnTo>
                  <a:lnTo>
                    <a:pt x="0" y="1299845"/>
                  </a:lnTo>
                  <a:lnTo>
                    <a:pt x="5466715" y="1299845"/>
                  </a:lnTo>
                  <a:lnTo>
                    <a:pt x="5466715" y="1137920"/>
                  </a:lnTo>
                  <a:close/>
                </a:path>
                <a:path w="5889625" h="7964805">
                  <a:moveTo>
                    <a:pt x="5467985" y="5364480"/>
                  </a:moveTo>
                  <a:lnTo>
                    <a:pt x="0" y="5364480"/>
                  </a:lnTo>
                  <a:lnTo>
                    <a:pt x="0" y="5526405"/>
                  </a:lnTo>
                  <a:lnTo>
                    <a:pt x="5467985" y="5526405"/>
                  </a:lnTo>
                  <a:lnTo>
                    <a:pt x="5467985" y="5364480"/>
                  </a:lnTo>
                  <a:close/>
                </a:path>
                <a:path w="5889625" h="7964805">
                  <a:moveTo>
                    <a:pt x="5467985" y="4714240"/>
                  </a:moveTo>
                  <a:lnTo>
                    <a:pt x="0" y="4714240"/>
                  </a:lnTo>
                  <a:lnTo>
                    <a:pt x="0" y="4876165"/>
                  </a:lnTo>
                  <a:lnTo>
                    <a:pt x="5467985" y="4876165"/>
                  </a:lnTo>
                  <a:lnTo>
                    <a:pt x="5467985" y="4714240"/>
                  </a:lnTo>
                  <a:close/>
                </a:path>
                <a:path w="5889625" h="7964805">
                  <a:moveTo>
                    <a:pt x="5467985" y="1788160"/>
                  </a:moveTo>
                  <a:lnTo>
                    <a:pt x="0" y="1788160"/>
                  </a:lnTo>
                  <a:lnTo>
                    <a:pt x="0" y="1950085"/>
                  </a:lnTo>
                  <a:lnTo>
                    <a:pt x="5467985" y="1950085"/>
                  </a:lnTo>
                  <a:lnTo>
                    <a:pt x="5467985" y="1788160"/>
                  </a:lnTo>
                  <a:close/>
                </a:path>
                <a:path w="5889625" h="7964805">
                  <a:moveTo>
                    <a:pt x="5550535" y="3901440"/>
                  </a:moveTo>
                  <a:lnTo>
                    <a:pt x="0" y="3901440"/>
                  </a:lnTo>
                  <a:lnTo>
                    <a:pt x="0" y="4063365"/>
                  </a:lnTo>
                  <a:lnTo>
                    <a:pt x="5550535" y="4063365"/>
                  </a:lnTo>
                  <a:lnTo>
                    <a:pt x="5550535" y="3901440"/>
                  </a:lnTo>
                  <a:close/>
                </a:path>
                <a:path w="5889625" h="7964805">
                  <a:moveTo>
                    <a:pt x="5550535" y="1300480"/>
                  </a:moveTo>
                  <a:lnTo>
                    <a:pt x="0" y="1300480"/>
                  </a:lnTo>
                  <a:lnTo>
                    <a:pt x="0" y="1462405"/>
                  </a:lnTo>
                  <a:lnTo>
                    <a:pt x="5550535" y="1462405"/>
                  </a:lnTo>
                  <a:lnTo>
                    <a:pt x="5550535" y="1300480"/>
                  </a:lnTo>
                  <a:close/>
                </a:path>
                <a:path w="5889625" h="7964805">
                  <a:moveTo>
                    <a:pt x="5635625" y="6827520"/>
                  </a:moveTo>
                  <a:lnTo>
                    <a:pt x="0" y="6827520"/>
                  </a:lnTo>
                  <a:lnTo>
                    <a:pt x="0" y="6989445"/>
                  </a:lnTo>
                  <a:lnTo>
                    <a:pt x="5635625" y="6989445"/>
                  </a:lnTo>
                  <a:lnTo>
                    <a:pt x="5635625" y="6827520"/>
                  </a:lnTo>
                  <a:close/>
                </a:path>
                <a:path w="5889625" h="7964805">
                  <a:moveTo>
                    <a:pt x="5635625" y="6664960"/>
                  </a:moveTo>
                  <a:lnTo>
                    <a:pt x="0" y="6664960"/>
                  </a:lnTo>
                  <a:lnTo>
                    <a:pt x="0" y="6826885"/>
                  </a:lnTo>
                  <a:lnTo>
                    <a:pt x="5635625" y="6826885"/>
                  </a:lnTo>
                  <a:lnTo>
                    <a:pt x="5635625" y="6664960"/>
                  </a:lnTo>
                  <a:close/>
                </a:path>
                <a:path w="5889625" h="7964805">
                  <a:moveTo>
                    <a:pt x="5635625" y="6502400"/>
                  </a:moveTo>
                  <a:lnTo>
                    <a:pt x="0" y="6502400"/>
                  </a:lnTo>
                  <a:lnTo>
                    <a:pt x="0" y="6664325"/>
                  </a:lnTo>
                  <a:lnTo>
                    <a:pt x="5635625" y="6664325"/>
                  </a:lnTo>
                  <a:lnTo>
                    <a:pt x="5635625" y="6502400"/>
                  </a:lnTo>
                  <a:close/>
                </a:path>
                <a:path w="5889625" h="7964805">
                  <a:moveTo>
                    <a:pt x="5635625" y="4551680"/>
                  </a:moveTo>
                  <a:lnTo>
                    <a:pt x="0" y="4551680"/>
                  </a:lnTo>
                  <a:lnTo>
                    <a:pt x="0" y="4713605"/>
                  </a:lnTo>
                  <a:lnTo>
                    <a:pt x="5635625" y="4713605"/>
                  </a:lnTo>
                  <a:lnTo>
                    <a:pt x="5635625" y="4551680"/>
                  </a:lnTo>
                  <a:close/>
                </a:path>
                <a:path w="5889625" h="7964805">
                  <a:moveTo>
                    <a:pt x="5635625" y="2600960"/>
                  </a:moveTo>
                  <a:lnTo>
                    <a:pt x="0" y="2600960"/>
                  </a:lnTo>
                  <a:lnTo>
                    <a:pt x="0" y="2762885"/>
                  </a:lnTo>
                  <a:lnTo>
                    <a:pt x="5635625" y="2762885"/>
                  </a:lnTo>
                  <a:lnTo>
                    <a:pt x="5635625" y="2600960"/>
                  </a:lnTo>
                  <a:close/>
                </a:path>
                <a:path w="5889625" h="7964805">
                  <a:moveTo>
                    <a:pt x="5719445" y="7802880"/>
                  </a:moveTo>
                  <a:lnTo>
                    <a:pt x="0" y="7802880"/>
                  </a:lnTo>
                  <a:lnTo>
                    <a:pt x="0" y="7964805"/>
                  </a:lnTo>
                  <a:lnTo>
                    <a:pt x="5719445" y="7964805"/>
                  </a:lnTo>
                  <a:lnTo>
                    <a:pt x="5719445" y="7802880"/>
                  </a:lnTo>
                  <a:close/>
                </a:path>
                <a:path w="5889625" h="7964805">
                  <a:moveTo>
                    <a:pt x="5719445" y="5527040"/>
                  </a:moveTo>
                  <a:lnTo>
                    <a:pt x="0" y="5527040"/>
                  </a:lnTo>
                  <a:lnTo>
                    <a:pt x="0" y="5688965"/>
                  </a:lnTo>
                  <a:lnTo>
                    <a:pt x="5719445" y="5688965"/>
                  </a:lnTo>
                  <a:lnTo>
                    <a:pt x="5719445" y="5527040"/>
                  </a:lnTo>
                  <a:close/>
                </a:path>
                <a:path w="5889625" h="7964805">
                  <a:moveTo>
                    <a:pt x="5719445" y="3251200"/>
                  </a:moveTo>
                  <a:lnTo>
                    <a:pt x="0" y="3251200"/>
                  </a:lnTo>
                  <a:lnTo>
                    <a:pt x="0" y="3413125"/>
                  </a:lnTo>
                  <a:lnTo>
                    <a:pt x="5719445" y="3413125"/>
                  </a:lnTo>
                  <a:lnTo>
                    <a:pt x="5719445" y="3251200"/>
                  </a:lnTo>
                  <a:close/>
                </a:path>
                <a:path w="5889625" h="7964805">
                  <a:moveTo>
                    <a:pt x="5720715" y="7640320"/>
                  </a:moveTo>
                  <a:lnTo>
                    <a:pt x="0" y="7640320"/>
                  </a:lnTo>
                  <a:lnTo>
                    <a:pt x="0" y="7802245"/>
                  </a:lnTo>
                  <a:lnTo>
                    <a:pt x="5720715" y="7802245"/>
                  </a:lnTo>
                  <a:lnTo>
                    <a:pt x="5720715" y="7640320"/>
                  </a:lnTo>
                  <a:close/>
                </a:path>
                <a:path w="5889625" h="7964805">
                  <a:moveTo>
                    <a:pt x="5720715" y="4389120"/>
                  </a:moveTo>
                  <a:lnTo>
                    <a:pt x="0" y="4389120"/>
                  </a:lnTo>
                  <a:lnTo>
                    <a:pt x="0" y="4551045"/>
                  </a:lnTo>
                  <a:lnTo>
                    <a:pt x="5720715" y="4551045"/>
                  </a:lnTo>
                  <a:lnTo>
                    <a:pt x="5720715" y="4389120"/>
                  </a:lnTo>
                  <a:close/>
                </a:path>
                <a:path w="5889625" h="7964805">
                  <a:moveTo>
                    <a:pt x="5720715" y="2113280"/>
                  </a:moveTo>
                  <a:lnTo>
                    <a:pt x="0" y="2113280"/>
                  </a:lnTo>
                  <a:lnTo>
                    <a:pt x="0" y="2275205"/>
                  </a:lnTo>
                  <a:lnTo>
                    <a:pt x="5720715" y="2275205"/>
                  </a:lnTo>
                  <a:lnTo>
                    <a:pt x="5720715" y="2113280"/>
                  </a:lnTo>
                  <a:close/>
                </a:path>
                <a:path w="5889625" h="7964805">
                  <a:moveTo>
                    <a:pt x="5720715" y="487680"/>
                  </a:moveTo>
                  <a:lnTo>
                    <a:pt x="0" y="487680"/>
                  </a:lnTo>
                  <a:lnTo>
                    <a:pt x="0" y="649605"/>
                  </a:lnTo>
                  <a:lnTo>
                    <a:pt x="5720715" y="649605"/>
                  </a:lnTo>
                  <a:lnTo>
                    <a:pt x="5720715" y="487680"/>
                  </a:lnTo>
                  <a:close/>
                </a:path>
                <a:path w="5889625" h="7964805">
                  <a:moveTo>
                    <a:pt x="5720715" y="162560"/>
                  </a:moveTo>
                  <a:lnTo>
                    <a:pt x="0" y="162560"/>
                  </a:lnTo>
                  <a:lnTo>
                    <a:pt x="0" y="324485"/>
                  </a:lnTo>
                  <a:lnTo>
                    <a:pt x="5720715" y="324485"/>
                  </a:lnTo>
                  <a:lnTo>
                    <a:pt x="5720715" y="162560"/>
                  </a:lnTo>
                  <a:close/>
                </a:path>
                <a:path w="5889625" h="7964805">
                  <a:moveTo>
                    <a:pt x="5803265" y="6990080"/>
                  </a:moveTo>
                  <a:lnTo>
                    <a:pt x="0" y="6990080"/>
                  </a:lnTo>
                  <a:lnTo>
                    <a:pt x="0" y="7152005"/>
                  </a:lnTo>
                  <a:lnTo>
                    <a:pt x="5803265" y="7152005"/>
                  </a:lnTo>
                  <a:lnTo>
                    <a:pt x="5803265" y="6990080"/>
                  </a:lnTo>
                  <a:close/>
                </a:path>
                <a:path w="5889625" h="7964805">
                  <a:moveTo>
                    <a:pt x="5803265" y="6177280"/>
                  </a:moveTo>
                  <a:lnTo>
                    <a:pt x="0" y="6177280"/>
                  </a:lnTo>
                  <a:lnTo>
                    <a:pt x="0" y="6339205"/>
                  </a:lnTo>
                  <a:lnTo>
                    <a:pt x="5803265" y="6339205"/>
                  </a:lnTo>
                  <a:lnTo>
                    <a:pt x="5803265" y="6177280"/>
                  </a:lnTo>
                  <a:close/>
                </a:path>
                <a:path w="5889625" h="7964805">
                  <a:moveTo>
                    <a:pt x="5803265" y="4064000"/>
                  </a:moveTo>
                  <a:lnTo>
                    <a:pt x="0" y="4064000"/>
                  </a:lnTo>
                  <a:lnTo>
                    <a:pt x="0" y="4225925"/>
                  </a:lnTo>
                  <a:lnTo>
                    <a:pt x="5803265" y="4225925"/>
                  </a:lnTo>
                  <a:lnTo>
                    <a:pt x="5803265" y="4064000"/>
                  </a:lnTo>
                  <a:close/>
                </a:path>
                <a:path w="5889625" h="7964805">
                  <a:moveTo>
                    <a:pt x="5803265" y="3576320"/>
                  </a:moveTo>
                  <a:lnTo>
                    <a:pt x="0" y="3576320"/>
                  </a:lnTo>
                  <a:lnTo>
                    <a:pt x="0" y="3738245"/>
                  </a:lnTo>
                  <a:lnTo>
                    <a:pt x="5803265" y="3738245"/>
                  </a:lnTo>
                  <a:lnTo>
                    <a:pt x="5803265" y="3576320"/>
                  </a:lnTo>
                  <a:close/>
                </a:path>
                <a:path w="5889625" h="7964805">
                  <a:moveTo>
                    <a:pt x="5803265" y="1463040"/>
                  </a:moveTo>
                  <a:lnTo>
                    <a:pt x="0" y="1463040"/>
                  </a:lnTo>
                  <a:lnTo>
                    <a:pt x="0" y="1624965"/>
                  </a:lnTo>
                  <a:lnTo>
                    <a:pt x="5803265" y="1624965"/>
                  </a:lnTo>
                  <a:lnTo>
                    <a:pt x="5803265" y="1463040"/>
                  </a:lnTo>
                  <a:close/>
                </a:path>
                <a:path w="5889625" h="7964805">
                  <a:moveTo>
                    <a:pt x="5804535" y="2926080"/>
                  </a:moveTo>
                  <a:lnTo>
                    <a:pt x="0" y="2926080"/>
                  </a:lnTo>
                  <a:lnTo>
                    <a:pt x="0" y="3088005"/>
                  </a:lnTo>
                  <a:lnTo>
                    <a:pt x="5804535" y="3088005"/>
                  </a:lnTo>
                  <a:lnTo>
                    <a:pt x="5804535" y="2926080"/>
                  </a:lnTo>
                  <a:close/>
                </a:path>
                <a:path w="5889625" h="7964805">
                  <a:moveTo>
                    <a:pt x="5804535" y="1950720"/>
                  </a:moveTo>
                  <a:lnTo>
                    <a:pt x="0" y="1950720"/>
                  </a:lnTo>
                  <a:lnTo>
                    <a:pt x="0" y="2112645"/>
                  </a:lnTo>
                  <a:lnTo>
                    <a:pt x="5804535" y="2112645"/>
                  </a:lnTo>
                  <a:lnTo>
                    <a:pt x="5804535" y="1950720"/>
                  </a:lnTo>
                  <a:close/>
                </a:path>
                <a:path w="5889625" h="7964805">
                  <a:moveTo>
                    <a:pt x="5887085" y="6014720"/>
                  </a:moveTo>
                  <a:lnTo>
                    <a:pt x="0" y="6014720"/>
                  </a:lnTo>
                  <a:lnTo>
                    <a:pt x="0" y="6176645"/>
                  </a:lnTo>
                  <a:lnTo>
                    <a:pt x="5887085" y="6176645"/>
                  </a:lnTo>
                  <a:lnTo>
                    <a:pt x="5887085" y="6014720"/>
                  </a:lnTo>
                  <a:close/>
                </a:path>
                <a:path w="5889625" h="7964805">
                  <a:moveTo>
                    <a:pt x="5887085" y="5039360"/>
                  </a:moveTo>
                  <a:lnTo>
                    <a:pt x="0" y="5039360"/>
                  </a:lnTo>
                  <a:lnTo>
                    <a:pt x="0" y="5201285"/>
                  </a:lnTo>
                  <a:lnTo>
                    <a:pt x="5887085" y="5201285"/>
                  </a:lnTo>
                  <a:lnTo>
                    <a:pt x="5887085" y="5039360"/>
                  </a:lnTo>
                  <a:close/>
                </a:path>
                <a:path w="5889625" h="7964805">
                  <a:moveTo>
                    <a:pt x="5887085" y="975360"/>
                  </a:moveTo>
                  <a:lnTo>
                    <a:pt x="0" y="975360"/>
                  </a:lnTo>
                  <a:lnTo>
                    <a:pt x="0" y="1137285"/>
                  </a:lnTo>
                  <a:lnTo>
                    <a:pt x="5887085" y="1137285"/>
                  </a:lnTo>
                  <a:lnTo>
                    <a:pt x="5887085" y="975360"/>
                  </a:lnTo>
                  <a:close/>
                </a:path>
                <a:path w="5889625" h="7964805">
                  <a:moveTo>
                    <a:pt x="5888355" y="6339840"/>
                  </a:moveTo>
                  <a:lnTo>
                    <a:pt x="0" y="6339840"/>
                  </a:lnTo>
                  <a:lnTo>
                    <a:pt x="0" y="6501765"/>
                  </a:lnTo>
                  <a:lnTo>
                    <a:pt x="5888355" y="6501765"/>
                  </a:lnTo>
                  <a:lnTo>
                    <a:pt x="5888355" y="6339840"/>
                  </a:lnTo>
                  <a:close/>
                </a:path>
                <a:path w="5889625" h="7964805">
                  <a:moveTo>
                    <a:pt x="5888355" y="325120"/>
                  </a:moveTo>
                  <a:lnTo>
                    <a:pt x="0" y="325120"/>
                  </a:lnTo>
                  <a:lnTo>
                    <a:pt x="0" y="487045"/>
                  </a:lnTo>
                  <a:lnTo>
                    <a:pt x="5888355" y="487045"/>
                  </a:lnTo>
                  <a:lnTo>
                    <a:pt x="5888355" y="325120"/>
                  </a:lnTo>
                  <a:close/>
                </a:path>
                <a:path w="5889625" h="7964805">
                  <a:moveTo>
                    <a:pt x="5889625" y="2438400"/>
                  </a:moveTo>
                  <a:lnTo>
                    <a:pt x="0" y="2438400"/>
                  </a:lnTo>
                  <a:lnTo>
                    <a:pt x="0" y="2600325"/>
                  </a:lnTo>
                  <a:lnTo>
                    <a:pt x="5889625" y="2600325"/>
                  </a:lnTo>
                  <a:lnTo>
                    <a:pt x="5889625" y="2438400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902969" y="958850"/>
            <a:ext cx="5913120" cy="7995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300"/>
              </a:lnSpc>
              <a:spcBef>
                <a:spcPts val="100"/>
              </a:spcBef>
            </a:pPr>
            <a:r>
              <a:rPr sz="1100" dirty="0">
                <a:latin typeface="Courier New"/>
                <a:cs typeface="Courier New"/>
              </a:rPr>
              <a:t>2024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-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CV.pdf",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'page':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1}),</a:t>
            </a:r>
            <a:endParaRPr sz="1100">
              <a:latin typeface="Courier New"/>
              <a:cs typeface="Courier New"/>
            </a:endParaRPr>
          </a:p>
          <a:p>
            <a:pPr marL="12700" marR="5715" indent="83820">
              <a:lnSpc>
                <a:spcPts val="1280"/>
              </a:lnSpc>
              <a:spcBef>
                <a:spcPts val="55"/>
              </a:spcBef>
            </a:pPr>
            <a:r>
              <a:rPr sz="1100" spc="-10" dirty="0">
                <a:latin typeface="Courier New"/>
                <a:cs typeface="Courier New"/>
              </a:rPr>
              <a:t>Document(page_content="enhancements</a:t>
            </a:r>
            <a:r>
              <a:rPr sz="1100" spc="-2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(20+),</a:t>
            </a:r>
            <a:r>
              <a:rPr sz="1100" spc="-2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bug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ﬁxes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(500+)</a:t>
            </a:r>
            <a:r>
              <a:rPr sz="1100" spc="-2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as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spc="-50" dirty="0">
                <a:latin typeface="Courier New"/>
                <a:cs typeface="Courier New"/>
              </a:rPr>
              <a:t>a </a:t>
            </a:r>
            <a:r>
              <a:rPr sz="1100" dirty="0">
                <a:latin typeface="Courier New"/>
                <a:cs typeface="Courier New"/>
              </a:rPr>
              <a:t>key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contributor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to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Software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Development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Life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Cycle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(SDLC)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at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Layer</a:t>
            </a:r>
            <a:endParaRPr sz="1100">
              <a:latin typeface="Courier New"/>
              <a:cs typeface="Courier New"/>
            </a:endParaRPr>
          </a:p>
          <a:p>
            <a:pPr marL="12700" marR="5715">
              <a:lnSpc>
                <a:spcPts val="1280"/>
              </a:lnSpc>
              <a:tabLst>
                <a:tab pos="937894" algn="l"/>
                <a:tab pos="1442085" algn="l"/>
                <a:tab pos="2871470" algn="l"/>
                <a:tab pos="4302125" algn="l"/>
              </a:tabLst>
            </a:pPr>
            <a:r>
              <a:rPr sz="1100" dirty="0">
                <a:latin typeface="Courier New"/>
                <a:cs typeface="Courier New"/>
              </a:rPr>
              <a:t>3</a:t>
            </a:r>
            <a:r>
              <a:rPr sz="1100" spc="-1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Technologies.</a:t>
            </a:r>
            <a:r>
              <a:rPr sz="1100" dirty="0">
                <a:latin typeface="Courier New"/>
                <a:cs typeface="Courier New"/>
              </a:rPr>
              <a:t>	-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System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Design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for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User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Productivity: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Designed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and </a:t>
            </a:r>
            <a:r>
              <a:rPr sz="1100" dirty="0">
                <a:latin typeface="Courier New"/>
                <a:cs typeface="Courier New"/>
              </a:rPr>
              <a:t>developed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forward-</a:t>
            </a:r>
            <a:r>
              <a:rPr sz="1100" dirty="0">
                <a:latin typeface="Courier New"/>
                <a:cs typeface="Courier New"/>
              </a:rPr>
              <a:t>thinking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systems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(100+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pages)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to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enhance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user </a:t>
            </a:r>
            <a:r>
              <a:rPr sz="1100" dirty="0">
                <a:latin typeface="Courier New"/>
                <a:cs typeface="Courier New"/>
              </a:rPr>
              <a:t>productivity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address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their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needs,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demonstrating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proactive </a:t>
            </a:r>
            <a:r>
              <a:rPr sz="1100" dirty="0">
                <a:latin typeface="Courier New"/>
                <a:cs typeface="Courier New"/>
              </a:rPr>
              <a:t>approach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to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system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architecture.</a:t>
            </a:r>
            <a:r>
              <a:rPr sz="1100" dirty="0">
                <a:latin typeface="Courier New"/>
                <a:cs typeface="Courier New"/>
              </a:rPr>
              <a:t>	CAREER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TIMELINE</a:t>
            </a:r>
            <a:r>
              <a:rPr sz="1100" dirty="0">
                <a:latin typeface="Courier New"/>
                <a:cs typeface="Courier New"/>
              </a:rPr>
              <a:t>	Company: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Capgemini, </a:t>
            </a:r>
            <a:r>
              <a:rPr sz="1100" dirty="0">
                <a:latin typeface="Courier New"/>
                <a:cs typeface="Courier New"/>
              </a:rPr>
              <a:t>Hong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Kong</a:t>
            </a:r>
            <a:r>
              <a:rPr sz="1100" dirty="0">
                <a:latin typeface="Courier New"/>
                <a:cs typeface="Courier New"/>
              </a:rPr>
              <a:t>	-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Client: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CHANEL.,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Hong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Kong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|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Designation: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Enterprise </a:t>
            </a:r>
            <a:r>
              <a:rPr sz="1100" dirty="0">
                <a:latin typeface="Courier New"/>
                <a:cs typeface="Courier New"/>
              </a:rPr>
              <a:t>Architect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|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Duration: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Oct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'23–Dec’23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(payroll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managed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by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eTeams)", metadata={'source':</a:t>
            </a:r>
            <a:r>
              <a:rPr sz="1100" spc="2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"/Users/mayankchugh/Documents/CVs/2024/CV</a:t>
            </a:r>
            <a:r>
              <a:rPr sz="1100" spc="1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&amp;</a:t>
            </a:r>
            <a:r>
              <a:rPr sz="1100" spc="1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Cover </a:t>
            </a:r>
            <a:r>
              <a:rPr sz="1100" dirty="0">
                <a:latin typeface="Courier New"/>
                <a:cs typeface="Courier New"/>
              </a:rPr>
              <a:t>letters/Mayank's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Feb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2024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-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CV.pdf",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'page':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1}),</a:t>
            </a:r>
            <a:endParaRPr sz="1100">
              <a:latin typeface="Courier New"/>
              <a:cs typeface="Courier New"/>
            </a:endParaRPr>
          </a:p>
          <a:p>
            <a:pPr marL="12700" marR="5080" indent="83820">
              <a:lnSpc>
                <a:spcPts val="1280"/>
              </a:lnSpc>
              <a:tabLst>
                <a:tab pos="2198370" algn="l"/>
                <a:tab pos="2451100" algn="l"/>
                <a:tab pos="3123565" algn="l"/>
                <a:tab pos="4721860" algn="l"/>
                <a:tab pos="4889500" algn="l"/>
                <a:tab pos="5731510" algn="l"/>
              </a:tabLst>
            </a:pPr>
            <a:r>
              <a:rPr sz="1100" spc="-10" dirty="0">
                <a:latin typeface="Courier New"/>
                <a:cs typeface="Courier New"/>
              </a:rPr>
              <a:t>Document(page_content="Page</a:t>
            </a:r>
            <a:r>
              <a:rPr sz="1100" spc="1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3 of</a:t>
            </a:r>
            <a:r>
              <a:rPr sz="1100" spc="-10" dirty="0">
                <a:latin typeface="Courier New"/>
                <a:cs typeface="Courier New"/>
              </a:rPr>
              <a:t> </a:t>
            </a:r>
            <a:r>
              <a:rPr sz="1100" spc="-50" dirty="0">
                <a:latin typeface="Courier New"/>
                <a:cs typeface="Courier New"/>
              </a:rPr>
              <a:t>3</a:t>
            </a:r>
            <a:r>
              <a:rPr sz="1100" dirty="0">
                <a:latin typeface="Courier New"/>
                <a:cs typeface="Courier New"/>
              </a:rPr>
              <a:t>	-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Client: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HSBC.,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Hong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Kong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spc="-50" dirty="0">
                <a:latin typeface="Courier New"/>
                <a:cs typeface="Courier New"/>
              </a:rPr>
              <a:t>| </a:t>
            </a:r>
            <a:r>
              <a:rPr sz="1100" dirty="0">
                <a:latin typeface="Courier New"/>
                <a:cs typeface="Courier New"/>
              </a:rPr>
              <a:t>Designation: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Cloud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/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Solution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Architect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|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Duration: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Sep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'22–Aug’23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50" dirty="0">
                <a:latin typeface="Courier New"/>
                <a:cs typeface="Courier New"/>
              </a:rPr>
              <a:t>- </a:t>
            </a:r>
            <a:r>
              <a:rPr sz="1100" dirty="0">
                <a:latin typeface="Courier New"/>
                <a:cs typeface="Courier New"/>
              </a:rPr>
              <a:t>Client: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HSBC.,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Hong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Kong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-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Designation: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Cloud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/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Solution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Architect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spc="-50" dirty="0">
                <a:latin typeface="Courier New"/>
                <a:cs typeface="Courier New"/>
              </a:rPr>
              <a:t>| </a:t>
            </a:r>
            <a:r>
              <a:rPr sz="1100" dirty="0">
                <a:latin typeface="Courier New"/>
                <a:cs typeface="Courier New"/>
              </a:rPr>
              <a:t>Duration: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Oct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'21–Feb’22</a:t>
            </a:r>
            <a:r>
              <a:rPr sz="1100" dirty="0">
                <a:latin typeface="Courier New"/>
                <a:cs typeface="Courier New"/>
              </a:rPr>
              <a:t>	Company: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Deloitte,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Hong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Kong</a:t>
            </a:r>
            <a:r>
              <a:rPr sz="1100" dirty="0">
                <a:latin typeface="Courier New"/>
                <a:cs typeface="Courier New"/>
              </a:rPr>
              <a:t>	-</a:t>
            </a:r>
            <a:r>
              <a:rPr sz="1100" spc="-1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Client: </a:t>
            </a:r>
            <a:r>
              <a:rPr sz="1100" dirty="0">
                <a:latin typeface="Courier New"/>
                <a:cs typeface="Courier New"/>
              </a:rPr>
              <a:t>CHANEL,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Hong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Kong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|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Designation: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Cloud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Application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Manager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Architect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spc="-50" dirty="0">
                <a:latin typeface="Courier New"/>
                <a:cs typeface="Courier New"/>
              </a:rPr>
              <a:t>| </a:t>
            </a:r>
            <a:r>
              <a:rPr sz="1100" dirty="0">
                <a:latin typeface="Courier New"/>
                <a:cs typeface="Courier New"/>
              </a:rPr>
              <a:t>Duration: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Mar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'22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–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Aug’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22</a:t>
            </a:r>
            <a:r>
              <a:rPr sz="1100" dirty="0">
                <a:latin typeface="Courier New"/>
                <a:cs typeface="Courier New"/>
              </a:rPr>
              <a:t>	Company: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Coforge,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Hong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Kong</a:t>
            </a:r>
            <a:r>
              <a:rPr sz="1100" dirty="0">
                <a:latin typeface="Courier New"/>
                <a:cs typeface="Courier New"/>
              </a:rPr>
              <a:t>		-</a:t>
            </a:r>
            <a:r>
              <a:rPr sz="1100" spc="-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Client: </a:t>
            </a:r>
            <a:r>
              <a:rPr sz="1100" dirty="0">
                <a:latin typeface="Courier New"/>
                <a:cs typeface="Courier New"/>
              </a:rPr>
              <a:t>Cathay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Paciﬁc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Cargo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Terminal,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Hong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Kong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|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Designation: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Senior</a:t>
            </a:r>
            <a:r>
              <a:rPr sz="1100" dirty="0">
                <a:latin typeface="Courier New"/>
                <a:cs typeface="Courier New"/>
              </a:rPr>
              <a:t> Technical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Architect/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Project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Manager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|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Duration: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Oct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'16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–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Oct’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21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50" dirty="0">
                <a:latin typeface="Courier New"/>
                <a:cs typeface="Courier New"/>
              </a:rPr>
              <a:t>- </a:t>
            </a:r>
            <a:r>
              <a:rPr sz="1100" dirty="0">
                <a:latin typeface="Courier New"/>
                <a:cs typeface="Courier New"/>
              </a:rPr>
              <a:t>Client: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Asia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Airfreight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Terminal,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Hong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Kong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|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Designation: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Senior </a:t>
            </a:r>
            <a:r>
              <a:rPr sz="1100" dirty="0">
                <a:latin typeface="Courier New"/>
                <a:cs typeface="Courier New"/>
              </a:rPr>
              <a:t>Technical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Architect/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Project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Manager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|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Duration: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Feb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2014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-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Sep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2016</a:t>
            </a:r>
            <a:endParaRPr sz="1100">
              <a:latin typeface="Courier New"/>
              <a:cs typeface="Courier New"/>
            </a:endParaRPr>
          </a:p>
          <a:p>
            <a:pPr marL="12700" marR="5715" indent="167005">
              <a:lnSpc>
                <a:spcPts val="1280"/>
              </a:lnSpc>
              <a:buChar char="-"/>
              <a:tabLst>
                <a:tab pos="179705" algn="l"/>
                <a:tab pos="1021715" algn="l"/>
                <a:tab pos="1441450" algn="l"/>
                <a:tab pos="3292475" algn="l"/>
                <a:tab pos="3543935" algn="l"/>
                <a:tab pos="4806315" algn="l"/>
                <a:tab pos="5058410" algn="l"/>
              </a:tabLst>
            </a:pPr>
            <a:r>
              <a:rPr sz="1100" dirty="0">
                <a:latin typeface="Courier New"/>
                <a:cs typeface="Courier New"/>
              </a:rPr>
              <a:t>Client: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British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Airways,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London,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UK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&amp;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New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Delhi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|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Designation:</a:t>
            </a:r>
            <a:r>
              <a:rPr sz="1100" spc="50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Senior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Technical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Architect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|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Duration: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Oct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2012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–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Jan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2014</a:t>
            </a:r>
            <a:r>
              <a:rPr sz="1100" dirty="0">
                <a:latin typeface="Courier New"/>
                <a:cs typeface="Courier New"/>
              </a:rPr>
              <a:t>	-</a:t>
            </a:r>
            <a:r>
              <a:rPr sz="1100" spc="-1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Client: </a:t>
            </a:r>
            <a:r>
              <a:rPr sz="1100" dirty="0">
                <a:latin typeface="Courier New"/>
                <a:cs typeface="Courier New"/>
              </a:rPr>
              <a:t>Cathay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Paciﬁc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Cargo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Terminal,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Hong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Kong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|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Designation: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Technical </a:t>
            </a:r>
            <a:r>
              <a:rPr sz="1100" dirty="0">
                <a:latin typeface="Courier New"/>
                <a:cs typeface="Courier New"/>
              </a:rPr>
              <a:t>Analyst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/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Project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Lead.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|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Duration: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Oct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2008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–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Sep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2012</a:t>
            </a:r>
            <a:r>
              <a:rPr sz="1100" dirty="0">
                <a:latin typeface="Courier New"/>
                <a:cs typeface="Courier New"/>
              </a:rPr>
              <a:t>	-</a:t>
            </a:r>
            <a:r>
              <a:rPr sz="1100" spc="-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Client: </a:t>
            </a:r>
            <a:r>
              <a:rPr sz="1100" dirty="0">
                <a:latin typeface="Courier New"/>
                <a:cs typeface="Courier New"/>
              </a:rPr>
              <a:t>Lehman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Brothers,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Singapore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|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Designation: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Technical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Analyst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/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Project </a:t>
            </a:r>
            <a:r>
              <a:rPr sz="1100" dirty="0">
                <a:latin typeface="Courier New"/>
                <a:cs typeface="Courier New"/>
              </a:rPr>
              <a:t>Lead.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|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Duration: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May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2008</a:t>
            </a:r>
            <a:r>
              <a:rPr sz="1100" spc="-2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–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Sep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2008</a:t>
            </a:r>
            <a:r>
              <a:rPr sz="1100" dirty="0">
                <a:latin typeface="Courier New"/>
                <a:cs typeface="Courier New"/>
              </a:rPr>
              <a:t>	-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Client: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Asia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Airfreight </a:t>
            </a:r>
            <a:r>
              <a:rPr sz="1100" dirty="0">
                <a:latin typeface="Courier New"/>
                <a:cs typeface="Courier New"/>
              </a:rPr>
              <a:t>Terminal,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Hong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Kong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|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Designation: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Technical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Analyst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|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Duration: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Jan </a:t>
            </a:r>
            <a:r>
              <a:rPr sz="1100" dirty="0">
                <a:latin typeface="Courier New"/>
                <a:cs typeface="Courier New"/>
              </a:rPr>
              <a:t>2006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–</a:t>
            </a:r>
            <a:r>
              <a:rPr sz="1100" spc="-2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Apr</a:t>
            </a:r>
            <a:r>
              <a:rPr sz="1100" spc="-20" dirty="0">
                <a:latin typeface="Courier New"/>
                <a:cs typeface="Courier New"/>
              </a:rPr>
              <a:t> 2008</a:t>
            </a:r>
            <a:r>
              <a:rPr sz="1100" dirty="0">
                <a:latin typeface="Courier New"/>
                <a:cs typeface="Courier New"/>
              </a:rPr>
              <a:t>	-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Client: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Marks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Spencer,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London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|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Designation: </a:t>
            </a:r>
            <a:r>
              <a:rPr sz="1100" dirty="0">
                <a:latin typeface="Courier New"/>
                <a:cs typeface="Courier New"/>
              </a:rPr>
              <a:t>Technical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Analyst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/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Project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Lead.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|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Duration: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May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2004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-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Dec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2005 </a:t>
            </a:r>
            <a:r>
              <a:rPr sz="1100" dirty="0">
                <a:latin typeface="Courier New"/>
                <a:cs typeface="Courier New"/>
              </a:rPr>
              <a:t>Company: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Layer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3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Technologies,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New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Delhi</a:t>
            </a:r>
            <a:r>
              <a:rPr sz="1100" dirty="0">
                <a:latin typeface="Courier New"/>
                <a:cs typeface="Courier New"/>
              </a:rPr>
              <a:t>	-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Client: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Collin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Street </a:t>
            </a:r>
            <a:r>
              <a:rPr sz="1100" dirty="0">
                <a:latin typeface="Courier New"/>
                <a:cs typeface="Courier New"/>
              </a:rPr>
              <a:t>Bakery,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US</a:t>
            </a:r>
            <a:r>
              <a:rPr sz="1100" dirty="0">
                <a:latin typeface="Courier New"/>
                <a:cs typeface="Courier New"/>
              </a:rPr>
              <a:t>	INCA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Informatics,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New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Delhi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as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Software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Developer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(02/2003</a:t>
            </a:r>
            <a:endParaRPr sz="1100">
              <a:latin typeface="Courier New"/>
              <a:cs typeface="Courier New"/>
            </a:endParaRPr>
          </a:p>
          <a:p>
            <a:pPr marL="12700" marR="5715" indent="167005">
              <a:lnSpc>
                <a:spcPts val="1280"/>
              </a:lnSpc>
              <a:buChar char="-"/>
              <a:tabLst>
                <a:tab pos="179705" algn="l"/>
                <a:tab pos="601345" algn="l"/>
                <a:tab pos="852805" algn="l"/>
                <a:tab pos="937894" algn="l"/>
                <a:tab pos="1021715" algn="l"/>
                <a:tab pos="1525905" algn="l"/>
                <a:tab pos="1610360" algn="l"/>
                <a:tab pos="1778635" algn="l"/>
                <a:tab pos="2283460" algn="l"/>
                <a:tab pos="2534920" algn="l"/>
                <a:tab pos="3543935" algn="l"/>
                <a:tab pos="3712845" algn="l"/>
                <a:tab pos="4049395" algn="l"/>
                <a:tab pos="4217035" algn="l"/>
                <a:tab pos="4638040" algn="l"/>
                <a:tab pos="5058410" algn="l"/>
              </a:tabLst>
            </a:pPr>
            <a:r>
              <a:rPr sz="1100" spc="-10" dirty="0">
                <a:latin typeface="Courier New"/>
                <a:cs typeface="Courier New"/>
              </a:rPr>
              <a:t>07/2003)</a:t>
            </a:r>
            <a:r>
              <a:rPr sz="1100" dirty="0">
                <a:latin typeface="Courier New"/>
                <a:cs typeface="Courier New"/>
              </a:rPr>
              <a:t>			HCL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Infosystems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Ltd.,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New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Delhi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Mukul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Computer </a:t>
            </a:r>
            <a:r>
              <a:rPr sz="1100" dirty="0">
                <a:latin typeface="Courier New"/>
                <a:cs typeface="Courier New"/>
              </a:rPr>
              <a:t>Services,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India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as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Technical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Customer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Support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Engineer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(08/1997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spc="-50" dirty="0">
                <a:latin typeface="Courier New"/>
                <a:cs typeface="Courier New"/>
              </a:rPr>
              <a:t>- </a:t>
            </a:r>
            <a:r>
              <a:rPr sz="1100" spc="-10" dirty="0">
                <a:latin typeface="Courier New"/>
                <a:cs typeface="Courier New"/>
              </a:rPr>
              <a:t>12/2000)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EDUCATION</a:t>
            </a:r>
            <a:r>
              <a:rPr sz="1100" dirty="0">
                <a:latin typeface="Courier New"/>
                <a:cs typeface="Courier New"/>
              </a:rPr>
              <a:t>		PG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Diploma</a:t>
            </a:r>
            <a:r>
              <a:rPr sz="1100" spc="-1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</a:t>
            </a:r>
            <a:r>
              <a:rPr sz="1100" spc="-2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AI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&amp;</a:t>
            </a:r>
            <a:r>
              <a:rPr sz="1100" spc="-20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ML</a:t>
            </a:r>
            <a:r>
              <a:rPr sz="1100" dirty="0">
                <a:latin typeface="Courier New"/>
                <a:cs typeface="Courier New"/>
              </a:rPr>
              <a:t>	Great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Learning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11/2021, </a:t>
            </a:r>
            <a:r>
              <a:rPr sz="1100" dirty="0">
                <a:latin typeface="Courier New"/>
                <a:cs typeface="Courier New"/>
              </a:rPr>
              <a:t>PG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Diploma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Software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Development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(FSD)</a:t>
            </a:r>
            <a:r>
              <a:rPr sz="1100" dirty="0">
                <a:latin typeface="Courier New"/>
                <a:cs typeface="Courier New"/>
              </a:rPr>
              <a:t>	Upgrad,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IIIT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Bangalore 03/2021,</a:t>
            </a:r>
            <a:r>
              <a:rPr sz="1100" dirty="0">
                <a:latin typeface="Courier New"/>
                <a:cs typeface="Courier New"/>
              </a:rPr>
              <a:t>		PG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Diploma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Program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Cloud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Computing</a:t>
            </a:r>
            <a:r>
              <a:rPr sz="1100" dirty="0">
                <a:latin typeface="Courier New"/>
                <a:cs typeface="Courier New"/>
              </a:rPr>
              <a:t>		Great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Learning 03/2020,</a:t>
            </a:r>
            <a:r>
              <a:rPr sz="1100" dirty="0">
                <a:latin typeface="Courier New"/>
                <a:cs typeface="Courier New"/>
              </a:rPr>
              <a:t>		Masters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</a:t>
            </a:r>
            <a:r>
              <a:rPr sz="1100" spc="-8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Computer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Application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(Computer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Science)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U.P.T.U, India</a:t>
            </a:r>
            <a:r>
              <a:rPr sz="1100" dirty="0">
                <a:latin typeface="Courier New"/>
                <a:cs typeface="Courier New"/>
              </a:rPr>
              <a:t>	</a:t>
            </a:r>
            <a:r>
              <a:rPr sz="1100" spc="-10" dirty="0">
                <a:latin typeface="Courier New"/>
                <a:cs typeface="Courier New"/>
              </a:rPr>
              <a:t>07/2003,</a:t>
            </a:r>
            <a:r>
              <a:rPr sz="1100" dirty="0">
                <a:latin typeface="Courier New"/>
                <a:cs typeface="Courier New"/>
              </a:rPr>
              <a:t>	PG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Diploma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Computers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Programming</a:t>
            </a:r>
            <a:r>
              <a:rPr sz="1100" dirty="0">
                <a:latin typeface="Courier New"/>
                <a:cs typeface="Courier New"/>
              </a:rPr>
              <a:t>	Agra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Technical </a:t>
            </a:r>
            <a:r>
              <a:rPr sz="1100" dirty="0">
                <a:latin typeface="Courier New"/>
                <a:cs typeface="Courier New"/>
              </a:rPr>
              <a:t>University,</a:t>
            </a:r>
            <a:r>
              <a:rPr sz="1100" spc="-10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India</a:t>
            </a:r>
            <a:r>
              <a:rPr sz="1100" dirty="0">
                <a:latin typeface="Courier New"/>
                <a:cs typeface="Courier New"/>
              </a:rPr>
              <a:t>		</a:t>
            </a:r>
            <a:r>
              <a:rPr sz="1100" spc="-10" dirty="0">
                <a:latin typeface="Courier New"/>
                <a:cs typeface="Courier New"/>
              </a:rPr>
              <a:t>12/1999,</a:t>
            </a:r>
            <a:r>
              <a:rPr sz="1100" dirty="0">
                <a:latin typeface="Courier New"/>
                <a:cs typeface="Courier New"/>
              </a:rPr>
              <a:t>		Bachelor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of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Arts</a:t>
            </a:r>
            <a:r>
              <a:rPr sz="1100" dirty="0">
                <a:latin typeface="Courier New"/>
                <a:cs typeface="Courier New"/>
              </a:rPr>
              <a:t>	Agra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University,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India 06/1997,</a:t>
            </a:r>
            <a:r>
              <a:rPr sz="1100" dirty="0">
                <a:latin typeface="Courier New"/>
                <a:cs typeface="Courier New"/>
              </a:rPr>
              <a:t>		</a:t>
            </a:r>
            <a:r>
              <a:rPr sz="1100" spc="-10" dirty="0">
                <a:latin typeface="Courier New"/>
                <a:cs typeface="Courier New"/>
              </a:rPr>
              <a:t>CERTIFICATIONS</a:t>
            </a:r>
            <a:r>
              <a:rPr sz="1100" dirty="0">
                <a:latin typeface="Courier New"/>
                <a:cs typeface="Courier New"/>
              </a:rPr>
              <a:t>	Azure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DevOps: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AZ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400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(09/2023)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Certified </a:t>
            </a:r>
            <a:r>
              <a:rPr sz="1100" dirty="0">
                <a:latin typeface="Courier New"/>
                <a:cs typeface="Courier New"/>
              </a:rPr>
              <a:t>ScrumMaster®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(CSM®)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(04/2023)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Azure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Administrator: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AZ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104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(03/2023) </a:t>
            </a:r>
            <a:r>
              <a:rPr sz="1100" dirty="0">
                <a:latin typeface="Courier New"/>
                <a:cs typeface="Courier New"/>
              </a:rPr>
              <a:t>Azure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Fundamental: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AZ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900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(01/2023)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Togaf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9.2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Certified: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Enterprise </a:t>
            </a:r>
            <a:r>
              <a:rPr sz="1100" dirty="0">
                <a:latin typeface="Courier New"/>
                <a:cs typeface="Courier New"/>
              </a:rPr>
              <a:t>Architect</a:t>
            </a:r>
            <a:r>
              <a:rPr sz="1100" spc="-8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(10/2022)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AWS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Certified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Cloud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Practitioner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(08/2022)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DevOps </a:t>
            </a:r>
            <a:r>
              <a:rPr sz="1100" dirty="0">
                <a:latin typeface="Courier New"/>
                <a:cs typeface="Courier New"/>
              </a:rPr>
              <a:t>Foundation</a:t>
            </a:r>
            <a:r>
              <a:rPr sz="1100" spc="-8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Certified</a:t>
            </a:r>
            <a:r>
              <a:rPr sz="1100" spc="-8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(06/2022)</a:t>
            </a:r>
            <a:r>
              <a:rPr sz="1100" spc="-8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HashiCorp</a:t>
            </a:r>
            <a:r>
              <a:rPr sz="1100" spc="-8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Certified:</a:t>
            </a:r>
            <a:r>
              <a:rPr sz="1100" spc="-8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Terraform</a:t>
            </a:r>
            <a:r>
              <a:rPr sz="1100" spc="50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Associate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(05/2022)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AWS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Certified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Solutions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Architect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–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Associate </a:t>
            </a:r>
            <a:r>
              <a:rPr sz="1100" dirty="0">
                <a:latin typeface="Courier New"/>
                <a:cs typeface="Courier New"/>
              </a:rPr>
              <a:t>(04/2017)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AWS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Certified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Developer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-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Associate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(06/2017)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PRINCE2® </a:t>
            </a:r>
            <a:r>
              <a:rPr sz="1100" dirty="0">
                <a:latin typeface="Courier New"/>
                <a:cs typeface="Courier New"/>
              </a:rPr>
              <a:t>Foundation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Practitioner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(11/2016)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PMI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Generative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AI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Overview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for </a:t>
            </a:r>
            <a:r>
              <a:rPr sz="1100" dirty="0">
                <a:latin typeface="Courier New"/>
                <a:cs typeface="Courier New"/>
              </a:rPr>
              <a:t>Project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Managers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Sun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Certified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Java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Professional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(JDK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1.6)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(01/2010)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48360" y="914400"/>
            <a:ext cx="6076315" cy="8098155"/>
          </a:xfrm>
          <a:custGeom>
            <a:avLst/>
            <a:gdLst/>
            <a:ahLst/>
            <a:cxnLst/>
            <a:rect l="l" t="t" r="r" b="b"/>
            <a:pathLst>
              <a:path w="6076315" h="8098155">
                <a:moveTo>
                  <a:pt x="0" y="1904"/>
                </a:moveTo>
                <a:lnTo>
                  <a:pt x="6076315" y="1904"/>
                </a:lnTo>
              </a:path>
              <a:path w="6076315" h="8098155">
                <a:moveTo>
                  <a:pt x="6075045" y="0"/>
                </a:moveTo>
                <a:lnTo>
                  <a:pt x="6075045" y="8098155"/>
                </a:lnTo>
              </a:path>
              <a:path w="6076315" h="8098155">
                <a:moveTo>
                  <a:pt x="6076315" y="8096884"/>
                </a:moveTo>
                <a:lnTo>
                  <a:pt x="0" y="8096884"/>
                </a:lnTo>
              </a:path>
              <a:path w="6076315" h="8098155">
                <a:moveTo>
                  <a:pt x="1905" y="8098155"/>
                </a:moveTo>
                <a:lnTo>
                  <a:pt x="1905" y="0"/>
                </a:lnTo>
              </a:path>
              <a:path w="6076315" h="8098155">
                <a:moveTo>
                  <a:pt x="0" y="1904"/>
                </a:moveTo>
                <a:lnTo>
                  <a:pt x="6076315" y="1904"/>
                </a:lnTo>
              </a:path>
              <a:path w="6076315" h="8098155">
                <a:moveTo>
                  <a:pt x="6075045" y="0"/>
                </a:moveTo>
                <a:lnTo>
                  <a:pt x="6075045" y="8098155"/>
                </a:lnTo>
              </a:path>
              <a:path w="6076315" h="8098155">
                <a:moveTo>
                  <a:pt x="6076315" y="8096884"/>
                </a:moveTo>
                <a:lnTo>
                  <a:pt x="0" y="8096884"/>
                </a:lnTo>
              </a:path>
              <a:path w="6076315" h="8098155">
                <a:moveTo>
                  <a:pt x="1905" y="8098155"/>
                </a:moveTo>
                <a:lnTo>
                  <a:pt x="1905" y="0"/>
                </a:lnTo>
              </a:path>
            </a:pathLst>
          </a:custGeom>
          <a:ln w="3175">
            <a:solidFill>
              <a:srgbClr val="E2E2E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47725" y="913764"/>
            <a:ext cx="6076950" cy="783590"/>
          </a:xfrm>
          <a:custGeom>
            <a:avLst/>
            <a:gdLst/>
            <a:ahLst/>
            <a:cxnLst/>
            <a:rect l="l" t="t" r="r" b="b"/>
            <a:pathLst>
              <a:path w="6076950" h="783589">
                <a:moveTo>
                  <a:pt x="6076950" y="0"/>
                </a:moveTo>
                <a:lnTo>
                  <a:pt x="0" y="0"/>
                </a:lnTo>
                <a:lnTo>
                  <a:pt x="0" y="783589"/>
                </a:lnTo>
                <a:lnTo>
                  <a:pt x="6076950" y="783589"/>
                </a:lnTo>
                <a:lnTo>
                  <a:pt x="6076950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47725" y="2337434"/>
            <a:ext cx="6076950" cy="6569709"/>
          </a:xfrm>
          <a:custGeom>
            <a:avLst/>
            <a:gdLst/>
            <a:ahLst/>
            <a:cxnLst/>
            <a:rect l="l" t="t" r="r" b="b"/>
            <a:pathLst>
              <a:path w="6076950" h="6569709">
                <a:moveTo>
                  <a:pt x="6076950" y="0"/>
                </a:moveTo>
                <a:lnTo>
                  <a:pt x="0" y="0"/>
                </a:lnTo>
                <a:lnTo>
                  <a:pt x="0" y="554355"/>
                </a:lnTo>
                <a:lnTo>
                  <a:pt x="0" y="554990"/>
                </a:lnTo>
                <a:lnTo>
                  <a:pt x="0" y="6569710"/>
                </a:lnTo>
                <a:lnTo>
                  <a:pt x="6076950" y="6569710"/>
                </a:lnTo>
                <a:lnTo>
                  <a:pt x="6076950" y="554355"/>
                </a:lnTo>
                <a:lnTo>
                  <a:pt x="6076950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14400" y="981709"/>
            <a:ext cx="5888355" cy="649605"/>
          </a:xfrm>
          <a:custGeom>
            <a:avLst/>
            <a:gdLst/>
            <a:ahLst/>
            <a:cxnLst/>
            <a:rect l="l" t="t" r="r" b="b"/>
            <a:pathLst>
              <a:path w="5888355" h="649605">
                <a:moveTo>
                  <a:pt x="2353945" y="487680"/>
                </a:moveTo>
                <a:lnTo>
                  <a:pt x="0" y="487680"/>
                </a:lnTo>
                <a:lnTo>
                  <a:pt x="0" y="649605"/>
                </a:lnTo>
                <a:lnTo>
                  <a:pt x="2353945" y="649605"/>
                </a:lnTo>
                <a:lnTo>
                  <a:pt x="2353945" y="487680"/>
                </a:lnTo>
                <a:close/>
              </a:path>
              <a:path w="5888355" h="649605">
                <a:moveTo>
                  <a:pt x="3616325" y="162560"/>
                </a:moveTo>
                <a:lnTo>
                  <a:pt x="0" y="162560"/>
                </a:lnTo>
                <a:lnTo>
                  <a:pt x="0" y="324485"/>
                </a:lnTo>
                <a:lnTo>
                  <a:pt x="3616325" y="324485"/>
                </a:lnTo>
                <a:lnTo>
                  <a:pt x="3616325" y="162560"/>
                </a:lnTo>
                <a:close/>
              </a:path>
              <a:path w="5888355" h="649605">
                <a:moveTo>
                  <a:pt x="5466715" y="0"/>
                </a:moveTo>
                <a:lnTo>
                  <a:pt x="0" y="0"/>
                </a:lnTo>
                <a:lnTo>
                  <a:pt x="0" y="161925"/>
                </a:lnTo>
                <a:lnTo>
                  <a:pt x="5466715" y="161925"/>
                </a:lnTo>
                <a:lnTo>
                  <a:pt x="5466715" y="0"/>
                </a:lnTo>
                <a:close/>
              </a:path>
              <a:path w="5888355" h="649605">
                <a:moveTo>
                  <a:pt x="5888355" y="325120"/>
                </a:moveTo>
                <a:lnTo>
                  <a:pt x="0" y="325120"/>
                </a:lnTo>
                <a:lnTo>
                  <a:pt x="0" y="487045"/>
                </a:lnTo>
                <a:lnTo>
                  <a:pt x="5888355" y="487045"/>
                </a:lnTo>
                <a:lnTo>
                  <a:pt x="5888355" y="32512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50264" y="916305"/>
            <a:ext cx="6073140" cy="779780"/>
          </a:xfrm>
          <a:prstGeom prst="rect">
            <a:avLst/>
          </a:prstGeom>
          <a:ln w="3175">
            <a:solidFill>
              <a:srgbClr val="E2E2E2"/>
            </a:solidFill>
          </a:ln>
        </p:spPr>
        <p:txBody>
          <a:bodyPr vert="horz" wrap="square" lIns="0" tIns="64769" rIns="0" bIns="0" rtlCol="0">
            <a:spAutoFit/>
          </a:bodyPr>
          <a:lstStyle/>
          <a:p>
            <a:pPr marL="64769" marR="113030">
              <a:lnSpc>
                <a:spcPts val="1280"/>
              </a:lnSpc>
              <a:spcBef>
                <a:spcPts val="509"/>
              </a:spcBef>
            </a:pPr>
            <a:r>
              <a:rPr sz="1100" dirty="0">
                <a:latin typeface="Courier New"/>
                <a:cs typeface="Courier New"/>
              </a:rPr>
              <a:t>PMP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Training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-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Udemy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(11/2023)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AI-</a:t>
            </a:r>
            <a:r>
              <a:rPr sz="1100" dirty="0">
                <a:latin typeface="Courier New"/>
                <a:cs typeface="Courier New"/>
              </a:rPr>
              <a:t>900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Exam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Preparation: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Microsoft</a:t>
            </a:r>
            <a:r>
              <a:rPr sz="1100" spc="50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Azure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AI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Fundamentals",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metadata={'source': "/Users/mayankchugh/Documents/CVs/2024/CV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&amp;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Cover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letters/Mayank's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Feb </a:t>
            </a:r>
            <a:r>
              <a:rPr sz="1100" dirty="0">
                <a:latin typeface="Courier New"/>
                <a:cs typeface="Courier New"/>
              </a:rPr>
              <a:t>2024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-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CV.pdf",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'page':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2})]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02969" y="1986280"/>
            <a:ext cx="105727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Memory</a:t>
            </a:r>
          </a:p>
        </p:txBody>
      </p:sp>
      <p:sp>
        <p:nvSpPr>
          <p:cNvPr id="7" name="object 7"/>
          <p:cNvSpPr/>
          <p:nvPr/>
        </p:nvSpPr>
        <p:spPr>
          <a:xfrm>
            <a:off x="914400" y="5118099"/>
            <a:ext cx="2101215" cy="1624965"/>
          </a:xfrm>
          <a:custGeom>
            <a:avLst/>
            <a:gdLst/>
            <a:ahLst/>
            <a:cxnLst/>
            <a:rect l="l" t="t" r="r" b="b"/>
            <a:pathLst>
              <a:path w="2101215" h="1624965">
                <a:moveTo>
                  <a:pt x="1091565" y="975360"/>
                </a:moveTo>
                <a:lnTo>
                  <a:pt x="0" y="975360"/>
                </a:lnTo>
                <a:lnTo>
                  <a:pt x="0" y="1137285"/>
                </a:lnTo>
                <a:lnTo>
                  <a:pt x="1091565" y="1137285"/>
                </a:lnTo>
                <a:lnTo>
                  <a:pt x="1091565" y="975360"/>
                </a:lnTo>
                <a:close/>
              </a:path>
              <a:path w="2101215" h="1624965">
                <a:moveTo>
                  <a:pt x="1175385" y="1137920"/>
                </a:moveTo>
                <a:lnTo>
                  <a:pt x="0" y="1137920"/>
                </a:lnTo>
                <a:lnTo>
                  <a:pt x="0" y="1299845"/>
                </a:lnTo>
                <a:lnTo>
                  <a:pt x="1175385" y="1299845"/>
                </a:lnTo>
                <a:lnTo>
                  <a:pt x="1175385" y="1137920"/>
                </a:lnTo>
                <a:close/>
              </a:path>
              <a:path w="2101215" h="1624965">
                <a:moveTo>
                  <a:pt x="1175385" y="0"/>
                </a:moveTo>
                <a:lnTo>
                  <a:pt x="0" y="0"/>
                </a:lnTo>
                <a:lnTo>
                  <a:pt x="0" y="161925"/>
                </a:lnTo>
                <a:lnTo>
                  <a:pt x="1175385" y="161925"/>
                </a:lnTo>
                <a:lnTo>
                  <a:pt x="1175385" y="0"/>
                </a:lnTo>
                <a:close/>
              </a:path>
              <a:path w="2101215" h="1624965">
                <a:moveTo>
                  <a:pt x="1428115" y="325120"/>
                </a:moveTo>
                <a:lnTo>
                  <a:pt x="0" y="325120"/>
                </a:lnTo>
                <a:lnTo>
                  <a:pt x="0" y="487045"/>
                </a:lnTo>
                <a:lnTo>
                  <a:pt x="1428115" y="487045"/>
                </a:lnTo>
                <a:lnTo>
                  <a:pt x="1428115" y="325120"/>
                </a:lnTo>
                <a:close/>
              </a:path>
              <a:path w="2101215" h="1624965">
                <a:moveTo>
                  <a:pt x="1428115" y="162560"/>
                </a:moveTo>
                <a:lnTo>
                  <a:pt x="0" y="162560"/>
                </a:lnTo>
                <a:lnTo>
                  <a:pt x="0" y="324485"/>
                </a:lnTo>
                <a:lnTo>
                  <a:pt x="1428115" y="324485"/>
                </a:lnTo>
                <a:lnTo>
                  <a:pt x="1428115" y="162560"/>
                </a:lnTo>
                <a:close/>
              </a:path>
              <a:path w="2101215" h="1624965">
                <a:moveTo>
                  <a:pt x="1597025" y="650240"/>
                </a:moveTo>
                <a:lnTo>
                  <a:pt x="0" y="650240"/>
                </a:lnTo>
                <a:lnTo>
                  <a:pt x="0" y="812165"/>
                </a:lnTo>
                <a:lnTo>
                  <a:pt x="1597025" y="812165"/>
                </a:lnTo>
                <a:lnTo>
                  <a:pt x="1597025" y="650240"/>
                </a:lnTo>
                <a:close/>
              </a:path>
              <a:path w="2101215" h="1624965">
                <a:moveTo>
                  <a:pt x="1764665" y="812800"/>
                </a:moveTo>
                <a:lnTo>
                  <a:pt x="0" y="812800"/>
                </a:lnTo>
                <a:lnTo>
                  <a:pt x="0" y="974725"/>
                </a:lnTo>
                <a:lnTo>
                  <a:pt x="1764665" y="974725"/>
                </a:lnTo>
                <a:lnTo>
                  <a:pt x="1764665" y="812800"/>
                </a:lnTo>
                <a:close/>
              </a:path>
              <a:path w="2101215" h="1624965">
                <a:moveTo>
                  <a:pt x="1933575" y="1463040"/>
                </a:moveTo>
                <a:lnTo>
                  <a:pt x="0" y="1463040"/>
                </a:lnTo>
                <a:lnTo>
                  <a:pt x="0" y="1624965"/>
                </a:lnTo>
                <a:lnTo>
                  <a:pt x="1933575" y="1624965"/>
                </a:lnTo>
                <a:lnTo>
                  <a:pt x="1933575" y="1463040"/>
                </a:lnTo>
                <a:close/>
              </a:path>
              <a:path w="2101215" h="1624965">
                <a:moveTo>
                  <a:pt x="1933575" y="487680"/>
                </a:moveTo>
                <a:lnTo>
                  <a:pt x="0" y="487680"/>
                </a:lnTo>
                <a:lnTo>
                  <a:pt x="0" y="649605"/>
                </a:lnTo>
                <a:lnTo>
                  <a:pt x="1933575" y="649605"/>
                </a:lnTo>
                <a:lnTo>
                  <a:pt x="1933575" y="487680"/>
                </a:lnTo>
                <a:close/>
              </a:path>
              <a:path w="2101215" h="1624965">
                <a:moveTo>
                  <a:pt x="2101215" y="1300480"/>
                </a:moveTo>
                <a:lnTo>
                  <a:pt x="0" y="1300480"/>
                </a:lnTo>
                <a:lnTo>
                  <a:pt x="0" y="1462405"/>
                </a:lnTo>
                <a:lnTo>
                  <a:pt x="2101215" y="1462405"/>
                </a:lnTo>
                <a:lnTo>
                  <a:pt x="2101215" y="130048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914400" y="8389619"/>
            <a:ext cx="1188085" cy="16192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SkyTech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Drones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50264" y="2339975"/>
            <a:ext cx="6073140" cy="6565900"/>
          </a:xfrm>
          <a:prstGeom prst="rect">
            <a:avLst/>
          </a:prstGeom>
          <a:ln w="3175">
            <a:solidFill>
              <a:srgbClr val="E2E2E2"/>
            </a:solidFill>
          </a:ln>
        </p:spPr>
        <p:txBody>
          <a:bodyPr vert="horz" wrap="square" lIns="0" tIns="64769" rIns="0" bIns="0" rtlCol="0">
            <a:spAutoFit/>
          </a:bodyPr>
          <a:lstStyle/>
          <a:p>
            <a:pPr marL="64769" marR="2299335">
              <a:lnSpc>
                <a:spcPts val="1280"/>
              </a:lnSpc>
              <a:spcBef>
                <a:spcPts val="509"/>
              </a:spcBef>
            </a:pPr>
            <a:r>
              <a:rPr sz="1100" dirty="0">
                <a:solidFill>
                  <a:srgbClr val="7827A0"/>
                </a:solidFill>
                <a:latin typeface="Courier New"/>
                <a:cs typeface="Courier New"/>
              </a:rPr>
              <a:t>from</a:t>
            </a:r>
            <a:r>
              <a:rPr sz="1100" spc="-85" dirty="0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1E1B1A"/>
                </a:solidFill>
                <a:latin typeface="Courier New"/>
                <a:cs typeface="Courier New"/>
              </a:rPr>
              <a:t>langchain.prompts</a:t>
            </a:r>
            <a:r>
              <a:rPr sz="1100" spc="-70" dirty="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7827A0"/>
                </a:solidFill>
                <a:latin typeface="Courier New"/>
                <a:cs typeface="Courier New"/>
              </a:rPr>
              <a:t>import</a:t>
            </a:r>
            <a:r>
              <a:rPr sz="1100" spc="-75" dirty="0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PromptTemplate </a:t>
            </a:r>
            <a:r>
              <a:rPr sz="1100" dirty="0">
                <a:solidFill>
                  <a:srgbClr val="7827A0"/>
                </a:solidFill>
                <a:latin typeface="Courier New"/>
                <a:cs typeface="Courier New"/>
              </a:rPr>
              <a:t>from</a:t>
            </a:r>
            <a:r>
              <a:rPr sz="1100" spc="-85" dirty="0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1E1B1A"/>
                </a:solidFill>
                <a:latin typeface="Courier New"/>
                <a:cs typeface="Courier New"/>
              </a:rPr>
              <a:t>langchain.chains</a:t>
            </a:r>
            <a:r>
              <a:rPr sz="1100" spc="-65" dirty="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7827A0"/>
                </a:solidFill>
                <a:latin typeface="Courier New"/>
                <a:cs typeface="Courier New"/>
              </a:rPr>
              <a:t>import</a:t>
            </a:r>
            <a:r>
              <a:rPr sz="1100" spc="-80" dirty="0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LLMChain</a:t>
            </a:r>
            <a:endParaRPr sz="1100">
              <a:latin typeface="Courier New"/>
              <a:cs typeface="Courier New"/>
            </a:endParaRPr>
          </a:p>
          <a:p>
            <a:pPr marL="64769">
              <a:lnSpc>
                <a:spcPts val="1245"/>
              </a:lnSpc>
            </a:pPr>
            <a:r>
              <a:rPr sz="1100" dirty="0">
                <a:solidFill>
                  <a:srgbClr val="7827A0"/>
                </a:solidFill>
                <a:latin typeface="Courier New"/>
                <a:cs typeface="Courier New"/>
              </a:rPr>
              <a:t>from</a:t>
            </a:r>
            <a:r>
              <a:rPr sz="1100" spc="-80" dirty="0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1E1B1A"/>
                </a:solidFill>
                <a:latin typeface="Courier New"/>
                <a:cs typeface="Courier New"/>
              </a:rPr>
              <a:t>langchain.llms</a:t>
            </a:r>
            <a:r>
              <a:rPr sz="1100" spc="-60" dirty="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7827A0"/>
                </a:solidFill>
                <a:latin typeface="Courier New"/>
                <a:cs typeface="Courier New"/>
              </a:rPr>
              <a:t>import</a:t>
            </a:r>
            <a:r>
              <a:rPr sz="1100" spc="-65" dirty="0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OpenAI</a:t>
            </a:r>
            <a:endParaRPr sz="1100">
              <a:latin typeface="Courier New"/>
              <a:cs typeface="Courier New"/>
            </a:endParaRPr>
          </a:p>
          <a:p>
            <a:pPr marL="64769" marR="2635250">
              <a:lnSpc>
                <a:spcPct val="172700"/>
              </a:lnSpc>
            </a:pP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OPENAI_KEY=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"&lt;openai_api_key&gt;" 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client=OpenAI(openai_api_key=OPENAI_KEY) prompt_template_name</a:t>
            </a:r>
            <a:r>
              <a:rPr sz="1100" spc="25" dirty="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1E1B1A"/>
                </a:solidFill>
                <a:latin typeface="Courier New"/>
                <a:cs typeface="Courier New"/>
              </a:rPr>
              <a:t>=</a:t>
            </a:r>
            <a:r>
              <a:rPr sz="1100" spc="-5" dirty="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PromptTemplate(</a:t>
            </a:r>
            <a:endParaRPr sz="1100">
              <a:latin typeface="Courier New"/>
              <a:cs typeface="Courier New"/>
            </a:endParaRPr>
          </a:p>
          <a:p>
            <a:pPr marL="401320">
              <a:lnSpc>
                <a:spcPts val="1260"/>
              </a:lnSpc>
            </a:pPr>
            <a:r>
              <a:rPr sz="1100" dirty="0">
                <a:solidFill>
                  <a:srgbClr val="1E1B1A"/>
                </a:solidFill>
                <a:latin typeface="Courier New"/>
                <a:cs typeface="Courier New"/>
              </a:rPr>
              <a:t>input_variables</a:t>
            </a:r>
            <a:r>
              <a:rPr sz="1100" spc="-60" dirty="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1E1B1A"/>
                </a:solidFill>
                <a:latin typeface="Courier New"/>
                <a:cs typeface="Courier New"/>
              </a:rPr>
              <a:t>=</a:t>
            </a:r>
            <a:r>
              <a:rPr sz="1100" spc="-75" dirty="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[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'product'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],</a:t>
            </a:r>
            <a:endParaRPr sz="1100">
              <a:latin typeface="Courier New"/>
              <a:cs typeface="Courier New"/>
            </a:endParaRPr>
          </a:p>
          <a:p>
            <a:pPr marL="401320">
              <a:lnSpc>
                <a:spcPts val="1280"/>
              </a:lnSpc>
            </a:pPr>
            <a:r>
              <a:rPr sz="1100" dirty="0">
                <a:solidFill>
                  <a:srgbClr val="1E1B1A"/>
                </a:solidFill>
                <a:latin typeface="Courier New"/>
                <a:cs typeface="Courier New"/>
              </a:rPr>
              <a:t>template</a:t>
            </a:r>
            <a:r>
              <a:rPr sz="1100" spc="-20" dirty="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1E1B1A"/>
                </a:solidFill>
                <a:latin typeface="Courier New"/>
                <a:cs typeface="Courier New"/>
              </a:rPr>
              <a:t>=</a:t>
            </a:r>
            <a:r>
              <a:rPr sz="1100" spc="-30" dirty="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"What</a:t>
            </a:r>
            <a:r>
              <a:rPr sz="1100" spc="-35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is</a:t>
            </a:r>
            <a:r>
              <a:rPr sz="1100" spc="-35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the</a:t>
            </a:r>
            <a:r>
              <a:rPr sz="1100" spc="-35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good</a:t>
            </a:r>
            <a:r>
              <a:rPr sz="1100" spc="-35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name</a:t>
            </a:r>
            <a:r>
              <a:rPr sz="1100" spc="-25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for</a:t>
            </a:r>
            <a:r>
              <a:rPr sz="1100" spc="-35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a</a:t>
            </a:r>
            <a:r>
              <a:rPr sz="1100" spc="-4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company</a:t>
            </a:r>
            <a:r>
              <a:rPr sz="1100" spc="-25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that</a:t>
            </a:r>
            <a:r>
              <a:rPr sz="1100" spc="-35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makes</a:t>
            </a:r>
            <a:endParaRPr sz="1100">
              <a:latin typeface="Courier New"/>
              <a:cs typeface="Courier New"/>
            </a:endParaRPr>
          </a:p>
          <a:p>
            <a:pPr marL="64769">
              <a:lnSpc>
                <a:spcPts val="1280"/>
              </a:lnSpc>
            </a:pPr>
            <a:r>
              <a:rPr sz="1100" spc="-10" dirty="0">
                <a:solidFill>
                  <a:srgbClr val="3CADE8"/>
                </a:solidFill>
                <a:latin typeface="Courier New"/>
                <a:cs typeface="Courier New"/>
              </a:rPr>
              <a:t>{product}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"</a:t>
            </a:r>
            <a:endParaRPr sz="1100">
              <a:latin typeface="Courier New"/>
              <a:cs typeface="Courier New"/>
            </a:endParaRPr>
          </a:p>
          <a:p>
            <a:pPr marL="64769">
              <a:lnSpc>
                <a:spcPts val="1300"/>
              </a:lnSpc>
            </a:pPr>
            <a:r>
              <a:rPr sz="1100" spc="-50" dirty="0">
                <a:solidFill>
                  <a:srgbClr val="1E1B1A"/>
                </a:solidFill>
                <a:latin typeface="Courier New"/>
                <a:cs typeface="Courier New"/>
              </a:rPr>
              <a:t>)</a:t>
            </a:r>
            <a:endParaRPr sz="1100">
              <a:latin typeface="Courier New"/>
              <a:cs typeface="Courier New"/>
            </a:endParaRPr>
          </a:p>
          <a:p>
            <a:pPr marL="64769" marR="1372235">
              <a:lnSpc>
                <a:spcPct val="172700"/>
              </a:lnSpc>
            </a:pP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chain=LLMChain(llm=client,</a:t>
            </a:r>
            <a:r>
              <a:rPr sz="1100" spc="35" dirty="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prompt=prompt_template_name) </a:t>
            </a:r>
            <a:r>
              <a:rPr sz="1100" spc="-10" dirty="0">
                <a:solidFill>
                  <a:srgbClr val="A95C00"/>
                </a:solidFill>
                <a:latin typeface="Courier New"/>
                <a:cs typeface="Courier New"/>
              </a:rPr>
              <a:t>print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(chain.run(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"laptop"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).strip())</a:t>
            </a:r>
            <a:endParaRPr sz="1100">
              <a:latin typeface="Courier New"/>
              <a:cs typeface="Courier New"/>
            </a:endParaRPr>
          </a:p>
          <a:p>
            <a:pPr marL="316865" indent="-252095">
              <a:lnSpc>
                <a:spcPts val="1300"/>
              </a:lnSpc>
              <a:spcBef>
                <a:spcPts val="960"/>
              </a:spcBef>
              <a:buAutoNum type="arabicPeriod"/>
              <a:tabLst>
                <a:tab pos="316865" algn="l"/>
              </a:tabLst>
            </a:pPr>
            <a:r>
              <a:rPr sz="1100" spc="-10" dirty="0">
                <a:latin typeface="Courier New"/>
                <a:cs typeface="Courier New"/>
              </a:rPr>
              <a:t>"TechTopia"</a:t>
            </a:r>
            <a:endParaRPr sz="1100">
              <a:latin typeface="Courier New"/>
              <a:cs typeface="Courier New"/>
            </a:endParaRPr>
          </a:p>
          <a:p>
            <a:pPr marL="316865" indent="-252095">
              <a:lnSpc>
                <a:spcPts val="1280"/>
              </a:lnSpc>
              <a:buAutoNum type="arabicPeriod"/>
              <a:tabLst>
                <a:tab pos="316865" algn="l"/>
              </a:tabLst>
            </a:pPr>
            <a:r>
              <a:rPr sz="1100" dirty="0">
                <a:latin typeface="Courier New"/>
                <a:cs typeface="Courier New"/>
              </a:rPr>
              <a:t>"Laptop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Genie"</a:t>
            </a:r>
            <a:endParaRPr sz="1100">
              <a:latin typeface="Courier New"/>
              <a:cs typeface="Courier New"/>
            </a:endParaRPr>
          </a:p>
          <a:p>
            <a:pPr marL="316865" indent="-252095">
              <a:lnSpc>
                <a:spcPts val="1280"/>
              </a:lnSpc>
              <a:buAutoNum type="arabicPeriod"/>
              <a:tabLst>
                <a:tab pos="316865" algn="l"/>
              </a:tabLst>
            </a:pPr>
            <a:r>
              <a:rPr sz="1100" spc="-10" dirty="0">
                <a:latin typeface="Courier New"/>
                <a:cs typeface="Courier New"/>
              </a:rPr>
              <a:t>"InnovateNote"</a:t>
            </a:r>
            <a:endParaRPr sz="1100">
              <a:latin typeface="Courier New"/>
              <a:cs typeface="Courier New"/>
            </a:endParaRPr>
          </a:p>
          <a:p>
            <a:pPr marL="316865" indent="-252095">
              <a:lnSpc>
                <a:spcPts val="1280"/>
              </a:lnSpc>
              <a:buAutoNum type="arabicPeriod"/>
              <a:tabLst>
                <a:tab pos="316865" algn="l"/>
              </a:tabLst>
            </a:pPr>
            <a:r>
              <a:rPr sz="1100" dirty="0">
                <a:latin typeface="Courier New"/>
                <a:cs typeface="Courier New"/>
              </a:rPr>
              <a:t>"Portable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Power</a:t>
            </a:r>
            <a:r>
              <a:rPr sz="1100" spc="-60" dirty="0">
                <a:latin typeface="Courier New"/>
                <a:cs typeface="Courier New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Co."</a:t>
            </a:r>
            <a:endParaRPr sz="1100">
              <a:latin typeface="Courier New"/>
              <a:cs typeface="Courier New"/>
            </a:endParaRPr>
          </a:p>
          <a:p>
            <a:pPr marL="316865" indent="-252095">
              <a:lnSpc>
                <a:spcPts val="1280"/>
              </a:lnSpc>
              <a:buAutoNum type="arabicPeriod"/>
              <a:tabLst>
                <a:tab pos="316865" algn="l"/>
              </a:tabLst>
            </a:pPr>
            <a:r>
              <a:rPr sz="1100" dirty="0">
                <a:latin typeface="Courier New"/>
                <a:cs typeface="Courier New"/>
              </a:rPr>
              <a:t>"Notebook</a:t>
            </a:r>
            <a:r>
              <a:rPr sz="1100" spc="-8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Nexus"</a:t>
            </a:r>
            <a:endParaRPr sz="1100">
              <a:latin typeface="Courier New"/>
              <a:cs typeface="Courier New"/>
            </a:endParaRPr>
          </a:p>
          <a:p>
            <a:pPr marL="316865" indent="-252095">
              <a:lnSpc>
                <a:spcPts val="1280"/>
              </a:lnSpc>
              <a:buAutoNum type="arabicPeriod"/>
              <a:tabLst>
                <a:tab pos="316865" algn="l"/>
              </a:tabLst>
            </a:pPr>
            <a:r>
              <a:rPr sz="1100" dirty="0">
                <a:latin typeface="Courier New"/>
                <a:cs typeface="Courier New"/>
              </a:rPr>
              <a:t>"Digital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Dynamics"</a:t>
            </a:r>
            <a:endParaRPr sz="1100">
              <a:latin typeface="Courier New"/>
              <a:cs typeface="Courier New"/>
            </a:endParaRPr>
          </a:p>
          <a:p>
            <a:pPr marL="316865" indent="-252095">
              <a:lnSpc>
                <a:spcPts val="1280"/>
              </a:lnSpc>
              <a:buAutoNum type="arabicPeriod"/>
              <a:tabLst>
                <a:tab pos="316865" algn="l"/>
              </a:tabLst>
            </a:pPr>
            <a:r>
              <a:rPr sz="1100" spc="-10" dirty="0">
                <a:latin typeface="Courier New"/>
                <a:cs typeface="Courier New"/>
              </a:rPr>
              <a:t>"LapLogic"</a:t>
            </a:r>
            <a:endParaRPr sz="1100">
              <a:latin typeface="Courier New"/>
              <a:cs typeface="Courier New"/>
            </a:endParaRPr>
          </a:p>
          <a:p>
            <a:pPr marL="316865" indent="-252095">
              <a:lnSpc>
                <a:spcPts val="1280"/>
              </a:lnSpc>
              <a:buAutoNum type="arabicPeriod"/>
              <a:tabLst>
                <a:tab pos="316865" algn="l"/>
              </a:tabLst>
            </a:pPr>
            <a:r>
              <a:rPr sz="1100" spc="-10" dirty="0">
                <a:latin typeface="Courier New"/>
                <a:cs typeface="Courier New"/>
              </a:rPr>
              <a:t>"NoteCraft"</a:t>
            </a:r>
            <a:endParaRPr sz="1100">
              <a:latin typeface="Courier New"/>
              <a:cs typeface="Courier New"/>
            </a:endParaRPr>
          </a:p>
          <a:p>
            <a:pPr marL="316865" indent="-252095">
              <a:lnSpc>
                <a:spcPts val="1280"/>
              </a:lnSpc>
              <a:buAutoNum type="arabicPeriod"/>
              <a:tabLst>
                <a:tab pos="316865" algn="l"/>
              </a:tabLst>
            </a:pPr>
            <a:r>
              <a:rPr sz="1100" dirty="0">
                <a:latin typeface="Courier New"/>
                <a:cs typeface="Courier New"/>
              </a:rPr>
              <a:t>"Mighty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Machines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Inc."</a:t>
            </a:r>
            <a:endParaRPr sz="1100">
              <a:latin typeface="Courier New"/>
              <a:cs typeface="Courier New"/>
            </a:endParaRPr>
          </a:p>
          <a:p>
            <a:pPr marL="400050" indent="-335280">
              <a:lnSpc>
                <a:spcPts val="1300"/>
              </a:lnSpc>
              <a:buAutoNum type="arabicPeriod"/>
              <a:tabLst>
                <a:tab pos="400050" algn="l"/>
              </a:tabLst>
            </a:pPr>
            <a:r>
              <a:rPr sz="1100" dirty="0">
                <a:latin typeface="Courier New"/>
                <a:cs typeface="Courier New"/>
              </a:rPr>
              <a:t>"LapTech</a:t>
            </a:r>
            <a:r>
              <a:rPr sz="1100" spc="-7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Solutions"</a:t>
            </a:r>
            <a:endParaRPr sz="1100">
              <a:latin typeface="Courier New"/>
              <a:cs typeface="Courier New"/>
            </a:endParaRPr>
          </a:p>
          <a:p>
            <a:pPr marL="401320" marR="2804795" indent="-336550">
              <a:lnSpc>
                <a:spcPts val="1280"/>
              </a:lnSpc>
              <a:spcBef>
                <a:spcPts val="1035"/>
              </a:spcBef>
            </a:pP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prompt_template_name</a:t>
            </a:r>
            <a:r>
              <a:rPr sz="1100" spc="25" dirty="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1E1B1A"/>
                </a:solidFill>
                <a:latin typeface="Courier New"/>
                <a:cs typeface="Courier New"/>
              </a:rPr>
              <a:t>=</a:t>
            </a:r>
            <a:r>
              <a:rPr sz="1100" spc="-5" dirty="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PromptTemplate( </a:t>
            </a:r>
            <a:r>
              <a:rPr sz="1100" dirty="0">
                <a:solidFill>
                  <a:srgbClr val="1E1B1A"/>
                </a:solidFill>
                <a:latin typeface="Courier New"/>
                <a:cs typeface="Courier New"/>
              </a:rPr>
              <a:t>input_variables</a:t>
            </a:r>
            <a:r>
              <a:rPr sz="1100" spc="-60" dirty="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1E1B1A"/>
                </a:solidFill>
                <a:latin typeface="Courier New"/>
                <a:cs typeface="Courier New"/>
              </a:rPr>
              <a:t>=</a:t>
            </a:r>
            <a:r>
              <a:rPr sz="1100" spc="-75" dirty="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[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'product'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],</a:t>
            </a:r>
            <a:endParaRPr sz="1100">
              <a:latin typeface="Courier New"/>
              <a:cs typeface="Courier New"/>
            </a:endParaRPr>
          </a:p>
          <a:p>
            <a:pPr marL="401320">
              <a:lnSpc>
                <a:spcPts val="1225"/>
              </a:lnSpc>
            </a:pPr>
            <a:r>
              <a:rPr sz="1100" dirty="0">
                <a:solidFill>
                  <a:srgbClr val="1E1B1A"/>
                </a:solidFill>
                <a:latin typeface="Courier New"/>
                <a:cs typeface="Courier New"/>
              </a:rPr>
              <a:t>template</a:t>
            </a:r>
            <a:r>
              <a:rPr sz="1100" spc="-15" dirty="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1E1B1A"/>
                </a:solidFill>
                <a:latin typeface="Courier New"/>
                <a:cs typeface="Courier New"/>
              </a:rPr>
              <a:t>=</a:t>
            </a:r>
            <a:r>
              <a:rPr sz="1100" spc="-35" dirty="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"What</a:t>
            </a:r>
            <a:r>
              <a:rPr sz="1100" spc="-35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would</a:t>
            </a:r>
            <a:r>
              <a:rPr sz="1100" spc="-25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be</a:t>
            </a:r>
            <a:r>
              <a:rPr sz="1100" spc="-3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a</a:t>
            </a:r>
            <a:r>
              <a:rPr sz="1100" spc="-45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good</a:t>
            </a:r>
            <a:r>
              <a:rPr sz="1100" spc="-35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name</a:t>
            </a:r>
            <a:r>
              <a:rPr sz="1100" spc="-2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for</a:t>
            </a:r>
            <a:r>
              <a:rPr sz="1100" spc="-35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a</a:t>
            </a:r>
            <a:r>
              <a:rPr sz="1100" spc="-45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company</a:t>
            </a:r>
            <a:r>
              <a:rPr sz="1100" spc="-2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that</a:t>
            </a:r>
            <a:r>
              <a:rPr sz="1100" spc="-35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makes</a:t>
            </a:r>
            <a:endParaRPr sz="1100">
              <a:latin typeface="Courier New"/>
              <a:cs typeface="Courier New"/>
            </a:endParaRPr>
          </a:p>
          <a:p>
            <a:pPr marL="64769">
              <a:lnSpc>
                <a:spcPts val="1280"/>
              </a:lnSpc>
            </a:pPr>
            <a:r>
              <a:rPr sz="1100" spc="-10" dirty="0">
                <a:solidFill>
                  <a:srgbClr val="3CADE8"/>
                </a:solidFill>
                <a:latin typeface="Courier New"/>
                <a:cs typeface="Courier New"/>
              </a:rPr>
              <a:t>{product}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"</a:t>
            </a:r>
            <a:endParaRPr sz="1100">
              <a:latin typeface="Courier New"/>
              <a:cs typeface="Courier New"/>
            </a:endParaRPr>
          </a:p>
          <a:p>
            <a:pPr marL="64769">
              <a:lnSpc>
                <a:spcPts val="1300"/>
              </a:lnSpc>
            </a:pPr>
            <a:r>
              <a:rPr sz="1100" spc="-50" dirty="0">
                <a:solidFill>
                  <a:srgbClr val="1E1B1A"/>
                </a:solidFill>
                <a:latin typeface="Courier New"/>
                <a:cs typeface="Courier New"/>
              </a:rPr>
              <a:t>)</a:t>
            </a:r>
            <a:endParaRPr sz="1100">
              <a:latin typeface="Courier New"/>
              <a:cs typeface="Courier New"/>
            </a:endParaRPr>
          </a:p>
          <a:p>
            <a:pPr marL="64769" marR="1372235">
              <a:lnSpc>
                <a:spcPct val="172700"/>
              </a:lnSpc>
            </a:pP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chain=LLMChain(llm=client,</a:t>
            </a:r>
            <a:r>
              <a:rPr sz="1100" spc="35" dirty="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prompt=prompt_template_name) </a:t>
            </a:r>
            <a:r>
              <a:rPr sz="1100" spc="-10" dirty="0">
                <a:solidFill>
                  <a:srgbClr val="A95C00"/>
                </a:solidFill>
                <a:latin typeface="Courier New"/>
                <a:cs typeface="Courier New"/>
              </a:rPr>
              <a:t>print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(chain.run(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"drons"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).strip())</a:t>
            </a:r>
            <a:endParaRPr sz="11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11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750"/>
              </a:spcBef>
            </a:pPr>
            <a:endParaRPr sz="1100">
              <a:latin typeface="Courier New"/>
              <a:cs typeface="Courier New"/>
            </a:endParaRPr>
          </a:p>
          <a:p>
            <a:pPr marL="64769">
              <a:lnSpc>
                <a:spcPct val="100000"/>
              </a:lnSpc>
            </a:pP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chain.memory</a:t>
            </a:r>
            <a:endParaRPr sz="11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47725" y="2139314"/>
            <a:ext cx="6076950" cy="6901180"/>
          </a:xfrm>
          <a:custGeom>
            <a:avLst/>
            <a:gdLst/>
            <a:ahLst/>
            <a:cxnLst/>
            <a:rect l="l" t="t" r="r" b="b"/>
            <a:pathLst>
              <a:path w="6076950" h="6901180">
                <a:moveTo>
                  <a:pt x="6076950" y="0"/>
                </a:moveTo>
                <a:lnTo>
                  <a:pt x="0" y="0"/>
                </a:lnTo>
                <a:lnTo>
                  <a:pt x="0" y="229235"/>
                </a:lnTo>
                <a:lnTo>
                  <a:pt x="0" y="229870"/>
                </a:lnTo>
                <a:lnTo>
                  <a:pt x="0" y="6901180"/>
                </a:lnTo>
                <a:lnTo>
                  <a:pt x="6076950" y="6901180"/>
                </a:lnTo>
                <a:lnTo>
                  <a:pt x="6076950" y="229235"/>
                </a:lnTo>
                <a:lnTo>
                  <a:pt x="6076950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50264" y="916305"/>
            <a:ext cx="6073140" cy="581660"/>
          </a:xfrm>
          <a:prstGeom prst="rect">
            <a:avLst/>
          </a:prstGeom>
          <a:solidFill>
            <a:srgbClr val="F4F4F4"/>
          </a:solidFill>
          <a:ln w="3175">
            <a:solidFill>
              <a:srgbClr val="E2E2E2"/>
            </a:solidFill>
          </a:ln>
        </p:spPr>
        <p:txBody>
          <a:bodyPr vert="horz" wrap="square" lIns="0" tIns="55244" rIns="0" bIns="0" rtlCol="0">
            <a:spAutoFit/>
          </a:bodyPr>
          <a:lstStyle/>
          <a:p>
            <a:pPr marL="64769">
              <a:lnSpc>
                <a:spcPct val="100000"/>
              </a:lnSpc>
              <a:spcBef>
                <a:spcPts val="434"/>
              </a:spcBef>
            </a:pPr>
            <a:r>
              <a:rPr sz="1100" spc="-10" dirty="0">
                <a:solidFill>
                  <a:srgbClr val="A95C00"/>
                </a:solidFill>
                <a:latin typeface="Courier New"/>
                <a:cs typeface="Courier New"/>
              </a:rPr>
              <a:t>type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(chain.memory)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4400" y="1271269"/>
            <a:ext cx="683895" cy="16192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spc="-10" dirty="0">
                <a:latin typeface="Courier New"/>
                <a:cs typeface="Courier New"/>
              </a:rPr>
              <a:t>NoneType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02969" y="1788159"/>
            <a:ext cx="359537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Conversation</a:t>
            </a:r>
            <a:r>
              <a:rPr spc="-40" dirty="0"/>
              <a:t> </a:t>
            </a:r>
            <a:r>
              <a:rPr dirty="0"/>
              <a:t>Buffer</a:t>
            </a:r>
            <a:r>
              <a:rPr spc="-30" dirty="0"/>
              <a:t> </a:t>
            </a:r>
            <a:r>
              <a:rPr spc="-10" dirty="0"/>
              <a:t>Memory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14400" y="3401059"/>
            <a:ext cx="5047615" cy="16192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{'history':</a:t>
            </a:r>
            <a:r>
              <a:rPr sz="1100" spc="-9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'Human:</a:t>
            </a:r>
            <a:r>
              <a:rPr sz="1100" spc="-9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Wines\nAI:</a:t>
            </a:r>
            <a:r>
              <a:rPr sz="1100" spc="-9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\n\n"Sommelier</a:t>
            </a:r>
            <a:r>
              <a:rPr sz="1100" spc="-10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Selections"</a:t>
            </a:r>
            <a:r>
              <a:rPr sz="1100" spc="-100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'}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14400" y="5209540"/>
            <a:ext cx="2451735" cy="16192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'\n\n"Sommelier</a:t>
            </a:r>
            <a:r>
              <a:rPr sz="1100" spc="-12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Selections"</a:t>
            </a:r>
            <a:r>
              <a:rPr sz="1100" spc="-114" dirty="0">
                <a:latin typeface="Courier New"/>
                <a:cs typeface="Courier New"/>
              </a:rPr>
              <a:t> </a:t>
            </a:r>
            <a:r>
              <a:rPr sz="1100" spc="-50" dirty="0">
                <a:latin typeface="Courier New"/>
                <a:cs typeface="Courier New"/>
              </a:rPr>
              <a:t>'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14400" y="5788659"/>
            <a:ext cx="3123565" cy="16192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'\n\n"CaptureTech"</a:t>
            </a:r>
            <a:r>
              <a:rPr sz="1100" spc="-8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or</a:t>
            </a:r>
            <a:r>
              <a:rPr sz="1100" spc="-10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"LensCrafters"'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14400" y="6367779"/>
            <a:ext cx="4469765" cy="16192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'\n\n"SkyTech</a:t>
            </a:r>
            <a:r>
              <a:rPr sz="1100" spc="-8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Droneworks"</a:t>
            </a:r>
            <a:r>
              <a:rPr sz="1100" spc="-8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or</a:t>
            </a:r>
            <a:r>
              <a:rPr sz="1100" spc="-8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"AeroDrone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Innovations"'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914400" y="6946900"/>
            <a:ext cx="5887085" cy="1716405"/>
          </a:xfrm>
          <a:custGeom>
            <a:avLst/>
            <a:gdLst/>
            <a:ahLst/>
            <a:cxnLst/>
            <a:rect l="l" t="t" r="r" b="b"/>
            <a:pathLst>
              <a:path w="5887084" h="1716404">
                <a:moveTo>
                  <a:pt x="250825" y="1554480"/>
                </a:moveTo>
                <a:lnTo>
                  <a:pt x="0" y="1554480"/>
                </a:lnTo>
                <a:lnTo>
                  <a:pt x="0" y="1716405"/>
                </a:lnTo>
                <a:lnTo>
                  <a:pt x="250825" y="1716405"/>
                </a:lnTo>
                <a:lnTo>
                  <a:pt x="250825" y="1554480"/>
                </a:lnTo>
                <a:close/>
              </a:path>
              <a:path w="5887084" h="1716404">
                <a:moveTo>
                  <a:pt x="1007745" y="1391920"/>
                </a:moveTo>
                <a:lnTo>
                  <a:pt x="0" y="1391920"/>
                </a:lnTo>
                <a:lnTo>
                  <a:pt x="0" y="1553845"/>
                </a:lnTo>
                <a:lnTo>
                  <a:pt x="1007745" y="1553845"/>
                </a:lnTo>
                <a:lnTo>
                  <a:pt x="1007745" y="1391920"/>
                </a:lnTo>
                <a:close/>
              </a:path>
              <a:path w="5887084" h="1716404">
                <a:moveTo>
                  <a:pt x="1428115" y="812800"/>
                </a:moveTo>
                <a:lnTo>
                  <a:pt x="0" y="812800"/>
                </a:lnTo>
                <a:lnTo>
                  <a:pt x="0" y="974725"/>
                </a:lnTo>
                <a:lnTo>
                  <a:pt x="1428115" y="974725"/>
                </a:lnTo>
                <a:lnTo>
                  <a:pt x="1428115" y="812800"/>
                </a:lnTo>
                <a:close/>
              </a:path>
              <a:path w="5887084" h="1716404">
                <a:moveTo>
                  <a:pt x="4793615" y="650240"/>
                </a:moveTo>
                <a:lnTo>
                  <a:pt x="0" y="650240"/>
                </a:lnTo>
                <a:lnTo>
                  <a:pt x="0" y="812165"/>
                </a:lnTo>
                <a:lnTo>
                  <a:pt x="4793615" y="812165"/>
                </a:lnTo>
                <a:lnTo>
                  <a:pt x="4793615" y="650240"/>
                </a:lnTo>
                <a:close/>
              </a:path>
              <a:path w="5887084" h="1716404">
                <a:moveTo>
                  <a:pt x="5046345" y="162560"/>
                </a:moveTo>
                <a:lnTo>
                  <a:pt x="0" y="162560"/>
                </a:lnTo>
                <a:lnTo>
                  <a:pt x="0" y="324485"/>
                </a:lnTo>
                <a:lnTo>
                  <a:pt x="5046345" y="324485"/>
                </a:lnTo>
                <a:lnTo>
                  <a:pt x="5046345" y="162560"/>
                </a:lnTo>
                <a:close/>
              </a:path>
              <a:path w="5887084" h="1716404">
                <a:moveTo>
                  <a:pt x="5550535" y="487680"/>
                </a:moveTo>
                <a:lnTo>
                  <a:pt x="0" y="487680"/>
                </a:lnTo>
                <a:lnTo>
                  <a:pt x="0" y="649605"/>
                </a:lnTo>
                <a:lnTo>
                  <a:pt x="5550535" y="649605"/>
                </a:lnTo>
                <a:lnTo>
                  <a:pt x="5550535" y="487680"/>
                </a:lnTo>
                <a:close/>
              </a:path>
              <a:path w="5887084" h="1716404">
                <a:moveTo>
                  <a:pt x="5887085" y="325120"/>
                </a:moveTo>
                <a:lnTo>
                  <a:pt x="0" y="325120"/>
                </a:lnTo>
                <a:lnTo>
                  <a:pt x="0" y="487045"/>
                </a:lnTo>
                <a:lnTo>
                  <a:pt x="5887085" y="487045"/>
                </a:lnTo>
                <a:lnTo>
                  <a:pt x="5887085" y="325120"/>
                </a:lnTo>
                <a:close/>
              </a:path>
              <a:path w="5887084" h="1716404">
                <a:moveTo>
                  <a:pt x="5887085" y="0"/>
                </a:moveTo>
                <a:lnTo>
                  <a:pt x="0" y="0"/>
                </a:lnTo>
                <a:lnTo>
                  <a:pt x="0" y="161925"/>
                </a:lnTo>
                <a:lnTo>
                  <a:pt x="5887085" y="161925"/>
                </a:lnTo>
                <a:lnTo>
                  <a:pt x="5887085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850264" y="2141854"/>
            <a:ext cx="6073140" cy="6897370"/>
          </a:xfrm>
          <a:prstGeom prst="rect">
            <a:avLst/>
          </a:prstGeom>
          <a:ln w="3175">
            <a:solidFill>
              <a:srgbClr val="E2E2E2"/>
            </a:solidFill>
          </a:ln>
        </p:spPr>
        <p:txBody>
          <a:bodyPr vert="horz" wrap="square" lIns="0" tIns="55244" rIns="0" bIns="0" rtlCol="0">
            <a:spAutoFit/>
          </a:bodyPr>
          <a:lstStyle/>
          <a:p>
            <a:pPr marL="64769">
              <a:lnSpc>
                <a:spcPct val="100000"/>
              </a:lnSpc>
              <a:spcBef>
                <a:spcPts val="434"/>
              </a:spcBef>
            </a:pPr>
            <a:r>
              <a:rPr sz="1100" dirty="0">
                <a:solidFill>
                  <a:srgbClr val="7827A0"/>
                </a:solidFill>
                <a:latin typeface="Courier New"/>
                <a:cs typeface="Courier New"/>
              </a:rPr>
              <a:t>from</a:t>
            </a:r>
            <a:r>
              <a:rPr sz="1100" spc="-85" dirty="0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1E1B1A"/>
                </a:solidFill>
                <a:latin typeface="Courier New"/>
                <a:cs typeface="Courier New"/>
              </a:rPr>
              <a:t>langchain.memory</a:t>
            </a:r>
            <a:r>
              <a:rPr sz="1100" spc="-65" dirty="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7827A0"/>
                </a:solidFill>
                <a:latin typeface="Courier New"/>
                <a:cs typeface="Courier New"/>
              </a:rPr>
              <a:t>import</a:t>
            </a:r>
            <a:r>
              <a:rPr sz="1100" spc="-80" dirty="0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ConversationBufferMemory</a:t>
            </a:r>
            <a:endParaRPr sz="1100">
              <a:latin typeface="Courier New"/>
              <a:cs typeface="Courier New"/>
            </a:endParaRPr>
          </a:p>
          <a:p>
            <a:pPr marL="64769">
              <a:lnSpc>
                <a:spcPts val="1300"/>
              </a:lnSpc>
              <a:spcBef>
                <a:spcPts val="960"/>
              </a:spcBef>
            </a:pPr>
            <a:r>
              <a:rPr sz="1100" dirty="0">
                <a:solidFill>
                  <a:srgbClr val="1E1B1A"/>
                </a:solidFill>
                <a:latin typeface="Courier New"/>
                <a:cs typeface="Courier New"/>
              </a:rPr>
              <a:t>memory</a:t>
            </a:r>
            <a:r>
              <a:rPr sz="1100" spc="-25" dirty="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1E1B1A"/>
                </a:solidFill>
                <a:latin typeface="Courier New"/>
                <a:cs typeface="Courier New"/>
              </a:rPr>
              <a:t>=</a:t>
            </a:r>
            <a:r>
              <a:rPr sz="1100" spc="-30" dirty="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ConversationBufferMemory()</a:t>
            </a:r>
            <a:endParaRPr sz="1100">
              <a:latin typeface="Courier New"/>
              <a:cs typeface="Courier New"/>
            </a:endParaRPr>
          </a:p>
          <a:p>
            <a:pPr marL="64769" marR="1964055">
              <a:lnSpc>
                <a:spcPts val="1280"/>
              </a:lnSpc>
              <a:spcBef>
                <a:spcPts val="55"/>
              </a:spcBef>
            </a:pPr>
            <a:r>
              <a:rPr sz="1100" i="1" dirty="0">
                <a:solidFill>
                  <a:srgbClr val="3F7F7F"/>
                </a:solidFill>
                <a:latin typeface="Courier New"/>
                <a:cs typeface="Courier New"/>
              </a:rPr>
              <a:t>#</a:t>
            </a:r>
            <a:r>
              <a:rPr sz="1100" i="1" spc="-15" dirty="0">
                <a:solidFill>
                  <a:srgbClr val="3F7F7F"/>
                </a:solidFill>
                <a:latin typeface="Courier New"/>
                <a:cs typeface="Courier New"/>
              </a:rPr>
              <a:t> </a:t>
            </a:r>
            <a:r>
              <a:rPr sz="1100" i="1" spc="-10" dirty="0">
                <a:solidFill>
                  <a:srgbClr val="3F7F7F"/>
                </a:solidFill>
                <a:latin typeface="Courier New"/>
                <a:cs typeface="Courier New"/>
              </a:rPr>
              <a:t>memory.chat_memory.add_user_message("hi!") #memory.chat_memory.add_ai_message("what's</a:t>
            </a:r>
            <a:r>
              <a:rPr sz="1100" i="1" spc="40" dirty="0">
                <a:solidFill>
                  <a:srgbClr val="3F7F7F"/>
                </a:solidFill>
                <a:latin typeface="Courier New"/>
                <a:cs typeface="Courier New"/>
              </a:rPr>
              <a:t> </a:t>
            </a:r>
            <a:r>
              <a:rPr sz="1100" i="1" spc="-10" dirty="0">
                <a:solidFill>
                  <a:srgbClr val="3F7F7F"/>
                </a:solidFill>
                <a:latin typeface="Courier New"/>
                <a:cs typeface="Courier New"/>
              </a:rPr>
              <a:t>up?")</a:t>
            </a:r>
            <a:endParaRPr sz="1100">
              <a:latin typeface="Courier New"/>
              <a:cs typeface="Courier New"/>
            </a:endParaRPr>
          </a:p>
          <a:p>
            <a:pPr marL="64769">
              <a:lnSpc>
                <a:spcPct val="100000"/>
              </a:lnSpc>
              <a:spcBef>
                <a:spcPts val="925"/>
              </a:spcBef>
            </a:pP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memory.load_memory_variables({})</a:t>
            </a:r>
            <a:endParaRPr sz="11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11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19"/>
              </a:spcBef>
            </a:pPr>
            <a:endParaRPr sz="1100">
              <a:latin typeface="Courier New"/>
              <a:cs typeface="Courier New"/>
            </a:endParaRPr>
          </a:p>
          <a:p>
            <a:pPr marL="401320" marR="2804795" indent="-336550">
              <a:lnSpc>
                <a:spcPts val="1280"/>
              </a:lnSpc>
            </a:pP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prompt_template_name</a:t>
            </a:r>
            <a:r>
              <a:rPr sz="1100" spc="25" dirty="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1E1B1A"/>
                </a:solidFill>
                <a:latin typeface="Courier New"/>
                <a:cs typeface="Courier New"/>
              </a:rPr>
              <a:t>=</a:t>
            </a:r>
            <a:r>
              <a:rPr sz="1100" spc="-5" dirty="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PromptTemplate( </a:t>
            </a:r>
            <a:r>
              <a:rPr sz="1100" dirty="0">
                <a:solidFill>
                  <a:srgbClr val="1E1B1A"/>
                </a:solidFill>
                <a:latin typeface="Courier New"/>
                <a:cs typeface="Courier New"/>
              </a:rPr>
              <a:t>input_variables</a:t>
            </a:r>
            <a:r>
              <a:rPr sz="1100" spc="-60" dirty="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1E1B1A"/>
                </a:solidFill>
                <a:latin typeface="Courier New"/>
                <a:cs typeface="Courier New"/>
              </a:rPr>
              <a:t>=</a:t>
            </a:r>
            <a:r>
              <a:rPr sz="1100" spc="-75" dirty="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[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'product'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],</a:t>
            </a:r>
            <a:endParaRPr sz="1100">
              <a:latin typeface="Courier New"/>
              <a:cs typeface="Courier New"/>
            </a:endParaRPr>
          </a:p>
          <a:p>
            <a:pPr marL="401320">
              <a:lnSpc>
                <a:spcPts val="1225"/>
              </a:lnSpc>
            </a:pPr>
            <a:r>
              <a:rPr sz="1100" dirty="0">
                <a:solidFill>
                  <a:srgbClr val="1E1B1A"/>
                </a:solidFill>
                <a:latin typeface="Courier New"/>
                <a:cs typeface="Courier New"/>
              </a:rPr>
              <a:t>template</a:t>
            </a:r>
            <a:r>
              <a:rPr sz="1100" spc="-15" dirty="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1E1B1A"/>
                </a:solidFill>
                <a:latin typeface="Courier New"/>
                <a:cs typeface="Courier New"/>
              </a:rPr>
              <a:t>=</a:t>
            </a:r>
            <a:r>
              <a:rPr sz="1100" spc="-35" dirty="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"What</a:t>
            </a:r>
            <a:r>
              <a:rPr sz="1100" spc="-35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would</a:t>
            </a:r>
            <a:r>
              <a:rPr sz="1100" spc="-25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be</a:t>
            </a:r>
            <a:r>
              <a:rPr sz="1100" spc="-3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a</a:t>
            </a:r>
            <a:r>
              <a:rPr sz="1100" spc="-45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good</a:t>
            </a:r>
            <a:r>
              <a:rPr sz="1100" spc="-35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name</a:t>
            </a:r>
            <a:r>
              <a:rPr sz="1100" spc="-2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for</a:t>
            </a:r>
            <a:r>
              <a:rPr sz="1100" spc="-35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a</a:t>
            </a:r>
            <a:r>
              <a:rPr sz="1100" spc="-45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company</a:t>
            </a:r>
            <a:r>
              <a:rPr sz="1100" spc="-2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that</a:t>
            </a:r>
            <a:r>
              <a:rPr sz="1100" spc="-35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makes</a:t>
            </a:r>
            <a:endParaRPr sz="1100">
              <a:latin typeface="Courier New"/>
              <a:cs typeface="Courier New"/>
            </a:endParaRPr>
          </a:p>
          <a:p>
            <a:pPr marL="64769">
              <a:lnSpc>
                <a:spcPts val="1280"/>
              </a:lnSpc>
            </a:pPr>
            <a:r>
              <a:rPr sz="1100" spc="-10" dirty="0">
                <a:solidFill>
                  <a:srgbClr val="3CADE8"/>
                </a:solidFill>
                <a:latin typeface="Courier New"/>
                <a:cs typeface="Courier New"/>
              </a:rPr>
              <a:t>{product}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"</a:t>
            </a:r>
            <a:endParaRPr sz="1100">
              <a:latin typeface="Courier New"/>
              <a:cs typeface="Courier New"/>
            </a:endParaRPr>
          </a:p>
          <a:p>
            <a:pPr marL="64769">
              <a:lnSpc>
                <a:spcPts val="1300"/>
              </a:lnSpc>
            </a:pPr>
            <a:r>
              <a:rPr sz="1100" spc="-50" dirty="0">
                <a:solidFill>
                  <a:srgbClr val="1E1B1A"/>
                </a:solidFill>
                <a:latin typeface="Courier New"/>
                <a:cs typeface="Courier New"/>
              </a:rPr>
              <a:t>)</a:t>
            </a:r>
            <a:endParaRPr sz="1100">
              <a:latin typeface="Courier New"/>
              <a:cs typeface="Courier New"/>
            </a:endParaRPr>
          </a:p>
          <a:p>
            <a:pPr marL="64769" marR="110489">
              <a:lnSpc>
                <a:spcPct val="172700"/>
              </a:lnSpc>
              <a:spcBef>
                <a:spcPts val="5"/>
              </a:spcBef>
            </a:pP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chain=LLMChain(llm=client,</a:t>
            </a:r>
            <a:r>
              <a:rPr sz="1100" spc="35" dirty="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prompt=prompt_template_name,</a:t>
            </a:r>
            <a:r>
              <a:rPr sz="1100" spc="25" dirty="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memory=memory) chain.run(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"Wines"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)</a:t>
            </a:r>
            <a:endParaRPr sz="1100">
              <a:latin typeface="Courier New"/>
              <a:cs typeface="Courier New"/>
            </a:endParaRPr>
          </a:p>
          <a:p>
            <a:pPr marL="64769" marR="4400550">
              <a:lnSpc>
                <a:spcPct val="345500"/>
              </a:lnSpc>
            </a:pP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chain.run(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"Camera"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) chain.run(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"Drons"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) chain.memory</a:t>
            </a:r>
            <a:endParaRPr sz="1100">
              <a:latin typeface="Courier New"/>
              <a:cs typeface="Courier New"/>
            </a:endParaRPr>
          </a:p>
          <a:p>
            <a:pPr marL="64769" marR="113664">
              <a:lnSpc>
                <a:spcPts val="1280"/>
              </a:lnSpc>
              <a:spcBef>
                <a:spcPts val="1035"/>
              </a:spcBef>
            </a:pPr>
            <a:r>
              <a:rPr sz="1100" spc="-10" dirty="0">
                <a:latin typeface="Courier New"/>
                <a:cs typeface="Courier New"/>
              </a:rPr>
              <a:t>ConversationBufferMemory(chat_memory=ChatMessageHistory(messages=[Huma nMessage(content='Wines'),</a:t>
            </a:r>
            <a:r>
              <a:rPr sz="1100" spc="2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AIMessage(content='\n\n"Sommelier </a:t>
            </a:r>
            <a:r>
              <a:rPr sz="1100" dirty="0">
                <a:latin typeface="Courier New"/>
                <a:cs typeface="Courier New"/>
              </a:rPr>
              <a:t>Selections"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'),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HumanMessage(content='Camera'),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AIMessage(content='\n\ </a:t>
            </a:r>
            <a:r>
              <a:rPr sz="1100" dirty="0">
                <a:latin typeface="Courier New"/>
                <a:cs typeface="Courier New"/>
              </a:rPr>
              <a:t>n"CaptureTech"</a:t>
            </a:r>
            <a:r>
              <a:rPr sz="1100" spc="-9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or</a:t>
            </a:r>
            <a:r>
              <a:rPr sz="1100" spc="-11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"LensCrafters"'),</a:t>
            </a:r>
            <a:r>
              <a:rPr sz="1100" spc="-9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HumanMessage(content='Drons'), AIMessage(content='\n\n"SkyTech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Droneworks"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or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"AeroDrone Innovations"')]))</a:t>
            </a:r>
            <a:endParaRPr sz="1100">
              <a:latin typeface="Courier New"/>
              <a:cs typeface="Courier New"/>
            </a:endParaRPr>
          </a:p>
          <a:p>
            <a:pPr marL="64769" marR="3811270">
              <a:lnSpc>
                <a:spcPts val="2280"/>
              </a:lnSpc>
              <a:spcBef>
                <a:spcPts val="200"/>
              </a:spcBef>
            </a:pPr>
            <a:r>
              <a:rPr sz="1100" spc="-10" dirty="0">
                <a:solidFill>
                  <a:srgbClr val="A95C00"/>
                </a:solidFill>
                <a:latin typeface="Courier New"/>
                <a:cs typeface="Courier New"/>
              </a:rPr>
              <a:t>print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(chain.memory.</a:t>
            </a:r>
            <a:r>
              <a:rPr sz="1100" spc="-10" dirty="0">
                <a:solidFill>
                  <a:srgbClr val="A95C00"/>
                </a:solidFill>
                <a:latin typeface="Courier New"/>
                <a:cs typeface="Courier New"/>
              </a:rPr>
              <a:t>buffer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) </a:t>
            </a:r>
            <a:r>
              <a:rPr sz="1100" dirty="0">
                <a:latin typeface="Courier New"/>
                <a:cs typeface="Courier New"/>
              </a:rPr>
              <a:t>Human: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Wines</a:t>
            </a:r>
            <a:endParaRPr sz="1100">
              <a:latin typeface="Courier New"/>
              <a:cs typeface="Courier New"/>
            </a:endParaRPr>
          </a:p>
          <a:p>
            <a:pPr marL="64769">
              <a:lnSpc>
                <a:spcPts val="1045"/>
              </a:lnSpc>
            </a:pPr>
            <a:r>
              <a:rPr sz="1100" spc="-25" dirty="0">
                <a:latin typeface="Courier New"/>
                <a:cs typeface="Courier New"/>
              </a:rPr>
              <a:t>AI: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14400" y="8811259"/>
            <a:ext cx="1861185" cy="16192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"Sommelier</a:t>
            </a:r>
            <a:r>
              <a:rPr sz="1100" spc="-9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Selections"</a:t>
            </a:r>
            <a:endParaRPr sz="11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47725" y="913764"/>
            <a:ext cx="6076950" cy="1404620"/>
          </a:xfrm>
          <a:custGeom>
            <a:avLst/>
            <a:gdLst/>
            <a:ahLst/>
            <a:cxnLst/>
            <a:rect l="l" t="t" r="r" b="b"/>
            <a:pathLst>
              <a:path w="6076950" h="1404620">
                <a:moveTo>
                  <a:pt x="6076950" y="0"/>
                </a:moveTo>
                <a:lnTo>
                  <a:pt x="0" y="0"/>
                </a:lnTo>
                <a:lnTo>
                  <a:pt x="0" y="1404619"/>
                </a:lnTo>
                <a:lnTo>
                  <a:pt x="6076950" y="1404619"/>
                </a:lnTo>
                <a:lnTo>
                  <a:pt x="6076950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47725" y="3636644"/>
            <a:ext cx="6076950" cy="5361940"/>
          </a:xfrm>
          <a:custGeom>
            <a:avLst/>
            <a:gdLst/>
            <a:ahLst/>
            <a:cxnLst/>
            <a:rect l="l" t="t" r="r" b="b"/>
            <a:pathLst>
              <a:path w="6076950" h="5361940">
                <a:moveTo>
                  <a:pt x="6076950" y="0"/>
                </a:moveTo>
                <a:lnTo>
                  <a:pt x="0" y="0"/>
                </a:lnTo>
                <a:lnTo>
                  <a:pt x="0" y="229235"/>
                </a:lnTo>
                <a:lnTo>
                  <a:pt x="0" y="229870"/>
                </a:lnTo>
                <a:lnTo>
                  <a:pt x="0" y="5361940"/>
                </a:lnTo>
                <a:lnTo>
                  <a:pt x="6076950" y="5361940"/>
                </a:lnTo>
                <a:lnTo>
                  <a:pt x="6076950" y="229235"/>
                </a:lnTo>
                <a:lnTo>
                  <a:pt x="6076950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14400" y="981709"/>
            <a:ext cx="1091565" cy="324485"/>
          </a:xfrm>
          <a:custGeom>
            <a:avLst/>
            <a:gdLst/>
            <a:ahLst/>
            <a:cxnLst/>
            <a:rect l="l" t="t" r="r" b="b"/>
            <a:pathLst>
              <a:path w="1091564" h="324484">
                <a:moveTo>
                  <a:pt x="250825" y="162560"/>
                </a:moveTo>
                <a:lnTo>
                  <a:pt x="0" y="162560"/>
                </a:lnTo>
                <a:lnTo>
                  <a:pt x="0" y="324485"/>
                </a:lnTo>
                <a:lnTo>
                  <a:pt x="250825" y="324485"/>
                </a:lnTo>
                <a:lnTo>
                  <a:pt x="250825" y="162560"/>
                </a:lnTo>
                <a:close/>
              </a:path>
              <a:path w="1091564" h="324484">
                <a:moveTo>
                  <a:pt x="1091565" y="0"/>
                </a:moveTo>
                <a:lnTo>
                  <a:pt x="0" y="0"/>
                </a:lnTo>
                <a:lnTo>
                  <a:pt x="0" y="161925"/>
                </a:lnTo>
                <a:lnTo>
                  <a:pt x="1091565" y="161925"/>
                </a:lnTo>
                <a:lnTo>
                  <a:pt x="1091565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850264" y="916305"/>
            <a:ext cx="6073140" cy="1400810"/>
          </a:xfrm>
          <a:prstGeom prst="rect">
            <a:avLst/>
          </a:prstGeom>
          <a:ln w="3175">
            <a:solidFill>
              <a:srgbClr val="E2E2E2"/>
            </a:solidFill>
          </a:ln>
        </p:spPr>
        <p:txBody>
          <a:bodyPr vert="horz" wrap="square" lIns="0" tIns="64769" rIns="0" bIns="0" rtlCol="0">
            <a:spAutoFit/>
          </a:bodyPr>
          <a:lstStyle/>
          <a:p>
            <a:pPr marL="64769" marR="4907915">
              <a:lnSpc>
                <a:spcPts val="1280"/>
              </a:lnSpc>
              <a:spcBef>
                <a:spcPts val="509"/>
              </a:spcBef>
            </a:pPr>
            <a:r>
              <a:rPr sz="1100" dirty="0">
                <a:latin typeface="Courier New"/>
                <a:cs typeface="Courier New"/>
              </a:rPr>
              <a:t>Human: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Camera </a:t>
            </a:r>
            <a:r>
              <a:rPr sz="1100" spc="-25" dirty="0">
                <a:latin typeface="Courier New"/>
                <a:cs typeface="Courier New"/>
              </a:rPr>
              <a:t>AI: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4400" y="1454150"/>
            <a:ext cx="2619375" cy="16192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"CaptureTech"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or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"LensCrafters"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14400" y="1616710"/>
            <a:ext cx="1020444" cy="16192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Human: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Drons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14400" y="1779270"/>
            <a:ext cx="263525" cy="16192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spc="-25" dirty="0">
                <a:latin typeface="Courier New"/>
                <a:cs typeface="Courier New"/>
              </a:rPr>
              <a:t>AI: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14400" y="2090420"/>
            <a:ext cx="3952875" cy="16192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"SkyTech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Droneworks"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or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"AeroDrone</a:t>
            </a:r>
            <a:r>
              <a:rPr sz="1100" spc="-7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Innovations"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02969" y="2607309"/>
            <a:ext cx="5810250" cy="20091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10" dirty="0">
                <a:latin typeface="Arial"/>
                <a:cs typeface="Arial"/>
              </a:rPr>
              <a:t>Conversation</a:t>
            </a:r>
            <a:r>
              <a:rPr sz="2200" spc="-125" dirty="0">
                <a:latin typeface="Arial"/>
                <a:cs typeface="Arial"/>
              </a:rPr>
              <a:t> </a:t>
            </a:r>
            <a:r>
              <a:rPr sz="2200" spc="-20" dirty="0">
                <a:latin typeface="Arial"/>
                <a:cs typeface="Arial"/>
              </a:rPr>
              <a:t>Chain</a:t>
            </a:r>
            <a:endParaRPr sz="2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10"/>
              </a:spcBef>
            </a:pPr>
            <a:r>
              <a:rPr sz="1100" spc="-10" dirty="0">
                <a:latin typeface="Arial"/>
                <a:cs typeface="Arial"/>
              </a:rPr>
              <a:t>Conversation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buffer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memory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goes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growing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endlessly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1100" spc="-20" dirty="0">
                <a:latin typeface="Arial"/>
                <a:cs typeface="Arial"/>
              </a:rPr>
              <a:t>Just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remember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last</a:t>
            </a:r>
            <a:r>
              <a:rPr sz="1100" spc="-20" dirty="0">
                <a:latin typeface="Arial"/>
                <a:cs typeface="Arial"/>
              </a:rPr>
              <a:t> 5</a:t>
            </a:r>
            <a:r>
              <a:rPr sz="1100" spc="-3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Conversation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30" dirty="0">
                <a:latin typeface="Arial"/>
                <a:cs typeface="Arial"/>
              </a:rPr>
              <a:t>Chain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and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if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just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remember</a:t>
            </a:r>
            <a:r>
              <a:rPr sz="1100" spc="-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last</a:t>
            </a:r>
            <a:r>
              <a:rPr sz="1100" spc="-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10-</a:t>
            </a:r>
            <a:r>
              <a:rPr sz="1100" dirty="0">
                <a:latin typeface="Arial"/>
                <a:cs typeface="Arial"/>
              </a:rPr>
              <a:t>20</a:t>
            </a:r>
            <a:r>
              <a:rPr sz="1100" spc="-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Converstation</a:t>
            </a:r>
            <a:r>
              <a:rPr sz="1100" spc="-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Chain</a:t>
            </a:r>
            <a:endParaRPr sz="1100">
              <a:latin typeface="Arial"/>
              <a:cs typeface="Arial"/>
            </a:endParaRPr>
          </a:p>
          <a:p>
            <a:pPr marL="12700" marR="1920875">
              <a:lnSpc>
                <a:spcPct val="172700"/>
              </a:lnSpc>
              <a:spcBef>
                <a:spcPts val="409"/>
              </a:spcBef>
            </a:pPr>
            <a:r>
              <a:rPr sz="1100" dirty="0">
                <a:solidFill>
                  <a:srgbClr val="7827A0"/>
                </a:solidFill>
                <a:latin typeface="Courier New"/>
                <a:cs typeface="Courier New"/>
              </a:rPr>
              <a:t>from</a:t>
            </a:r>
            <a:r>
              <a:rPr sz="1100" spc="-85" dirty="0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1E1B1A"/>
                </a:solidFill>
                <a:latin typeface="Courier New"/>
                <a:cs typeface="Courier New"/>
              </a:rPr>
              <a:t>langchain.chains</a:t>
            </a:r>
            <a:r>
              <a:rPr sz="1100" spc="-65" dirty="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7827A0"/>
                </a:solidFill>
                <a:latin typeface="Courier New"/>
                <a:cs typeface="Courier New"/>
              </a:rPr>
              <a:t>import</a:t>
            </a:r>
            <a:r>
              <a:rPr sz="1100" spc="-80" dirty="0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ConversationChain </a:t>
            </a:r>
            <a:r>
              <a:rPr sz="1100" dirty="0">
                <a:solidFill>
                  <a:srgbClr val="1E1B1A"/>
                </a:solidFill>
                <a:latin typeface="Courier New"/>
                <a:cs typeface="Courier New"/>
              </a:rPr>
              <a:t>convo</a:t>
            </a:r>
            <a:r>
              <a:rPr sz="1100" spc="-20" dirty="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1E1B1A"/>
                </a:solidFill>
                <a:latin typeface="Courier New"/>
                <a:cs typeface="Courier New"/>
              </a:rPr>
              <a:t>=</a:t>
            </a:r>
            <a:r>
              <a:rPr sz="1100" spc="-30" dirty="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ConversationChain(</a:t>
            </a:r>
            <a:endParaRPr sz="1100">
              <a:latin typeface="Courier New"/>
              <a:cs typeface="Courier New"/>
            </a:endParaRPr>
          </a:p>
          <a:p>
            <a:pPr marL="348615">
              <a:lnSpc>
                <a:spcPts val="1280"/>
              </a:lnSpc>
            </a:pP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llm=OpenAI(openai_api_key=OPENAI_KEY,</a:t>
            </a:r>
            <a:r>
              <a:rPr sz="1100" spc="50" dirty="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temperature=</a:t>
            </a:r>
            <a:r>
              <a:rPr sz="1100" spc="-10" dirty="0">
                <a:solidFill>
                  <a:srgbClr val="A95C00"/>
                </a:solidFill>
                <a:latin typeface="Courier New"/>
                <a:cs typeface="Courier New"/>
              </a:rPr>
              <a:t>0.7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))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convo.prompt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14400" y="4735829"/>
            <a:ext cx="5563235" cy="16192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spc="-10" dirty="0">
                <a:latin typeface="Courier New"/>
                <a:cs typeface="Courier New"/>
              </a:rPr>
              <a:t>PromptTemplate(input_variables=['history',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'input'],</a:t>
            </a:r>
            <a:r>
              <a:rPr sz="1100" spc="-2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template='The</a:t>
            </a:r>
            <a:endParaRPr sz="1100">
              <a:latin typeface="Courier New"/>
              <a:cs typeface="Courier New"/>
            </a:endParaRPr>
          </a:p>
        </p:txBody>
      </p: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914400" y="4898390"/>
          <a:ext cx="5974080" cy="6489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7194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62560">
                <a:tc gridSpan="2">
                  <a:txBody>
                    <a:bodyPr/>
                    <a:lstStyle/>
                    <a:p>
                      <a:pPr marL="635">
                        <a:lnSpc>
                          <a:spcPts val="1180"/>
                        </a:lnSpc>
                      </a:pPr>
                      <a:r>
                        <a:rPr sz="1100" dirty="0">
                          <a:latin typeface="Courier New"/>
                          <a:cs typeface="Courier New"/>
                        </a:rPr>
                        <a:t>following</a:t>
                      </a:r>
                      <a:r>
                        <a:rPr sz="1100" spc="-4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dirty="0">
                          <a:latin typeface="Courier New"/>
                          <a:cs typeface="Courier New"/>
                        </a:rPr>
                        <a:t>is</a:t>
                      </a:r>
                      <a:r>
                        <a:rPr sz="1100" spc="-4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dirty="0">
                          <a:latin typeface="Courier New"/>
                          <a:cs typeface="Courier New"/>
                        </a:rPr>
                        <a:t>a</a:t>
                      </a:r>
                      <a:r>
                        <a:rPr sz="1100" spc="-4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dirty="0">
                          <a:latin typeface="Courier New"/>
                          <a:cs typeface="Courier New"/>
                        </a:rPr>
                        <a:t>friendly</a:t>
                      </a:r>
                      <a:r>
                        <a:rPr sz="1100" spc="-3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dirty="0">
                          <a:latin typeface="Courier New"/>
                          <a:cs typeface="Courier New"/>
                        </a:rPr>
                        <a:t>conversation</a:t>
                      </a:r>
                      <a:r>
                        <a:rPr sz="1100" spc="-3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dirty="0">
                          <a:latin typeface="Courier New"/>
                          <a:cs typeface="Courier New"/>
                        </a:rPr>
                        <a:t>between</a:t>
                      </a:r>
                      <a:r>
                        <a:rPr sz="1100" spc="-3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dirty="0">
                          <a:latin typeface="Courier New"/>
                          <a:cs typeface="Courier New"/>
                        </a:rPr>
                        <a:t>a</a:t>
                      </a:r>
                      <a:r>
                        <a:rPr sz="1100" spc="-4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dirty="0">
                          <a:latin typeface="Courier New"/>
                          <a:cs typeface="Courier New"/>
                        </a:rPr>
                        <a:t>human</a:t>
                      </a:r>
                      <a:r>
                        <a:rPr sz="1100" spc="-4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dirty="0">
                          <a:latin typeface="Courier New"/>
                          <a:cs typeface="Courier New"/>
                        </a:rPr>
                        <a:t>and</a:t>
                      </a:r>
                      <a:r>
                        <a:rPr sz="1100" spc="-4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dirty="0">
                          <a:latin typeface="Courier New"/>
                          <a:cs typeface="Courier New"/>
                        </a:rPr>
                        <a:t>an</a:t>
                      </a:r>
                      <a:r>
                        <a:rPr sz="1100" spc="-4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dirty="0">
                          <a:latin typeface="Courier New"/>
                          <a:cs typeface="Courier New"/>
                        </a:rPr>
                        <a:t>AI.</a:t>
                      </a:r>
                      <a:r>
                        <a:rPr sz="1100" spc="-4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dirty="0">
                          <a:latin typeface="Courier New"/>
                          <a:cs typeface="Courier New"/>
                        </a:rPr>
                        <a:t>The</a:t>
                      </a:r>
                      <a:r>
                        <a:rPr sz="1100" spc="-4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AI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925">
                <a:tc>
                  <a:txBody>
                    <a:bodyPr/>
                    <a:lstStyle/>
                    <a:p>
                      <a:pPr algn="ctr">
                        <a:lnSpc>
                          <a:spcPts val="1180"/>
                        </a:lnSpc>
                      </a:pPr>
                      <a:r>
                        <a:rPr sz="1100" dirty="0">
                          <a:latin typeface="Courier New"/>
                          <a:cs typeface="Courier New"/>
                        </a:rPr>
                        <a:t>is</a:t>
                      </a:r>
                      <a:r>
                        <a:rPr sz="1100" spc="-5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dirty="0">
                          <a:latin typeface="Courier New"/>
                          <a:cs typeface="Courier New"/>
                        </a:rPr>
                        <a:t>talkative</a:t>
                      </a:r>
                      <a:r>
                        <a:rPr sz="1100" spc="-3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dirty="0">
                          <a:latin typeface="Courier New"/>
                          <a:cs typeface="Courier New"/>
                        </a:rPr>
                        <a:t>and</a:t>
                      </a:r>
                      <a:r>
                        <a:rPr sz="1100" spc="-4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dirty="0">
                          <a:latin typeface="Courier New"/>
                          <a:cs typeface="Courier New"/>
                        </a:rPr>
                        <a:t>provides</a:t>
                      </a:r>
                      <a:r>
                        <a:rPr sz="1100" spc="-4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dirty="0">
                          <a:latin typeface="Courier New"/>
                          <a:cs typeface="Courier New"/>
                        </a:rPr>
                        <a:t>lots</a:t>
                      </a:r>
                      <a:r>
                        <a:rPr sz="1100" spc="-4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dirty="0">
                          <a:latin typeface="Courier New"/>
                          <a:cs typeface="Courier New"/>
                        </a:rPr>
                        <a:t>of</a:t>
                      </a:r>
                      <a:r>
                        <a:rPr sz="1100" spc="-5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dirty="0">
                          <a:latin typeface="Courier New"/>
                          <a:cs typeface="Courier New"/>
                        </a:rPr>
                        <a:t>specific</a:t>
                      </a:r>
                      <a:r>
                        <a:rPr sz="1100" spc="-3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dirty="0">
                          <a:latin typeface="Courier New"/>
                          <a:cs typeface="Courier New"/>
                        </a:rPr>
                        <a:t>details</a:t>
                      </a:r>
                      <a:r>
                        <a:rPr sz="1100" spc="-3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dirty="0">
                          <a:latin typeface="Courier New"/>
                          <a:cs typeface="Courier New"/>
                        </a:rPr>
                        <a:t>from</a:t>
                      </a:r>
                      <a:r>
                        <a:rPr sz="1100" spc="-5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dirty="0">
                          <a:latin typeface="Courier New"/>
                          <a:cs typeface="Courier New"/>
                        </a:rPr>
                        <a:t>its</a:t>
                      </a:r>
                      <a:r>
                        <a:rPr sz="1100" spc="-4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10" dirty="0">
                          <a:latin typeface="Courier New"/>
                          <a:cs typeface="Courier New"/>
                        </a:rPr>
                        <a:t>context.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 rowSpan="2"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635" algn="ctr">
                        <a:lnSpc>
                          <a:spcPts val="1180"/>
                        </a:lnSpc>
                      </a:pPr>
                      <a:r>
                        <a:rPr sz="1100" dirty="0">
                          <a:latin typeface="Courier New"/>
                          <a:cs typeface="Courier New"/>
                        </a:rPr>
                        <a:t>If</a:t>
                      </a:r>
                      <a:r>
                        <a:rPr sz="1100" spc="-3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dirty="0">
                          <a:latin typeface="Courier New"/>
                          <a:cs typeface="Courier New"/>
                        </a:rPr>
                        <a:t>the</a:t>
                      </a:r>
                      <a:r>
                        <a:rPr sz="1100" spc="-3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dirty="0">
                          <a:latin typeface="Courier New"/>
                          <a:cs typeface="Courier New"/>
                        </a:rPr>
                        <a:t>AI</a:t>
                      </a:r>
                      <a:r>
                        <a:rPr sz="1100" spc="-4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dirty="0">
                          <a:latin typeface="Courier New"/>
                          <a:cs typeface="Courier New"/>
                        </a:rPr>
                        <a:t>does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dirty="0">
                          <a:latin typeface="Courier New"/>
                          <a:cs typeface="Courier New"/>
                        </a:rPr>
                        <a:t>not</a:t>
                      </a:r>
                      <a:r>
                        <a:rPr sz="1100" spc="-3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dirty="0">
                          <a:latin typeface="Courier New"/>
                          <a:cs typeface="Courier New"/>
                        </a:rPr>
                        <a:t>know</a:t>
                      </a:r>
                      <a:r>
                        <a:rPr sz="1100" spc="-3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dirty="0">
                          <a:latin typeface="Courier New"/>
                          <a:cs typeface="Courier New"/>
                        </a:rPr>
                        <a:t>the</a:t>
                      </a:r>
                      <a:r>
                        <a:rPr sz="1100" spc="-3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dirty="0">
                          <a:latin typeface="Courier New"/>
                          <a:cs typeface="Courier New"/>
                        </a:rPr>
                        <a:t>answer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dirty="0">
                          <a:latin typeface="Courier New"/>
                          <a:cs typeface="Courier New"/>
                        </a:rPr>
                        <a:t>to</a:t>
                      </a:r>
                      <a:r>
                        <a:rPr sz="1100" spc="-4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dirty="0">
                          <a:latin typeface="Courier New"/>
                          <a:cs typeface="Courier New"/>
                        </a:rPr>
                        <a:t>a</a:t>
                      </a:r>
                      <a:r>
                        <a:rPr sz="1100" spc="-3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dirty="0">
                          <a:latin typeface="Courier New"/>
                          <a:cs typeface="Courier New"/>
                        </a:rPr>
                        <a:t>question,</a:t>
                      </a:r>
                      <a:r>
                        <a:rPr sz="1100" spc="-3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dirty="0">
                          <a:latin typeface="Courier New"/>
                          <a:cs typeface="Courier New"/>
                        </a:rPr>
                        <a:t>it</a:t>
                      </a:r>
                      <a:r>
                        <a:rPr sz="1100" spc="-3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dirty="0">
                          <a:latin typeface="Courier New"/>
                          <a:cs typeface="Courier New"/>
                        </a:rPr>
                        <a:t>truthfully</a:t>
                      </a:r>
                      <a:r>
                        <a:rPr sz="1100" spc="-2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20" dirty="0">
                          <a:latin typeface="Courier New"/>
                          <a:cs typeface="Courier New"/>
                        </a:rPr>
                        <a:t>says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solidFill>
                      <a:srgbClr val="F4F4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61925">
                <a:tc gridSpan="2">
                  <a:txBody>
                    <a:bodyPr/>
                    <a:lstStyle/>
                    <a:p>
                      <a:pPr marL="635" marR="3175">
                        <a:lnSpc>
                          <a:spcPts val="1175"/>
                        </a:lnSpc>
                      </a:pPr>
                      <a:r>
                        <a:rPr sz="1100" dirty="0">
                          <a:latin typeface="Courier New"/>
                          <a:cs typeface="Courier New"/>
                        </a:rPr>
                        <a:t>it</a:t>
                      </a:r>
                      <a:r>
                        <a:rPr sz="1100" spc="-45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dirty="0">
                          <a:latin typeface="Courier New"/>
                          <a:cs typeface="Courier New"/>
                        </a:rPr>
                        <a:t>does</a:t>
                      </a:r>
                      <a:r>
                        <a:rPr sz="1100" spc="-4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dirty="0">
                          <a:latin typeface="Courier New"/>
                          <a:cs typeface="Courier New"/>
                        </a:rPr>
                        <a:t>not</a:t>
                      </a:r>
                      <a:r>
                        <a:rPr sz="1100" spc="-4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dirty="0">
                          <a:latin typeface="Courier New"/>
                          <a:cs typeface="Courier New"/>
                        </a:rPr>
                        <a:t>know.\n\nCurrent</a:t>
                      </a:r>
                      <a:r>
                        <a:rPr sz="1100" spc="-3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10" dirty="0">
                          <a:latin typeface="Courier New"/>
                          <a:cs typeface="Courier New"/>
                        </a:rPr>
                        <a:t>conversation:\n{history}\nHuman:</a:t>
                      </a:r>
                      <a:r>
                        <a:rPr sz="1100" spc="-40" dirty="0"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10" dirty="0">
                          <a:latin typeface="Courier New"/>
                          <a:cs typeface="Courier New"/>
                        </a:rPr>
                        <a:t>{input}\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0" marB="0"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object 13"/>
          <p:cNvSpPr txBox="1"/>
          <p:nvPr/>
        </p:nvSpPr>
        <p:spPr>
          <a:xfrm>
            <a:off x="914400" y="5548629"/>
            <a:ext cx="514984" cy="16192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spc="-10" dirty="0">
                <a:latin typeface="Courier New"/>
                <a:cs typeface="Courier New"/>
              </a:rPr>
              <a:t>nAI:')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914400" y="6127750"/>
            <a:ext cx="5635625" cy="161925"/>
          </a:xfrm>
          <a:custGeom>
            <a:avLst/>
            <a:gdLst/>
            <a:ahLst/>
            <a:cxnLst/>
            <a:rect l="l" t="t" r="r" b="b"/>
            <a:pathLst>
              <a:path w="5635625" h="161925">
                <a:moveTo>
                  <a:pt x="5635625" y="0"/>
                </a:moveTo>
                <a:lnTo>
                  <a:pt x="0" y="0"/>
                </a:lnTo>
                <a:lnTo>
                  <a:pt x="0" y="161925"/>
                </a:lnTo>
                <a:lnTo>
                  <a:pt x="5635625" y="161925"/>
                </a:lnTo>
                <a:lnTo>
                  <a:pt x="5635625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902969" y="5815329"/>
            <a:ext cx="566039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A95C00"/>
                </a:solidFill>
                <a:latin typeface="Courier New"/>
                <a:cs typeface="Courier New"/>
              </a:rPr>
              <a:t>print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(convo.prompt.template)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following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is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friendly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conversation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between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human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AI.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14400" y="6290309"/>
            <a:ext cx="556450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AI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is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talkative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provides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lots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of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specific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details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from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its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14400" y="6452870"/>
            <a:ext cx="5144135" cy="16192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context.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If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AI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does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not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know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answer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to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question,</a:t>
            </a:r>
            <a:r>
              <a:rPr sz="1100" spc="-25" dirty="0">
                <a:latin typeface="Courier New"/>
                <a:cs typeface="Courier New"/>
              </a:rPr>
              <a:t> it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914400" y="6615430"/>
            <a:ext cx="2774315" cy="161925"/>
          </a:xfrm>
          <a:custGeom>
            <a:avLst/>
            <a:gdLst/>
            <a:ahLst/>
            <a:cxnLst/>
            <a:rect l="l" t="t" r="r" b="b"/>
            <a:pathLst>
              <a:path w="2774315" h="161925">
                <a:moveTo>
                  <a:pt x="2774315" y="0"/>
                </a:moveTo>
                <a:lnTo>
                  <a:pt x="0" y="0"/>
                </a:lnTo>
                <a:lnTo>
                  <a:pt x="0" y="161925"/>
                </a:lnTo>
                <a:lnTo>
                  <a:pt x="2774315" y="161925"/>
                </a:lnTo>
                <a:lnTo>
                  <a:pt x="2774315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914400" y="6925309"/>
            <a:ext cx="1764664" cy="161925"/>
          </a:xfrm>
          <a:custGeom>
            <a:avLst/>
            <a:gdLst/>
            <a:ahLst/>
            <a:cxnLst/>
            <a:rect l="l" t="t" r="r" b="b"/>
            <a:pathLst>
              <a:path w="1764664" h="161925">
                <a:moveTo>
                  <a:pt x="1764664" y="0"/>
                </a:moveTo>
                <a:lnTo>
                  <a:pt x="0" y="0"/>
                </a:lnTo>
                <a:lnTo>
                  <a:pt x="0" y="161925"/>
                </a:lnTo>
                <a:lnTo>
                  <a:pt x="1764664" y="161925"/>
                </a:lnTo>
                <a:lnTo>
                  <a:pt x="1764664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902969" y="6592569"/>
            <a:ext cx="2799715" cy="502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Courier New"/>
                <a:cs typeface="Courier New"/>
              </a:rPr>
              <a:t>truthfully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says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it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does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not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know.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120"/>
              </a:spcBef>
            </a:pPr>
            <a:r>
              <a:rPr sz="1100" dirty="0">
                <a:latin typeface="Courier New"/>
                <a:cs typeface="Courier New"/>
              </a:rPr>
              <a:t>Current</a:t>
            </a:r>
            <a:r>
              <a:rPr sz="1100" spc="-6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conversation: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14400" y="7087869"/>
            <a:ext cx="76771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spc="-10" dirty="0">
                <a:latin typeface="Courier New"/>
                <a:cs typeface="Courier New"/>
              </a:rPr>
              <a:t>{history}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14400" y="7250430"/>
            <a:ext cx="1188085" cy="16192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Human: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{input}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914400" y="7412990"/>
            <a:ext cx="250825" cy="161925"/>
          </a:xfrm>
          <a:custGeom>
            <a:avLst/>
            <a:gdLst/>
            <a:ahLst/>
            <a:cxnLst/>
            <a:rect l="l" t="t" r="r" b="b"/>
            <a:pathLst>
              <a:path w="250825" h="161925">
                <a:moveTo>
                  <a:pt x="250825" y="0"/>
                </a:moveTo>
                <a:lnTo>
                  <a:pt x="0" y="0"/>
                </a:lnTo>
                <a:lnTo>
                  <a:pt x="0" y="161924"/>
                </a:lnTo>
                <a:lnTo>
                  <a:pt x="250825" y="161924"/>
                </a:lnTo>
                <a:lnTo>
                  <a:pt x="250825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914400" y="7992109"/>
            <a:ext cx="5888355" cy="161925"/>
          </a:xfrm>
          <a:custGeom>
            <a:avLst/>
            <a:gdLst/>
            <a:ahLst/>
            <a:cxnLst/>
            <a:rect l="l" t="t" r="r" b="b"/>
            <a:pathLst>
              <a:path w="5888355" h="161925">
                <a:moveTo>
                  <a:pt x="5888355" y="0"/>
                </a:moveTo>
                <a:lnTo>
                  <a:pt x="0" y="0"/>
                </a:lnTo>
                <a:lnTo>
                  <a:pt x="0" y="161925"/>
                </a:lnTo>
                <a:lnTo>
                  <a:pt x="5888355" y="161925"/>
                </a:lnTo>
                <a:lnTo>
                  <a:pt x="5888355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902969" y="7390130"/>
            <a:ext cx="5911850" cy="772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Courier New"/>
                <a:cs typeface="Courier New"/>
              </a:rPr>
              <a:t>AI: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100" dirty="0">
                <a:solidFill>
                  <a:srgbClr val="1E1B1A"/>
                </a:solidFill>
                <a:latin typeface="Courier New"/>
                <a:cs typeface="Courier New"/>
              </a:rPr>
              <a:t>convo.run(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"who</a:t>
            </a:r>
            <a:r>
              <a:rPr sz="1100" spc="-6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won</a:t>
            </a:r>
            <a:r>
              <a:rPr sz="1100" spc="-6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the</a:t>
            </a:r>
            <a:r>
              <a:rPr sz="1100" spc="-55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first</a:t>
            </a:r>
            <a:r>
              <a:rPr sz="1100" spc="-5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cricket</a:t>
            </a:r>
            <a:r>
              <a:rPr sz="1100" spc="-5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worldcup?"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)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100" dirty="0">
                <a:latin typeface="Courier New"/>
                <a:cs typeface="Courier New"/>
              </a:rPr>
              <a:t>'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first</a:t>
            </a:r>
            <a:r>
              <a:rPr sz="1100" spc="-2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cricket</a:t>
            </a:r>
            <a:r>
              <a:rPr sz="1100" spc="-2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World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Cup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was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held</a:t>
            </a:r>
            <a:r>
              <a:rPr sz="1100" spc="-2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1975</a:t>
            </a:r>
            <a:r>
              <a:rPr sz="1100" spc="-2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was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won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by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West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914400" y="8154567"/>
            <a:ext cx="564832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Indies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team.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final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match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was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played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between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West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Indies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and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914400" y="8317127"/>
            <a:ext cx="556450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Australia,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with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West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Indies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winning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by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17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runs.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man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of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the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914400" y="8479790"/>
            <a:ext cx="5466715" cy="161925"/>
          </a:xfrm>
          <a:custGeom>
            <a:avLst/>
            <a:gdLst/>
            <a:ahLst/>
            <a:cxnLst/>
            <a:rect l="l" t="t" r="r" b="b"/>
            <a:pathLst>
              <a:path w="5466715" h="161925">
                <a:moveTo>
                  <a:pt x="5466715" y="0"/>
                </a:moveTo>
                <a:lnTo>
                  <a:pt x="0" y="0"/>
                </a:lnTo>
                <a:lnTo>
                  <a:pt x="0" y="161924"/>
                </a:lnTo>
                <a:lnTo>
                  <a:pt x="5466715" y="161924"/>
                </a:lnTo>
                <a:lnTo>
                  <a:pt x="5466715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902969" y="8456930"/>
            <a:ext cx="549148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Courier New"/>
                <a:cs typeface="Courier New"/>
              </a:rPr>
              <a:t>match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was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Clive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Lloyd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from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West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Indies,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who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scored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102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runs.'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100" dirty="0">
                <a:solidFill>
                  <a:srgbClr val="1E1B1A"/>
                </a:solidFill>
                <a:latin typeface="Courier New"/>
                <a:cs typeface="Courier New"/>
              </a:rPr>
              <a:t>convo.run(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"Can</a:t>
            </a:r>
            <a:r>
              <a:rPr sz="1100" spc="-5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you</a:t>
            </a:r>
            <a:r>
              <a:rPr sz="1100" spc="-45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tell</a:t>
            </a:r>
            <a:r>
              <a:rPr sz="1100" spc="-5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how</a:t>
            </a:r>
            <a:r>
              <a:rPr sz="1100" spc="-45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mush</a:t>
            </a:r>
            <a:r>
              <a:rPr sz="1100" spc="-4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will</a:t>
            </a:r>
            <a:r>
              <a:rPr sz="1100" spc="-45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5+5?"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)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848360" y="3637279"/>
            <a:ext cx="6076315" cy="5361305"/>
          </a:xfrm>
          <a:custGeom>
            <a:avLst/>
            <a:gdLst/>
            <a:ahLst/>
            <a:cxnLst/>
            <a:rect l="l" t="t" r="r" b="b"/>
            <a:pathLst>
              <a:path w="6076315" h="5361305">
                <a:moveTo>
                  <a:pt x="0" y="1905"/>
                </a:moveTo>
                <a:lnTo>
                  <a:pt x="6076315" y="1905"/>
                </a:lnTo>
              </a:path>
              <a:path w="6076315" h="5361305">
                <a:moveTo>
                  <a:pt x="6075045" y="0"/>
                </a:moveTo>
                <a:lnTo>
                  <a:pt x="6075045" y="356235"/>
                </a:lnTo>
              </a:path>
              <a:path w="6076315" h="5361305">
                <a:moveTo>
                  <a:pt x="1905" y="356235"/>
                </a:moveTo>
                <a:lnTo>
                  <a:pt x="1905" y="0"/>
                </a:lnTo>
              </a:path>
              <a:path w="6076315" h="5361305">
                <a:moveTo>
                  <a:pt x="6075045" y="229235"/>
                </a:moveTo>
                <a:lnTo>
                  <a:pt x="6075045" y="808355"/>
                </a:lnTo>
              </a:path>
              <a:path w="6076315" h="5361305">
                <a:moveTo>
                  <a:pt x="1905" y="808355"/>
                </a:moveTo>
                <a:lnTo>
                  <a:pt x="1905" y="229235"/>
                </a:lnTo>
              </a:path>
              <a:path w="6076315" h="5361305">
                <a:moveTo>
                  <a:pt x="6075045" y="681355"/>
                </a:moveTo>
                <a:lnTo>
                  <a:pt x="6075045" y="1097915"/>
                </a:lnTo>
              </a:path>
              <a:path w="6076315" h="5361305">
                <a:moveTo>
                  <a:pt x="1905" y="1097915"/>
                </a:moveTo>
                <a:lnTo>
                  <a:pt x="1905" y="681355"/>
                </a:lnTo>
              </a:path>
              <a:path w="6076315" h="5361305">
                <a:moveTo>
                  <a:pt x="6075045" y="970915"/>
                </a:moveTo>
                <a:lnTo>
                  <a:pt x="6075045" y="2200275"/>
                </a:lnTo>
              </a:path>
              <a:path w="6076315" h="5361305">
                <a:moveTo>
                  <a:pt x="1905" y="2200275"/>
                </a:moveTo>
                <a:lnTo>
                  <a:pt x="1905" y="970915"/>
                </a:lnTo>
              </a:path>
              <a:path w="6076315" h="5361305">
                <a:moveTo>
                  <a:pt x="6075045" y="2073275"/>
                </a:moveTo>
                <a:lnTo>
                  <a:pt x="6075045" y="2489835"/>
                </a:lnTo>
              </a:path>
              <a:path w="6076315" h="5361305">
                <a:moveTo>
                  <a:pt x="1905" y="2489835"/>
                </a:moveTo>
                <a:lnTo>
                  <a:pt x="1905" y="2073275"/>
                </a:lnTo>
              </a:path>
              <a:path w="6076315" h="5361305">
                <a:moveTo>
                  <a:pt x="6075045" y="2362835"/>
                </a:moveTo>
                <a:lnTo>
                  <a:pt x="6075045" y="4065270"/>
                </a:lnTo>
              </a:path>
              <a:path w="6076315" h="5361305">
                <a:moveTo>
                  <a:pt x="1905" y="4065270"/>
                </a:moveTo>
                <a:lnTo>
                  <a:pt x="1905" y="2362835"/>
                </a:lnTo>
              </a:path>
              <a:path w="6076315" h="5361305">
                <a:moveTo>
                  <a:pt x="6075045" y="3938270"/>
                </a:moveTo>
                <a:lnTo>
                  <a:pt x="6075045" y="4354830"/>
                </a:lnTo>
              </a:path>
              <a:path w="6076315" h="5361305">
                <a:moveTo>
                  <a:pt x="1905" y="4354830"/>
                </a:moveTo>
                <a:lnTo>
                  <a:pt x="1905" y="3938270"/>
                </a:lnTo>
              </a:path>
              <a:path w="6076315" h="5361305">
                <a:moveTo>
                  <a:pt x="6075045" y="4227830"/>
                </a:moveTo>
                <a:lnTo>
                  <a:pt x="6075045" y="5132070"/>
                </a:lnTo>
              </a:path>
              <a:path w="6076315" h="5361305">
                <a:moveTo>
                  <a:pt x="1905" y="5132070"/>
                </a:moveTo>
                <a:lnTo>
                  <a:pt x="1905" y="4227830"/>
                </a:lnTo>
              </a:path>
              <a:path w="6076315" h="5361305">
                <a:moveTo>
                  <a:pt x="6075045" y="5005070"/>
                </a:moveTo>
                <a:lnTo>
                  <a:pt x="6075045" y="5361305"/>
                </a:lnTo>
              </a:path>
              <a:path w="6076315" h="5361305">
                <a:moveTo>
                  <a:pt x="6076315" y="5360035"/>
                </a:moveTo>
                <a:lnTo>
                  <a:pt x="0" y="5360035"/>
                </a:lnTo>
              </a:path>
              <a:path w="6076315" h="5361305">
                <a:moveTo>
                  <a:pt x="1905" y="5361305"/>
                </a:moveTo>
                <a:lnTo>
                  <a:pt x="1905" y="5005070"/>
                </a:lnTo>
              </a:path>
              <a:path w="6076315" h="5361305">
                <a:moveTo>
                  <a:pt x="0" y="1905"/>
                </a:moveTo>
                <a:lnTo>
                  <a:pt x="6076315" y="1905"/>
                </a:lnTo>
              </a:path>
              <a:path w="6076315" h="5361305">
                <a:moveTo>
                  <a:pt x="6075045" y="0"/>
                </a:moveTo>
                <a:lnTo>
                  <a:pt x="6075045" y="356235"/>
                </a:lnTo>
              </a:path>
              <a:path w="6076315" h="5361305">
                <a:moveTo>
                  <a:pt x="1905" y="356235"/>
                </a:moveTo>
                <a:lnTo>
                  <a:pt x="1905" y="0"/>
                </a:lnTo>
              </a:path>
              <a:path w="6076315" h="5361305">
                <a:moveTo>
                  <a:pt x="6075045" y="229235"/>
                </a:moveTo>
                <a:lnTo>
                  <a:pt x="6075045" y="808355"/>
                </a:lnTo>
              </a:path>
              <a:path w="6076315" h="5361305">
                <a:moveTo>
                  <a:pt x="1905" y="808355"/>
                </a:moveTo>
                <a:lnTo>
                  <a:pt x="1905" y="229235"/>
                </a:lnTo>
              </a:path>
              <a:path w="6076315" h="5361305">
                <a:moveTo>
                  <a:pt x="6075045" y="681355"/>
                </a:moveTo>
                <a:lnTo>
                  <a:pt x="6075045" y="1097915"/>
                </a:lnTo>
              </a:path>
              <a:path w="6076315" h="5361305">
                <a:moveTo>
                  <a:pt x="1905" y="1097915"/>
                </a:moveTo>
                <a:lnTo>
                  <a:pt x="1905" y="681355"/>
                </a:lnTo>
              </a:path>
              <a:path w="6076315" h="5361305">
                <a:moveTo>
                  <a:pt x="6075045" y="970915"/>
                </a:moveTo>
                <a:lnTo>
                  <a:pt x="6075045" y="2200275"/>
                </a:lnTo>
              </a:path>
              <a:path w="6076315" h="5361305">
                <a:moveTo>
                  <a:pt x="1905" y="2200275"/>
                </a:moveTo>
                <a:lnTo>
                  <a:pt x="1905" y="970915"/>
                </a:lnTo>
              </a:path>
              <a:path w="6076315" h="5361305">
                <a:moveTo>
                  <a:pt x="6075045" y="2073275"/>
                </a:moveTo>
                <a:lnTo>
                  <a:pt x="6075045" y="2489835"/>
                </a:lnTo>
              </a:path>
              <a:path w="6076315" h="5361305">
                <a:moveTo>
                  <a:pt x="1905" y="2489835"/>
                </a:moveTo>
                <a:lnTo>
                  <a:pt x="1905" y="2073275"/>
                </a:lnTo>
              </a:path>
              <a:path w="6076315" h="5361305">
                <a:moveTo>
                  <a:pt x="6075045" y="2362835"/>
                </a:moveTo>
                <a:lnTo>
                  <a:pt x="6075045" y="4065270"/>
                </a:lnTo>
              </a:path>
              <a:path w="6076315" h="5361305">
                <a:moveTo>
                  <a:pt x="1905" y="4065270"/>
                </a:moveTo>
                <a:lnTo>
                  <a:pt x="1905" y="2362835"/>
                </a:lnTo>
              </a:path>
              <a:path w="6076315" h="5361305">
                <a:moveTo>
                  <a:pt x="6075045" y="3938270"/>
                </a:moveTo>
                <a:lnTo>
                  <a:pt x="6075045" y="4354830"/>
                </a:lnTo>
              </a:path>
              <a:path w="6076315" h="5361305">
                <a:moveTo>
                  <a:pt x="1905" y="4354830"/>
                </a:moveTo>
                <a:lnTo>
                  <a:pt x="1905" y="3938270"/>
                </a:lnTo>
              </a:path>
              <a:path w="6076315" h="5361305">
                <a:moveTo>
                  <a:pt x="6075045" y="4227830"/>
                </a:moveTo>
                <a:lnTo>
                  <a:pt x="6075045" y="5132070"/>
                </a:lnTo>
              </a:path>
              <a:path w="6076315" h="5361305">
                <a:moveTo>
                  <a:pt x="1905" y="5132070"/>
                </a:moveTo>
                <a:lnTo>
                  <a:pt x="1905" y="4227830"/>
                </a:lnTo>
              </a:path>
              <a:path w="6076315" h="5361305">
                <a:moveTo>
                  <a:pt x="6075045" y="5005070"/>
                </a:moveTo>
                <a:lnTo>
                  <a:pt x="6075045" y="5361305"/>
                </a:lnTo>
              </a:path>
              <a:path w="6076315" h="5361305">
                <a:moveTo>
                  <a:pt x="6076315" y="5360035"/>
                </a:moveTo>
                <a:lnTo>
                  <a:pt x="0" y="5360035"/>
                </a:lnTo>
              </a:path>
              <a:path w="6076315" h="5361305">
                <a:moveTo>
                  <a:pt x="1905" y="5361305"/>
                </a:moveTo>
                <a:lnTo>
                  <a:pt x="1905" y="5005070"/>
                </a:lnTo>
              </a:path>
            </a:pathLst>
          </a:custGeom>
          <a:ln w="3175">
            <a:solidFill>
              <a:srgbClr val="E2E2E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47725" y="913764"/>
            <a:ext cx="6076950" cy="2266950"/>
          </a:xfrm>
          <a:custGeom>
            <a:avLst/>
            <a:gdLst/>
            <a:ahLst/>
            <a:cxnLst/>
            <a:rect l="l" t="t" r="r" b="b"/>
            <a:pathLst>
              <a:path w="6076950" h="2266950">
                <a:moveTo>
                  <a:pt x="6076950" y="0"/>
                </a:moveTo>
                <a:lnTo>
                  <a:pt x="0" y="0"/>
                </a:lnTo>
                <a:lnTo>
                  <a:pt x="0" y="391795"/>
                </a:lnTo>
                <a:lnTo>
                  <a:pt x="0" y="392430"/>
                </a:lnTo>
                <a:lnTo>
                  <a:pt x="0" y="2266950"/>
                </a:lnTo>
                <a:lnTo>
                  <a:pt x="6076950" y="2266950"/>
                </a:lnTo>
                <a:lnTo>
                  <a:pt x="6076950" y="391795"/>
                </a:lnTo>
                <a:lnTo>
                  <a:pt x="6076950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47725" y="3820794"/>
            <a:ext cx="6076950" cy="4767580"/>
          </a:xfrm>
          <a:custGeom>
            <a:avLst/>
            <a:gdLst/>
            <a:ahLst/>
            <a:cxnLst/>
            <a:rect l="l" t="t" r="r" b="b"/>
            <a:pathLst>
              <a:path w="6076950" h="4767580">
                <a:moveTo>
                  <a:pt x="6076950" y="0"/>
                </a:moveTo>
                <a:lnTo>
                  <a:pt x="0" y="0"/>
                </a:lnTo>
                <a:lnTo>
                  <a:pt x="0" y="229235"/>
                </a:lnTo>
                <a:lnTo>
                  <a:pt x="0" y="229870"/>
                </a:lnTo>
                <a:lnTo>
                  <a:pt x="0" y="4767580"/>
                </a:lnTo>
                <a:lnTo>
                  <a:pt x="6076950" y="4767580"/>
                </a:lnTo>
                <a:lnTo>
                  <a:pt x="6076950" y="229235"/>
                </a:lnTo>
                <a:lnTo>
                  <a:pt x="6076950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14400" y="981709"/>
            <a:ext cx="5636895" cy="324485"/>
          </a:xfrm>
          <a:custGeom>
            <a:avLst/>
            <a:gdLst/>
            <a:ahLst/>
            <a:cxnLst/>
            <a:rect l="l" t="t" r="r" b="b"/>
            <a:pathLst>
              <a:path w="5636895" h="324484">
                <a:moveTo>
                  <a:pt x="502285" y="162560"/>
                </a:moveTo>
                <a:lnTo>
                  <a:pt x="0" y="162560"/>
                </a:lnTo>
                <a:lnTo>
                  <a:pt x="0" y="324485"/>
                </a:lnTo>
                <a:lnTo>
                  <a:pt x="502285" y="324485"/>
                </a:lnTo>
                <a:lnTo>
                  <a:pt x="502285" y="162560"/>
                </a:lnTo>
                <a:close/>
              </a:path>
              <a:path w="5636895" h="324484">
                <a:moveTo>
                  <a:pt x="5636895" y="0"/>
                </a:moveTo>
                <a:lnTo>
                  <a:pt x="0" y="0"/>
                </a:lnTo>
                <a:lnTo>
                  <a:pt x="0" y="161925"/>
                </a:lnTo>
                <a:lnTo>
                  <a:pt x="5636895" y="161925"/>
                </a:lnTo>
                <a:lnTo>
                  <a:pt x="5636895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14400" y="1723389"/>
            <a:ext cx="5719445" cy="324485"/>
          </a:xfrm>
          <a:custGeom>
            <a:avLst/>
            <a:gdLst/>
            <a:ahLst/>
            <a:cxnLst/>
            <a:rect l="l" t="t" r="r" b="b"/>
            <a:pathLst>
              <a:path w="5719445" h="324485">
                <a:moveTo>
                  <a:pt x="755015" y="162560"/>
                </a:moveTo>
                <a:lnTo>
                  <a:pt x="0" y="162560"/>
                </a:lnTo>
                <a:lnTo>
                  <a:pt x="0" y="324485"/>
                </a:lnTo>
                <a:lnTo>
                  <a:pt x="755015" y="324485"/>
                </a:lnTo>
                <a:lnTo>
                  <a:pt x="755015" y="162560"/>
                </a:lnTo>
                <a:close/>
              </a:path>
              <a:path w="5719445" h="324485">
                <a:moveTo>
                  <a:pt x="5719445" y="0"/>
                </a:moveTo>
                <a:lnTo>
                  <a:pt x="0" y="0"/>
                </a:lnTo>
                <a:lnTo>
                  <a:pt x="0" y="161925"/>
                </a:lnTo>
                <a:lnTo>
                  <a:pt x="5719445" y="161925"/>
                </a:lnTo>
                <a:lnTo>
                  <a:pt x="5719445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14400" y="2465069"/>
            <a:ext cx="5804535" cy="649605"/>
          </a:xfrm>
          <a:custGeom>
            <a:avLst/>
            <a:gdLst/>
            <a:ahLst/>
            <a:cxnLst/>
            <a:rect l="l" t="t" r="r" b="b"/>
            <a:pathLst>
              <a:path w="5804534" h="649605">
                <a:moveTo>
                  <a:pt x="502285" y="487680"/>
                </a:moveTo>
                <a:lnTo>
                  <a:pt x="0" y="487680"/>
                </a:lnTo>
                <a:lnTo>
                  <a:pt x="0" y="649605"/>
                </a:lnTo>
                <a:lnTo>
                  <a:pt x="502285" y="649605"/>
                </a:lnTo>
                <a:lnTo>
                  <a:pt x="502285" y="487680"/>
                </a:lnTo>
                <a:close/>
              </a:path>
              <a:path w="5804534" h="649605">
                <a:moveTo>
                  <a:pt x="5550535" y="0"/>
                </a:moveTo>
                <a:lnTo>
                  <a:pt x="0" y="0"/>
                </a:lnTo>
                <a:lnTo>
                  <a:pt x="0" y="161925"/>
                </a:lnTo>
                <a:lnTo>
                  <a:pt x="5550535" y="161925"/>
                </a:lnTo>
                <a:lnTo>
                  <a:pt x="5550535" y="0"/>
                </a:lnTo>
                <a:close/>
              </a:path>
              <a:path w="5804534" h="649605">
                <a:moveTo>
                  <a:pt x="5720715" y="325120"/>
                </a:moveTo>
                <a:lnTo>
                  <a:pt x="0" y="325120"/>
                </a:lnTo>
                <a:lnTo>
                  <a:pt x="0" y="487045"/>
                </a:lnTo>
                <a:lnTo>
                  <a:pt x="5720715" y="487045"/>
                </a:lnTo>
                <a:lnTo>
                  <a:pt x="5720715" y="325120"/>
                </a:lnTo>
                <a:close/>
              </a:path>
              <a:path w="5804534" h="649605">
                <a:moveTo>
                  <a:pt x="5804535" y="162560"/>
                </a:moveTo>
                <a:lnTo>
                  <a:pt x="0" y="162560"/>
                </a:lnTo>
                <a:lnTo>
                  <a:pt x="0" y="324485"/>
                </a:lnTo>
                <a:lnTo>
                  <a:pt x="5804535" y="324485"/>
                </a:lnTo>
                <a:lnTo>
                  <a:pt x="5804535" y="16256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850264" y="916305"/>
            <a:ext cx="6073140" cy="2263140"/>
          </a:xfrm>
          <a:prstGeom prst="rect">
            <a:avLst/>
          </a:prstGeom>
          <a:ln w="3175">
            <a:solidFill>
              <a:srgbClr val="E2E2E2"/>
            </a:solidFill>
          </a:ln>
        </p:spPr>
        <p:txBody>
          <a:bodyPr vert="horz" wrap="square" lIns="0" tIns="64769" rIns="0" bIns="0" rtlCol="0">
            <a:spAutoFit/>
          </a:bodyPr>
          <a:lstStyle/>
          <a:p>
            <a:pPr marL="64769" marR="365125">
              <a:lnSpc>
                <a:spcPts val="1280"/>
              </a:lnSpc>
              <a:spcBef>
                <a:spcPts val="509"/>
              </a:spcBef>
            </a:pPr>
            <a:r>
              <a:rPr sz="1100" dirty="0">
                <a:latin typeface="Courier New"/>
                <a:cs typeface="Courier New"/>
              </a:rPr>
              <a:t>'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Yes,</a:t>
            </a:r>
            <a:r>
              <a:rPr sz="1100" spc="-2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5+5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is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equal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to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10.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Is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there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anything</a:t>
            </a:r>
            <a:r>
              <a:rPr sz="1100" spc="-2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else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you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would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like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to </a:t>
            </a:r>
            <a:r>
              <a:rPr sz="1100" spc="-10" dirty="0">
                <a:latin typeface="Courier New"/>
                <a:cs typeface="Courier New"/>
              </a:rPr>
              <a:t>know?'</a:t>
            </a:r>
            <a:endParaRPr sz="1100">
              <a:latin typeface="Courier New"/>
              <a:cs typeface="Courier New"/>
            </a:endParaRPr>
          </a:p>
          <a:p>
            <a:pPr marL="64769">
              <a:lnSpc>
                <a:spcPct val="100000"/>
              </a:lnSpc>
              <a:spcBef>
                <a:spcPts val="925"/>
              </a:spcBef>
            </a:pPr>
            <a:r>
              <a:rPr sz="1100" dirty="0">
                <a:solidFill>
                  <a:srgbClr val="1E1B1A"/>
                </a:solidFill>
                <a:latin typeface="Courier New"/>
                <a:cs typeface="Courier New"/>
              </a:rPr>
              <a:t>convo.run(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"Can</a:t>
            </a:r>
            <a:r>
              <a:rPr sz="1100" spc="-5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you</a:t>
            </a:r>
            <a:r>
              <a:rPr sz="1100" spc="-45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tell</a:t>
            </a:r>
            <a:r>
              <a:rPr sz="1100" spc="-5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how</a:t>
            </a:r>
            <a:r>
              <a:rPr sz="1100" spc="-45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mush</a:t>
            </a:r>
            <a:r>
              <a:rPr sz="1100" spc="-4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will</a:t>
            </a:r>
            <a:r>
              <a:rPr sz="1100" spc="-45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5*(5+1)?"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)</a:t>
            </a:r>
            <a:endParaRPr sz="1100">
              <a:latin typeface="Courier New"/>
              <a:cs typeface="Courier New"/>
            </a:endParaRPr>
          </a:p>
          <a:p>
            <a:pPr marL="64769" marR="281305">
              <a:lnSpc>
                <a:spcPts val="1280"/>
              </a:lnSpc>
              <a:spcBef>
                <a:spcPts val="1035"/>
              </a:spcBef>
            </a:pPr>
            <a:r>
              <a:rPr sz="1100" dirty="0">
                <a:latin typeface="Courier New"/>
                <a:cs typeface="Courier New"/>
              </a:rPr>
              <a:t>'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Yes,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5*(5+1)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is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equal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to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30.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Is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there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anything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else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you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would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like </a:t>
            </a:r>
            <a:r>
              <a:rPr sz="1100" dirty="0">
                <a:latin typeface="Courier New"/>
                <a:cs typeface="Courier New"/>
              </a:rPr>
              <a:t>to</a:t>
            </a:r>
            <a:r>
              <a:rPr sz="1100" spc="-1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know?'</a:t>
            </a:r>
            <a:endParaRPr sz="1100">
              <a:latin typeface="Courier New"/>
              <a:cs typeface="Courier New"/>
            </a:endParaRPr>
          </a:p>
          <a:p>
            <a:pPr marL="64769">
              <a:lnSpc>
                <a:spcPct val="100000"/>
              </a:lnSpc>
              <a:spcBef>
                <a:spcPts val="925"/>
              </a:spcBef>
            </a:pPr>
            <a:r>
              <a:rPr sz="1100" dirty="0">
                <a:solidFill>
                  <a:srgbClr val="1E1B1A"/>
                </a:solidFill>
                <a:latin typeface="Courier New"/>
                <a:cs typeface="Courier New"/>
              </a:rPr>
              <a:t>convo.run(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"who</a:t>
            </a:r>
            <a:r>
              <a:rPr sz="1100" spc="-55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was</a:t>
            </a:r>
            <a:r>
              <a:rPr sz="1100" spc="-5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the</a:t>
            </a:r>
            <a:r>
              <a:rPr sz="1100" spc="-5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captain</a:t>
            </a:r>
            <a:r>
              <a:rPr sz="1100" spc="-4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of</a:t>
            </a:r>
            <a:r>
              <a:rPr sz="1100" spc="-5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the</a:t>
            </a:r>
            <a:r>
              <a:rPr sz="1100" spc="-5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winning</a:t>
            </a:r>
            <a:r>
              <a:rPr sz="1100" spc="-4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team?"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)</a:t>
            </a:r>
            <a:endParaRPr sz="1100">
              <a:latin typeface="Courier New"/>
              <a:cs typeface="Courier New"/>
            </a:endParaRPr>
          </a:p>
          <a:p>
            <a:pPr marL="64769" marR="198120">
              <a:lnSpc>
                <a:spcPts val="1280"/>
              </a:lnSpc>
              <a:spcBef>
                <a:spcPts val="1035"/>
              </a:spcBef>
            </a:pPr>
            <a:r>
              <a:rPr sz="1100" dirty="0">
                <a:latin typeface="Courier New"/>
                <a:cs typeface="Courier New"/>
              </a:rPr>
              <a:t>'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captain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of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winning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West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Indies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team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first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cricket </a:t>
            </a:r>
            <a:r>
              <a:rPr sz="1100" dirty="0">
                <a:latin typeface="Courier New"/>
                <a:cs typeface="Courier New"/>
              </a:rPr>
              <a:t>World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Cup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was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Clive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Lloyd.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He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was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also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named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man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of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match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for </a:t>
            </a:r>
            <a:r>
              <a:rPr sz="1100" dirty="0">
                <a:latin typeface="Courier New"/>
                <a:cs typeface="Courier New"/>
              </a:rPr>
              <a:t>his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impressive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performance.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Is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there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anything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else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you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would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like</a:t>
            </a:r>
            <a:r>
              <a:rPr sz="1100" spc="-55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to </a:t>
            </a:r>
            <a:r>
              <a:rPr sz="1100" spc="-10" dirty="0">
                <a:latin typeface="Courier New"/>
                <a:cs typeface="Courier New"/>
              </a:rPr>
              <a:t>know?'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02969" y="3469640"/>
            <a:ext cx="469328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00" spc="-10" dirty="0">
                <a:latin typeface="Arial"/>
                <a:cs typeface="Arial"/>
              </a:rPr>
              <a:t>Conversation</a:t>
            </a:r>
            <a:r>
              <a:rPr sz="2200" spc="20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Buffer</a:t>
            </a:r>
            <a:r>
              <a:rPr sz="2200" spc="35" dirty="0">
                <a:latin typeface="Arial"/>
                <a:cs typeface="Arial"/>
              </a:rPr>
              <a:t> </a:t>
            </a:r>
            <a:r>
              <a:rPr sz="2200" dirty="0">
                <a:latin typeface="Arial"/>
                <a:cs typeface="Arial"/>
              </a:rPr>
              <a:t>Window</a:t>
            </a:r>
            <a:r>
              <a:rPr sz="2200" spc="35" dirty="0">
                <a:latin typeface="Arial"/>
                <a:cs typeface="Arial"/>
              </a:rPr>
              <a:t> </a:t>
            </a:r>
            <a:r>
              <a:rPr sz="2200" spc="-10" dirty="0">
                <a:latin typeface="Arial"/>
                <a:cs typeface="Arial"/>
              </a:rPr>
              <a:t>Memory</a:t>
            </a:r>
            <a:endParaRPr sz="22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14400" y="5372100"/>
            <a:ext cx="5888355" cy="161925"/>
          </a:xfrm>
          <a:custGeom>
            <a:avLst/>
            <a:gdLst/>
            <a:ahLst/>
            <a:cxnLst/>
            <a:rect l="l" t="t" r="r" b="b"/>
            <a:pathLst>
              <a:path w="5888355" h="161925">
                <a:moveTo>
                  <a:pt x="5888355" y="0"/>
                </a:moveTo>
                <a:lnTo>
                  <a:pt x="0" y="0"/>
                </a:lnTo>
                <a:lnTo>
                  <a:pt x="0" y="161925"/>
                </a:lnTo>
                <a:lnTo>
                  <a:pt x="5888355" y="161925"/>
                </a:lnTo>
                <a:lnTo>
                  <a:pt x="5888355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902969" y="3865879"/>
            <a:ext cx="5911850" cy="167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7827A0"/>
                </a:solidFill>
                <a:latin typeface="Courier New"/>
                <a:cs typeface="Courier New"/>
              </a:rPr>
              <a:t>from</a:t>
            </a:r>
            <a:r>
              <a:rPr sz="1100" spc="-85" dirty="0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1E1B1A"/>
                </a:solidFill>
                <a:latin typeface="Courier New"/>
                <a:cs typeface="Courier New"/>
              </a:rPr>
              <a:t>langchain.memory</a:t>
            </a:r>
            <a:r>
              <a:rPr sz="1100" spc="-65" dirty="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7827A0"/>
                </a:solidFill>
                <a:latin typeface="Courier New"/>
                <a:cs typeface="Courier New"/>
              </a:rPr>
              <a:t>import</a:t>
            </a:r>
            <a:r>
              <a:rPr sz="1100" spc="-80" dirty="0">
                <a:solidFill>
                  <a:srgbClr val="7827A0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ConversationBufferWindowMemory</a:t>
            </a:r>
            <a:endParaRPr sz="1100">
              <a:latin typeface="Courier New"/>
              <a:cs typeface="Courier New"/>
            </a:endParaRPr>
          </a:p>
          <a:p>
            <a:pPr marL="12700" marR="2019300">
              <a:lnSpc>
                <a:spcPct val="172700"/>
              </a:lnSpc>
            </a:pPr>
            <a:r>
              <a:rPr sz="1100" dirty="0">
                <a:solidFill>
                  <a:srgbClr val="1E1B1A"/>
                </a:solidFill>
                <a:latin typeface="Courier New"/>
                <a:cs typeface="Courier New"/>
              </a:rPr>
              <a:t>memory</a:t>
            </a:r>
            <a:r>
              <a:rPr sz="1100" spc="-5" dirty="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1E1B1A"/>
                </a:solidFill>
                <a:latin typeface="Courier New"/>
                <a:cs typeface="Courier New"/>
              </a:rPr>
              <a:t>=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 ConversationBufferWindowMemory(</a:t>
            </a:r>
            <a:r>
              <a:rPr sz="1100" spc="-5" dirty="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1E1B1A"/>
                </a:solidFill>
                <a:latin typeface="Courier New"/>
                <a:cs typeface="Courier New"/>
              </a:rPr>
              <a:t>k=</a:t>
            </a:r>
            <a:r>
              <a:rPr sz="1100" dirty="0">
                <a:solidFill>
                  <a:srgbClr val="A95C00"/>
                </a:solidFill>
                <a:latin typeface="Courier New"/>
                <a:cs typeface="Courier New"/>
              </a:rPr>
              <a:t>1</a:t>
            </a:r>
            <a:r>
              <a:rPr sz="1100" spc="-20" dirty="0">
                <a:solidFill>
                  <a:srgbClr val="A95C00"/>
                </a:solidFill>
                <a:latin typeface="Courier New"/>
                <a:cs typeface="Courier New"/>
              </a:rPr>
              <a:t> </a:t>
            </a:r>
            <a:r>
              <a:rPr sz="1100" spc="-50" dirty="0">
                <a:solidFill>
                  <a:srgbClr val="1E1B1A"/>
                </a:solidFill>
                <a:latin typeface="Courier New"/>
                <a:cs typeface="Courier New"/>
              </a:rPr>
              <a:t>) </a:t>
            </a:r>
            <a:r>
              <a:rPr sz="1100" dirty="0">
                <a:solidFill>
                  <a:srgbClr val="1E1B1A"/>
                </a:solidFill>
                <a:latin typeface="Courier New"/>
                <a:cs typeface="Courier New"/>
              </a:rPr>
              <a:t>convo</a:t>
            </a:r>
            <a:r>
              <a:rPr sz="1100" spc="-20" dirty="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1E1B1A"/>
                </a:solidFill>
                <a:latin typeface="Courier New"/>
                <a:cs typeface="Courier New"/>
              </a:rPr>
              <a:t>=</a:t>
            </a:r>
            <a:r>
              <a:rPr sz="1100" spc="-30" dirty="0">
                <a:solidFill>
                  <a:srgbClr val="1E1B1A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ConversationChain(</a:t>
            </a:r>
            <a:endParaRPr sz="1100">
              <a:latin typeface="Courier New"/>
              <a:cs typeface="Courier New"/>
            </a:endParaRPr>
          </a:p>
          <a:p>
            <a:pPr marL="12700" marR="2441575" indent="335915">
              <a:lnSpc>
                <a:spcPts val="1280"/>
              </a:lnSpc>
              <a:spcBef>
                <a:spcPts val="35"/>
              </a:spcBef>
            </a:pP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llm=OpenAI(openai_api_key=OPENAI_KEY, temperature=</a:t>
            </a:r>
            <a:r>
              <a:rPr sz="1100" spc="-10" dirty="0">
                <a:solidFill>
                  <a:srgbClr val="A95C00"/>
                </a:solidFill>
                <a:latin typeface="Courier New"/>
                <a:cs typeface="Courier New"/>
              </a:rPr>
              <a:t>0.7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),memory=memory)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sz="1100" dirty="0">
                <a:solidFill>
                  <a:srgbClr val="1E1B1A"/>
                </a:solidFill>
                <a:latin typeface="Courier New"/>
                <a:cs typeface="Courier New"/>
              </a:rPr>
              <a:t>convo.run(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"who</a:t>
            </a:r>
            <a:r>
              <a:rPr sz="1100" spc="-6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won</a:t>
            </a:r>
            <a:r>
              <a:rPr sz="1100" spc="-6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the</a:t>
            </a:r>
            <a:r>
              <a:rPr sz="1100" spc="-55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first</a:t>
            </a:r>
            <a:r>
              <a:rPr sz="1100" spc="-5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cricket</a:t>
            </a:r>
            <a:r>
              <a:rPr sz="1100" spc="-5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worldcup?"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)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100" dirty="0">
                <a:latin typeface="Courier New"/>
                <a:cs typeface="Courier New"/>
              </a:rPr>
              <a:t>'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first</a:t>
            </a:r>
            <a:r>
              <a:rPr sz="1100" spc="-2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Cricket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World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Cup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was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won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by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West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Indies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1975.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They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14400" y="5534659"/>
            <a:ext cx="573214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defeated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Australia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final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by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17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runs.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man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of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match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was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14400" y="5697116"/>
            <a:ext cx="5719445" cy="16319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Clive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Lloyd,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who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scored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102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runs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for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West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Indies.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tournament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14400" y="5859779"/>
            <a:ext cx="555180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was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held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England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featured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eight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teams,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with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first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match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14400" y="6022340"/>
            <a:ext cx="5901055" cy="16192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being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played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between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England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and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India.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West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Indies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went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on</a:t>
            </a:r>
            <a:r>
              <a:rPr sz="1100" spc="-4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to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spc="-25" dirty="0">
                <a:latin typeface="Courier New"/>
                <a:cs typeface="Courier New"/>
              </a:rPr>
              <a:t>win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914400" y="6184900"/>
            <a:ext cx="3027045" cy="161925"/>
          </a:xfrm>
          <a:custGeom>
            <a:avLst/>
            <a:gdLst/>
            <a:ahLst/>
            <a:cxnLst/>
            <a:rect l="l" t="t" r="r" b="b"/>
            <a:pathLst>
              <a:path w="3027045" h="161925">
                <a:moveTo>
                  <a:pt x="3027045" y="0"/>
                </a:moveTo>
                <a:lnTo>
                  <a:pt x="0" y="0"/>
                </a:lnTo>
                <a:lnTo>
                  <a:pt x="0" y="161925"/>
                </a:lnTo>
                <a:lnTo>
                  <a:pt x="3027045" y="161925"/>
                </a:lnTo>
                <a:lnTo>
                  <a:pt x="3027045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902969" y="6162040"/>
            <a:ext cx="372808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next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World</a:t>
            </a:r>
            <a:r>
              <a:rPr sz="1100" spc="-2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Cup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as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well</a:t>
            </a:r>
            <a:r>
              <a:rPr sz="1100" spc="-1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1979.'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1100" dirty="0">
                <a:solidFill>
                  <a:srgbClr val="1E1B1A"/>
                </a:solidFill>
                <a:latin typeface="Courier New"/>
                <a:cs typeface="Courier New"/>
              </a:rPr>
              <a:t>convo.run(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"Can</a:t>
            </a:r>
            <a:r>
              <a:rPr sz="1100" spc="-5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you</a:t>
            </a:r>
            <a:r>
              <a:rPr sz="1100" spc="-45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tell</a:t>
            </a:r>
            <a:r>
              <a:rPr sz="1100" spc="-5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how</a:t>
            </a:r>
            <a:r>
              <a:rPr sz="1100" spc="-45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mush</a:t>
            </a:r>
            <a:r>
              <a:rPr sz="1100" spc="-4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will</a:t>
            </a:r>
            <a:r>
              <a:rPr sz="1100" spc="-45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5+5?"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)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14400" y="6764019"/>
            <a:ext cx="1946275" cy="16192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  <a:tabLst>
                <a:tab pos="253365" algn="l"/>
              </a:tabLst>
            </a:pPr>
            <a:r>
              <a:rPr sz="1100" spc="-50" dirty="0">
                <a:latin typeface="Courier New"/>
                <a:cs typeface="Courier New"/>
              </a:rPr>
              <a:t>'</a:t>
            </a:r>
            <a:r>
              <a:rPr sz="1100" dirty="0">
                <a:latin typeface="Courier New"/>
                <a:cs typeface="Courier New"/>
              </a:rPr>
              <a:t>	5+5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is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equal</a:t>
            </a:r>
            <a:r>
              <a:rPr sz="1100" spc="-1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to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10.'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902969" y="7030719"/>
            <a:ext cx="406463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1E1B1A"/>
                </a:solidFill>
                <a:latin typeface="Courier New"/>
                <a:cs typeface="Courier New"/>
              </a:rPr>
              <a:t>convo.run(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"Can</a:t>
            </a:r>
            <a:r>
              <a:rPr sz="1100" spc="-5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you</a:t>
            </a:r>
            <a:r>
              <a:rPr sz="1100" spc="-45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tell</a:t>
            </a:r>
            <a:r>
              <a:rPr sz="1100" spc="-5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how</a:t>
            </a:r>
            <a:r>
              <a:rPr sz="1100" spc="-45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mush</a:t>
            </a:r>
            <a:r>
              <a:rPr sz="1100" spc="-4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will</a:t>
            </a:r>
            <a:r>
              <a:rPr sz="1100" spc="-45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5*(5+1)?"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)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14400" y="7343140"/>
            <a:ext cx="2199005" cy="161925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'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5*(5+1)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is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equal</a:t>
            </a:r>
            <a:r>
              <a:rPr sz="1100" spc="-2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to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30.'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02969" y="7609840"/>
            <a:ext cx="448500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1E1B1A"/>
                </a:solidFill>
                <a:latin typeface="Courier New"/>
                <a:cs typeface="Courier New"/>
              </a:rPr>
              <a:t>convo.run(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"who</a:t>
            </a:r>
            <a:r>
              <a:rPr sz="1100" spc="-55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was</a:t>
            </a:r>
            <a:r>
              <a:rPr sz="1100" spc="-5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the</a:t>
            </a:r>
            <a:r>
              <a:rPr sz="1100" spc="-5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captain</a:t>
            </a:r>
            <a:r>
              <a:rPr sz="1100" spc="-4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of</a:t>
            </a:r>
            <a:r>
              <a:rPr sz="1100" spc="-5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the</a:t>
            </a:r>
            <a:r>
              <a:rPr sz="1100" spc="-5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007F00"/>
                </a:solidFill>
                <a:latin typeface="Courier New"/>
                <a:cs typeface="Courier New"/>
              </a:rPr>
              <a:t>winning</a:t>
            </a:r>
            <a:r>
              <a:rPr sz="1100" spc="-40" dirty="0">
                <a:solidFill>
                  <a:srgbClr val="007F00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007F00"/>
                </a:solidFill>
                <a:latin typeface="Courier New"/>
                <a:cs typeface="Courier New"/>
              </a:rPr>
              <a:t>team?"</a:t>
            </a:r>
            <a:r>
              <a:rPr sz="1100" spc="-10" dirty="0">
                <a:solidFill>
                  <a:srgbClr val="1E1B1A"/>
                </a:solidFill>
                <a:latin typeface="Courier New"/>
                <a:cs typeface="Courier New"/>
              </a:rPr>
              <a:t>)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14400" y="7922259"/>
            <a:ext cx="573214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'</a:t>
            </a:r>
            <a:r>
              <a:rPr sz="1100" spc="-5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captain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of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West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Indies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team</a:t>
            </a:r>
            <a:r>
              <a:rPr sz="1100" spc="-4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during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3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first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Cricket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World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14400" y="8084717"/>
            <a:ext cx="5719445" cy="162560"/>
          </a:xfrm>
          <a:prstGeom prst="rect">
            <a:avLst/>
          </a:prstGeom>
          <a:solidFill>
            <a:srgbClr val="EDEDED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40"/>
              </a:lnSpc>
            </a:pPr>
            <a:r>
              <a:rPr sz="1100" dirty="0">
                <a:latin typeface="Courier New"/>
                <a:cs typeface="Courier New"/>
              </a:rPr>
              <a:t>Cup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was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Clive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Lloyd.</a:t>
            </a:r>
            <a:r>
              <a:rPr sz="1100" spc="-2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He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was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also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man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of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25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match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in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dirty="0">
                <a:latin typeface="Courier New"/>
                <a:cs typeface="Courier New"/>
              </a:rPr>
              <a:t>the</a:t>
            </a:r>
            <a:r>
              <a:rPr sz="1100" spc="-30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final.'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48360" y="3821429"/>
            <a:ext cx="6076315" cy="4766945"/>
          </a:xfrm>
          <a:custGeom>
            <a:avLst/>
            <a:gdLst/>
            <a:ahLst/>
            <a:cxnLst/>
            <a:rect l="l" t="t" r="r" b="b"/>
            <a:pathLst>
              <a:path w="6076315" h="4766945">
                <a:moveTo>
                  <a:pt x="0" y="1905"/>
                </a:moveTo>
                <a:lnTo>
                  <a:pt x="6076315" y="1905"/>
                </a:lnTo>
              </a:path>
              <a:path w="6076315" h="4766945">
                <a:moveTo>
                  <a:pt x="6075045" y="0"/>
                </a:moveTo>
                <a:lnTo>
                  <a:pt x="6075045" y="356235"/>
                </a:lnTo>
              </a:path>
              <a:path w="6076315" h="4766945">
                <a:moveTo>
                  <a:pt x="1905" y="356235"/>
                </a:moveTo>
                <a:lnTo>
                  <a:pt x="1905" y="0"/>
                </a:lnTo>
              </a:path>
              <a:path w="6076315" h="4766945">
                <a:moveTo>
                  <a:pt x="6075045" y="229235"/>
                </a:moveTo>
                <a:lnTo>
                  <a:pt x="6075045" y="645795"/>
                </a:lnTo>
              </a:path>
              <a:path w="6076315" h="4766945">
                <a:moveTo>
                  <a:pt x="1905" y="645795"/>
                </a:moveTo>
                <a:lnTo>
                  <a:pt x="1905" y="229235"/>
                </a:lnTo>
              </a:path>
              <a:path w="6076315" h="4766945">
                <a:moveTo>
                  <a:pt x="6075045" y="518795"/>
                </a:moveTo>
                <a:lnTo>
                  <a:pt x="6075045" y="1260475"/>
                </a:lnTo>
              </a:path>
              <a:path w="6076315" h="4766945">
                <a:moveTo>
                  <a:pt x="1905" y="1260475"/>
                </a:moveTo>
                <a:lnTo>
                  <a:pt x="1905" y="518795"/>
                </a:lnTo>
              </a:path>
              <a:path w="6076315" h="4766945">
                <a:moveTo>
                  <a:pt x="6075045" y="1133475"/>
                </a:moveTo>
                <a:lnTo>
                  <a:pt x="6075045" y="1550035"/>
                </a:lnTo>
              </a:path>
              <a:path w="6076315" h="4766945">
                <a:moveTo>
                  <a:pt x="1905" y="1550035"/>
                </a:moveTo>
                <a:lnTo>
                  <a:pt x="1905" y="1133475"/>
                </a:lnTo>
              </a:path>
              <a:path w="6076315" h="4766945">
                <a:moveTo>
                  <a:pt x="6075045" y="1423035"/>
                </a:moveTo>
                <a:lnTo>
                  <a:pt x="6075045" y="2652395"/>
                </a:lnTo>
              </a:path>
              <a:path w="6076315" h="4766945">
                <a:moveTo>
                  <a:pt x="1905" y="2652395"/>
                </a:moveTo>
                <a:lnTo>
                  <a:pt x="1905" y="1423035"/>
                </a:lnTo>
              </a:path>
              <a:path w="6076315" h="4766945">
                <a:moveTo>
                  <a:pt x="6075045" y="2525395"/>
                </a:moveTo>
                <a:lnTo>
                  <a:pt x="6075045" y="2941955"/>
                </a:lnTo>
              </a:path>
              <a:path w="6076315" h="4766945">
                <a:moveTo>
                  <a:pt x="1905" y="2941955"/>
                </a:moveTo>
                <a:lnTo>
                  <a:pt x="1905" y="2525395"/>
                </a:lnTo>
              </a:path>
              <a:path w="6076315" h="4766945">
                <a:moveTo>
                  <a:pt x="6075045" y="2814955"/>
                </a:moveTo>
                <a:lnTo>
                  <a:pt x="6075045" y="3231515"/>
                </a:lnTo>
              </a:path>
              <a:path w="6076315" h="4766945">
                <a:moveTo>
                  <a:pt x="1905" y="3231515"/>
                </a:moveTo>
                <a:lnTo>
                  <a:pt x="1905" y="2814955"/>
                </a:lnTo>
              </a:path>
              <a:path w="6076315" h="4766945">
                <a:moveTo>
                  <a:pt x="6075045" y="3104515"/>
                </a:moveTo>
                <a:lnTo>
                  <a:pt x="6075045" y="3521075"/>
                </a:lnTo>
              </a:path>
              <a:path w="6076315" h="4766945">
                <a:moveTo>
                  <a:pt x="1905" y="3521075"/>
                </a:moveTo>
                <a:lnTo>
                  <a:pt x="1905" y="3104515"/>
                </a:lnTo>
              </a:path>
              <a:path w="6076315" h="4766945">
                <a:moveTo>
                  <a:pt x="6075045" y="3394075"/>
                </a:moveTo>
                <a:lnTo>
                  <a:pt x="6075045" y="3810635"/>
                </a:lnTo>
              </a:path>
              <a:path w="6076315" h="4766945">
                <a:moveTo>
                  <a:pt x="1905" y="3810635"/>
                </a:moveTo>
                <a:lnTo>
                  <a:pt x="1905" y="3394075"/>
                </a:lnTo>
              </a:path>
              <a:path w="6076315" h="4766945">
                <a:moveTo>
                  <a:pt x="6075045" y="3683635"/>
                </a:moveTo>
                <a:lnTo>
                  <a:pt x="6075045" y="4100195"/>
                </a:lnTo>
              </a:path>
              <a:path w="6076315" h="4766945">
                <a:moveTo>
                  <a:pt x="1905" y="4100195"/>
                </a:moveTo>
                <a:lnTo>
                  <a:pt x="1905" y="3683635"/>
                </a:lnTo>
              </a:path>
              <a:path w="6076315" h="4766945">
                <a:moveTo>
                  <a:pt x="6075045" y="3973195"/>
                </a:moveTo>
                <a:lnTo>
                  <a:pt x="6075045" y="4552315"/>
                </a:lnTo>
              </a:path>
              <a:path w="6076315" h="4766945">
                <a:moveTo>
                  <a:pt x="1905" y="4552315"/>
                </a:moveTo>
                <a:lnTo>
                  <a:pt x="1905" y="3973195"/>
                </a:lnTo>
              </a:path>
              <a:path w="6076315" h="4766945">
                <a:moveTo>
                  <a:pt x="6075045" y="4425315"/>
                </a:moveTo>
                <a:lnTo>
                  <a:pt x="6075045" y="4766945"/>
                </a:lnTo>
              </a:path>
              <a:path w="6076315" h="4766945">
                <a:moveTo>
                  <a:pt x="6076315" y="4765675"/>
                </a:moveTo>
                <a:lnTo>
                  <a:pt x="0" y="4765675"/>
                </a:lnTo>
              </a:path>
              <a:path w="6076315" h="4766945">
                <a:moveTo>
                  <a:pt x="1905" y="4766945"/>
                </a:moveTo>
                <a:lnTo>
                  <a:pt x="1905" y="4425315"/>
                </a:lnTo>
              </a:path>
              <a:path w="6076315" h="4766945">
                <a:moveTo>
                  <a:pt x="0" y="1905"/>
                </a:moveTo>
                <a:lnTo>
                  <a:pt x="6076315" y="1905"/>
                </a:lnTo>
              </a:path>
              <a:path w="6076315" h="4766945">
                <a:moveTo>
                  <a:pt x="6075045" y="0"/>
                </a:moveTo>
                <a:lnTo>
                  <a:pt x="6075045" y="356235"/>
                </a:lnTo>
              </a:path>
              <a:path w="6076315" h="4766945">
                <a:moveTo>
                  <a:pt x="1905" y="356235"/>
                </a:moveTo>
                <a:lnTo>
                  <a:pt x="1905" y="0"/>
                </a:lnTo>
              </a:path>
              <a:path w="6076315" h="4766945">
                <a:moveTo>
                  <a:pt x="6075045" y="229235"/>
                </a:moveTo>
                <a:lnTo>
                  <a:pt x="6075045" y="645795"/>
                </a:lnTo>
              </a:path>
              <a:path w="6076315" h="4766945">
                <a:moveTo>
                  <a:pt x="1905" y="645795"/>
                </a:moveTo>
                <a:lnTo>
                  <a:pt x="1905" y="229235"/>
                </a:lnTo>
              </a:path>
              <a:path w="6076315" h="4766945">
                <a:moveTo>
                  <a:pt x="6075045" y="518795"/>
                </a:moveTo>
                <a:lnTo>
                  <a:pt x="6075045" y="1260475"/>
                </a:lnTo>
              </a:path>
              <a:path w="6076315" h="4766945">
                <a:moveTo>
                  <a:pt x="1905" y="1260475"/>
                </a:moveTo>
                <a:lnTo>
                  <a:pt x="1905" y="518795"/>
                </a:lnTo>
              </a:path>
              <a:path w="6076315" h="4766945">
                <a:moveTo>
                  <a:pt x="6075045" y="1133475"/>
                </a:moveTo>
                <a:lnTo>
                  <a:pt x="6075045" y="1550035"/>
                </a:lnTo>
              </a:path>
              <a:path w="6076315" h="4766945">
                <a:moveTo>
                  <a:pt x="1905" y="1550035"/>
                </a:moveTo>
                <a:lnTo>
                  <a:pt x="1905" y="1133475"/>
                </a:lnTo>
              </a:path>
              <a:path w="6076315" h="4766945">
                <a:moveTo>
                  <a:pt x="6075045" y="1423035"/>
                </a:moveTo>
                <a:lnTo>
                  <a:pt x="6075045" y="2652395"/>
                </a:lnTo>
              </a:path>
              <a:path w="6076315" h="4766945">
                <a:moveTo>
                  <a:pt x="1905" y="2652395"/>
                </a:moveTo>
                <a:lnTo>
                  <a:pt x="1905" y="1423035"/>
                </a:lnTo>
              </a:path>
              <a:path w="6076315" h="4766945">
                <a:moveTo>
                  <a:pt x="6075045" y="2525395"/>
                </a:moveTo>
                <a:lnTo>
                  <a:pt x="6075045" y="2941955"/>
                </a:lnTo>
              </a:path>
              <a:path w="6076315" h="4766945">
                <a:moveTo>
                  <a:pt x="1905" y="2941955"/>
                </a:moveTo>
                <a:lnTo>
                  <a:pt x="1905" y="2525395"/>
                </a:lnTo>
              </a:path>
              <a:path w="6076315" h="4766945">
                <a:moveTo>
                  <a:pt x="6075045" y="2814955"/>
                </a:moveTo>
                <a:lnTo>
                  <a:pt x="6075045" y="3231515"/>
                </a:lnTo>
              </a:path>
              <a:path w="6076315" h="4766945">
                <a:moveTo>
                  <a:pt x="1905" y="3231515"/>
                </a:moveTo>
                <a:lnTo>
                  <a:pt x="1905" y="2814955"/>
                </a:lnTo>
              </a:path>
              <a:path w="6076315" h="4766945">
                <a:moveTo>
                  <a:pt x="6075045" y="3104515"/>
                </a:moveTo>
                <a:lnTo>
                  <a:pt x="6075045" y="3521075"/>
                </a:lnTo>
              </a:path>
              <a:path w="6076315" h="4766945">
                <a:moveTo>
                  <a:pt x="1905" y="3521075"/>
                </a:moveTo>
                <a:lnTo>
                  <a:pt x="1905" y="3104515"/>
                </a:lnTo>
              </a:path>
              <a:path w="6076315" h="4766945">
                <a:moveTo>
                  <a:pt x="6075045" y="3394075"/>
                </a:moveTo>
                <a:lnTo>
                  <a:pt x="6075045" y="3810635"/>
                </a:lnTo>
              </a:path>
              <a:path w="6076315" h="4766945">
                <a:moveTo>
                  <a:pt x="1905" y="3810635"/>
                </a:moveTo>
                <a:lnTo>
                  <a:pt x="1905" y="3394075"/>
                </a:lnTo>
              </a:path>
              <a:path w="6076315" h="4766945">
                <a:moveTo>
                  <a:pt x="6075045" y="3683635"/>
                </a:moveTo>
                <a:lnTo>
                  <a:pt x="6075045" y="4100195"/>
                </a:lnTo>
              </a:path>
              <a:path w="6076315" h="4766945">
                <a:moveTo>
                  <a:pt x="1905" y="4100195"/>
                </a:moveTo>
                <a:lnTo>
                  <a:pt x="1905" y="3683635"/>
                </a:lnTo>
              </a:path>
              <a:path w="6076315" h="4766945">
                <a:moveTo>
                  <a:pt x="6075045" y="3973195"/>
                </a:moveTo>
                <a:lnTo>
                  <a:pt x="6075045" y="4552315"/>
                </a:lnTo>
              </a:path>
              <a:path w="6076315" h="4766945">
                <a:moveTo>
                  <a:pt x="1905" y="4552315"/>
                </a:moveTo>
                <a:lnTo>
                  <a:pt x="1905" y="3973195"/>
                </a:lnTo>
              </a:path>
              <a:path w="6076315" h="4766945">
                <a:moveTo>
                  <a:pt x="6075045" y="4425315"/>
                </a:moveTo>
                <a:lnTo>
                  <a:pt x="6075045" y="4766945"/>
                </a:lnTo>
              </a:path>
              <a:path w="6076315" h="4766945">
                <a:moveTo>
                  <a:pt x="6076315" y="4765675"/>
                </a:moveTo>
                <a:lnTo>
                  <a:pt x="0" y="4765675"/>
                </a:lnTo>
              </a:path>
              <a:path w="6076315" h="4766945">
                <a:moveTo>
                  <a:pt x="1905" y="4766945"/>
                </a:moveTo>
                <a:lnTo>
                  <a:pt x="1905" y="4425315"/>
                </a:lnTo>
              </a:path>
            </a:pathLst>
          </a:custGeom>
          <a:ln w="3175">
            <a:solidFill>
              <a:srgbClr val="E2E2E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11188</Words>
  <Application>Microsoft Macintosh PowerPoint</Application>
  <PresentationFormat>Custom</PresentationFormat>
  <Paragraphs>651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Calibri</vt:lpstr>
      <vt:lpstr>Courier New</vt:lpstr>
      <vt:lpstr>Times New Roman</vt:lpstr>
      <vt:lpstr>Office Theme</vt:lpstr>
      <vt:lpstr>LangChain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Memory</vt:lpstr>
      <vt:lpstr>Conversation Buffer Memory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LangChain</dc:title>
  <cp:lastModifiedBy>Chugh, Mayank</cp:lastModifiedBy>
  <cp:revision>1</cp:revision>
  <dcterms:created xsi:type="dcterms:W3CDTF">2024-02-27T05:42:12Z</dcterms:created>
  <dcterms:modified xsi:type="dcterms:W3CDTF">2024-02-27T05:44:21Z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2024-02-27T00:00:00Z</vt:filetime>
  </property>
  <property fmtid="{D5CDD505-2E9C-101B-9397-08002B2CF9AE}" pid="3" name="Creator">
    <vt:lpwstr>Writer</vt:lpwstr>
  </property>
  <property fmtid="{D5CDD505-2E9C-101B-9397-08002B2CF9AE}" pid="4" name="Producer">
    <vt:lpwstr>LibreOffice 7.3</vt:lpwstr>
  </property>
  <property fmtid="{D5CDD505-2E9C-101B-9397-08002B2CF9AE}" pid="5" name="LastSaved">
    <vt:filetime>2024-02-27T00:00:00Z</vt:filetime>
  </property>
</Properties>
</file>